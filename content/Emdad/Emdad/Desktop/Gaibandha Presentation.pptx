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drawings/drawing1.xml" ContentType="application/vnd.openxmlformats-officedocument.drawingml.chartshapes+xml"/>
  <Override PartName="/ppt/charts/chart1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3.xml" ContentType="application/vnd.openxmlformats-officedocument.drawingml.chart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60"/>
  </p:notesMasterIdLst>
  <p:sldIdLst>
    <p:sldId id="385" r:id="rId2"/>
    <p:sldId id="416" r:id="rId3"/>
    <p:sldId id="415" r:id="rId4"/>
    <p:sldId id="470" r:id="rId5"/>
    <p:sldId id="471" r:id="rId6"/>
    <p:sldId id="452" r:id="rId7"/>
    <p:sldId id="442" r:id="rId8"/>
    <p:sldId id="448" r:id="rId9"/>
    <p:sldId id="439" r:id="rId10"/>
    <p:sldId id="444" r:id="rId11"/>
    <p:sldId id="445" r:id="rId12"/>
    <p:sldId id="446" r:id="rId13"/>
    <p:sldId id="447" r:id="rId14"/>
    <p:sldId id="449" r:id="rId15"/>
    <p:sldId id="469" r:id="rId16"/>
    <p:sldId id="450" r:id="rId17"/>
    <p:sldId id="472" r:id="rId18"/>
    <p:sldId id="451" r:id="rId19"/>
    <p:sldId id="389" r:id="rId20"/>
    <p:sldId id="390" r:id="rId21"/>
    <p:sldId id="428" r:id="rId22"/>
    <p:sldId id="430" r:id="rId23"/>
    <p:sldId id="432" r:id="rId24"/>
    <p:sldId id="434" r:id="rId25"/>
    <p:sldId id="391" r:id="rId26"/>
    <p:sldId id="425" r:id="rId27"/>
    <p:sldId id="376" r:id="rId28"/>
    <p:sldId id="474" r:id="rId29"/>
    <p:sldId id="379" r:id="rId30"/>
    <p:sldId id="456" r:id="rId31"/>
    <p:sldId id="457" r:id="rId32"/>
    <p:sldId id="458" r:id="rId33"/>
    <p:sldId id="459" r:id="rId34"/>
    <p:sldId id="460" r:id="rId35"/>
    <p:sldId id="473" r:id="rId36"/>
    <p:sldId id="461" r:id="rId37"/>
    <p:sldId id="462" r:id="rId38"/>
    <p:sldId id="463" r:id="rId39"/>
    <p:sldId id="465" r:id="rId40"/>
    <p:sldId id="369" r:id="rId41"/>
    <p:sldId id="287" r:id="rId42"/>
    <p:sldId id="288" r:id="rId43"/>
    <p:sldId id="291" r:id="rId44"/>
    <p:sldId id="413" r:id="rId45"/>
    <p:sldId id="412" r:id="rId46"/>
    <p:sldId id="312" r:id="rId47"/>
    <p:sldId id="366" r:id="rId48"/>
    <p:sldId id="371" r:id="rId49"/>
    <p:sldId id="297" r:id="rId50"/>
    <p:sldId id="293" r:id="rId51"/>
    <p:sldId id="401" r:id="rId52"/>
    <p:sldId id="475" r:id="rId53"/>
    <p:sldId id="330" r:id="rId54"/>
    <p:sldId id="410" r:id="rId55"/>
    <p:sldId id="344" r:id="rId56"/>
    <p:sldId id="437" r:id="rId57"/>
    <p:sldId id="438" r:id="rId58"/>
    <p:sldId id="468" r:id="rId5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5" autoAdjust="0"/>
    <p:restoredTop sz="91459" autoAdjust="0"/>
  </p:normalViewPr>
  <p:slideViewPr>
    <p:cSldViewPr>
      <p:cViewPr varScale="1">
        <p:scale>
          <a:sx n="73" d="100"/>
          <a:sy n="73" d="100"/>
        </p:scale>
        <p:origin x="146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Chart\Covid-19%20report%2020.xlsx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45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46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image" Target="../media/image47.jpeg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EOC.xlsx" TargetMode="External"/><Relationship Id="rId1" Type="http://schemas.openxmlformats.org/officeDocument/2006/relationships/image" Target="../media/image48.jpeg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openxmlformats.org/officeDocument/2006/relationships/image" Target="../media/image45.jpeg"/><Relationship Id="rId1" Type="http://schemas.openxmlformats.org/officeDocument/2006/relationships/image" Target="../media/image50.jpeg"/><Relationship Id="rId4" Type="http://schemas.openxmlformats.org/officeDocument/2006/relationships/chartUserShapes" Target="../drawings/drawing1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image" Target="../media/image49.jpeg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oleObject" Target="file:///C:\Users\USER\Desktop\Chart\Covid-19%20report%2020.xlsx" TargetMode="External"/><Relationship Id="rId1" Type="http://schemas.openxmlformats.org/officeDocument/2006/relationships/image" Target="../media/image105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890347039953401E-2"/>
          <c:y val="8.0954601022027506E-2"/>
          <c:w val="0.79749431321084863"/>
          <c:h val="0.788539579741881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4413</c:v>
                </c:pt>
                <c:pt idx="1">
                  <c:v>3506</c:v>
                </c:pt>
                <c:pt idx="2">
                  <c:v>3246</c:v>
                </c:pt>
                <c:pt idx="3">
                  <c:v>3418</c:v>
                </c:pt>
                <c:pt idx="4">
                  <c:v>3486</c:v>
                </c:pt>
                <c:pt idx="5">
                  <c:v>3001</c:v>
                </c:pt>
                <c:pt idx="6">
                  <c:v>2926</c:v>
                </c:pt>
                <c:pt idx="7">
                  <c:v>2756</c:v>
                </c:pt>
                <c:pt idx="8">
                  <c:v>2957</c:v>
                </c:pt>
                <c:pt idx="9">
                  <c:v>2615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53-4410-A092-6E61458D3C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1039</c:v>
                </c:pt>
                <c:pt idx="5">
                  <c:v>727</c:v>
                </c:pt>
                <c:pt idx="6">
                  <c:v>759</c:v>
                </c:pt>
                <c:pt idx="7">
                  <c:v>790</c:v>
                </c:pt>
                <c:pt idx="8">
                  <c:v>854</c:v>
                </c:pt>
                <c:pt idx="9">
                  <c:v>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53-4410-A092-6E61458D3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417984"/>
        <c:axId val="237419520"/>
      </c:barChart>
      <c:catAx>
        <c:axId val="237417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7419520"/>
        <c:crosses val="autoZero"/>
        <c:auto val="1"/>
        <c:lblAlgn val="ctr"/>
        <c:lblOffset val="100"/>
        <c:noMultiLvlLbl val="0"/>
      </c:catAx>
      <c:valAx>
        <c:axId val="237419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74179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474617235345604"/>
          <c:y val="5.3978707543213912E-2"/>
          <c:w val="0.17386493875765535"/>
          <c:h val="0.244113590830732"/>
        </c:manualLayout>
      </c:layout>
      <c:overlay val="0"/>
      <c:spPr>
        <a:solidFill>
          <a:schemeClr val="bg1"/>
        </a:solidFill>
        <a:ln>
          <a:solidFill>
            <a:schemeClr val="accent1"/>
          </a:solidFill>
        </a:ln>
      </c:sp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Emergency+Outdoor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97956</c:v>
                </c:pt>
                <c:pt idx="1">
                  <c:v>87611</c:v>
                </c:pt>
                <c:pt idx="2">
                  <c:v>99955</c:v>
                </c:pt>
                <c:pt idx="3">
                  <c:v>105057</c:v>
                </c:pt>
                <c:pt idx="4">
                  <c:v>87456</c:v>
                </c:pt>
                <c:pt idx="5">
                  <c:v>134195</c:v>
                </c:pt>
                <c:pt idx="6">
                  <c:v>142869</c:v>
                </c:pt>
                <c:pt idx="7">
                  <c:v>136611</c:v>
                </c:pt>
                <c:pt idx="8">
                  <c:v>145592</c:v>
                </c:pt>
                <c:pt idx="9">
                  <c:v>135820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9F-4306-8585-8E53C9687A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14819</c:v>
                </c:pt>
                <c:pt idx="1">
                  <c:v>14112</c:v>
                </c:pt>
                <c:pt idx="2">
                  <c:v>13708</c:v>
                </c:pt>
                <c:pt idx="3">
                  <c:v>14349</c:v>
                </c:pt>
                <c:pt idx="4">
                  <c:v>14140</c:v>
                </c:pt>
                <c:pt idx="5">
                  <c:v>13933</c:v>
                </c:pt>
                <c:pt idx="6">
                  <c:v>15125</c:v>
                </c:pt>
                <c:pt idx="7">
                  <c:v>12836</c:v>
                </c:pt>
                <c:pt idx="8">
                  <c:v>16915</c:v>
                </c:pt>
                <c:pt idx="9">
                  <c:v>10139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9F-4306-8585-8E53C9687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811584"/>
        <c:axId val="237813120"/>
      </c:barChart>
      <c:catAx>
        <c:axId val="237811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7813120"/>
        <c:crosses val="autoZero"/>
        <c:auto val="1"/>
        <c:lblAlgn val="ctr"/>
        <c:lblOffset val="100"/>
        <c:noMultiLvlLbl val="0"/>
      </c:catAx>
      <c:valAx>
        <c:axId val="2378131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78115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471577565962166"/>
          <c:y val="0.38908298468477376"/>
          <c:w val="0.25333494497398351"/>
          <c:h val="0.21411916567323974"/>
        </c:manualLayout>
      </c:layout>
      <c:overlay val="0"/>
      <c:txPr>
        <a:bodyPr/>
        <a:lstStyle/>
        <a:p>
          <a:pPr>
            <a:defRPr sz="1500" baseline="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Sheet1!$A$7:$A$16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Sheet1!$B$7:$B$16</c:f>
              <c:numCache>
                <c:formatCode>General</c:formatCode>
                <c:ptCount val="10"/>
                <c:pt idx="0">
                  <c:v>8935</c:v>
                </c:pt>
                <c:pt idx="1">
                  <c:v>7442</c:v>
                </c:pt>
                <c:pt idx="2">
                  <c:v>7210</c:v>
                </c:pt>
                <c:pt idx="3">
                  <c:v>6919</c:v>
                </c:pt>
                <c:pt idx="4">
                  <c:v>7194</c:v>
                </c:pt>
                <c:pt idx="5">
                  <c:v>6756</c:v>
                </c:pt>
                <c:pt idx="6">
                  <c:v>6632</c:v>
                </c:pt>
                <c:pt idx="7">
                  <c:v>6348</c:v>
                </c:pt>
                <c:pt idx="8">
                  <c:v>7349</c:v>
                </c:pt>
                <c:pt idx="9">
                  <c:v>6995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7-44CC-864A-78852C4785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0021888"/>
        <c:axId val="240024576"/>
      </c:barChart>
      <c:catAx>
        <c:axId val="240021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0024576"/>
        <c:crosses val="autoZero"/>
        <c:auto val="1"/>
        <c:lblAlgn val="ctr"/>
        <c:lblOffset val="100"/>
        <c:noMultiLvlLbl val="0"/>
      </c:catAx>
      <c:valAx>
        <c:axId val="24002457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40021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'20-21'!$C$5</c:f>
              <c:strCache>
                <c:ptCount val="1"/>
                <c:pt idx="0">
                  <c:v>20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'20-21'!$B$6:$B$11</c:f>
              <c:strCache>
                <c:ptCount val="6"/>
                <c:pt idx="0">
                  <c:v>Suspected</c:v>
                </c:pt>
                <c:pt idx="1">
                  <c:v>Confirmed </c:v>
                </c:pt>
                <c:pt idx="2">
                  <c:v>Cured</c:v>
                </c:pt>
                <c:pt idx="3">
                  <c:v>Ref.</c:v>
                </c:pt>
                <c:pt idx="4">
                  <c:v>DORB</c:v>
                </c:pt>
                <c:pt idx="5">
                  <c:v>Death</c:v>
                </c:pt>
              </c:strCache>
            </c:strRef>
          </c:cat>
          <c:val>
            <c:numRef>
              <c:f>'20-21'!$C$6:$C$11</c:f>
              <c:numCache>
                <c:formatCode>General</c:formatCode>
                <c:ptCount val="6"/>
                <c:pt idx="0">
                  <c:v>607</c:v>
                </c:pt>
                <c:pt idx="1">
                  <c:v>293</c:v>
                </c:pt>
                <c:pt idx="2">
                  <c:v>233</c:v>
                </c:pt>
                <c:pt idx="3">
                  <c:v>17</c:v>
                </c:pt>
                <c:pt idx="4">
                  <c:v>23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FE-4369-997D-482C0C121658}"/>
            </c:ext>
          </c:extLst>
        </c:ser>
        <c:ser>
          <c:idx val="1"/>
          <c:order val="1"/>
          <c:tx>
            <c:strRef>
              <c:f>'20-21'!$D$5</c:f>
              <c:strCache>
                <c:ptCount val="1"/>
                <c:pt idx="0">
                  <c:v>21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'20-21'!$B$6:$B$11</c:f>
              <c:strCache>
                <c:ptCount val="6"/>
                <c:pt idx="0">
                  <c:v>Suspected</c:v>
                </c:pt>
                <c:pt idx="1">
                  <c:v>Confirmed </c:v>
                </c:pt>
                <c:pt idx="2">
                  <c:v>Cured</c:v>
                </c:pt>
                <c:pt idx="3">
                  <c:v>Ref.</c:v>
                </c:pt>
                <c:pt idx="4">
                  <c:v>DORB</c:v>
                </c:pt>
                <c:pt idx="5">
                  <c:v>Death</c:v>
                </c:pt>
              </c:strCache>
            </c:strRef>
          </c:cat>
          <c:val>
            <c:numRef>
              <c:f>'20-21'!$D$6:$D$11</c:f>
              <c:numCache>
                <c:formatCode>General</c:formatCode>
                <c:ptCount val="6"/>
                <c:pt idx="0">
                  <c:v>1906</c:v>
                </c:pt>
                <c:pt idx="1">
                  <c:v>1006</c:v>
                </c:pt>
                <c:pt idx="2">
                  <c:v>727</c:v>
                </c:pt>
                <c:pt idx="3">
                  <c:v>50</c:v>
                </c:pt>
                <c:pt idx="4">
                  <c:v>39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FE-4369-997D-482C0C121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241472"/>
        <c:axId val="237243776"/>
      </c:barChart>
      <c:catAx>
        <c:axId val="237241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500" b="1" i="0" baseline="0"/>
            </a:pPr>
            <a:endParaRPr lang="en-US"/>
          </a:p>
        </c:txPr>
        <c:crossAx val="237243776"/>
        <c:crosses val="autoZero"/>
        <c:auto val="1"/>
        <c:lblAlgn val="ctr"/>
        <c:lblOffset val="100"/>
        <c:noMultiLvlLbl val="0"/>
      </c:catAx>
      <c:valAx>
        <c:axId val="2372437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7241472"/>
        <c:crosses val="autoZero"/>
        <c:crossBetween val="between"/>
      </c:valAx>
    </c:plotArea>
    <c:legend>
      <c:legendPos val="t"/>
      <c:legendEntry>
        <c:idx val="0"/>
        <c:txPr>
          <a:bodyPr/>
          <a:lstStyle/>
          <a:p>
            <a:pPr>
              <a:defRPr sz="2000" baseline="0"/>
            </a:pPr>
            <a:endParaRPr lang="en-US"/>
          </a:p>
        </c:txPr>
      </c:legendEntry>
      <c:overlay val="0"/>
      <c:txPr>
        <a:bodyPr/>
        <a:lstStyle/>
        <a:p>
          <a:pPr>
            <a:defRPr sz="2000" baseline="0"/>
          </a:pPr>
          <a:endParaRPr lang="en-US"/>
        </a:p>
      </c:txPr>
    </c:legend>
    <c:plotVisOnly val="1"/>
    <c:dispBlanksAs val="gap"/>
    <c:showDLblsOverMax val="0"/>
  </c:chart>
  <c:spPr>
    <a:solidFill>
      <a:schemeClr val="accent5">
        <a:lumMod val="40000"/>
        <a:lumOff val="60000"/>
      </a:schemeClr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0174150528481239E-3"/>
          <c:w val="1"/>
          <c:h val="0.894109739660920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81796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  <c:pt idx="8">
                  <c:v>267724</c:v>
                </c:pt>
                <c:pt idx="9">
                  <c:v>305325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3-45D4-B04A-4C59EB9821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7713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E3-45D4-B04A-4C59EB982170}"/>
                </c:ext>
              </c:extLst>
            </c:dLbl>
            <c:dLbl>
              <c:idx val="5"/>
              <c:layout>
                <c:manualLayout>
                  <c:x val="6.2305295950157713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2E3-45D4-B04A-4C59EB982170}"/>
                </c:ext>
              </c:extLst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E3-45D4-B04A-4C59EB982170}"/>
                </c:ext>
              </c:extLst>
            </c:dLbl>
            <c:dLbl>
              <c:idx val="7"/>
              <c:layout>
                <c:manualLayout>
                  <c:x val="-6.5370734908139336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2E3-45D4-B04A-4C59EB9821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12973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  <c:pt idx="8">
                  <c:v>27989</c:v>
                </c:pt>
                <c:pt idx="9">
                  <c:v>36114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2E3-45D4-B04A-4C59EB982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4218112"/>
        <c:axId val="264544256"/>
      </c:barChart>
      <c:catAx>
        <c:axId val="244218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4544256"/>
        <c:crosses val="autoZero"/>
        <c:auto val="1"/>
        <c:lblAlgn val="ctr"/>
        <c:lblOffset val="100"/>
        <c:noMultiLvlLbl val="0"/>
      </c:catAx>
      <c:valAx>
        <c:axId val="2645442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44218112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5.7589676290463823E-4"/>
          <c:y val="4.3358628589390852E-2"/>
          <c:w val="0.99942410323709541"/>
          <c:h val="0.821918720909672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7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647-4E8A-8F30-89BE92452D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766</c:v>
                </c:pt>
                <c:pt idx="1">
                  <c:v>835</c:v>
                </c:pt>
                <c:pt idx="2">
                  <c:v>876</c:v>
                </c:pt>
                <c:pt idx="3">
                  <c:v>1028</c:v>
                </c:pt>
                <c:pt idx="4">
                  <c:v>1000</c:v>
                </c:pt>
                <c:pt idx="5">
                  <c:v>804</c:v>
                </c:pt>
                <c:pt idx="6">
                  <c:v>1018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47-4E8A-8F30-89BE92452D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923</c:v>
                </c:pt>
                <c:pt idx="1">
                  <c:v>1595</c:v>
                </c:pt>
                <c:pt idx="2">
                  <c:v>1493</c:v>
                </c:pt>
                <c:pt idx="3">
                  <c:v>1535</c:v>
                </c:pt>
                <c:pt idx="4">
                  <c:v>2014</c:v>
                </c:pt>
                <c:pt idx="5">
                  <c:v>910</c:v>
                </c:pt>
                <c:pt idx="6">
                  <c:v>2282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47-4E8A-8F30-89BE92452D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806</c:v>
                </c:pt>
                <c:pt idx="1">
                  <c:v>1123</c:v>
                </c:pt>
                <c:pt idx="2">
                  <c:v>1297</c:v>
                </c:pt>
                <c:pt idx="3">
                  <c:v>1029</c:v>
                </c:pt>
                <c:pt idx="4">
                  <c:v>1648</c:v>
                </c:pt>
                <c:pt idx="5">
                  <c:v>861</c:v>
                </c:pt>
                <c:pt idx="6">
                  <c:v>3074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47-4E8A-8F30-89BE92452D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Sheet1!$E$2:$E$8</c:f>
              <c:numCache>
                <c:formatCode>General</c:formatCode>
                <c:ptCount val="7"/>
                <c:pt idx="0">
                  <c:v>2495</c:v>
                </c:pt>
                <c:pt idx="1">
                  <c:v>3553</c:v>
                </c:pt>
                <c:pt idx="2">
                  <c:v>3666</c:v>
                </c:pt>
                <c:pt idx="3">
                  <c:v>3592</c:v>
                </c:pt>
                <c:pt idx="4">
                  <c:v>4662</c:v>
                </c:pt>
                <c:pt idx="5">
                  <c:v>2575</c:v>
                </c:pt>
                <c:pt idx="6">
                  <c:v>6374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47-4E8A-8F30-89BE92452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4945024"/>
        <c:axId val="275658240"/>
      </c:barChart>
      <c:catAx>
        <c:axId val="264945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75658240"/>
        <c:crosses val="autoZero"/>
        <c:auto val="1"/>
        <c:lblAlgn val="ctr"/>
        <c:lblOffset val="100"/>
        <c:noMultiLvlLbl val="0"/>
      </c:catAx>
      <c:valAx>
        <c:axId val="2756582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64945024"/>
        <c:crosses val="autoZero"/>
        <c:crossBetween val="between"/>
      </c:valAx>
    </c:plotArea>
    <c:legend>
      <c:legendPos val="t"/>
      <c:legendEntry>
        <c:idx val="1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ayout>
        <c:manualLayout>
          <c:xMode val="edge"/>
          <c:yMode val="edge"/>
          <c:x val="0"/>
          <c:y val="0"/>
          <c:w val="0.70813571741032932"/>
          <c:h val="8.1837744679505414E-2"/>
        </c:manualLayout>
      </c:layout>
      <c:overlay val="0"/>
      <c:txPr>
        <a:bodyPr/>
        <a:lstStyle/>
        <a:p>
          <a:pPr>
            <a:defRPr sz="18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88894883509932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1.9300000000000044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  <c:pt idx="8">
                  <c:v>1.85</c:v>
                </c:pt>
                <c:pt idx="9">
                  <c:v>2.5099999999999998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86-46C1-802B-39953CFA0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6732672"/>
        <c:axId val="286734208"/>
      </c:barChart>
      <c:catAx>
        <c:axId val="286732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 baseline="0"/>
            </a:pPr>
            <a:endParaRPr lang="en-US"/>
          </a:p>
        </c:txPr>
        <c:crossAx val="286734208"/>
        <c:crosses val="autoZero"/>
        <c:auto val="1"/>
        <c:lblAlgn val="ctr"/>
        <c:lblOffset val="100"/>
        <c:noMultiLvlLbl val="0"/>
      </c:catAx>
      <c:valAx>
        <c:axId val="286734208"/>
        <c:scaling>
          <c:orientation val="minMax"/>
        </c:scaling>
        <c:delete val="1"/>
        <c:axPos val="l"/>
        <c:majorGridlines/>
        <c:numFmt formatCode="0%" sourceLinked="1"/>
        <c:majorTickMark val="out"/>
        <c:minorTickMark val="none"/>
        <c:tickLblPos val="nextTo"/>
        <c:crossAx val="286732672"/>
        <c:crosses val="autoZero"/>
        <c:crossBetween val="between"/>
      </c:valAx>
      <c:spPr>
        <a:solidFill>
          <a:srgbClr val="92D050"/>
        </a:solidFill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solidFill>
          <a:srgbClr val="FFC000"/>
        </a:solidFill>
      </c:spPr>
    </c:sideWall>
    <c:backWall>
      <c:thickness val="0"/>
      <c:spPr>
        <a:solidFill>
          <a:srgbClr val="FFC000"/>
        </a:solidFill>
      </c:spPr>
    </c:backWall>
    <c:plotArea>
      <c:layout>
        <c:manualLayout>
          <c:layoutTarget val="inner"/>
          <c:xMode val="edge"/>
          <c:yMode val="edge"/>
          <c:x val="1.3205380577427821E-3"/>
          <c:y val="3.3947759542105431E-2"/>
          <c:w val="0.9986794619422551"/>
          <c:h val="0.8752133346136611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E95D-48A7-BF9F-60033891789C}"/>
              </c:ext>
            </c:extLst>
          </c:dPt>
          <c:dLbls>
            <c:dLbl>
              <c:idx val="0"/>
              <c:layout>
                <c:manualLayout>
                  <c:x val="4.4941168575518865E-3"/>
                  <c:y val="-5.5772496453611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95D-48A7-BF9F-60033891789C}"/>
                </c:ext>
              </c:extLst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5D-48A7-BF9F-60033891789C}"/>
                </c:ext>
              </c:extLst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5D-48A7-BF9F-60033891789C}"/>
                </c:ext>
              </c:extLst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95D-48A7-BF9F-60033891789C}"/>
                </c:ext>
              </c:extLst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5D-48A7-BF9F-6003389178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977</c:v>
                </c:pt>
                <c:pt idx="1">
                  <c:v>1294</c:v>
                </c:pt>
                <c:pt idx="2">
                  <c:v>1339</c:v>
                </c:pt>
                <c:pt idx="3">
                  <c:v>1582</c:v>
                </c:pt>
                <c:pt idx="4">
                  <c:v>1383</c:v>
                </c:pt>
                <c:pt idx="5">
                  <c:v>1578</c:v>
                </c:pt>
                <c:pt idx="6">
                  <c:v>1385</c:v>
                </c:pt>
                <c:pt idx="7">
                  <c:v>1496</c:v>
                </c:pt>
                <c:pt idx="8">
                  <c:v>1445</c:v>
                </c:pt>
                <c:pt idx="9">
                  <c:v>1445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5D-48A7-BF9F-600338917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86814208"/>
        <c:axId val="286815744"/>
        <c:axId val="0"/>
      </c:bar3DChart>
      <c:catAx>
        <c:axId val="286814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="1" baseline="0"/>
            </a:pPr>
            <a:endParaRPr lang="en-US"/>
          </a:p>
        </c:txPr>
        <c:crossAx val="286815744"/>
        <c:crosses val="autoZero"/>
        <c:auto val="1"/>
        <c:lblAlgn val="ctr"/>
        <c:lblOffset val="100"/>
        <c:noMultiLvlLbl val="0"/>
      </c:catAx>
      <c:valAx>
        <c:axId val="28681574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86814208"/>
        <c:crosses val="autoZero"/>
        <c:crossBetween val="between"/>
      </c:valAx>
      <c:spPr>
        <a:solidFill>
          <a:srgbClr val="FFC000"/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5AA-45D9-B37F-53B71815DF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  <c:pt idx="7">
                  <c:v>14646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AA-45D9-B37F-53B71815DF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5AA-45D9-B37F-53B71815DFAD}"/>
                </c:ext>
              </c:extLst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AA-45D9-B37F-53B71815DFAD}"/>
                </c:ext>
              </c:extLst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5AA-45D9-B37F-53B71815DFAD}"/>
                </c:ext>
              </c:extLst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AA-45D9-B37F-53B71815DFAD}"/>
                </c:ext>
              </c:extLst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5AA-45D9-B37F-53B71815DFAD}"/>
                </c:ext>
              </c:extLst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AA-45D9-B37F-53B71815DFAD}"/>
                </c:ext>
              </c:extLst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AA-45D9-B37F-53B71815DF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  <c:pt idx="7">
                  <c:v>2501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5AA-45D9-B37F-53B71815D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376832"/>
        <c:axId val="155805952"/>
      </c:barChart>
      <c:catAx>
        <c:axId val="154376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5805952"/>
        <c:crosses val="autoZero"/>
        <c:auto val="1"/>
        <c:lblAlgn val="ctr"/>
        <c:lblOffset val="100"/>
        <c:noMultiLvlLbl val="0"/>
      </c:catAx>
      <c:valAx>
        <c:axId val="1558059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437683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Sheet2!$A$3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Sheet2!$B$3:$H$3</c:f>
              <c:numCache>
                <c:formatCode>General</c:formatCode>
                <c:ptCount val="7"/>
                <c:pt idx="0">
                  <c:v>1090</c:v>
                </c:pt>
                <c:pt idx="1">
                  <c:v>1016</c:v>
                </c:pt>
                <c:pt idx="2">
                  <c:v>1143</c:v>
                </c:pt>
                <c:pt idx="3">
                  <c:v>887</c:v>
                </c:pt>
                <c:pt idx="4">
                  <c:v>1019</c:v>
                </c:pt>
                <c:pt idx="5">
                  <c:v>945</c:v>
                </c:pt>
                <c:pt idx="6">
                  <c:v>870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35-495B-BFF0-A47EBA0E6C5C}"/>
            </c:ext>
          </c:extLst>
        </c:ser>
        <c:ser>
          <c:idx val="1"/>
          <c:order val="1"/>
          <c:tx>
            <c:strRef>
              <c:f>Sheet2!$A$4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33CC3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Sheet2!$B$4:$H$4</c:f>
              <c:numCache>
                <c:formatCode>General</c:formatCode>
                <c:ptCount val="7"/>
                <c:pt idx="0">
                  <c:v>1944</c:v>
                </c:pt>
                <c:pt idx="1">
                  <c:v>1920</c:v>
                </c:pt>
                <c:pt idx="2">
                  <c:v>1854</c:v>
                </c:pt>
                <c:pt idx="3">
                  <c:v>1803</c:v>
                </c:pt>
                <c:pt idx="4">
                  <c:v>1731</c:v>
                </c:pt>
                <c:pt idx="5">
                  <c:v>1552</c:v>
                </c:pt>
                <c:pt idx="6">
                  <c:v>1654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35-495B-BFF0-A47EBA0E6C5C}"/>
            </c:ext>
          </c:extLst>
        </c:ser>
        <c:ser>
          <c:idx val="2"/>
          <c:order val="2"/>
          <c:tx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Sheet2!$B$5:$H$5</c:f>
              <c:numCache>
                <c:formatCode>General</c:formatCode>
                <c:ptCount val="7"/>
                <c:pt idx="0">
                  <c:v>3034</c:v>
                </c:pt>
                <c:pt idx="1">
                  <c:v>2936</c:v>
                </c:pt>
                <c:pt idx="2">
                  <c:v>2997</c:v>
                </c:pt>
                <c:pt idx="3">
                  <c:v>2690</c:v>
                </c:pt>
                <c:pt idx="4">
                  <c:v>2750</c:v>
                </c:pt>
                <c:pt idx="5">
                  <c:v>2497</c:v>
                </c:pt>
                <c:pt idx="6">
                  <c:v>2524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35-495B-BFF0-A47EBA0E6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9"/>
        <c:axId val="287457664"/>
        <c:axId val="287459200"/>
      </c:barChart>
      <c:catAx>
        <c:axId val="287457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7459200"/>
        <c:crosses val="autoZero"/>
        <c:auto val="1"/>
        <c:lblAlgn val="ctr"/>
        <c:lblOffset val="100"/>
        <c:noMultiLvlLbl val="0"/>
      </c:catAx>
      <c:valAx>
        <c:axId val="2874592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7457664"/>
        <c:crosses val="autoZero"/>
        <c:crossBetween val="between"/>
      </c:valAx>
      <c:spPr>
        <a:ln cap="sq">
          <a:miter lim="800000"/>
        </a:ln>
      </c:spPr>
    </c:plotArea>
    <c:legend>
      <c:legendPos val="t"/>
      <c:overlay val="0"/>
    </c:legend>
    <c:plotVisOnly val="1"/>
    <c:dispBlanksAs val="gap"/>
    <c:showDLblsOverMax val="0"/>
  </c:chart>
  <c:spPr>
    <a:blipFill dpi="0" rotWithShape="1">
      <a:blip xmlns:r="http://schemas.openxmlformats.org/officeDocument/2006/relationships" r:embed="rId1"/>
      <a:srcRect/>
      <a:tile tx="19050" ty="0" sx="100000" sy="100000" flip="none" algn="tl"/>
    </a:blipFill>
  </c:spPr>
  <c:txPr>
    <a:bodyPr/>
    <a:lstStyle/>
    <a:p>
      <a:pPr>
        <a:defRPr sz="2000" b="1" i="0" baseline="0"/>
      </a:pPr>
      <a:endParaRPr lang="en-US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77092069741283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7C8-47BC-847E-F668F8B8E8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1290</c:v>
                </c:pt>
                <c:pt idx="1">
                  <c:v>870</c:v>
                </c:pt>
                <c:pt idx="2">
                  <c:v>1115</c:v>
                </c:pt>
                <c:pt idx="3">
                  <c:v>499</c:v>
                </c:pt>
                <c:pt idx="4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C8-47BC-847E-F668F8B8E8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-4.6296296296297014E-3"/>
                  <c:y val="-4.97512340362701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7C8-47BC-847E-F668F8B8E8EF}"/>
                </c:ext>
              </c:extLst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C8-47BC-847E-F668F8B8E8EF}"/>
                </c:ext>
              </c:extLst>
            </c:dLbl>
            <c:dLbl>
              <c:idx val="2"/>
              <c:layout>
                <c:manualLayout>
                  <c:x val="-3.0864197530864872E-3"/>
                  <c:y val="1.0587219299718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7C8-47BC-847E-F668F8B8E8EF}"/>
                </c:ext>
              </c:extLst>
            </c:dLbl>
            <c:dLbl>
              <c:idx val="3"/>
              <c:layout>
                <c:manualLayout>
                  <c:x val="-3.0864197530864872E-3"/>
                  <c:y val="9.95024680725405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7C8-47BC-847E-F668F8B8E8EF}"/>
                </c:ext>
              </c:extLst>
            </c:dLbl>
            <c:dLbl>
              <c:idx val="4"/>
              <c:layout>
                <c:manualLayout>
                  <c:x val="-3.0864197530864872E-3"/>
                  <c:y val="2.48756170181353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7C8-47BC-847E-F668F8B8E8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1502</c:v>
                </c:pt>
                <c:pt idx="1">
                  <c:v>1654</c:v>
                </c:pt>
                <c:pt idx="2">
                  <c:v>1214</c:v>
                </c:pt>
                <c:pt idx="3">
                  <c:v>1013</c:v>
                </c:pt>
                <c:pt idx="4">
                  <c:v>1174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7C8-47BC-847E-F668F8B8E8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-3.0864197530864803E-3"/>
                  <c:y val="9.362579677540701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7C8-47BC-847E-F668F8B8E8EF}"/>
                </c:ext>
              </c:extLst>
            </c:dLbl>
            <c:dLbl>
              <c:idx val="1"/>
              <c:layout>
                <c:manualLayout>
                  <c:x val="0"/>
                  <c:y val="-3.6949756280465497E-3"/>
                </c:manualLayout>
              </c:layout>
              <c:spPr/>
              <c:txPr>
                <a:bodyPr rot="-5400000" vert="horz"/>
                <a:lstStyle/>
                <a:p>
                  <a:pPr>
                    <a:defRPr sz="2400" b="1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7C8-47BC-847E-F668F8B8E8EF}"/>
                </c:ext>
              </c:extLst>
            </c:dLbl>
            <c:dLbl>
              <c:idx val="2"/>
              <c:layout>
                <c:manualLayout>
                  <c:x val="3.0864197530865063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7C8-47BC-847E-F668F8B8E8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2792</c:v>
                </c:pt>
                <c:pt idx="1">
                  <c:v>2524</c:v>
                </c:pt>
                <c:pt idx="2">
                  <c:v>2329</c:v>
                </c:pt>
                <c:pt idx="3">
                  <c:v>1512</c:v>
                </c:pt>
                <c:pt idx="4">
                  <c:v>1472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7C8-47BC-847E-F668F8B8E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7499776"/>
        <c:axId val="287501312"/>
      </c:barChart>
      <c:catAx>
        <c:axId val="2874997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blipFill>
            <a:blip xmlns:r="http://schemas.openxmlformats.org/officeDocument/2006/relationships" r:embed="rId1"/>
            <a:tile tx="0" ty="0" sx="100000" sy="100000" flip="none" algn="tl"/>
          </a:blipFill>
        </c:spPr>
        <c:txPr>
          <a:bodyPr/>
          <a:lstStyle/>
          <a:p>
            <a:pPr>
              <a:defRPr b="1"/>
            </a:pPr>
            <a:endParaRPr lang="en-US"/>
          </a:p>
        </c:txPr>
        <c:crossAx val="287501312"/>
        <c:crosses val="autoZero"/>
        <c:auto val="1"/>
        <c:lblAlgn val="ctr"/>
        <c:lblOffset val="100"/>
        <c:noMultiLvlLbl val="0"/>
      </c:catAx>
      <c:valAx>
        <c:axId val="28750131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87499776"/>
        <c:crosses val="autoZero"/>
        <c:crossBetween val="between"/>
      </c:valAx>
      <c:spPr>
        <a:blipFill>
          <a:blip xmlns:r="http://schemas.openxmlformats.org/officeDocument/2006/relationships" r:embed="rId2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"/>
          <c:y val="3.2163742690058485E-2"/>
          <c:w val="0.98514599737532804"/>
          <c:h val="0.83777362204724415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30A-44C8-8E33-59452F0353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#,##0</c:formatCode>
                <c:ptCount val="7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  <c:pt idx="6" formatCode="General">
                  <c:v>8629296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0A-44C8-8E33-59452F0353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287958912"/>
        <c:axId val="287960448"/>
        <c:axId val="275672128"/>
      </c:bar3DChart>
      <c:catAx>
        <c:axId val="287958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800" b="1" baseline="0"/>
            </a:pPr>
            <a:endParaRPr lang="en-US"/>
          </a:p>
        </c:txPr>
        <c:crossAx val="287960448"/>
        <c:crosses val="autoZero"/>
        <c:auto val="1"/>
        <c:lblAlgn val="ctr"/>
        <c:lblOffset val="100"/>
        <c:noMultiLvlLbl val="0"/>
      </c:catAx>
      <c:valAx>
        <c:axId val="287960448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287958912"/>
        <c:crosses val="autoZero"/>
        <c:crossBetween val="between"/>
      </c:valAx>
      <c:serAx>
        <c:axId val="275672128"/>
        <c:scaling>
          <c:orientation val="minMax"/>
        </c:scaling>
        <c:delete val="1"/>
        <c:axPos val="b"/>
        <c:majorTickMark val="out"/>
        <c:minorTickMark val="none"/>
        <c:tickLblPos val="nextTo"/>
        <c:crossAx val="287960448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1-00FA-4382-AD49-AB939F119819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</c:spPr>
            <c:extLst>
              <c:ext xmlns:c16="http://schemas.microsoft.com/office/drawing/2014/chart" uri="{C3380CC4-5D6E-409C-BE32-E72D297353CC}">
                <c16:uniqueId val="{00000003-00FA-4382-AD49-AB939F119819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</c:spPr>
            <c:extLst>
              <c:ext xmlns:c16="http://schemas.microsoft.com/office/drawing/2014/chart" uri="{C3380CC4-5D6E-409C-BE32-E72D297353CC}">
                <c16:uniqueId val="{00000005-00FA-4382-AD49-AB939F119819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7-00FA-4382-AD49-AB939F119819}"/>
              </c:ext>
            </c:extLst>
          </c:dPt>
          <c:dPt>
            <c:idx val="4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9-00FA-4382-AD49-AB939F119819}"/>
              </c:ext>
            </c:extLst>
          </c:dPt>
          <c:dLbls>
            <c:dLbl>
              <c:idx val="1"/>
              <c:layout>
                <c:manualLayout>
                  <c:x val="-9.4279965004374744E-2"/>
                  <c:y val="0.18361961699232326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FA-4382-AD49-AB939F119819}"/>
                </c:ext>
              </c:extLst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0FA-4382-AD49-AB939F119819}"/>
                </c:ext>
              </c:extLst>
            </c:dLbl>
            <c:dLbl>
              <c:idx val="3"/>
              <c:layout>
                <c:manualLayout>
                  <c:x val="-3.1284886264217014E-2"/>
                  <c:y val="-2.777793979456310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0FA-4382-AD49-AB939F119819}"/>
                </c:ext>
              </c:extLst>
            </c:dLbl>
            <c:dLbl>
              <c:idx val="4"/>
              <c:layout>
                <c:manualLayout>
                  <c:x val="2.2308617672791478E-2"/>
                  <c:y val="0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0FA-4382-AD49-AB939F1198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960</c:v>
                </c:pt>
                <c:pt idx="1">
                  <c:v>62</c:v>
                </c:pt>
                <c:pt idx="2">
                  <c:v>68</c:v>
                </c:pt>
                <c:pt idx="3">
                  <c:v>1</c:v>
                </c:pt>
                <c:pt idx="4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0FA-4382-AD49-AB939F119819}"/>
            </c:ext>
          </c:extLst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B-00FA-4382-AD49-AB939F119819}"/>
            </c:ext>
          </c:extLst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C-00FA-4382-AD49-AB939F1198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>
    <c:autoUpdate val="0"/>
  </c:externalData>
  <c:userShapes r:id="rId3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0.43333</cdr:x>
      <cdr:y>0.90278</cdr:y>
    </cdr:from>
    <cdr:to>
      <cdr:x>0.5537</cdr:x>
      <cdr:y>0.96249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4953000"/>
          <a:ext cx="1100663" cy="3275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0.84167</cdr:x>
      <cdr:y>0.91667</cdr:y>
    </cdr:from>
    <cdr:to>
      <cdr:x>0.96204</cdr:x>
      <cdr:y>0.97222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7696200" y="5029200"/>
          <a:ext cx="1100667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486400" y="0"/>
          <a:ext cx="3657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000" dirty="0"/>
            <a:t>Total Positive Admitted - 1299</a:t>
          </a:r>
        </a:p>
      </cdr:txBody>
    </cdr:sp>
  </cdr:relSizeAnchor>
  <cdr:relSizeAnchor xmlns:cdr="http://schemas.openxmlformats.org/drawingml/2006/chartDrawing">
    <cdr:from>
      <cdr:x>0.925</cdr:x>
      <cdr:y>0.14458</cdr:y>
    </cdr:from>
    <cdr:to>
      <cdr:x>0.975</cdr:x>
      <cdr:y>0.6747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8458200" y="914400"/>
          <a:ext cx="457200" cy="3352800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</cdr:spPr>
      <cdr:txBody>
        <a:bodyPr xmlns:a="http://schemas.openxmlformats.org/drawingml/2006/main" vert="vert270" wrap="square" rtlCol="0"/>
        <a:lstStyle xmlns:a="http://schemas.openxmlformats.org/drawingml/2006/main"/>
        <a:p xmlns:a="http://schemas.openxmlformats.org/drawingml/2006/main">
          <a:r>
            <a:rPr lang="en-US" sz="2000" b="1" dirty="0"/>
            <a:t>Total suspected</a:t>
          </a:r>
          <a:r>
            <a:rPr lang="en-US" sz="2000" dirty="0"/>
            <a:t>  </a:t>
          </a:r>
          <a:r>
            <a:rPr lang="en-US" sz="2000" b="1" dirty="0"/>
            <a:t>Patient</a:t>
          </a:r>
          <a:r>
            <a:rPr lang="en-US" sz="2000" dirty="0"/>
            <a:t> -</a:t>
          </a:r>
          <a:r>
            <a:rPr lang="en-US" sz="2000" b="1" dirty="0"/>
            <a:t>2523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5/29/2022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23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E39231-8217-41F6-A7AC-B872BBF35343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5" y="4802939"/>
            <a:ext cx="5605074" cy="4550153"/>
          </a:xfrm>
          <a:noFill/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03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71450" indent="-296711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86847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61585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36324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11062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5801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60540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35279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802939"/>
            <a:ext cx="5605074" cy="455015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0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32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71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75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39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55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5/29/2022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0413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2022/5/29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e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jpeg"/><Relationship Id="rId7" Type="http://schemas.openxmlformats.org/officeDocument/2006/relationships/image" Target="../media/image64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4.png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4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3.jpeg"/><Relationship Id="rId4" Type="http://schemas.openxmlformats.org/officeDocument/2006/relationships/image" Target="../media/image9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Chowgacha-Jhenaidah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Ex 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Obs&amp;Gyne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) 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Jhenidah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Hospital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74639"/>
            <a:ext cx="61722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700" b="1" dirty="0"/>
              <a:t>A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189972" y="1545600"/>
            <a:ext cx="2835212" cy="172417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4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400" b="1" dirty="0"/>
              <a:t>Maximum utilization of Govt.</a:t>
            </a:r>
          </a:p>
          <a:p>
            <a:pPr algn="ctr" eaLnBrk="0" hangingPunct="0"/>
            <a:r>
              <a:rPr lang="en-US" sz="1400" b="1" dirty="0"/>
              <a:t>resources with </a:t>
            </a:r>
          </a:p>
          <a:p>
            <a:pPr algn="ctr" eaLnBrk="0" hangingPunct="0"/>
            <a:r>
              <a:rPr lang="en-US" sz="1400" b="1" dirty="0"/>
              <a:t>honesty and sincerity.</a:t>
            </a:r>
          </a:p>
          <a:p>
            <a:pPr algn="ctr" eaLnBrk="0" hangingPunct="0"/>
            <a:endParaRPr lang="en-US" sz="14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102084" y="4977384"/>
            <a:ext cx="2904363" cy="14752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 dirty="0"/>
              <a:t>Providing Effective  services </a:t>
            </a:r>
          </a:p>
          <a:p>
            <a:pPr algn="ctr" eaLnBrk="0" hangingPunct="0"/>
            <a:r>
              <a:rPr lang="en-US" sz="1400" b="1" dirty="0"/>
              <a:t>through improved </a:t>
            </a:r>
          </a:p>
          <a:p>
            <a:pPr algn="ctr" eaLnBrk="0" hangingPunct="0"/>
            <a:r>
              <a:rPr lang="en-US" sz="14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051426" y="2165440"/>
            <a:ext cx="188595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150269" y="54864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61396" y="3322187"/>
            <a:ext cx="2640330" cy="16227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 dirty="0"/>
              <a:t>Integrated approach of </a:t>
            </a:r>
          </a:p>
          <a:p>
            <a:pPr algn="ctr" eaLnBrk="0" hangingPunct="0"/>
            <a:r>
              <a:rPr lang="en-US" sz="1400" b="1" dirty="0"/>
              <a:t>Administration, Community</a:t>
            </a:r>
          </a:p>
          <a:p>
            <a:pPr algn="ctr" eaLnBrk="0" hangingPunct="0"/>
            <a:r>
              <a:rPr lang="en-US" sz="14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139553" y="40005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6866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915793"/>
            <a:ext cx="3248553" cy="292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972261"/>
            <a:ext cx="3072205" cy="2761539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3886200"/>
            <a:ext cx="307220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9906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8354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31-bedded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937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50-bedded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972263"/>
            <a:ext cx="3286014" cy="272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965012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62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1845"/>
            <a:ext cx="6172200" cy="86677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3200" b="1" dirty="0"/>
              <a:t>Background History Contd.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38201"/>
            <a:ext cx="8077200" cy="55626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1800" b="1" dirty="0"/>
              <a:t>      </a:t>
            </a:r>
            <a:r>
              <a:rPr lang="en-US" sz="2000" b="1" dirty="0">
                <a:solidFill>
                  <a:srgbClr val="FF0000"/>
                </a:solidFill>
              </a:rPr>
              <a:t>November 2000 </a:t>
            </a:r>
            <a:r>
              <a:rPr lang="en-US" sz="2000" b="1" dirty="0"/>
              <a:t>started Comprehensive EOC program 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>
                <a:solidFill>
                  <a:srgbClr val="FF0000"/>
                </a:solidFill>
              </a:rPr>
              <a:t>April 2007</a:t>
            </a:r>
            <a:r>
              <a:rPr lang="en-US" sz="2000" b="1" dirty="0"/>
              <a:t>-Demand Side Financing (DSF) program started.   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/>
              <a:t>Hospital  declared as model health complex on </a:t>
            </a:r>
            <a:r>
              <a:rPr lang="en-US" sz="2000" b="1" dirty="0">
                <a:solidFill>
                  <a:srgbClr val="FF0000"/>
                </a:solidFill>
              </a:rPr>
              <a:t>20 June 2008 </a:t>
            </a:r>
            <a:r>
              <a:rPr lang="en-US" sz="2000" b="1" dirty="0"/>
              <a:t>and upgraded to 50 bedded hospital by MOH&amp;FW.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/>
              <a:t>“Chowgacha health complex Model is replicable through out the country”  Declared by Dr. Margaret Chan, D.G. WHO on </a:t>
            </a:r>
            <a:r>
              <a:rPr lang="en-US" sz="2000" b="1" dirty="0">
                <a:solidFill>
                  <a:srgbClr val="FF0000"/>
                </a:solidFill>
              </a:rPr>
              <a:t>8</a:t>
            </a:r>
            <a:r>
              <a:rPr lang="en-US" sz="2000" b="1" baseline="30000" dirty="0">
                <a:solidFill>
                  <a:srgbClr val="FF0000"/>
                </a:solidFill>
              </a:rPr>
              <a:t>th</a:t>
            </a:r>
            <a:r>
              <a:rPr lang="en-US" sz="2000" b="1" dirty="0">
                <a:solidFill>
                  <a:srgbClr val="FF0000"/>
                </a:solidFill>
              </a:rPr>
              <a:t> March 2010</a:t>
            </a:r>
            <a:r>
              <a:rPr lang="en-US" sz="2000" b="1" dirty="0"/>
              <a:t>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/>
              <a:t>Piloting  to replication C-J model launched  in 10 district hospital by HEU of MOH&amp;FW in 2016.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/>
              <a:t>Prime minister's office  issues order to replicate the model throughout the country in2017.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/>
              <a:t>DGHS  started to replicate  C-J model in all upazilla UHC &amp; DH  in </a:t>
            </a:r>
            <a:r>
              <a:rPr lang="en-US" sz="2000" b="1" dirty="0" err="1"/>
              <a:t>june</a:t>
            </a:r>
            <a:r>
              <a:rPr lang="en-US" sz="2000" b="1" dirty="0"/>
              <a:t> 2018</a:t>
            </a:r>
            <a:r>
              <a:rPr lang="en-US" sz="185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553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6172200" cy="10668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2800" b="1" dirty="0"/>
              <a:t>Background History of </a:t>
            </a:r>
            <a:r>
              <a:rPr lang="en-US" sz="2800" b="1" dirty="0" err="1"/>
              <a:t>Chowgacha</a:t>
            </a:r>
            <a:r>
              <a:rPr lang="en-US" sz="2800" b="1" dirty="0"/>
              <a:t> Health Complex Model, </a:t>
            </a:r>
            <a:r>
              <a:rPr lang="en-US" sz="2800" b="1" dirty="0" err="1"/>
              <a:t>Jessore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848600" cy="5029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/>
              <a:t>Basically started in 1995.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/>
              <a:t>Effectively started in Feb. 1996.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/>
              <a:t>From January 1995 to 1997 </a:t>
            </a:r>
            <a:r>
              <a:rPr lang="en-US" sz="2400" b="1" u="sng" dirty="0">
                <a:solidFill>
                  <a:srgbClr val="0000FF"/>
                </a:solidFill>
              </a:rPr>
              <a:t>JICA</a:t>
            </a:r>
            <a:r>
              <a:rPr lang="en-US" sz="2400" b="1" u="sng" dirty="0"/>
              <a:t> helped  by Frontline MCH Program  by giving technical and logistic supports.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/>
              <a:t> Since 1998 </a:t>
            </a:r>
            <a:r>
              <a:rPr lang="en-US" sz="2400" b="1" u="sng" dirty="0">
                <a:solidFill>
                  <a:srgbClr val="0000FF"/>
                </a:solidFill>
              </a:rPr>
              <a:t>DGHS</a:t>
            </a:r>
            <a:r>
              <a:rPr lang="en-US" sz="2400" b="1" u="sng" dirty="0"/>
              <a:t> &amp; </a:t>
            </a:r>
            <a:r>
              <a:rPr lang="en-US" sz="2400" b="1" u="sng" dirty="0">
                <a:solidFill>
                  <a:srgbClr val="0000FF"/>
                </a:solidFill>
              </a:rPr>
              <a:t>UNICEF</a:t>
            </a:r>
            <a:r>
              <a:rPr lang="en-US" sz="2400" b="1" u="sng" dirty="0"/>
              <a:t> have continued the support.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Monthly birth and death record</a:t>
            </a:r>
            <a:endParaRPr lang="en-US" sz="2400" b="1" dirty="0"/>
          </a:p>
          <a:p>
            <a:pPr marL="0" indent="0">
              <a:lnSpc>
                <a:spcPct val="80000"/>
              </a:lnSpc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4703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805283"/>
            <a:ext cx="2743200" cy="3052717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9144000" cy="2861469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810000"/>
            <a:ext cx="2967777" cy="3048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835400"/>
            <a:ext cx="3429000" cy="302260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0"/>
            <a:ext cx="6172200" cy="7874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191304544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276600" y="2616200"/>
            <a:ext cx="2592572" cy="781928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-25400"/>
            <a:ext cx="3441700" cy="68834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-14177"/>
            <a:ext cx="3429000" cy="687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249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1524567"/>
            <a:ext cx="3623930" cy="684851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/>
              <a:t>Cycle stand near the entrance</a:t>
            </a:r>
            <a:r>
              <a:rPr lang="en-US" dirty="0"/>
              <a:t>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46180"/>
            <a:ext cx="4127500" cy="3733800"/>
          </a:xfrm>
        </p:spPr>
      </p:pic>
      <p:sp>
        <p:nvSpPr>
          <p:cNvPr id="7" name="TextBox 6"/>
          <p:cNvSpPr txBox="1"/>
          <p:nvPr/>
        </p:nvSpPr>
        <p:spPr>
          <a:xfrm>
            <a:off x="1295400" y="251685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9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62868" y="4114800"/>
            <a:ext cx="4040188" cy="2643057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3945804" y="5469479"/>
            <a:ext cx="629412" cy="44297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13" name="Rectangle 12"/>
          <p:cNvSpPr/>
          <p:nvPr/>
        </p:nvSpPr>
        <p:spPr>
          <a:xfrm>
            <a:off x="205292" y="5440531"/>
            <a:ext cx="3886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 Developed Waste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5709613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817965" y="5021547"/>
            <a:ext cx="1447800" cy="639763"/>
          </a:xfrm>
        </p:spPr>
        <p:txBody>
          <a:bodyPr>
            <a:normAutofit/>
          </a:bodyPr>
          <a:lstStyle/>
          <a:p>
            <a:r>
              <a:rPr lang="en-US" sz="1800" dirty="0"/>
              <a:t> IMCI corner</a:t>
            </a:r>
          </a:p>
        </p:txBody>
      </p:sp>
      <p:pic>
        <p:nvPicPr>
          <p:cNvPr id="12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987" y="3696272"/>
            <a:ext cx="4040188" cy="303014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415" y="1336777"/>
            <a:ext cx="1984374" cy="639763"/>
          </a:xfrm>
        </p:spPr>
        <p:txBody>
          <a:bodyPr>
            <a:normAutofit/>
          </a:bodyPr>
          <a:lstStyle/>
          <a:p>
            <a:r>
              <a:rPr lang="en-US" sz="1800" dirty="0"/>
              <a:t>ANC Corner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" y="1193801"/>
            <a:ext cx="3810000" cy="3333641"/>
          </a:xfr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sp>
        <p:nvSpPr>
          <p:cNvPr id="8" name="Left Arrow 7"/>
          <p:cNvSpPr/>
          <p:nvPr/>
        </p:nvSpPr>
        <p:spPr>
          <a:xfrm>
            <a:off x="4045866" y="1533564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Arrow 8"/>
          <p:cNvSpPr/>
          <p:nvPr/>
        </p:nvSpPr>
        <p:spPr>
          <a:xfrm rot="10800000">
            <a:off x="4216823" y="521833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9075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>
            <a:spLocks/>
          </p:cNvSpPr>
          <p:nvPr/>
        </p:nvSpPr>
        <p:spPr>
          <a:xfrm>
            <a:off x="5029201" y="1273533"/>
            <a:ext cx="3368807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Breast feeding &amp; EPI Corner </a:t>
            </a:r>
          </a:p>
        </p:txBody>
      </p:sp>
      <p:pic>
        <p:nvPicPr>
          <p:cNvPr id="8" name="Content Placehold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8" y="1109547"/>
            <a:ext cx="4203454" cy="3022600"/>
          </a:xfrm>
          <a:prstGeom prst="rect">
            <a:avLst/>
          </a:prstGeom>
        </p:spPr>
      </p:pic>
      <p:sp>
        <p:nvSpPr>
          <p:cNvPr id="9" name="Text Placeholder 2"/>
          <p:cNvSpPr txBox="1">
            <a:spLocks/>
          </p:cNvSpPr>
          <p:nvPr/>
        </p:nvSpPr>
        <p:spPr>
          <a:xfrm>
            <a:off x="2669783" y="5139450"/>
            <a:ext cx="1336812" cy="5156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NCD Corner</a:t>
            </a:r>
          </a:p>
        </p:txBody>
      </p:sp>
      <p:pic>
        <p:nvPicPr>
          <p:cNvPr id="10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369" y="3522595"/>
            <a:ext cx="4114801" cy="3261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sp>
        <p:nvSpPr>
          <p:cNvPr id="11" name="Left Arrow 10"/>
          <p:cNvSpPr/>
          <p:nvPr/>
        </p:nvSpPr>
        <p:spPr>
          <a:xfrm rot="10800000">
            <a:off x="4006596" y="521210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eft Arrow 11"/>
          <p:cNvSpPr/>
          <p:nvPr/>
        </p:nvSpPr>
        <p:spPr>
          <a:xfrm>
            <a:off x="4340709" y="148162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77602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511" y="1383815"/>
            <a:ext cx="3657600" cy="6397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Separation of male and female patients in Outdoor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4130128" cy="3225800"/>
          </a:xfrm>
        </p:spPr>
      </p:pic>
      <p:sp>
        <p:nvSpPr>
          <p:cNvPr id="6" name="Text Placeholder 4"/>
          <p:cNvSpPr txBox="1">
            <a:spLocks/>
          </p:cNvSpPr>
          <p:nvPr/>
        </p:nvSpPr>
        <p:spPr>
          <a:xfrm>
            <a:off x="698079" y="4906314"/>
            <a:ext cx="3352800" cy="877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Dispensary with</a:t>
            </a:r>
            <a:r>
              <a:rPr kumimoji="0" lang="en-US" sz="19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separated male and female </a:t>
            </a:r>
            <a:endParaRPr kumimoji="0" lang="en-US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62" y="3736888"/>
            <a:ext cx="4299098" cy="31403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4315515" y="1482208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Arrow 10"/>
          <p:cNvSpPr/>
          <p:nvPr/>
        </p:nvSpPr>
        <p:spPr>
          <a:xfrm rot="10800000">
            <a:off x="3752895" y="506234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2196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Labour</a:t>
            </a:r>
            <a:r>
              <a:rPr lang="en-US" sz="1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791200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39814" y="165893"/>
            <a:ext cx="68643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Community Participation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Text Placeholder 4"/>
          <p:cNvSpPr>
            <a:spLocks noGrp="1"/>
          </p:cNvSpPr>
          <p:nvPr>
            <p:ph type="body" idx="1"/>
          </p:nvPr>
        </p:nvSpPr>
        <p:spPr>
          <a:xfrm>
            <a:off x="1447800" y="6096001"/>
            <a:ext cx="6324600" cy="381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Ultrasonography machine donated by the </a:t>
            </a:r>
            <a:r>
              <a:rPr lang="en-US" dirty="0" err="1"/>
              <a:t>Upazila</a:t>
            </a:r>
            <a:r>
              <a:rPr lang="en-US" dirty="0"/>
              <a:t> </a:t>
            </a:r>
            <a:r>
              <a:rPr lang="en-US" dirty="0" err="1"/>
              <a:t>Porishod</a:t>
            </a:r>
            <a:r>
              <a:rPr lang="en-US" dirty="0"/>
              <a:t> </a:t>
            </a:r>
          </a:p>
        </p:txBody>
      </p:sp>
      <p:pic>
        <p:nvPicPr>
          <p:cNvPr id="13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90600"/>
            <a:ext cx="6553204" cy="4914903"/>
          </a:xfrm>
        </p:spPr>
      </p:pic>
    </p:spTree>
    <p:extLst>
      <p:ext uri="{BB962C8B-B14F-4D97-AF65-F5344CB8AC3E}">
        <p14:creationId xmlns:p14="http://schemas.microsoft.com/office/powerpoint/2010/main" val="423984201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39814" y="-25400"/>
            <a:ext cx="68643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Community Participation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91064"/>
            <a:ext cx="3581400" cy="32059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1" y="3022601"/>
            <a:ext cx="4057839" cy="374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0" y="1383051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Nebuliser</a:t>
            </a:r>
            <a:r>
              <a:rPr lang="en-US" dirty="0"/>
              <a:t> donated to the hospital by </a:t>
            </a:r>
            <a:r>
              <a:rPr lang="en-US" dirty="0" err="1"/>
              <a:t>Upazila</a:t>
            </a:r>
            <a:r>
              <a:rPr lang="en-US" dirty="0"/>
              <a:t> </a:t>
            </a:r>
            <a:r>
              <a:rPr lang="en-US" dirty="0" err="1"/>
              <a:t>Porishod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9300" y="5613433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Oxygen Cylinders donated by </a:t>
            </a:r>
            <a:r>
              <a:rPr lang="en-US" dirty="0" err="1"/>
              <a:t>Upazila</a:t>
            </a:r>
            <a:r>
              <a:rPr lang="en-US" dirty="0"/>
              <a:t> </a:t>
            </a:r>
            <a:r>
              <a:rPr lang="en-US" dirty="0" err="1"/>
              <a:t>Porishod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187457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Newly Decorated Conference Room</a:t>
            </a:r>
          </a:p>
        </p:txBody>
      </p:sp>
      <p:pic>
        <p:nvPicPr>
          <p:cNvPr id="8" name="Picture 7" descr="CONF 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32" y="1600200"/>
            <a:ext cx="80010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180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/>
              <a:t>Secretary of MOHFW A.K.M. </a:t>
            </a:r>
            <a:r>
              <a:rPr lang="en-US" altLang="en-US" sz="1400" b="1" dirty="0" err="1"/>
              <a:t>Zaforullah</a:t>
            </a:r>
            <a:r>
              <a:rPr lang="en-US" altLang="en-US" sz="1400" b="1" dirty="0"/>
              <a:t> Khan </a:t>
            </a:r>
          </a:p>
          <a:p>
            <a:pPr algn="ctr"/>
            <a:r>
              <a:rPr lang="en-US" altLang="en-US" sz="1400" b="1" dirty="0"/>
              <a:t>declared “</a:t>
            </a:r>
            <a:r>
              <a:rPr lang="en-US" altLang="en-US" sz="1400" b="1" dirty="0" err="1"/>
              <a:t>Chowgacha</a:t>
            </a:r>
            <a:r>
              <a:rPr lang="en-US" altLang="en-US" sz="1400" b="1" dirty="0"/>
              <a:t> UHC model” in DSF</a:t>
            </a:r>
          </a:p>
          <a:p>
            <a:pPr algn="ctr"/>
            <a:r>
              <a:rPr lang="en-US" altLang="en-US" sz="1400" b="1" dirty="0"/>
              <a:t> voucher distribution ceremony on 20 June-2008</a:t>
            </a:r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Honorable Health Minister Prof </a:t>
            </a:r>
            <a:r>
              <a:rPr lang="en-US" sz="1400" b="1" dirty="0">
                <a:latin typeface="+mn-lt"/>
              </a:rPr>
              <a:t>Dr. </a:t>
            </a:r>
            <a:r>
              <a:rPr lang="en-US" sz="1400" b="1" dirty="0" err="1">
                <a:latin typeface="+mn-lt"/>
              </a:rPr>
              <a:t>Ruhul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Haque</a:t>
            </a:r>
            <a:endParaRPr lang="en-US" sz="1400" b="1" dirty="0">
              <a:latin typeface="+mn-lt"/>
            </a:endParaRPr>
          </a:p>
          <a:p>
            <a:pPr algn="ctr"/>
            <a:r>
              <a:rPr lang="en-US" sz="1400" b="1" dirty="0">
                <a:latin typeface="+mn-lt"/>
              </a:rPr>
              <a:t> MP with WHO Representative handing over </a:t>
            </a:r>
          </a:p>
          <a:p>
            <a:pPr algn="ctr"/>
            <a:r>
              <a:rPr lang="en-US" sz="1400" b="1" dirty="0">
                <a:latin typeface="+mn-lt"/>
              </a:rPr>
              <a:t>money and 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Visit by Dignitaries – UHC Chowgacha</a:t>
            </a:r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93358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888399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07273125"/>
              </p:ext>
            </p:extLst>
          </p:nvPr>
        </p:nvGraphicFramePr>
        <p:xfrm>
          <a:off x="0" y="1092200"/>
          <a:ext cx="9144000" cy="5723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469900" y="482600"/>
            <a:ext cx="8229600" cy="609600"/>
          </a:xfrm>
          <a:prstGeom prst="rect">
            <a:avLst/>
          </a:prstGeom>
          <a:gradFill>
            <a:gsLst>
              <a:gs pos="100000">
                <a:schemeClr val="bg1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  <a:ln>
            <a:solidFill>
              <a:schemeClr val="tx1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2011- 2020 (Total Hospital Delivery &amp; C-section )</a:t>
            </a:r>
          </a:p>
        </p:txBody>
      </p:sp>
    </p:spTree>
    <p:extLst>
      <p:ext uri="{BB962C8B-B14F-4D97-AF65-F5344CB8AC3E}">
        <p14:creationId xmlns:p14="http://schemas.microsoft.com/office/powerpoint/2010/main" val="2151249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/>
              <a:t>Emergency + Outdoor &amp; Indoor 2011-2020</a:t>
            </a:r>
            <a:br>
              <a:rPr lang="en-US" sz="3000" b="1" dirty="0"/>
            </a:br>
            <a:r>
              <a:rPr lang="en-US" sz="3000" b="1" dirty="0"/>
              <a:t>UHC Chowgacha</a:t>
            </a:r>
            <a:endParaRPr lang="en-GB" sz="3000" dirty="0"/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4552563"/>
              </p:ext>
            </p:extLst>
          </p:nvPr>
        </p:nvGraphicFramePr>
        <p:xfrm>
          <a:off x="457200" y="1934634"/>
          <a:ext cx="8686800" cy="4389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3766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965200"/>
          </a:xfrm>
          <a:noFill/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sz="3200" b="1" dirty="0"/>
              <a:t>EOC Activities Chowgacha UHC 2011-2020</a:t>
            </a:r>
          </a:p>
        </p:txBody>
      </p:sp>
      <p:graphicFrame>
        <p:nvGraphicFramePr>
          <p:cNvPr id="5" name="Content Placeholder 1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6178619"/>
              </p:ext>
            </p:extLst>
          </p:nvPr>
        </p:nvGraphicFramePr>
        <p:xfrm>
          <a:off x="457200" y="1600201"/>
          <a:ext cx="82296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2011 – 2020  (ANC First Visit)</a:t>
            </a:r>
          </a:p>
        </p:txBody>
      </p:sp>
    </p:spTree>
    <p:extLst>
      <p:ext uri="{BB962C8B-B14F-4D97-AF65-F5344CB8AC3E}">
        <p14:creationId xmlns:p14="http://schemas.microsoft.com/office/powerpoint/2010/main" val="2531126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/>
              <a:t>TOTAL</a:t>
            </a:r>
            <a:r>
              <a:rPr lang="en-US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143000" y="23884"/>
            <a:ext cx="6858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ACHIEVEMENTS of CHOWGACHA </a:t>
            </a: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COMPLEX</a:t>
            </a:r>
            <a:endParaRPr lang="en-US" sz="2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7400"/>
            <a:ext cx="4572000" cy="54864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1800" b="1" dirty="0"/>
          </a:p>
          <a:p>
            <a:pPr algn="just">
              <a:spcBef>
                <a:spcPts val="0"/>
              </a:spcBef>
              <a:defRPr/>
            </a:pPr>
            <a:r>
              <a:rPr lang="en-US" sz="2900" b="1" dirty="0"/>
              <a:t>In </a:t>
            </a:r>
            <a:r>
              <a:rPr lang="en-US" sz="2900" b="1" dirty="0">
                <a:solidFill>
                  <a:srgbClr val="FF0000"/>
                </a:solidFill>
              </a:rPr>
              <a:t>2008</a:t>
            </a:r>
            <a:r>
              <a:rPr lang="en-US" sz="2900" b="1" dirty="0"/>
              <a:t>, Chowgacha Health Complex declared as the </a:t>
            </a:r>
            <a:r>
              <a:rPr lang="en-US" sz="29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9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900" b="1" u="sng" dirty="0">
                <a:solidFill>
                  <a:srgbClr val="FF0000"/>
                </a:solidFill>
                <a:latin typeface="Century Schoolbook" pitchFamily="18" charset="0"/>
              </a:rPr>
              <a:t> Health Complex</a:t>
            </a:r>
            <a:endParaRPr lang="en-US" sz="29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 err="1">
                <a:solidFill>
                  <a:srgbClr val="FF0000"/>
                </a:solidFill>
              </a:rPr>
              <a:t>Chowgacha</a:t>
            </a:r>
            <a:r>
              <a:rPr lang="en-US" sz="2900" b="1" dirty="0">
                <a:solidFill>
                  <a:srgbClr val="FF0000"/>
                </a:solidFill>
              </a:rPr>
              <a:t> UHC achieved MDG target in 2009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/>
              <a:t>Chowgacha UHC  became the </a:t>
            </a:r>
            <a:r>
              <a:rPr lang="en-US" sz="2900" b="1" dirty="0">
                <a:solidFill>
                  <a:srgbClr val="FF0000"/>
                </a:solidFill>
              </a:rPr>
              <a:t>Best EOC center  with 98.4% delivery rate in 2011</a:t>
            </a:r>
            <a:endParaRPr lang="en-US" sz="2900" b="1" dirty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/>
              <a:t>Chowgacha Health complex is awarded for best performance in </a:t>
            </a:r>
            <a:r>
              <a:rPr lang="en-US" sz="2900" b="1" dirty="0">
                <a:solidFill>
                  <a:srgbClr val="FF0000"/>
                </a:solidFill>
              </a:rPr>
              <a:t>EOC form 2005 to 2014</a:t>
            </a:r>
            <a:endParaRPr lang="en-US" sz="2900" b="1" dirty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/>
              <a:t>Achieve </a:t>
            </a:r>
            <a:r>
              <a:rPr lang="en-US" sz="2900" b="1" dirty="0">
                <a:solidFill>
                  <a:srgbClr val="FF0000"/>
                </a:solidFill>
              </a:rPr>
              <a:t>Health Ministers Award</a:t>
            </a:r>
            <a:r>
              <a:rPr lang="en-US" sz="2900" b="1" dirty="0"/>
              <a:t> for its best performances in</a:t>
            </a:r>
            <a:r>
              <a:rPr lang="en-US" sz="2900" b="1" dirty="0">
                <a:solidFill>
                  <a:srgbClr val="FF0000"/>
                </a:solidFill>
              </a:rPr>
              <a:t> 2017 and 2018</a:t>
            </a:r>
            <a:endParaRPr lang="en-US" sz="2900" b="1" dirty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/>
              <a:t>The UHC starts upgrade to 100  bedded hospital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/>
              <a:t>The UHC model is being replicated throughout the country by DGHS, MOH &amp; FW since 2016 by the order of Prime Ministers office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2" b="3461"/>
          <a:stretch/>
        </p:blipFill>
        <p:spPr>
          <a:xfrm>
            <a:off x="4572000" y="787400"/>
            <a:ext cx="464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16378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35387" y="602606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5789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/>
            </a:pPr>
            <a:endParaRPr lang="en-US" sz="1800" b="1" dirty="0"/>
          </a:p>
          <a:p>
            <a:pPr>
              <a:defRPr/>
            </a:pPr>
            <a:r>
              <a:rPr lang="en-US" sz="11200" b="1" dirty="0"/>
              <a:t>Insecure  hospital environment.</a:t>
            </a:r>
          </a:p>
          <a:p>
            <a:pPr marL="0" indent="0">
              <a:buNone/>
              <a:defRPr/>
            </a:pPr>
            <a:r>
              <a:rPr lang="en-US" sz="11200" dirty="0"/>
              <a:t>	</a:t>
            </a:r>
          </a:p>
          <a:p>
            <a:pPr>
              <a:defRPr/>
            </a:pPr>
            <a:r>
              <a:rPr lang="en-US" sz="11200" b="1" dirty="0"/>
              <a:t>Performance of all activities</a:t>
            </a:r>
            <a:r>
              <a:rPr lang="en-US" sz="8000" b="1" dirty="0"/>
              <a:t> </a:t>
            </a:r>
            <a:r>
              <a:rPr lang="en-US" sz="11200" b="1" dirty="0"/>
              <a:t>was very low.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/>
              <a:t>Very limited support staff. 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/>
              <a:t>Receiving money from the patients by non-</a:t>
            </a:r>
            <a:r>
              <a:rPr lang="en-US" sz="11200" b="1" dirty="0" err="1"/>
              <a:t>gov.</a:t>
            </a:r>
            <a:r>
              <a:rPr lang="en-US" sz="11200" b="1" dirty="0"/>
              <a:t> staff.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/>
              <a:t>Waste management system was poor.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/>
              <a:t>Monitoring  meeting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457200"/>
          <a:ext cx="9144000" cy="64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800" dirty="0" err="1"/>
              <a:t>Covid</a:t>
            </a:r>
            <a:r>
              <a:rPr lang="en-US" sz="2800" dirty="0"/>
              <a:t> -19 Outcome Report - 2020-21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45349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8038"/>
          </a:xfrm>
          <a:solidFill>
            <a:srgbClr val="3EEE00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2"/>
                </a:solidFill>
              </a:rPr>
              <a:t>Emergency + Outdoor &amp; Indoor  Service 1998 to 2021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321774015"/>
              </p:ext>
            </p:extLst>
          </p:nvPr>
        </p:nvGraphicFramePr>
        <p:xfrm>
          <a:off x="0" y="1219200"/>
          <a:ext cx="9144000" cy="563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8382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</a:t>
            </a:r>
            <a:r>
              <a:rPr lang="en-US" b="1" dirty="0">
                <a:solidFill>
                  <a:srgbClr val="0070C0"/>
                </a:solidFill>
              </a:rPr>
              <a:t>Emergency + Outdoor visit</a:t>
            </a:r>
            <a:r>
              <a:rPr lang="en-US" dirty="0"/>
              <a:t>       </a:t>
            </a:r>
            <a:r>
              <a:rPr lang="en-US" dirty="0">
                <a:solidFill>
                  <a:srgbClr val="C00000"/>
                </a:solidFill>
              </a:rPr>
              <a:t>Indoor (admission)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254891"/>
      </p:ext>
    </p:extLst>
  </p:cSld>
  <p:clrMapOvr>
    <a:masterClrMapping/>
  </p:clrMapOvr>
  <p:transition spd="slow">
    <p:newsfla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271649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solidFill>
                  <a:srgbClr val="FFFFFF"/>
                </a:solidFill>
              </a:rPr>
              <a:t>Admitted Under 5 children in  indoor from 2015 to 2021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898529"/>
      </p:ext>
    </p:extLst>
  </p:cSld>
  <p:clrMapOvr>
    <a:masterClrMapping/>
  </p:clrMapOvr>
  <p:transition spd="slow">
    <p:randomBar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0" y="0"/>
            <a:ext cx="9144000" cy="60960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2021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0"/>
            <a:ext cx="8229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endParaRPr lang="en-US" sz="43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273181661"/>
              </p:ext>
            </p:extLst>
          </p:nvPr>
        </p:nvGraphicFramePr>
        <p:xfrm>
          <a:off x="0" y="685800"/>
          <a:ext cx="9144000" cy="6126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80343426"/>
      </p:ext>
    </p:extLst>
  </p:cSld>
  <p:clrMapOvr>
    <a:masterClrMapping/>
  </p:clrMapOvr>
  <p:transition spd="slow">
    <p:diamond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  <a:blipFill>
            <a:blip r:embed="rId3"/>
            <a:tile tx="0" ty="0" sx="100000" sy="100000" flip="none" algn="tl"/>
          </a:blipFill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</a:rPr>
              <a:t>Operation Service (Major) 2012 to 2021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344137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2102546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/>
              <a:t>Total ANC and Delivery in Jhenaidah District Hospital 2011-2020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84734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799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prstClr val="black"/>
                </a:solidFill>
              </a:rPr>
              <a:t> EOC performance 2015 to 2021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24369641"/>
      </p:ext>
    </p:extLst>
  </p:cSld>
  <p:clrMapOvr>
    <a:masterClrMapping/>
  </p:clrMapOvr>
  <p:transition spd="slow">
    <p:randomBa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ea typeface="Calibri"/>
                <a:cs typeface="Vrinda"/>
              </a:rPr>
              <a:t>5 Best Performing EOC District Hospital in Khulna Division - 2021</a:t>
            </a:r>
            <a:endParaRPr lang="en-US" sz="24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09887"/>
              </p:ext>
            </p:extLst>
          </p:nvPr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096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C-Section</a:t>
            </a:r>
            <a:r>
              <a:rPr lang="en-US" b="1" dirty="0">
                <a:solidFill>
                  <a:srgbClr val="0070C0"/>
                </a:solidFill>
              </a:rPr>
              <a:t>,</a:t>
            </a:r>
            <a:r>
              <a:rPr lang="en-US" b="1" dirty="0"/>
              <a:t>  </a:t>
            </a:r>
            <a:r>
              <a:rPr lang="en-US" b="1" dirty="0">
                <a:solidFill>
                  <a:srgbClr val="0070C0"/>
                </a:solidFill>
              </a:rPr>
              <a:t>NVD</a:t>
            </a:r>
            <a:r>
              <a:rPr lang="en-US" b="1" dirty="0"/>
              <a:t>,  </a:t>
            </a:r>
            <a:r>
              <a:rPr lang="en-US" b="1" dirty="0">
                <a:solidFill>
                  <a:srgbClr val="00B050"/>
                </a:solidFill>
              </a:rPr>
              <a:t>Total Delivery</a:t>
            </a:r>
          </a:p>
        </p:txBody>
      </p:sp>
    </p:spTree>
    <p:extLst>
      <p:ext uri="{BB962C8B-B14F-4D97-AF65-F5344CB8AC3E}">
        <p14:creationId xmlns:p14="http://schemas.microsoft.com/office/powerpoint/2010/main" val="1131245595"/>
      </p:ext>
    </p:extLst>
  </p:cSld>
  <p:clrMapOvr>
    <a:masterClrMapping/>
  </p:clrMapOvr>
  <p:transition spd="slow" advClick="0">
    <p:circl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>
                <a:solidFill>
                  <a:srgbClr val="00B050"/>
                </a:solidFill>
              </a:rPr>
              <a:t>Comparative data of revenue income </a:t>
            </a:r>
            <a:r>
              <a:rPr lang="en-US" sz="2800" b="1" dirty="0">
                <a:solidFill>
                  <a:srgbClr val="00B050"/>
                </a:solidFill>
              </a:rPr>
              <a:t>(</a:t>
            </a:r>
            <a:r>
              <a:rPr lang="en-US" sz="2200" b="1" dirty="0">
                <a:solidFill>
                  <a:srgbClr val="00B050"/>
                </a:solidFill>
              </a:rPr>
              <a:t>in Taka</a:t>
            </a:r>
            <a:r>
              <a:rPr lang="en-US" sz="2800" b="1" dirty="0">
                <a:solidFill>
                  <a:srgbClr val="00B050"/>
                </a:solidFill>
              </a:rPr>
              <a:t>) from </a:t>
            </a:r>
            <a:r>
              <a:rPr lang="en-US" sz="2600" b="1" dirty="0">
                <a:solidFill>
                  <a:srgbClr val="00B050"/>
                </a:solidFill>
              </a:rPr>
              <a:t>2015 to 2021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777421"/>
              </p:ext>
            </p:extLst>
          </p:nvPr>
        </p:nvGraphicFramePr>
        <p:xfrm>
          <a:off x="0" y="914400"/>
          <a:ext cx="91440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53200" y="914400"/>
            <a:ext cx="25908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Increase( +) 15,23,345</a:t>
            </a:r>
          </a:p>
        </p:txBody>
      </p:sp>
    </p:spTree>
    <p:extLst>
      <p:ext uri="{BB962C8B-B14F-4D97-AF65-F5344CB8AC3E}">
        <p14:creationId xmlns:p14="http://schemas.microsoft.com/office/powerpoint/2010/main" val="1809099759"/>
      </p:ext>
    </p:extLst>
  </p:cSld>
  <p:clrMapOvr>
    <a:masterClrMapping/>
  </p:clrMapOvr>
  <p:transition spd="slow">
    <p:randomBar dir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53  manpower (Cleaner 20, Ayah &amp; ward boy 21, Guard 6, Volunteer 3, Trolley man 3 ) is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support.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security , cleanliness, repaired the boundary wall and supports 5 man power and renovation of pediatric word and donation of a biochemistry analyzer at a cost of 1,15,000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91564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347" y="3662977"/>
            <a:ext cx="4181299" cy="3202829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>
                <a:solidFill>
                  <a:schemeClr val="bg1"/>
                </a:solidFill>
              </a:rPr>
              <a:t>Changes in Surgery &amp; Pediatric Word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5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3200" dirty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Innovation </a:t>
            </a:r>
            <a:r>
              <a:rPr lang="en-IN" sz="3200" dirty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</a:t>
            </a:r>
            <a:r>
              <a:rPr sz="3200" dirty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Medicine Ward </a:t>
            </a:r>
            <a:endParaRPr lang="en-US" sz="32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533400"/>
            <a:ext cx="4343400" cy="2895600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"/>
            <a:ext cx="4724400" cy="2895600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05200"/>
            <a:ext cx="4724400" cy="33528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3505200"/>
            <a:ext cx="4343400" cy="3352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11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66750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385" y="3853099"/>
            <a:ext cx="4480071" cy="2909551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4706303" y="767571"/>
            <a:ext cx="4151765" cy="2909551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69638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Community participation during covid-19 management</a:t>
            </a:r>
            <a:endParaRPr lang="en-GB" sz="3600" dirty="0"/>
          </a:p>
        </p:txBody>
      </p:sp>
      <p:pic>
        <p:nvPicPr>
          <p:cNvPr id="10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3838"/>
            <a:ext cx="41910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6000"/>
            <a:ext cx="4191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3962400"/>
            <a:ext cx="3956050" cy="292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23" y="1143000"/>
            <a:ext cx="3950290" cy="2718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597"/>
          </a:xfrm>
          <a:blipFill>
            <a:blip r:embed="rId2"/>
            <a:tile tx="0" ty="0" sx="100000" sy="100000" flip="none" algn="tl"/>
          </a:blipFill>
        </p:spPr>
        <p:txBody>
          <a:bodyPr>
            <a:noAutofit/>
          </a:bodyPr>
          <a:lstStyle/>
          <a:p>
            <a:pPr algn="ctr"/>
            <a:r>
              <a:rPr sz="400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সদর হাসপাতাল,ঝিনাইদহ </a:t>
            </a:r>
            <a:endParaRPr lang="en-US" sz="4000" dirty="0">
              <a:solidFill>
                <a:schemeClr val="tx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5122" name="Picture 2" descr="C:\Users\USER\Desktop\IMG_429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42498" y="1017118"/>
            <a:ext cx="8301013" cy="56921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135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/>
              <a:t>1. Active Community Participation in health service is an example in Bangladesh.</a:t>
            </a:r>
          </a:p>
          <a:p>
            <a:pPr marL="0" algn="just">
              <a:defRPr/>
            </a:pPr>
            <a:r>
              <a:rPr lang="en-US" dirty="0"/>
              <a:t> </a:t>
            </a:r>
          </a:p>
          <a:p>
            <a:pPr marL="0" algn="just">
              <a:defRPr/>
            </a:pPr>
            <a:r>
              <a:rPr lang="en-US" b="1" dirty="0"/>
              <a:t>2. Improved   performance  of all services specially Pediatric, obstetric, operation</a:t>
            </a:r>
          </a:p>
          <a:p>
            <a:pPr marL="0" algn="just">
              <a:defRPr/>
            </a:pPr>
            <a:r>
              <a:rPr lang="en-US" b="1" dirty="0"/>
              <a:t>     and outdoor service.</a:t>
            </a:r>
          </a:p>
          <a:p>
            <a:pPr marL="0">
              <a:defRPr/>
            </a:pPr>
            <a:endParaRPr lang="en-US" b="1" dirty="0"/>
          </a:p>
          <a:p>
            <a:pPr marL="0">
              <a:defRPr/>
            </a:pPr>
            <a:r>
              <a:rPr lang="en-US" b="1" dirty="0"/>
              <a:t>3. Improved Cleanliness and Beautification of Campus.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4.. The hospital is awarded 7 times from 2013 to 2019. </a:t>
            </a:r>
            <a:endParaRPr lang="en-US" dirty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5. Improved Security.</a:t>
            </a:r>
            <a:endParaRPr lang="en-US" sz="900" dirty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6. Improved Financial Management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7.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/>
              <a:t> 8. Nearly 70 lacks Taka support  for 6 high flow   oxygen  nasal cannula, central </a:t>
            </a:r>
            <a:r>
              <a:rPr lang="en-US" b="1" dirty="0" err="1"/>
              <a:t>oxgen</a:t>
            </a:r>
            <a:r>
              <a:rPr lang="en-US" b="1" dirty="0"/>
              <a:t> supplying system , a pic up for </a:t>
            </a:r>
            <a:r>
              <a:rPr lang="en-US" b="1" dirty="0" err="1"/>
              <a:t>covid</a:t>
            </a:r>
            <a:r>
              <a:rPr lang="en-US" b="1" dirty="0"/>
              <a:t> patient 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HSSI  Health  Minister’s  National  Award 2019</a:t>
            </a:r>
          </a:p>
        </p:txBody>
      </p:sp>
      <p:pic>
        <p:nvPicPr>
          <p:cNvPr id="3074" name="Picture 2" descr="C:\Users\USER\Desktop\Award 13.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95300"/>
            <a:ext cx="9144000" cy="6362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71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1485900" y="1295400"/>
            <a:ext cx="61722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/>
            <a:r>
              <a:rPr lang="en-GB" sz="1575" dirty="0"/>
              <a:t>Successful leadership in health management</a:t>
            </a:r>
          </a:p>
          <a:p>
            <a:pPr lvl="0" algn="just"/>
            <a:r>
              <a:rPr lang="en-GB" sz="1575" dirty="0"/>
              <a:t>All the </a:t>
            </a:r>
            <a:r>
              <a:rPr lang="en-GB" sz="1575" b="1" dirty="0"/>
              <a:t>Components of Primary Health Care</a:t>
            </a:r>
            <a:r>
              <a:rPr lang="en-GB" sz="1575" dirty="0"/>
              <a:t> are successfully implemented here</a:t>
            </a:r>
          </a:p>
          <a:p>
            <a:pPr lvl="0" algn="just"/>
            <a:r>
              <a:rPr lang="en-GB" sz="1575" dirty="0"/>
              <a:t>Personal and group skills in health care</a:t>
            </a:r>
          </a:p>
          <a:p>
            <a:pPr lvl="0" algn="just"/>
            <a:r>
              <a:rPr lang="en-GB" sz="1575" dirty="0"/>
              <a:t>Community engaged health management</a:t>
            </a:r>
          </a:p>
          <a:p>
            <a:pPr lvl="0" algn="just"/>
            <a:r>
              <a:rPr lang="en-GB" sz="1575" dirty="0"/>
              <a:t>Optimum use of government resources</a:t>
            </a:r>
          </a:p>
          <a:p>
            <a:pPr lvl="0" algn="just"/>
            <a:r>
              <a:rPr lang="en-GB" sz="1575" dirty="0"/>
              <a:t>Effective relation with local administration and with other government organizations</a:t>
            </a:r>
          </a:p>
          <a:p>
            <a:pPr lvl="0" algn="just"/>
            <a:r>
              <a:rPr lang="en-GB" sz="1575" dirty="0"/>
              <a:t>Improvement of security by community engagement</a:t>
            </a:r>
          </a:p>
          <a:p>
            <a:pPr lvl="0" algn="just"/>
            <a:r>
              <a:rPr lang="en-GB" sz="1575" dirty="0"/>
              <a:t>Improved maternal  and  child health care activities</a:t>
            </a:r>
          </a:p>
          <a:p>
            <a:pPr lvl="0" algn="just"/>
            <a:r>
              <a:rPr lang="en-GB" sz="1575" dirty="0"/>
              <a:t>Ensuring corner-based health care</a:t>
            </a:r>
          </a:p>
          <a:p>
            <a:pPr algn="just"/>
            <a:r>
              <a:rPr lang="en-GB" sz="1575" dirty="0"/>
              <a:t>Woman and Baby Friendly Hospital.</a:t>
            </a:r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/>
              <a:t>Reason why Chowgacha Health Complex is Model-1</a:t>
            </a:r>
          </a:p>
        </p:txBody>
      </p:sp>
    </p:spTree>
    <p:extLst>
      <p:ext uri="{BB962C8B-B14F-4D97-AF65-F5344CB8AC3E}">
        <p14:creationId xmlns:p14="http://schemas.microsoft.com/office/powerpoint/2010/main" val="82262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485900" y="1905001"/>
            <a:ext cx="6172200" cy="4830763"/>
          </a:xfrm>
        </p:spPr>
        <p:txBody>
          <a:bodyPr/>
          <a:lstStyle/>
          <a:p>
            <a:pPr algn="just"/>
            <a:r>
              <a:rPr lang="en-GB" sz="1575" dirty="0"/>
              <a:t>Birth and death recording, progress assessment and accountability by collecting information on all health indicators</a:t>
            </a:r>
          </a:p>
          <a:p>
            <a:pPr lvl="0" algn="just"/>
            <a:r>
              <a:rPr lang="en-GB" sz="1575" dirty="0"/>
              <a:t>Improving healthcare by unit management</a:t>
            </a:r>
          </a:p>
          <a:p>
            <a:pPr lvl="0" algn="just"/>
            <a:r>
              <a:rPr lang="en-GB" sz="1575" dirty="0"/>
              <a:t>Health awareness by health education in outdoor, indoor, ante-natal registration room and pregnant women restroom</a:t>
            </a:r>
          </a:p>
          <a:p>
            <a:pPr lvl="0" algn="just"/>
            <a:r>
              <a:rPr lang="en-GB" sz="1575" dirty="0"/>
              <a:t>Cleanliness (Waste management) and beautification of the facility and premises</a:t>
            </a:r>
          </a:p>
          <a:p>
            <a:pPr lvl="0" algn="just"/>
            <a:r>
              <a:rPr lang="en-GB" sz="1575" dirty="0"/>
              <a:t>Provision of safe blood transfusion for emergency needs</a:t>
            </a:r>
          </a:p>
          <a:p>
            <a:pPr lvl="0" algn="just"/>
            <a:r>
              <a:rPr lang="en-GB" sz="1575" dirty="0"/>
              <a:t>Zero tolerance against corruption</a:t>
            </a:r>
          </a:p>
          <a:p>
            <a:pPr lvl="0" algn="just"/>
            <a:r>
              <a:rPr lang="en-GB" sz="1575" dirty="0"/>
              <a:t>Implementation of the 5S KAIZEN-TQM for the improvement of health care</a:t>
            </a:r>
          </a:p>
          <a:p>
            <a:pPr lvl="0" algn="just"/>
            <a:r>
              <a:rPr lang="en-GB" sz="1575" dirty="0"/>
              <a:t>Improved financial management by establishing cash counter</a:t>
            </a:r>
          </a:p>
          <a:p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/>
              <a:t>Reason why Chowgacha Health Complex is Model-2</a:t>
            </a:r>
          </a:p>
        </p:txBody>
      </p:sp>
    </p:spTree>
    <p:extLst>
      <p:ext uri="{BB962C8B-B14F-4D97-AF65-F5344CB8AC3E}">
        <p14:creationId xmlns:p14="http://schemas.microsoft.com/office/powerpoint/2010/main" val="140911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Covid-19 Admitted Patient Report 7/5/20  to 31/12/2021 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998641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5311</TotalTime>
  <Words>1423</Words>
  <Application>Microsoft Office PowerPoint</Application>
  <PresentationFormat>On-screen Show (4:3)</PresentationFormat>
  <Paragraphs>311</Paragraphs>
  <Slides>58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3" baseType="lpstr">
      <vt:lpstr>Albertus Extra Bold</vt:lpstr>
      <vt:lpstr>Andalus</vt:lpstr>
      <vt:lpstr>Arial</vt:lpstr>
      <vt:lpstr>Berlin Sans FB</vt:lpstr>
      <vt:lpstr>Book Antiqua</vt:lpstr>
      <vt:lpstr>Calibri</vt:lpstr>
      <vt:lpstr>Century Schoolbook</vt:lpstr>
      <vt:lpstr>Nikosh</vt:lpstr>
      <vt:lpstr>NikoshBAN</vt:lpstr>
      <vt:lpstr>SutonnyMJ</vt:lpstr>
      <vt:lpstr>Times New Roman</vt:lpstr>
      <vt:lpstr>Wingdings</vt:lpstr>
      <vt:lpstr>Wingdings 2</vt:lpstr>
      <vt:lpstr>Office Theme</vt:lpstr>
      <vt:lpstr>Chart</vt:lpstr>
      <vt:lpstr>PowerPoint Presentation</vt:lpstr>
      <vt:lpstr>A Hospital with a Vision …</vt:lpstr>
      <vt:lpstr>PowerPoint Presentation</vt:lpstr>
      <vt:lpstr>Background History Contd.</vt:lpstr>
      <vt:lpstr>Background History of Chowgacha Health Complex Model, Jessore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Newly Decorated Conference Room</vt:lpstr>
      <vt:lpstr>PowerPoint Presentation</vt:lpstr>
      <vt:lpstr>Upazila Health  Complex CHOWGACHA , JESSORE.</vt:lpstr>
      <vt:lpstr>Upazila Health  Complex CHOWGACHA , JESSORE.</vt:lpstr>
      <vt:lpstr>PowerPoint Presentation</vt:lpstr>
      <vt:lpstr>Emergency + Outdoor &amp; Indoor 2011-2020 UHC Chowgacha</vt:lpstr>
      <vt:lpstr>EOC Activities Chowgacha UHC 2011-2020</vt:lpstr>
      <vt:lpstr>Upazilla Health  Complex CHOWGACHA , JESSORE.</vt:lpstr>
      <vt:lpstr>PowerPoint Presentation</vt:lpstr>
      <vt:lpstr>ACHIEVEMENTS of CHOWGACHA HEALTH COMPLEX</vt:lpstr>
      <vt:lpstr>100 kh¨v wewkó m`i nvmcvZvj, wSbvB`n</vt:lpstr>
      <vt:lpstr>PowerPoint Presentation</vt:lpstr>
      <vt:lpstr>Challenges of the hospital in 2012</vt:lpstr>
      <vt:lpstr>PowerPoint Presentation</vt:lpstr>
      <vt:lpstr>Emergency + Outdoor &amp; Indoor  Service 1998 to 2021</vt:lpstr>
      <vt:lpstr>PowerPoint Presentation</vt:lpstr>
      <vt:lpstr>PowerPoint Presentation</vt:lpstr>
      <vt:lpstr>Operation Service (Major) 2012 to 2021</vt:lpstr>
      <vt:lpstr>Total ANC and Delivery in Jhenaidah District Hospital 2011-2020</vt:lpstr>
      <vt:lpstr>PowerPoint Presentation</vt:lpstr>
      <vt:lpstr>5 Best Performing EOC District Hospital in Khulna Division - 2021</vt:lpstr>
      <vt:lpstr>  Comparative data of revenue income (in Taka) from 2015 to 2021 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color code, alignment of picture &amp; continuous big cleaning day</vt:lpstr>
      <vt:lpstr>Innovation in Medicine Ward </vt:lpstr>
      <vt:lpstr>Innovative activities of Jhenaidah Sadar Hospital - 1</vt:lpstr>
      <vt:lpstr>PowerPoint Presentation</vt:lpstr>
      <vt:lpstr>Involvement of district high officials in hospital activities </vt:lpstr>
      <vt:lpstr>Internal Monitoring System</vt:lpstr>
      <vt:lpstr>PowerPoint Presentation</vt:lpstr>
      <vt:lpstr>Community participation during covid-19 management</vt:lpstr>
      <vt:lpstr>সদর হাসপাতাল,ঝিনাইদহ </vt:lpstr>
      <vt:lpstr>PowerPoint Presentation</vt:lpstr>
      <vt:lpstr>PowerPoint Presentation</vt:lpstr>
      <vt:lpstr>Thank You 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834</cp:revision>
  <cp:lastPrinted>2017-03-18T23:47:54Z</cp:lastPrinted>
  <dcterms:created xsi:type="dcterms:W3CDTF">2013-05-05T09:56:19Z</dcterms:created>
  <dcterms:modified xsi:type="dcterms:W3CDTF">2022-05-29T08:22:55Z</dcterms:modified>
</cp:coreProperties>
</file>