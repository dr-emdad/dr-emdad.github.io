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  <p:sldMasterId id="2147484020" r:id="rId3"/>
  </p:sldMasterIdLst>
  <p:notesMasterIdLst>
    <p:notesMasterId r:id="rId52"/>
  </p:notesMasterIdLst>
  <p:sldIdLst>
    <p:sldId id="256" r:id="rId4"/>
    <p:sldId id="409" r:id="rId5"/>
    <p:sldId id="408" r:id="rId6"/>
    <p:sldId id="376" r:id="rId7"/>
    <p:sldId id="410" r:id="rId8"/>
    <p:sldId id="345" r:id="rId9"/>
    <p:sldId id="360" r:id="rId10"/>
    <p:sldId id="361" r:id="rId11"/>
    <p:sldId id="359" r:id="rId12"/>
    <p:sldId id="326" r:id="rId13"/>
    <p:sldId id="327" r:id="rId14"/>
    <p:sldId id="328" r:id="rId15"/>
    <p:sldId id="352" r:id="rId16"/>
    <p:sldId id="351" r:id="rId17"/>
    <p:sldId id="407" r:id="rId18"/>
    <p:sldId id="346" r:id="rId19"/>
    <p:sldId id="362" r:id="rId20"/>
    <p:sldId id="369" r:id="rId21"/>
    <p:sldId id="287" r:id="rId22"/>
    <p:sldId id="288" r:id="rId23"/>
    <p:sldId id="290" r:id="rId24"/>
    <p:sldId id="291" r:id="rId25"/>
    <p:sldId id="292" r:id="rId26"/>
    <p:sldId id="308" r:id="rId27"/>
    <p:sldId id="323" r:id="rId28"/>
    <p:sldId id="312" r:id="rId29"/>
    <p:sldId id="366" r:id="rId30"/>
    <p:sldId id="363" r:id="rId31"/>
    <p:sldId id="364" r:id="rId32"/>
    <p:sldId id="370" r:id="rId33"/>
    <p:sldId id="372" r:id="rId34"/>
    <p:sldId id="371" r:id="rId35"/>
    <p:sldId id="297" r:id="rId36"/>
    <p:sldId id="293" r:id="rId37"/>
    <p:sldId id="294" r:id="rId38"/>
    <p:sldId id="330" r:id="rId39"/>
    <p:sldId id="389" r:id="rId40"/>
    <p:sldId id="390" r:id="rId41"/>
    <p:sldId id="391" r:id="rId42"/>
    <p:sldId id="392" r:id="rId43"/>
    <p:sldId id="393" r:id="rId44"/>
    <p:sldId id="394" r:id="rId45"/>
    <p:sldId id="395" r:id="rId46"/>
    <p:sldId id="396" r:id="rId47"/>
    <p:sldId id="399" r:id="rId48"/>
    <p:sldId id="400" r:id="rId49"/>
    <p:sldId id="398" r:id="rId50"/>
    <p:sldId id="344" r:id="rId5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91815" autoAdjust="0"/>
  </p:normalViewPr>
  <p:slideViewPr>
    <p:cSldViewPr>
      <p:cViewPr>
        <p:scale>
          <a:sx n="70" d="100"/>
          <a:sy n="70" d="100"/>
        </p:scale>
        <p:origin x="-1614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91454080"/>
        <c:axId val="791455616"/>
      </c:barChart>
      <c:catAx>
        <c:axId val="7914540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791455616"/>
        <c:crosses val="autoZero"/>
        <c:auto val="1"/>
        <c:lblAlgn val="ctr"/>
        <c:lblOffset val="100"/>
        <c:noMultiLvlLbl val="0"/>
      </c:catAx>
      <c:valAx>
        <c:axId val="79145561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79145408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91684992"/>
        <c:axId val="791686528"/>
      </c:barChart>
      <c:catAx>
        <c:axId val="7916849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791686528"/>
        <c:crosses val="autoZero"/>
        <c:auto val="1"/>
        <c:lblAlgn val="ctr"/>
        <c:lblOffset val="100"/>
        <c:noMultiLvlLbl val="0"/>
      </c:catAx>
      <c:valAx>
        <c:axId val="7916865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79168499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0934240566213921"/>
          <c:y val="5.0614472425046991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792018944"/>
        <c:axId val="792020480"/>
        <c:axId val="0"/>
      </c:bar3DChart>
      <c:catAx>
        <c:axId val="7920189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792020480"/>
        <c:crosses val="autoZero"/>
        <c:auto val="1"/>
        <c:lblAlgn val="ctr"/>
        <c:lblOffset val="100"/>
        <c:noMultiLvlLbl val="0"/>
      </c:catAx>
      <c:valAx>
        <c:axId val="79202048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79201894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  <c:pt idx="3">
                  <c:v>876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  <c:pt idx="3">
                  <c:v>1493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  <c:pt idx="3">
                  <c:v>1297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Sheet1!$E$2:$E$5</c:f>
              <c:numCache>
                <c:formatCode>General</c:formatCode>
                <c:ptCount val="4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  <c:pt idx="3">
                  <c:v>3666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91521920"/>
        <c:axId val="791542784"/>
      </c:barChart>
      <c:catAx>
        <c:axId val="7915219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791542784"/>
        <c:crosses val="autoZero"/>
        <c:auto val="1"/>
        <c:lblAlgn val="ctr"/>
        <c:lblOffset val="100"/>
        <c:noMultiLvlLbl val="0"/>
      </c:catAx>
      <c:valAx>
        <c:axId val="79154278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79152192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314925161381854"/>
          <c:y val="0.34423591178275209"/>
          <c:w val="0.20784173937717243"/>
          <c:h val="0.46305371917534455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92322048"/>
        <c:axId val="801320960"/>
      </c:barChart>
      <c:catAx>
        <c:axId val="792322048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801320960"/>
        <c:crosses val="autoZero"/>
        <c:auto val="1"/>
        <c:lblAlgn val="ctr"/>
        <c:lblOffset val="100"/>
        <c:noMultiLvlLbl val="0"/>
      </c:catAx>
      <c:valAx>
        <c:axId val="8013209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79232204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801918976"/>
        <c:axId val="801920512"/>
        <c:axId val="0"/>
      </c:bar3DChart>
      <c:catAx>
        <c:axId val="8019189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801920512"/>
        <c:crosses val="autoZero"/>
        <c:auto val="1"/>
        <c:lblAlgn val="ctr"/>
        <c:lblOffset val="100"/>
        <c:noMultiLvlLbl val="0"/>
      </c:catAx>
      <c:valAx>
        <c:axId val="80192051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801918976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8/26/2018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6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57E1DA7-249B-46DE-8F30-D77A6589D084}" type="slidenum">
              <a:rPr lang="en-US">
                <a:solidFill>
                  <a:srgbClr val="000000"/>
                </a:solidFill>
              </a:rPr>
              <a:pPr eaLnBrk="1" hangingPunct="1"/>
              <a:t>15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17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36</a:t>
            </a:fld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48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2018/8/26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2018/8/26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2018/8/26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2018/8/26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2018/8/26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2018/8/26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2018/8/26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2018/8/26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2018/8/26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2018/8/26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2018/8/26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8/26/2018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8/26/2018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8/26/2018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8/26/2018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8/26/2018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8/26/2018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8/26/2018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8/26/2018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8/26/2018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8/26/2018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8/26/2018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7494C-9C38-4A24-AF6A-EDBCB2AEFA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4336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054E80-B57D-4120-AEB1-EFEB2D44F8A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8812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C2D70-00D7-443E-9416-F9CC80F5C70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1033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200451-DF75-4395-A598-8564AEE745F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8308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947878-99EE-408A-97D5-1974D05630C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6215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D220F2-1D89-4C79-B78D-CA0F3725960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3709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7C2C73-EB97-485B-B9C5-B2E060C8A8F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2188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8D75E1-66E3-4512-B1B6-FE762C04ACA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8626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145911-C292-4AEB-AD7A-AFAD0A96482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74172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52E0D1-901F-4569-969C-4856C1381EE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6891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F3708C-645C-4736-8265-8E0679D6DC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8233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2BB8A-D8BD-41BC-A586-5C82C088DE4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0201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D3C9A7-21CE-4711-9502-C20B1748D46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060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2018/8/26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2018/8/26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8B8D40BD-EFFF-4B70-8E9C-0725D6334E01}" type="slidenum"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095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1.png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9.jpeg"/><Relationship Id="rId4" Type="http://schemas.openxmlformats.org/officeDocument/2006/relationships/image" Target="../media/image48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3.jpeg"/><Relationship Id="rId4" Type="http://schemas.openxmlformats.org/officeDocument/2006/relationships/image" Target="../media/image5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1.jpeg"/><Relationship Id="rId4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73.jpeg"/><Relationship Id="rId4" Type="http://schemas.openxmlformats.org/officeDocument/2006/relationships/image" Target="../media/image7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77.jpeg"/><Relationship Id="rId4" Type="http://schemas.openxmlformats.org/officeDocument/2006/relationships/image" Target="../media/image7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MgIps428Ic" TargetMode="External"/><Relationship Id="rId2" Type="http://schemas.openxmlformats.org/officeDocument/2006/relationships/hyperlink" Target="https://www.unicef.org/bangladesh/media_4795.htm" TargetMode="Externa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343400" y="5266379"/>
            <a:ext cx="4267200" cy="1015663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Dr. Md. </a:t>
            </a:r>
            <a:r>
              <a:rPr lang="en-US" sz="2000" dirty="0" err="1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Emdadul</a:t>
            </a:r>
            <a:r>
              <a:rPr lang="en-US" sz="2000" dirty="0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Haque</a:t>
            </a:r>
            <a:endParaRPr lang="en-US" sz="2000" dirty="0" smtClean="0">
              <a:solidFill>
                <a:schemeClr val="bg1"/>
              </a:solidFill>
              <a:latin typeface="Andalus"/>
              <a:ea typeface="Andalus"/>
              <a:cs typeface="Andalus"/>
            </a:endParaRPr>
          </a:p>
          <a:p>
            <a:pPr algn="r" eaLnBrk="1" hangingPunct="1"/>
            <a:r>
              <a:rPr lang="en-US" sz="2000" dirty="0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Senior Consultant (</a:t>
            </a:r>
            <a:r>
              <a:rPr lang="en-US" sz="2000" dirty="0" err="1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Gynae</a:t>
            </a:r>
            <a:r>
              <a:rPr lang="en-US" sz="2000" dirty="0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 &amp; </a:t>
            </a:r>
            <a:r>
              <a:rPr lang="en-US" sz="2000" dirty="0" err="1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Obst</a:t>
            </a:r>
            <a:r>
              <a:rPr lang="en-US" sz="2000" dirty="0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)</a:t>
            </a:r>
          </a:p>
          <a:p>
            <a:pPr algn="r" eaLnBrk="1" hangingPunct="1"/>
            <a:r>
              <a:rPr lang="en-US" sz="2000" dirty="0" err="1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Jhenaidah</a:t>
            </a:r>
            <a:r>
              <a:rPr lang="en-US" sz="2000" dirty="0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Sadar</a:t>
            </a:r>
            <a:r>
              <a:rPr lang="en-US" sz="2000" dirty="0" smtClean="0">
                <a:solidFill>
                  <a:schemeClr val="bg1"/>
                </a:solidFill>
                <a:latin typeface="Andalus"/>
                <a:ea typeface="Andalus"/>
                <a:cs typeface="Andalus"/>
              </a:rPr>
              <a:t> Hospital</a:t>
            </a:r>
            <a:endParaRPr lang="en-US" sz="2000" dirty="0">
              <a:solidFill>
                <a:schemeClr val="bg1"/>
              </a:solidFill>
              <a:latin typeface="Andalus"/>
              <a:ea typeface="Andalus"/>
              <a:cs typeface="Andalu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Jhenaidah District Ma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13" y="0"/>
            <a:ext cx="86439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9201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810500" cy="558800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MCH Profile of </a:t>
            </a:r>
            <a:r>
              <a:rPr lang="en-US" sz="28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800" b="1" dirty="0" smtClean="0">
                <a:solidFill>
                  <a:schemeClr val="bg1"/>
                </a:solidFill>
              </a:rPr>
              <a:t> District- 2017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458200" cy="5410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population		                     : 1857149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Pregnant			: 38074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Live birth			: 36465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Under five children		: 222120</a:t>
            </a:r>
          </a:p>
          <a:p>
            <a:pPr>
              <a:lnSpc>
                <a:spcPct val="150000"/>
              </a:lnSpc>
              <a:buFontTx/>
              <a:buNone/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					 As per National data         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Death 			: 11142 	(D.R      </a:t>
            </a:r>
            <a:r>
              <a:rPr lang="en-US" sz="1500" b="1" dirty="0">
                <a:solidFill>
                  <a:srgbClr val="3333CC"/>
                </a:solidFill>
              </a:rPr>
              <a:t> </a:t>
            </a:r>
            <a:r>
              <a:rPr lang="en-US" sz="1500" b="1" dirty="0" smtClean="0">
                <a:solidFill>
                  <a:srgbClr val="3333CC"/>
                </a:solidFill>
              </a:rPr>
              <a:t>     6.1/1000 pop)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Maternal Death 		: 72	(MMR         194/100000 LB)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Parental Death 		: 1522 	(PNDR        40/1000 Del)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Neonatal Death 		: 922 	(NNDR        25/1000 LB)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Infant Death 			: 1218 	(IMR            33/1000 LB)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Under five Death 		: 1698 	(U5MR        46/1000 LB)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maternal morbidity                                : 2160       per year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morbidity increasing                  	: 4375       per year      </a:t>
            </a:r>
          </a:p>
          <a:p>
            <a:pPr>
              <a:lnSpc>
                <a:spcPct val="150000"/>
              </a:lnSpc>
              <a:defRPr/>
            </a:pPr>
            <a:r>
              <a:rPr lang="en-US" sz="1500" b="1" dirty="0" smtClean="0">
                <a:solidFill>
                  <a:srgbClr val="3333CC"/>
                </a:solidFill>
              </a:rPr>
              <a:t>Total low birth wait                              	: 8386        (23% of total birth)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sz="1500" b="1" dirty="0" smtClean="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50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</a:t>
            </a:r>
            <a:r>
              <a:rPr lang="en-US" sz="3600" b="1" dirty="0" smtClean="0"/>
              <a:t>district level </a:t>
            </a:r>
            <a:r>
              <a:rPr lang="en-US" sz="3600" b="1" dirty="0"/>
              <a:t>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ChangeArrowheads="1"/>
          </p:cNvSpPr>
          <p:nvPr/>
        </p:nvSpPr>
        <p:spPr bwMode="auto">
          <a:xfrm>
            <a:off x="457200" y="358775"/>
            <a:ext cx="8229600" cy="3810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2400" b="1" smtClean="0">
                <a:solidFill>
                  <a:srgbClr val="000000"/>
                </a:solidFill>
                <a:latin typeface="Arial" charset="0"/>
                <a:cs typeface="Arial" charset="0"/>
              </a:rPr>
              <a:t>Background History of Jhenaidah Sadar Hospital</a:t>
            </a:r>
          </a:p>
        </p:txBody>
      </p:sp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457200" y="863600"/>
            <a:ext cx="80772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spcBef>
                <a:spcPct val="20000"/>
              </a:spcBef>
            </a:pPr>
            <a:endParaRPr lang="en-US" sz="1600" b="1" smtClean="0">
              <a:solidFill>
                <a:srgbClr val="3333CC"/>
              </a:solidFill>
              <a:latin typeface="Arial" charset="0"/>
              <a:cs typeface="Arial" charset="0"/>
            </a:endParaRPr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457200" y="990600"/>
            <a:ext cx="8229600" cy="5638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/>
        </p:spPr>
        <p:txBody>
          <a:bodyPr/>
          <a:lstStyle/>
          <a:p>
            <a:pPr>
              <a:lnSpc>
                <a:spcPct val="200000"/>
              </a:lnSpc>
              <a:spcAft>
                <a:spcPts val="1200"/>
              </a:spcAft>
              <a:defRPr/>
            </a:pPr>
            <a:r>
              <a:rPr lang="en-US" sz="1600" b="1" dirty="0" err="1">
                <a:solidFill>
                  <a:srgbClr val="000000"/>
                </a:solidFill>
                <a:latin typeface="Arial" charset="0"/>
                <a:cs typeface="Arial" charset="0"/>
              </a:rPr>
              <a:t>Jhenaidah</a:t>
            </a:r>
            <a: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  <a:t> Sadar Hospital was established in 1968 as Sub-Division Hospital and            became functioning from December 1970. </a:t>
            </a:r>
            <a:b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</a:br>
            <a: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  <a:t> - From February 1984 recognized as District Sadar Hospital.</a:t>
            </a:r>
            <a:b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</a:br>
            <a: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  <a:t>-  In 1994 upgrade to 100 Bedded Hospital without manpower &amp; infrastructure.</a:t>
            </a:r>
            <a:b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</a:br>
            <a: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  <a:t>-  In May 2005 infrastructure of 100 </a:t>
            </a:r>
            <a:r>
              <a:rPr lang="en-US" sz="1600" b="1" dirty="0" err="1">
                <a:solidFill>
                  <a:srgbClr val="000000"/>
                </a:solidFill>
                <a:latin typeface="Arial" charset="0"/>
                <a:cs typeface="Arial" charset="0"/>
              </a:rPr>
              <a:t>beded</a:t>
            </a:r>
            <a: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  <a:t> hospital completed. </a:t>
            </a:r>
            <a:b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</a:br>
            <a: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  <a:t>-  In 2008, Laparoscopic surgery was initiated in Hospital.</a:t>
            </a:r>
            <a:b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</a:br>
            <a: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  <a:t>-  In 2010 , this Hospital was awarded for EOC Activities, in Khulna Division.  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  <a:t>-  TQM activities started in January 2011 and effectively in May 2012.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Tx/>
              <a:buChar char="-"/>
              <a:defRPr/>
            </a:pPr>
            <a: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  <a:t>In 10’th October foundation stone for 250 bedded hospital is established by   Honorable Prime Minister of Peoples Republic of Bangladesh.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sz="1600" b="1" dirty="0">
                <a:solidFill>
                  <a:srgbClr val="000000"/>
                </a:solidFill>
                <a:latin typeface="Arial" charset="0"/>
                <a:cs typeface="Arial" charset="0"/>
              </a:rPr>
              <a:t>-   In 9 Feb, 2014, 5S KIZEN – TQM program started by DGHS &amp; SMPP JICA. 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/>
            </a:pPr>
            <a:endParaRPr lang="en-US" sz="1600" b="1" dirty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Tx/>
              <a:buChar char="-"/>
              <a:defRPr/>
            </a:pPr>
            <a:endParaRPr lang="en-US" sz="1600" b="1" dirty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Tx/>
              <a:buChar char="-"/>
              <a:defRPr/>
            </a:pPr>
            <a:endParaRPr lang="en-US" sz="1600" b="1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291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46101"/>
              </p:ext>
            </p:extLst>
          </p:nvPr>
        </p:nvGraphicFramePr>
        <p:xfrm>
          <a:off x="148988" y="1105771"/>
          <a:ext cx="8894763" cy="506642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14400"/>
                <a:gridCol w="1981200"/>
                <a:gridCol w="2362200"/>
                <a:gridCol w="1905000"/>
                <a:gridCol w="1731963"/>
              </a:tblGrid>
              <a:tr h="8087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 2014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Japan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3733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22.9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2.2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2015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FYP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077397"/>
              </p:ext>
            </p:extLst>
          </p:nvPr>
        </p:nvGraphicFramePr>
        <p:xfrm>
          <a:off x="0" y="1295399"/>
          <a:ext cx="9144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01850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Life Expectancy at Birth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70.4 (SVRS 2013)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72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Under-five</a:t>
                      </a:r>
                      <a:r>
                        <a:rPr lang="en-US" baseline="0" dirty="0" smtClean="0"/>
                        <a:t> Mortality Rate (per 1,000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46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37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Infant </a:t>
                      </a:r>
                      <a:r>
                        <a:rPr lang="en-US" baseline="0" dirty="0" smtClean="0"/>
                        <a:t>Mortality Rate (per ,1000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38 (BDHS 2014)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Maternal </a:t>
                      </a:r>
                      <a:r>
                        <a:rPr lang="en-US" baseline="0" dirty="0" smtClean="0"/>
                        <a:t>Mortality Ratio(per 100,000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170 (MMEIG 2013)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105</a:t>
                      </a:r>
                      <a:endParaRPr lang="en-US" dirty="0"/>
                    </a:p>
                  </a:txBody>
                  <a:tcPr/>
                </a:tc>
              </a:tr>
              <a:tr h="621192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Under Weight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32.6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stunting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36.1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9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</a:t>
            </a:r>
            <a:r>
              <a:rPr lang="en-US" sz="4000" dirty="0" smtClean="0"/>
              <a:t>FYP</a:t>
            </a:r>
            <a:endParaRPr lang="en-US" sz="4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855438"/>
              </p:ext>
            </p:extLst>
          </p:nvPr>
        </p:nvGraphicFramePr>
        <p:xfrm>
          <a:off x="0" y="1295399"/>
          <a:ext cx="9144000" cy="5114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14092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410349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 Fertility Rate (Children</a:t>
                      </a:r>
                      <a:r>
                        <a:rPr lang="en-US" baseline="0" dirty="0" smtClean="0"/>
                        <a:t> per Woman)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2.3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2.0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Contraceptive Prevalence</a:t>
                      </a:r>
                      <a:r>
                        <a:rPr lang="en-US" baseline="0" dirty="0" smtClean="0"/>
                        <a:t>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62.4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children fully vaccinated by 12 months </a:t>
                      </a:r>
                      <a:r>
                        <a:rPr lang="en-US" baseline="0" dirty="0" smtClean="0"/>
                        <a:t>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78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</a:t>
                      </a:r>
                      <a:r>
                        <a:rPr lang="en-US" baseline="0" dirty="0" smtClean="0"/>
                        <a:t> of births attended medically trained provider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42.1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</a:tr>
              <a:tr h="87763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births</a:t>
                      </a:r>
                      <a:r>
                        <a:rPr lang="en-US" baseline="0" dirty="0" smtClean="0"/>
                        <a:t> in health facilities by wealth quintiles (Ratio of lowest and highest quantities)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15:69.5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1:3.5</a:t>
                      </a:r>
                      <a:endParaRPr lang="en-US" dirty="0"/>
                    </a:p>
                  </a:txBody>
                  <a:tcPr/>
                </a:tc>
              </a:tr>
              <a:tr h="68106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TB case detection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53 (GTR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2014 )                      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00600" y="6477000"/>
            <a:ext cx="4191000" cy="346841"/>
          </a:xfrm>
        </p:spPr>
        <p:txBody>
          <a:bodyPr/>
          <a:lstStyle/>
          <a:p>
            <a:pPr marL="0" indent="0">
              <a:buNone/>
            </a:pPr>
            <a:r>
              <a:rPr lang="en-US" sz="1600" b="1" i="1" dirty="0" smtClean="0"/>
              <a:t>Source: Ministry of Health and Family Welfare</a:t>
            </a:r>
            <a:endParaRPr 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261133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5344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538287"/>
              </p:ext>
            </p:extLst>
          </p:nvPr>
        </p:nvGraphicFramePr>
        <p:xfrm>
          <a:off x="152401" y="1524000"/>
          <a:ext cx="8686800" cy="5151966"/>
        </p:xfrm>
        <a:graphic>
          <a:graphicData uri="http://schemas.openxmlformats.org/drawingml/2006/table">
            <a:tbl>
              <a:tblPr/>
              <a:tblGrid>
                <a:gridCol w="1534936"/>
                <a:gridCol w="2808464"/>
                <a:gridCol w="2171700"/>
                <a:gridCol w="2171700"/>
              </a:tblGrid>
              <a:tr h="6247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63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MLSS, Ward boy,  Ayah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Trolley man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 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151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228600" y="723792"/>
            <a:ext cx="85344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85345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929509912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2017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442999"/>
              </p:ext>
            </p:extLst>
          </p:nvPr>
        </p:nvGraphicFramePr>
        <p:xfrm>
          <a:off x="1143000" y="2057400"/>
          <a:ext cx="6934199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4558568"/>
              </p:ext>
            </p:extLst>
          </p:nvPr>
        </p:nvGraphicFramePr>
        <p:xfrm>
          <a:off x="381000" y="1528465"/>
          <a:ext cx="84582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57200" y="1066800"/>
            <a:ext cx="8305800" cy="461665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2017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52655616"/>
              </p:ext>
            </p:extLst>
          </p:nvPr>
        </p:nvGraphicFramePr>
        <p:xfrm>
          <a:off x="443552" y="2133600"/>
          <a:ext cx="8153399" cy="347503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87865"/>
                <a:gridCol w="3194870"/>
                <a:gridCol w="922497"/>
                <a:gridCol w="930031"/>
                <a:gridCol w="1136341"/>
                <a:gridCol w="1181795"/>
              </a:tblGrid>
              <a:tr h="71101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ANC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23981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640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3075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3715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02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Jhenaidah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Sadar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15360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1839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1143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2997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  <a:endParaRPr kumimoji="0" lang="en-US" sz="16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13152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04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18650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2163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759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2922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7915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05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6977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1455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1228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2683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495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06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250</a:t>
                      </a:r>
                      <a:r>
                        <a:rPr lang="en-GB" sz="1600" baseline="0" dirty="0" smtClean="0"/>
                        <a:t> Bedded Hospital, </a:t>
                      </a:r>
                      <a:r>
                        <a:rPr lang="en-GB" sz="1600" baseline="0" dirty="0" err="1" smtClean="0"/>
                        <a:t>Kushtia</a:t>
                      </a:r>
                      <a:endParaRPr lang="en-GB" sz="1600" b="1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4735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1595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919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aseline="0" dirty="0" smtClean="0"/>
                        <a:t>2514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</a:tr>
            </a:tbl>
          </a:graphicData>
        </a:graphic>
      </p:graphicFrame>
      <p:sp>
        <p:nvSpPr>
          <p:cNvPr id="32829" name="Rectangle 4"/>
          <p:cNvSpPr>
            <a:spLocks noChangeArrowheads="1"/>
          </p:cNvSpPr>
          <p:nvPr/>
        </p:nvSpPr>
        <p:spPr bwMode="auto">
          <a:xfrm>
            <a:off x="476534" y="644288"/>
            <a:ext cx="8153400" cy="9906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r>
              <a:rPr lang="en-US" sz="2400" dirty="0" smtClean="0">
                <a:solidFill>
                  <a:schemeClr val="bg1"/>
                </a:solidFill>
              </a:rPr>
              <a:t>Comparative Data of Delivery of best performing EOC center of Khulna Division in 2017</a:t>
            </a:r>
          </a:p>
        </p:txBody>
      </p:sp>
    </p:spTree>
    <p:extLst>
      <p:ext uri="{BB962C8B-B14F-4D97-AF65-F5344CB8AC3E}">
        <p14:creationId xmlns:p14="http://schemas.microsoft.com/office/powerpoint/2010/main" val="3009723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2017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290331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53 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20, 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6, 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</a:t>
            </a:r>
            <a:r>
              <a:rPr lang="en-US" sz="260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12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and an intercom with a cost of nearly two lac 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repaired the boundary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wall and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5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 and donation of a biochemistry analyzer at a cost of 1,15,000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Taka. </a:t>
            </a: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generator for 24 hours OT service    with a cost of nearly 33 thousand taka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Former-chairman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Jhenidah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Pourosova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supports 2 manpower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17 man power.</a:t>
            </a:r>
            <a:endParaRPr lang="en-US" sz="26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83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</a:t>
            </a:r>
            <a:r>
              <a:rPr lang="en-US" sz="2000" b="1" dirty="0" smtClean="0">
                <a:solidFill>
                  <a:schemeClr val="bg1"/>
                </a:solidFill>
              </a:rPr>
              <a:t>Hospital and Introduction </a:t>
            </a:r>
            <a:r>
              <a:rPr lang="en-US" sz="2000" b="1" dirty="0">
                <a:solidFill>
                  <a:schemeClr val="bg1"/>
                </a:solidFill>
              </a:rPr>
              <a:t>of TQM </a:t>
            </a:r>
            <a:r>
              <a:rPr lang="en-US" sz="2000" b="1" dirty="0" smtClean="0">
                <a:solidFill>
                  <a:schemeClr val="bg1"/>
                </a:solidFill>
              </a:rPr>
              <a:t>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3" y="3814916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7206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685801"/>
            <a:ext cx="4281094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smtClean="0">
                <a:solidFill>
                  <a:schemeClr val="bg1"/>
                </a:solidFill>
              </a:rPr>
              <a:t>Changes in Surgery &amp; Pediatric Word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 smtClean="0">
                <a:solidFill>
                  <a:srgbClr val="FFFFFF"/>
                </a:solidFill>
              </a:rPr>
              <a:t>Waste </a:t>
            </a:r>
            <a:r>
              <a:rPr lang="en-US" sz="2800" b="1" dirty="0">
                <a:solidFill>
                  <a:srgbClr val="FFFFFF"/>
                </a:solidFill>
              </a:rPr>
              <a:t>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Office and Hospital </a:t>
            </a:r>
            <a:r>
              <a:rPr lang="en-US" sz="2800" b="1" dirty="0">
                <a:solidFill>
                  <a:schemeClr val="bg1"/>
                </a:solidFill>
              </a:rPr>
              <a:t>I</a:t>
            </a:r>
            <a:r>
              <a:rPr lang="en-US" sz="2800" b="1" dirty="0" smtClean="0">
                <a:solidFill>
                  <a:schemeClr val="bg1"/>
                </a:solidFill>
              </a:rPr>
              <a:t>nternal </a:t>
            </a:r>
            <a:r>
              <a:rPr lang="en-US" sz="2800" b="1" dirty="0">
                <a:solidFill>
                  <a:schemeClr val="bg1"/>
                </a:solidFill>
              </a:rPr>
              <a:t>E</a:t>
            </a:r>
            <a:r>
              <a:rPr lang="en-US" sz="2800" b="1" dirty="0" smtClean="0">
                <a:solidFill>
                  <a:schemeClr val="bg1"/>
                </a:solidFill>
              </a:rPr>
              <a:t>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832350" y="3781425"/>
            <a:ext cx="3994150" cy="2921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9156" name="Picture 1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88" y="838200"/>
            <a:ext cx="4021137" cy="2743200"/>
          </a:xfrm>
        </p:spPr>
      </p:pic>
      <p:pic>
        <p:nvPicPr>
          <p:cNvPr id="4915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6638" y="889000"/>
            <a:ext cx="4297362" cy="2616200"/>
          </a:xfrm>
        </p:spPr>
      </p:pic>
      <p:pic>
        <p:nvPicPr>
          <p:cNvPr id="25" name="Content Placeholder 6"/>
          <p:cNvPicPr>
            <a:picLocks noGrp="1" noChangeAspect="1"/>
          </p:cNvPicPr>
          <p:nvPr>
            <p:ph sz="quarter" idx="4294967295"/>
          </p:nvPr>
        </p:nvPicPr>
        <p:blipFill>
          <a:blip r:embed="rId5"/>
          <a:stretch>
            <a:fillRect/>
          </a:stretch>
        </p:blipFill>
        <p:spPr>
          <a:xfrm>
            <a:off x="0" y="3778250"/>
            <a:ext cx="4038600" cy="29781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6200" y="9715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638" y="1003300"/>
            <a:ext cx="6715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897438" y="3933825"/>
            <a:ext cx="671512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After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6200" y="3895725"/>
            <a:ext cx="903288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Before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09999"/>
            <a:ext cx="4038600" cy="290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5" descr="DSC024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10100" y="852487"/>
            <a:ext cx="4419600" cy="2705100"/>
          </a:xfrm>
          <a:prstGeom prst="rect">
            <a:avLst/>
          </a:prstGeom>
          <a:noFill/>
          <a:ln/>
        </p:spPr>
      </p:pic>
      <p:pic>
        <p:nvPicPr>
          <p:cNvPr id="5" name="Picture 4" descr="DSC0254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407" y="852487"/>
            <a:ext cx="4257675" cy="2705100"/>
          </a:xfrm>
          <a:prstGeom prst="rect">
            <a:avLst/>
          </a:prstGeom>
          <a:noFill/>
          <a:ln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91407" y="152400"/>
            <a:ext cx="8838293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- 2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22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0" y="3886200"/>
            <a:ext cx="4133973" cy="25908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86" y="3886200"/>
            <a:ext cx="4127426" cy="25908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219200"/>
            <a:ext cx="4038599" cy="2514268"/>
          </a:xfrm>
          <a:prstGeom prst="rect">
            <a:avLst/>
          </a:prstGeom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" y="1219200"/>
            <a:ext cx="4114800" cy="2563359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 bwMode="auto">
          <a:xfrm>
            <a:off x="246184" y="464343"/>
            <a:ext cx="8593015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10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6" y="1066800"/>
            <a:ext cx="4342829" cy="2514599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990600"/>
            <a:ext cx="4041775" cy="2667000"/>
          </a:xfrm>
        </p:spPr>
      </p:pic>
      <p:pic>
        <p:nvPicPr>
          <p:cNvPr id="12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3886198"/>
            <a:ext cx="4041606" cy="2819401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04798" y="457200"/>
            <a:ext cx="8537491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- 4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71" y="3886198"/>
            <a:ext cx="4293029" cy="281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10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914400"/>
            <a:ext cx="4532312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114800"/>
            <a:ext cx="4495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4800"/>
            <a:ext cx="4257675" cy="2743200"/>
          </a:xfr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- 5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31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dministrator &amp; Mayor in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98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9490" y="601354"/>
            <a:ext cx="4191000" cy="282764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1" y="3599597"/>
            <a:ext cx="4343401" cy="2846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9" y="609600"/>
            <a:ext cx="4183626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4237232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district high officials in hospital activities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2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QIC meeting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</a:t>
            </a:r>
            <a:r>
              <a:rPr lang="en-US" b="1" dirty="0" err="1" smtClean="0"/>
              <a:t>Bangldesh</a:t>
            </a:r>
            <a:r>
              <a:rPr lang="en-US" b="1" dirty="0" smtClean="0"/>
              <a:t>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 </a:t>
            </a:r>
            <a:r>
              <a:rPr lang="en-US" b="1" dirty="0"/>
              <a:t>Functioning </a:t>
            </a:r>
            <a:r>
              <a:rPr lang="en-US" b="1" dirty="0" smtClean="0"/>
              <a:t>of X-Ray service and starting of Biochemistry investigation by local initiatives.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 smtClean="0"/>
              <a:t>8. </a:t>
            </a:r>
            <a:r>
              <a:rPr lang="en-US" b="1" dirty="0"/>
              <a:t>The hospital is </a:t>
            </a:r>
            <a:r>
              <a:rPr lang="en-US" b="1" dirty="0" smtClean="0"/>
              <a:t>awarded 5 </a:t>
            </a:r>
            <a:r>
              <a:rPr lang="en-US" b="1" dirty="0"/>
              <a:t>times from 2013 to </a:t>
            </a:r>
            <a:r>
              <a:rPr lang="en-US" b="1" dirty="0" smtClean="0"/>
              <a:t>2017. </a:t>
            </a:r>
            <a:r>
              <a:rPr lang="en-US" b="1" dirty="0"/>
              <a:t>Stood first award by 5S-KAIZEN-TQM among the 100 bedded district hospitals by defeating </a:t>
            </a:r>
            <a:r>
              <a:rPr lang="en-US" b="1" dirty="0" err="1" smtClean="0"/>
              <a:t>Norsindi</a:t>
            </a:r>
            <a:r>
              <a:rPr lang="en-US" b="1" dirty="0" smtClean="0"/>
              <a:t> </a:t>
            </a:r>
            <a:r>
              <a:rPr lang="en-US" b="1" dirty="0"/>
              <a:t>Sadar Hospital.</a:t>
            </a:r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800" dirty="0" smtClean="0"/>
              <a:t>Situation of the hospital in May 2012 -1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867400"/>
          </a:xfrm>
        </p:spPr>
        <p:txBody>
          <a:bodyPr/>
          <a:lstStyle/>
          <a:p>
            <a:pPr marL="457200" indent="-457200">
              <a:buFont typeface="Arial" charset="0"/>
              <a:buAutoNum type="arabicPeriod"/>
              <a:defRPr/>
            </a:pPr>
            <a:r>
              <a:rPr lang="en-US" sz="1800" dirty="0" smtClean="0"/>
              <a:t>Unprotected Campus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 	a. Addicted person moved here and there at day and night.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 	b. Campus unclean goats and cows moved everywhere in day.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r>
              <a:rPr lang="en-US" sz="1800" dirty="0" smtClean="0"/>
              <a:t>       	c. Front of the hospital was full of posters.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r>
              <a:rPr lang="en-US" sz="1800" dirty="0" smtClean="0"/>
              <a:t>       	d. Broken cycle stand and there was a shade of </a:t>
            </a:r>
            <a:r>
              <a:rPr lang="en-US" sz="1800" dirty="0" err="1" smtClean="0"/>
              <a:t>polithin</a:t>
            </a:r>
            <a:r>
              <a:rPr lang="en-US" sz="1800" dirty="0" smtClean="0"/>
              <a:t> in front of the cycle 	stand.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e. </a:t>
            </a:r>
            <a:r>
              <a:rPr lang="en-US" sz="1800" dirty="0" err="1" smtClean="0"/>
              <a:t>Vesoz</a:t>
            </a:r>
            <a:r>
              <a:rPr lang="en-US" sz="1800" dirty="0" smtClean="0"/>
              <a:t> Garden was unclean and full of hospital waste.</a:t>
            </a:r>
          </a:p>
          <a:p>
            <a:pPr marL="457200" indent="-457200">
              <a:buFont typeface="Arial" charset="0"/>
              <a:buAutoNum type="arabicPeriod" startAt="2"/>
              <a:defRPr/>
            </a:pPr>
            <a:r>
              <a:rPr lang="en-US" sz="1800" dirty="0" smtClean="0"/>
              <a:t>Emergency: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Full of broken lockers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b. Unhygienic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c. Used as a cycle store at night.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d. No boiling system. Infection control system was neglected.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e. Addicted person worked in emergency department.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f. No trolley man.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g. No slopping for trolley in front of the emergency department.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h. Privacy was neglected during stomach wash of the patient.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i. Corruption was not prevented.</a:t>
            </a:r>
          </a:p>
          <a:p>
            <a:pPr marL="0" indent="0">
              <a:buFont typeface="Arial" charset="0"/>
              <a:buNone/>
              <a:defRPr/>
            </a:pPr>
            <a:endParaRPr lang="en-US" sz="1800" dirty="0" smtClean="0"/>
          </a:p>
          <a:p>
            <a:pPr marL="0" indent="0">
              <a:buFont typeface="Arial" charset="0"/>
              <a:buNone/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59578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4572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400" dirty="0" smtClean="0"/>
              <a:t>Situation of the hospital in May 2012 -2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943600"/>
          </a:xfrm>
        </p:spPr>
        <p:txBody>
          <a:bodyPr/>
          <a:lstStyle/>
          <a:p>
            <a:pPr>
              <a:buFont typeface="Arial" charset="0"/>
              <a:buAutoNum type="arabicPeriod" startAt="6"/>
              <a:defRPr/>
            </a:pPr>
            <a:endParaRPr lang="en-US" sz="1800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3.      Outdoor: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a. No patient separation. Male female and child treated in outdoor by every 	outdoor doctor.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No IMCI Corner.                        c. No  FP Unit.</a:t>
            </a:r>
          </a:p>
          <a:p>
            <a:pPr>
              <a:buFont typeface="Arial" charset="0"/>
              <a:buAutoNum type="arabicPeriod" startAt="4"/>
              <a:defRPr/>
            </a:pPr>
            <a:r>
              <a:rPr lang="en-US" sz="1800" dirty="0" smtClean="0"/>
              <a:t>Blood Bank: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	a. No worker for 24 Hours blood bank support.</a:t>
            </a:r>
            <a:endParaRPr lang="en-US" sz="1800" dirty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5.    Indoor: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Unwanted items within the ward. Like broken patient bed.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Unhygienic environment.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c.  Patient in paying cabin and paying ward without govt. charge.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d. No table and chair in paying cabin.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e. Non Govt. worker would take charge from the patient and some of the 	govt. workers also involved in corruption.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6.     Dead body room: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Unclean.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Unused large telephone box for 10 years.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c. Workers would take heavy charge from the relatives of the dead person.</a:t>
            </a:r>
          </a:p>
          <a:p>
            <a:pPr marL="0" indent="0">
              <a:buFont typeface="Arial" charset="0"/>
              <a:buNone/>
              <a:defRPr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386438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800" dirty="0" smtClean="0"/>
              <a:t>Situation of the hospital in May 2012 -3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534400" cy="6096000"/>
          </a:xfrm>
        </p:spPr>
        <p:txBody>
          <a:bodyPr/>
          <a:lstStyle/>
          <a:p>
            <a:pPr>
              <a:buFont typeface="Arial" charset="0"/>
              <a:buAutoNum type="arabicPeriod" startAt="6"/>
              <a:defRPr/>
            </a:pPr>
            <a:r>
              <a:rPr lang="en-US" sz="1600" dirty="0" smtClean="0"/>
              <a:t>EOC ward: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a. Only 4 govt. bed and 4 extra. Total 8 beds.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b. The ward was unhygienic and foul smelling.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c.  Privacy was neglected.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d. ANC Corner system ineffective.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e. One washroom with broken door.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f.  No </a:t>
            </a:r>
            <a:r>
              <a:rPr lang="en-US" sz="1600" dirty="0" err="1" smtClean="0"/>
              <a:t>rexin</a:t>
            </a:r>
            <a:r>
              <a:rPr lang="en-US" sz="1600" dirty="0" smtClean="0"/>
              <a:t> sheet and unclean mattress of the beds.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g. Mal use of oxytocic drug.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h. Weak infection control system.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i. Consultant reside outside the campus.	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j. No health education system.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k. No pre </a:t>
            </a:r>
            <a:r>
              <a:rPr lang="en-US" sz="1600" dirty="0" err="1" smtClean="0"/>
              <a:t>labour</a:t>
            </a:r>
            <a:r>
              <a:rPr lang="en-US" sz="1600" dirty="0" smtClean="0"/>
              <a:t> room.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l. No night round of the consultant.</a:t>
            </a:r>
          </a:p>
          <a:p>
            <a:pPr>
              <a:buFont typeface="Arial" charset="0"/>
              <a:buAutoNum type="arabicPeriod" startAt="7"/>
              <a:defRPr/>
            </a:pPr>
            <a:r>
              <a:rPr lang="en-US" sz="1600" dirty="0" smtClean="0"/>
              <a:t>OT</a:t>
            </a:r>
            <a:r>
              <a:rPr lang="en-US" sz="1600" dirty="0"/>
              <a:t>:</a:t>
            </a:r>
            <a:endParaRPr lang="en-US" sz="1600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600" dirty="0"/>
              <a:t> </a:t>
            </a:r>
            <a:r>
              <a:rPr lang="en-US" sz="1600" dirty="0" smtClean="0"/>
              <a:t> 	a. Some of the none govt. workers would take charge from the patient.</a:t>
            </a:r>
          </a:p>
          <a:p>
            <a:pPr marL="228600" indent="-228600">
              <a:buFont typeface="Arial" charset="0"/>
              <a:buAutoNum type="arabicPeriod" startAt="9"/>
              <a:defRPr/>
            </a:pPr>
            <a:r>
              <a:rPr lang="en-US" sz="1600" dirty="0" smtClean="0"/>
              <a:t>     No round of superintendent of the hospital even one in a month.</a:t>
            </a:r>
          </a:p>
          <a:p>
            <a:pPr marL="228600" indent="-228600">
              <a:buFont typeface="Arial" charset="0"/>
              <a:buAutoNum type="arabicPeriod" startAt="9"/>
              <a:defRPr/>
            </a:pPr>
            <a:r>
              <a:rPr lang="en-US" sz="1600" dirty="0" smtClean="0"/>
              <a:t>    No RMO, in charge RMO worked for six years.</a:t>
            </a:r>
          </a:p>
          <a:p>
            <a:pPr marL="228600" indent="-228600">
              <a:buFont typeface="Arial" charset="0"/>
              <a:buAutoNum type="arabicPeriod" startAt="9"/>
              <a:defRPr/>
            </a:pPr>
            <a:r>
              <a:rPr lang="en-US" sz="1600" dirty="0" smtClean="0"/>
              <a:t>    Information display system was neglected.</a:t>
            </a:r>
          </a:p>
          <a:p>
            <a:pPr marL="228600" indent="-228600">
              <a:buFont typeface="Arial" charset="0"/>
              <a:buAutoNum type="arabicPeriod" startAt="9"/>
              <a:defRPr/>
            </a:pPr>
            <a:r>
              <a:rPr lang="en-US" sz="1600" dirty="0" smtClean="0"/>
              <a:t>    One super were charged by local MP and one super fled away.</a:t>
            </a:r>
          </a:p>
          <a:p>
            <a:pPr marL="228600" indent="-228600">
              <a:buFont typeface="Arial" charset="0"/>
              <a:buAutoNum type="arabicPeriod" startAt="9"/>
              <a:defRPr/>
            </a:pPr>
            <a:r>
              <a:rPr lang="en-US" sz="1600" dirty="0" smtClean="0"/>
              <a:t>    Frequently, Hospital stuffs faced physical and mental torture.</a:t>
            </a:r>
          </a:p>
          <a:p>
            <a:pPr marL="0" indent="0">
              <a:buFont typeface="Arial" charset="0"/>
              <a:buNone/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6842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/>
              <a:t>How we overcome the challenges</a:t>
            </a:r>
            <a:endParaRPr lang="en-US" sz="3200" dirty="0"/>
          </a:p>
        </p:txBody>
      </p:sp>
      <p:sp>
        <p:nvSpPr>
          <p:cNvPr id="64515" name="Rectangle 8"/>
          <p:cNvSpPr>
            <a:spLocks noChangeArrowheads="1"/>
          </p:cNvSpPr>
          <p:nvPr/>
        </p:nvSpPr>
        <p:spPr bwMode="auto">
          <a:xfrm>
            <a:off x="609600" y="914400"/>
            <a:ext cx="8077200" cy="677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1.                Situation analysis and prepare a baseline survey report in June 2012 and compared the    	progress with the baseline report of 1998.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a.   Problem identification. </a:t>
            </a:r>
            <a:r>
              <a:rPr lang="en-US" sz="1400" dirty="0" smtClean="0">
                <a:solidFill>
                  <a:srgbClr val="000000"/>
                </a:solidFill>
              </a:rPr>
              <a:t>*Problems of the hospital 1 &amp; 2 (Later)</a:t>
            </a:r>
            <a:endParaRPr lang="en-US" sz="1400" dirty="0">
              <a:solidFill>
                <a:srgbClr val="000000"/>
              </a:solidFill>
            </a:endParaRPr>
          </a:p>
          <a:p>
            <a:r>
              <a:rPr lang="en-US" sz="1400" dirty="0">
                <a:solidFill>
                  <a:srgbClr val="000000"/>
                </a:solidFill>
              </a:rPr>
              <a:t>	b.   Basic activities.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c.   Govt. resources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d.   Scope</a:t>
            </a:r>
          </a:p>
          <a:p>
            <a:r>
              <a:rPr lang="en-US" sz="1400" dirty="0">
                <a:solidFill>
                  <a:srgbClr val="000000"/>
                </a:solidFill>
              </a:rPr>
              <a:t>2.	Motivation of doctors, nurses and staff.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</a:rPr>
              <a:t>3.	Community motivation and social mobilization.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a.   Local administration </a:t>
            </a:r>
            <a:r>
              <a:rPr lang="en-US" sz="1400" dirty="0" smtClean="0">
                <a:solidFill>
                  <a:srgbClr val="000000"/>
                </a:solidFill>
              </a:rPr>
              <a:t>DC, </a:t>
            </a:r>
            <a:r>
              <a:rPr lang="en-US" sz="1400" dirty="0">
                <a:solidFill>
                  <a:srgbClr val="000000"/>
                </a:solidFill>
              </a:rPr>
              <a:t>ADC 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b.   District health improvement committee which is headed by 		      	      local MP.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c.   Local Govt. Mayor, district chairmen.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d.   Reporters and media personalities.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e.   Social workers, Human Rights Organizations, few NGO, 		      	      teachers, industrialists , </a:t>
            </a:r>
            <a:r>
              <a:rPr lang="en-US" sz="1400" dirty="0" smtClean="0">
                <a:solidFill>
                  <a:srgbClr val="000000"/>
                </a:solidFill>
              </a:rPr>
              <a:t>TIB .&amp; religious leaders</a:t>
            </a:r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r>
              <a:rPr lang="en-US" sz="1400" dirty="0">
                <a:solidFill>
                  <a:srgbClr val="000000"/>
                </a:solidFill>
              </a:rPr>
              <a:t>4.	Improved cleanliness and beautification of the outer environment.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a.   Involvement of Mayor. Ensure security of the campus and regular  	       	      removal of hospital wastes, cleanliness of the drainage system.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b.   Removal of all posters.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c.   Made a boundary wall.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d.   Starting for the beautification of the campus.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e.   Celebrate A Big Cleaning Day in 17th March, the birthday of the father of the nation.</a:t>
            </a: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726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How we overcome the challenges -2</a:t>
            </a:r>
            <a:endParaRPr lang="en-US" sz="2800" dirty="0"/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381000" y="990600"/>
            <a:ext cx="83820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5.	Reform of EOC program:</a:t>
            </a:r>
          </a:p>
          <a:p>
            <a:pPr marL="342900" indent="-342900" algn="just" eaLnBrk="1" hangingPunct="1">
              <a:defRPr/>
            </a:pPr>
            <a:endParaRPr lang="en-US" sz="16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algn="just" eaLnBrk="1" hangingPunct="1">
              <a:defRPr/>
            </a:pPr>
            <a:r>
              <a:rPr lang="en-US" sz="1600" dirty="0"/>
              <a:t>	-Introduce </a:t>
            </a:r>
            <a:r>
              <a:rPr lang="en-US" sz="1600" dirty="0" err="1"/>
              <a:t>Labour</a:t>
            </a:r>
            <a:r>
              <a:rPr lang="en-US" sz="1600" dirty="0"/>
              <a:t> Admission Register, </a:t>
            </a:r>
            <a:r>
              <a:rPr lang="en-US" sz="1600" dirty="0" err="1"/>
              <a:t>Labour</a:t>
            </a:r>
            <a:r>
              <a:rPr lang="en-US" sz="1600" dirty="0"/>
              <a:t> Ward Admission Form, Separate 	Discharge Form. </a:t>
            </a:r>
          </a:p>
          <a:p>
            <a:pPr lvl="1" algn="just" eaLnBrk="1" hangingPunct="1">
              <a:defRPr/>
            </a:pPr>
            <a:r>
              <a:rPr lang="en-US" sz="1600" dirty="0"/>
              <a:t>	-Starting of ANC &amp; PNC corner and Arrange a Room for Medical Officer.</a:t>
            </a:r>
          </a:p>
          <a:p>
            <a:pPr lvl="1" algn="just" eaLnBrk="1" hangingPunct="1">
              <a:defRPr/>
            </a:pPr>
            <a:r>
              <a:rPr lang="en-US" sz="1600" dirty="0"/>
              <a:t>	-NO. of EOC Bed increase from 10 to 21 though on EOC bed only 5.</a:t>
            </a:r>
          </a:p>
          <a:p>
            <a:pPr lvl="1" algn="just" eaLnBrk="1" hangingPunct="1">
              <a:defRPr/>
            </a:pPr>
            <a:r>
              <a:rPr lang="en-US" sz="1600" dirty="0"/>
              <a:t>	-Improve EOC Operation Theater. </a:t>
            </a:r>
          </a:p>
          <a:p>
            <a:pPr lvl="1" algn="just" eaLnBrk="1" hangingPunct="1">
              <a:defRPr/>
            </a:pPr>
            <a:r>
              <a:rPr lang="en-US" sz="1600" dirty="0"/>
              <a:t>	-Moral based environment with 12 (twelve) workers supported by community 	donors. </a:t>
            </a:r>
          </a:p>
          <a:p>
            <a:pPr lvl="1" algn="just" eaLnBrk="1" hangingPunct="1">
              <a:defRPr/>
            </a:pPr>
            <a:r>
              <a:rPr lang="en-US" sz="1600" dirty="0"/>
              <a:t>	-EOC Operation activities extended from 8 A.M. to 2 P.M to 8 P.M.</a:t>
            </a:r>
          </a:p>
          <a:p>
            <a:pPr lvl="1" algn="just" eaLnBrk="1" hangingPunct="1">
              <a:defRPr/>
            </a:pPr>
            <a:r>
              <a:rPr lang="en-US" sz="1600" dirty="0"/>
              <a:t>	-Ensuring Rational use of drugs in EOC ward. </a:t>
            </a:r>
          </a:p>
          <a:p>
            <a:pPr lvl="1" algn="just" eaLnBrk="1" hangingPunct="1">
              <a:defRPr/>
            </a:pPr>
            <a:r>
              <a:rPr lang="en-US" sz="1600" dirty="0"/>
              <a:t>	-Provision of Mobile Phone in EOC ward no. 01857935012.</a:t>
            </a:r>
          </a:p>
          <a:p>
            <a:pPr lvl="1" algn="just" eaLnBrk="1" hangingPunct="1">
              <a:defRPr/>
            </a:pPr>
            <a:r>
              <a:rPr lang="en-US" sz="1600" dirty="0"/>
              <a:t>	-Shoe-free environment for infection control.</a:t>
            </a:r>
          </a:p>
          <a:p>
            <a:pPr lvl="1" algn="just" eaLnBrk="1" hangingPunct="1">
              <a:defRPr/>
            </a:pPr>
            <a:r>
              <a:rPr lang="en-US" sz="1600" dirty="0"/>
              <a:t>	-The center is used as a effective training center for SBA, Nursing student, Mid-	</a:t>
            </a:r>
            <a:r>
              <a:rPr lang="en-US" sz="1600" dirty="0" err="1"/>
              <a:t>wifiry</a:t>
            </a:r>
            <a:r>
              <a:rPr lang="en-US" sz="1600" dirty="0"/>
              <a:t>.</a:t>
            </a:r>
          </a:p>
          <a:p>
            <a:pPr lvl="1" algn="just" eaLnBrk="1" hangingPunct="1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39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1600" dirty="0" smtClean="0"/>
              <a:t>6. Changes in Emergency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Removal of all unnecessary items.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b. Improved infection control system.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Transfer the addicted person from emergency,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d. EMOS room is reformed. 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e. Arrange 3 trolley men.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f.  Tiles fitting of the walls of emergency department.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g. Ensure privacy.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h. Make a slope for easy carry of the patient.</a:t>
            </a:r>
          </a:p>
          <a:p>
            <a:pPr marL="0" indent="0">
              <a:buFontTx/>
              <a:buNone/>
              <a:defRPr/>
            </a:pPr>
            <a:r>
              <a:rPr lang="en-US" sz="1600" dirty="0" smtClean="0"/>
              <a:t>7. Changes in outdoor: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Separation of the outdoor patient. Male, Female, IMCI 	  	    	    corner. </a:t>
            </a:r>
            <a:r>
              <a:rPr lang="en-US" sz="1600" dirty="0"/>
              <a:t>	</a:t>
            </a:r>
            <a:endParaRPr lang="en-US" sz="1600" dirty="0" smtClean="0"/>
          </a:p>
          <a:p>
            <a:pPr marL="0" indent="0">
              <a:buFontTx/>
              <a:buNone/>
              <a:defRPr/>
            </a:pPr>
            <a:r>
              <a:rPr lang="en-US" sz="1600" dirty="0" smtClean="0"/>
              <a:t>	b. Opening of family planning section.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Opening of one step crisis service.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d. Opening of one cash counter and another delivery of report 	    	    system. </a:t>
            </a:r>
          </a:p>
          <a:p>
            <a:pPr>
              <a:buFontTx/>
              <a:buAutoNum type="arabicPeriod" startAt="8"/>
              <a:defRPr/>
            </a:pPr>
            <a:r>
              <a:rPr lang="en-US" sz="1600" dirty="0" smtClean="0"/>
              <a:t>Change in dead body room: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Removal of telephone box.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b. Ensure clean environment.   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Prevention of corruption.     </a:t>
            </a:r>
            <a:endParaRPr lang="en-US" sz="16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000" dirty="0" smtClean="0"/>
              <a:t>How we overcome the challenges -3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7715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Content Placeholder 3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1600" smtClean="0"/>
              <a:t>9. Changes in blood bank:</a:t>
            </a:r>
          </a:p>
          <a:p>
            <a:pPr marL="0" indent="0">
              <a:buFontTx/>
              <a:buNone/>
            </a:pPr>
            <a:r>
              <a:rPr lang="en-US" sz="1600" smtClean="0"/>
              <a:t>	a. 24 hours blood bank service by the support of blood bank rule.</a:t>
            </a:r>
          </a:p>
          <a:p>
            <a:pPr marL="0" indent="0">
              <a:buFontTx/>
              <a:buNone/>
            </a:pPr>
            <a:r>
              <a:rPr lang="en-US" sz="1600" smtClean="0"/>
              <a:t>10. Changes in G OT</a:t>
            </a:r>
          </a:p>
          <a:p>
            <a:pPr marL="0" indent="0">
              <a:buFontTx/>
              <a:buNone/>
            </a:pPr>
            <a:r>
              <a:rPr lang="en-US" sz="1600" smtClean="0"/>
              <a:t>	a. Arrange Generator.</a:t>
            </a:r>
          </a:p>
          <a:p>
            <a:pPr marL="0" indent="0">
              <a:buFontTx/>
              <a:buNone/>
            </a:pPr>
            <a:r>
              <a:rPr lang="en-US" sz="1600" smtClean="0"/>
              <a:t>	b. Prevent corruption.</a:t>
            </a:r>
          </a:p>
          <a:p>
            <a:pPr marL="0" indent="0">
              <a:buFontTx/>
              <a:buNone/>
            </a:pPr>
            <a:r>
              <a:rPr lang="en-US" sz="1600" smtClean="0"/>
              <a:t>	c. Beautiful OT environment.</a:t>
            </a:r>
          </a:p>
          <a:p>
            <a:pPr marL="0" indent="0">
              <a:buFontTx/>
              <a:buNone/>
            </a:pPr>
            <a:r>
              <a:rPr lang="en-US" sz="1600" smtClean="0"/>
              <a:t>11. Changes in indoor:</a:t>
            </a:r>
          </a:p>
          <a:p>
            <a:pPr marL="0" indent="0">
              <a:buFontTx/>
              <a:buNone/>
            </a:pPr>
            <a:r>
              <a:rPr lang="en-US" sz="1600" smtClean="0"/>
              <a:t>	a. Improve cleanliness.</a:t>
            </a:r>
          </a:p>
          <a:p>
            <a:pPr marL="0" indent="0">
              <a:buFontTx/>
              <a:buNone/>
            </a:pPr>
            <a:r>
              <a:rPr lang="en-US" sz="1600" smtClean="0"/>
              <a:t>	b. Arrange tiles at the wall of the female medicine indoor.</a:t>
            </a:r>
          </a:p>
          <a:p>
            <a:pPr marL="0" indent="0">
              <a:buFontTx/>
              <a:buNone/>
            </a:pPr>
            <a:r>
              <a:rPr lang="en-US" sz="1600" smtClean="0"/>
              <a:t>	c. Removal of unwanted items.</a:t>
            </a:r>
          </a:p>
          <a:p>
            <a:pPr marL="0" indent="0">
              <a:buFontTx/>
              <a:buNone/>
            </a:pPr>
            <a:r>
              <a:rPr lang="en-US" sz="1600" smtClean="0"/>
              <a:t>	d. Coloring of the patient beds, locker.</a:t>
            </a:r>
          </a:p>
          <a:p>
            <a:pPr marL="0" indent="0">
              <a:buFontTx/>
              <a:buNone/>
            </a:pPr>
            <a:r>
              <a:rPr lang="en-US" sz="1600" smtClean="0"/>
              <a:t>	e. Arrange 3 ayah and 3 cleaner in every ward.</a:t>
            </a:r>
          </a:p>
          <a:p>
            <a:pPr marL="0" indent="0">
              <a:buFontTx/>
              <a:buNone/>
            </a:pPr>
            <a:r>
              <a:rPr lang="en-US" sz="1600" smtClean="0"/>
              <a:t>	f. Table an chair supplies in every cabin for the patient.</a:t>
            </a:r>
          </a:p>
          <a:p>
            <a:pPr marL="0" indent="0">
              <a:buFontTx/>
              <a:buNone/>
            </a:pPr>
            <a:r>
              <a:rPr lang="en-US" sz="1600" smtClean="0"/>
              <a:t>	  </a:t>
            </a:r>
          </a:p>
          <a:p>
            <a:pPr marL="0" indent="0">
              <a:buFontTx/>
              <a:buNone/>
            </a:pPr>
            <a:r>
              <a:rPr lang="en-US" sz="1600" smtClean="0"/>
              <a:t>.    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000" dirty="0" smtClean="0"/>
              <a:t>How we overcome the challenges -4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7507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457200" y="274638"/>
            <a:ext cx="8229600" cy="4111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r>
              <a:rPr lang="en-US" sz="2800" dirty="0" smtClean="0"/>
              <a:t>How we overcome the challenges -5</a:t>
            </a:r>
            <a:endParaRPr lang="en-US" sz="2800" dirty="0"/>
          </a:p>
        </p:txBody>
      </p:sp>
      <p:sp>
        <p:nvSpPr>
          <p:cNvPr id="6861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12.	Community support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Manpower, b. logistics, c. security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13.	Improved MIS and Display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14.	Improved supervisory authority.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District health development authority.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b. Ensure monthly meeting.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c. Formation of QIT and WIT team.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d. Idea sharing with Satkhira District Hospital visit.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e. Coordination with officials of DGHS, Ministry of Health and Family 	Welfare, BPATC Savar, Divisional Health Office, ICDDRB and JAICA.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15.	Achievements: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Active community participation.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b. High performance of EOC program.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c. Improved cleanliness and beautification.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d. Ensure security.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e. Improved revenue income.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f.  Achieve overall community satisfaction.</a:t>
            </a:r>
          </a:p>
          <a:p>
            <a:pPr marL="0" indent="0">
              <a:buFont typeface="Arial" charset="0"/>
              <a:buNone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07128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76400" y="114300"/>
            <a:ext cx="6011863" cy="889000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200" b="1" smtClean="0">
                <a:solidFill>
                  <a:schemeClr val="bg1"/>
                </a:solidFill>
              </a:rPr>
              <a:t>Problems</a:t>
            </a:r>
            <a:r>
              <a:rPr lang="en-US" sz="4000" b="1" smtClean="0">
                <a:solidFill>
                  <a:schemeClr val="bg1"/>
                </a:solidFill>
              </a:rPr>
              <a:t> </a:t>
            </a:r>
            <a:r>
              <a:rPr lang="en-US" sz="3200" b="1" smtClean="0">
                <a:solidFill>
                  <a:schemeClr val="bg1"/>
                </a:solidFill>
              </a:rPr>
              <a:t>of Sadar Hospital-1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68400"/>
            <a:ext cx="8229600" cy="52371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400" smtClean="0"/>
              <a:t>100 Beded Hospital running with 50 beded manpower since 1994.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There are 9 unit in hospital (wards 06, OT, Out door, Emergency) needs cleaners about 36 but there are only 7 cleaners.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There is no post of Aya, Ward boy, Security guard in the Hospital.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There is no post of indoor medical officer so hamper indoor service &amp; night rounds.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One (01) anesthesiologist working for surgery, gynae, Orthopedics, ENT, Eye, 24 hours EOC &amp; emergency service.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There is no effective waste management system.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Condemnation board is not working regularly due to administrative problems.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Many of the instruments and equipments are not functioning due to lack of bio-technologist &amp; funds for repair. 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There is no target for indoor-outdoor patient &amp; huge number of indoor &amp; out door patient creates a heavy loads for services providers .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MIS system is weak and there is no hospital action plan.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No client satisfaction survey system.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The number of nurses is very few.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Hospital health management committee &amp; monthly co-ordination committee meeting is not perform regularly.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Female privacy is not properly maintained.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Insufficient in toilets &amp; safe drinking water supply.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Influential person influence on tenders of drugs, free cabin &amp; paying ward.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Auditing &amp; accounting system is not corruption free.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Consultants &amp; MOs are also the teacher of NTC, MATS etc. which affect hospital services.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Three doctors are illegally suspended. </a:t>
            </a:r>
          </a:p>
          <a:p>
            <a:pPr algn="just">
              <a:lnSpc>
                <a:spcPct val="80000"/>
              </a:lnSpc>
              <a:buFontTx/>
              <a:buNone/>
            </a:pPr>
            <a:endParaRPr lang="en-US" sz="1400" smtClean="0"/>
          </a:p>
        </p:txBody>
      </p:sp>
    </p:spTree>
    <p:extLst>
      <p:ext uri="{BB962C8B-B14F-4D97-AF65-F5344CB8AC3E}">
        <p14:creationId xmlns:p14="http://schemas.microsoft.com/office/powerpoint/2010/main" val="178485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685800"/>
            <a:ext cx="5943600" cy="584200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Problems of </a:t>
            </a:r>
            <a:r>
              <a:rPr lang="en-US" sz="3200" b="1" dirty="0" err="1" smtClean="0">
                <a:solidFill>
                  <a:schemeClr val="bg1"/>
                </a:solidFill>
              </a:rPr>
              <a:t>Sadar</a:t>
            </a:r>
            <a:r>
              <a:rPr lang="en-US" sz="3200" b="1" dirty="0" smtClean="0">
                <a:solidFill>
                  <a:schemeClr val="bg1"/>
                </a:solidFill>
              </a:rPr>
              <a:t> Hospital-2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447800"/>
            <a:ext cx="82296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sz="1600" smtClean="0"/>
          </a:p>
          <a:p>
            <a:pPr>
              <a:lnSpc>
                <a:spcPct val="90000"/>
              </a:lnSpc>
              <a:buFontTx/>
              <a:buNone/>
            </a:pPr>
            <a:endParaRPr lang="en-US" sz="1600" smtClean="0"/>
          </a:p>
          <a:p>
            <a:pPr>
              <a:lnSpc>
                <a:spcPct val="90000"/>
              </a:lnSpc>
            </a:pPr>
            <a:r>
              <a:rPr lang="en-US" sz="1600" smtClean="0"/>
              <a:t>There is no visitor control system .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EPI, ORT corner, DOTS corner, VIA centre  are running  with least or no defined health personnel.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Health education systems is very poor .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There is no pediatrician in this Hospital. 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There are 5 beds in EOC word, which is insufficient  for 40000  pregnant mother per year in Jhenidah District . 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There is no intercom system .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There is no IMCI corner for under 5 children .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Non health Issues  get less importance. 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Scarcity of blood in emergency need. 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There is no adolescence health corner.</a:t>
            </a:r>
          </a:p>
        </p:txBody>
      </p:sp>
    </p:spTree>
    <p:extLst>
      <p:ext uri="{BB962C8B-B14F-4D97-AF65-F5344CB8AC3E}">
        <p14:creationId xmlns:p14="http://schemas.microsoft.com/office/powerpoint/2010/main" val="2885611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dirty="0" smtClean="0"/>
              <a:t>Awards &amp; Appreciations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 smtClean="0"/>
              <a:t>           </a:t>
            </a:r>
            <a:r>
              <a:rPr lang="en-US" sz="1600" b="1" u="sng" dirty="0" smtClean="0"/>
              <a:t>Awards:</a:t>
            </a:r>
            <a:endParaRPr lang="en-US" sz="1600" dirty="0" smtClean="0"/>
          </a:p>
          <a:p>
            <a:pPr lvl="0"/>
            <a:r>
              <a:rPr lang="en-US" sz="1400" b="1" dirty="0" smtClean="0"/>
              <a:t>Community Service Award</a:t>
            </a:r>
            <a:r>
              <a:rPr lang="en-US" sz="1400" dirty="0" smtClean="0"/>
              <a:t> by OGSB in 2006. </a:t>
            </a:r>
          </a:p>
          <a:p>
            <a:pPr lvl="0"/>
            <a:r>
              <a:rPr lang="en-US" sz="1400" b="1" dirty="0" err="1" smtClean="0"/>
              <a:t>Besr</a:t>
            </a:r>
            <a:r>
              <a:rPr lang="en-US" sz="1400" b="1" dirty="0" smtClean="0"/>
              <a:t> performance Award</a:t>
            </a:r>
            <a:r>
              <a:rPr lang="en-US" sz="1400" dirty="0" smtClean="0"/>
              <a:t> by MOH &amp; FW and DGHS in 2008.</a:t>
            </a:r>
          </a:p>
          <a:p>
            <a:pPr lvl="0"/>
            <a:r>
              <a:rPr lang="en-US" sz="1400" b="1" dirty="0" smtClean="0"/>
              <a:t>Professor </a:t>
            </a:r>
            <a:r>
              <a:rPr lang="en-US" sz="1400" b="1" dirty="0" err="1" smtClean="0"/>
              <a:t>Muklechur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Rahman</a:t>
            </a:r>
            <a:r>
              <a:rPr lang="en-US" sz="1400" b="1" dirty="0" smtClean="0"/>
              <a:t> Award</a:t>
            </a:r>
            <a:r>
              <a:rPr lang="en-US" sz="1400" dirty="0" smtClean="0"/>
              <a:t> by OGSB in 2010. </a:t>
            </a:r>
          </a:p>
          <a:p>
            <a:pPr lvl="0"/>
            <a:r>
              <a:rPr lang="en-US" sz="1400" b="1" dirty="0" smtClean="0"/>
              <a:t>Kaizen Role Model Award </a:t>
            </a:r>
            <a:r>
              <a:rPr lang="en-US" sz="1400" dirty="0" smtClean="0"/>
              <a:t>by BPATC </a:t>
            </a:r>
            <a:r>
              <a:rPr lang="en-US" sz="1400" dirty="0" err="1" smtClean="0"/>
              <a:t>Savar</a:t>
            </a:r>
            <a:r>
              <a:rPr lang="en-US" sz="1400" dirty="0" smtClean="0"/>
              <a:t> in November 2013. </a:t>
            </a:r>
          </a:p>
          <a:p>
            <a:pPr lvl="0"/>
            <a:r>
              <a:rPr lang="en-US" sz="1400" b="1" dirty="0" smtClean="0"/>
              <a:t>Lifetime Award</a:t>
            </a:r>
            <a:r>
              <a:rPr lang="en-US" sz="1400" dirty="0" smtClean="0"/>
              <a:t> by OGSB in 2016.</a:t>
            </a:r>
          </a:p>
          <a:p>
            <a:pPr marL="0" indent="0">
              <a:buNone/>
            </a:pPr>
            <a:r>
              <a:rPr lang="en-US" sz="1400" dirty="0" smtClean="0"/>
              <a:t>           </a:t>
            </a:r>
            <a:r>
              <a:rPr lang="en-US" sz="1600" b="1" u="sng" dirty="0" smtClean="0"/>
              <a:t>Appreciations:</a:t>
            </a:r>
            <a:endParaRPr lang="en-US" sz="1600" dirty="0" smtClean="0"/>
          </a:p>
          <a:p>
            <a:pPr lvl="0"/>
            <a:r>
              <a:rPr lang="en-US" sz="1400" dirty="0" smtClean="0"/>
              <a:t>The Daily </a:t>
            </a:r>
            <a:r>
              <a:rPr lang="en-US" sz="1400" dirty="0" err="1" smtClean="0"/>
              <a:t>Prothom</a:t>
            </a:r>
            <a:r>
              <a:rPr lang="en-US" sz="1400" dirty="0" smtClean="0"/>
              <a:t> </a:t>
            </a:r>
            <a:r>
              <a:rPr lang="en-US" sz="1400" dirty="0" err="1" smtClean="0"/>
              <a:t>Alo</a:t>
            </a:r>
            <a:r>
              <a:rPr lang="en-US" sz="1400" dirty="0" smtClean="0"/>
              <a:t> – Special report in first page on 14 October 2005. </a:t>
            </a:r>
          </a:p>
          <a:p>
            <a:pPr lvl="0"/>
            <a:r>
              <a:rPr lang="en-US" sz="1400" dirty="0" err="1" smtClean="0"/>
              <a:t>Unisef</a:t>
            </a:r>
            <a:r>
              <a:rPr lang="en-US" sz="1400" dirty="0" smtClean="0"/>
              <a:t> Bangladesh report on saving mother’s life: dedication of a doctor. (Url: </a:t>
            </a:r>
            <a:r>
              <a:rPr lang="en-US" sz="1400" u="sng" dirty="0" smtClean="0">
                <a:hlinkClick r:id="rId2"/>
              </a:rPr>
              <a:t>https://www.unicef.org/bangladesh/media_4795.htm</a:t>
            </a:r>
            <a:r>
              <a:rPr lang="en-US" sz="1400" dirty="0" smtClean="0"/>
              <a:t>)</a:t>
            </a:r>
          </a:p>
          <a:p>
            <a:pPr lvl="0"/>
            <a:r>
              <a:rPr lang="en-US" sz="1400" dirty="0" smtClean="0"/>
              <a:t>Video on local </a:t>
            </a:r>
            <a:r>
              <a:rPr lang="en-US" sz="1400" dirty="0" err="1" smtClean="0"/>
              <a:t>innitiatives</a:t>
            </a:r>
            <a:r>
              <a:rPr lang="en-US" sz="1400" dirty="0" smtClean="0"/>
              <a:t> to improve service quality in a district hospital – </a:t>
            </a:r>
            <a:r>
              <a:rPr lang="en-US" sz="1400" dirty="0" err="1" smtClean="0"/>
              <a:t>Jhenaidah</a:t>
            </a:r>
            <a:r>
              <a:rPr lang="en-US" sz="1400" dirty="0" smtClean="0"/>
              <a:t> </a:t>
            </a:r>
            <a:r>
              <a:rPr lang="en-US" sz="1400" dirty="0" err="1" smtClean="0"/>
              <a:t>Sadar</a:t>
            </a:r>
            <a:r>
              <a:rPr lang="en-US" sz="1400" dirty="0" smtClean="0"/>
              <a:t> Hospital by Save The Children Bangladesh. </a:t>
            </a:r>
          </a:p>
          <a:p>
            <a:r>
              <a:rPr lang="en-US" sz="1400" dirty="0" smtClean="0"/>
              <a:t>(</a:t>
            </a:r>
            <a:r>
              <a:rPr lang="en-US" sz="1400" dirty="0" err="1" smtClean="0"/>
              <a:t>Videolink</a:t>
            </a:r>
            <a:r>
              <a:rPr lang="en-US" sz="1400" dirty="0" smtClean="0"/>
              <a:t>: </a:t>
            </a:r>
            <a:r>
              <a:rPr lang="en-US" sz="1400" u="sng" dirty="0" smtClean="0">
                <a:hlinkClick r:id="rId3"/>
              </a:rPr>
              <a:t>https://www.youtube.com/watch?v=wMgIps428Ic</a:t>
            </a:r>
            <a:r>
              <a:rPr lang="en-US" sz="1400" dirty="0" smtClean="0"/>
              <a:t> )</a:t>
            </a:r>
          </a:p>
          <a:p>
            <a:pPr lvl="0"/>
            <a:r>
              <a:rPr lang="en-US" sz="1400" dirty="0" smtClean="0"/>
              <a:t>Guest Lecturer of BPATC </a:t>
            </a:r>
            <a:r>
              <a:rPr lang="en-US" sz="1400" dirty="0" err="1" smtClean="0"/>
              <a:t>Savar</a:t>
            </a:r>
            <a:r>
              <a:rPr lang="en-US" sz="1400" dirty="0" smtClean="0"/>
              <a:t>.</a:t>
            </a:r>
          </a:p>
          <a:p>
            <a:pPr marL="0" indent="0">
              <a:buNone/>
            </a:pPr>
            <a:r>
              <a:rPr lang="en-US" sz="1600" b="1" dirty="0" smtClean="0"/>
              <a:t>         </a:t>
            </a:r>
            <a:r>
              <a:rPr lang="en-US" sz="1600" b="1" u="sng" dirty="0" smtClean="0"/>
              <a:t>Experience in foreign countries</a:t>
            </a:r>
            <a:endParaRPr lang="en-US" sz="1600" u="sng" dirty="0" smtClean="0"/>
          </a:p>
          <a:p>
            <a:pPr lvl="0"/>
            <a:r>
              <a:rPr lang="en-US" sz="1400" dirty="0" smtClean="0"/>
              <a:t>Indonesia</a:t>
            </a:r>
          </a:p>
          <a:p>
            <a:pPr lvl="0"/>
            <a:r>
              <a:rPr lang="en-US" sz="1400" dirty="0" err="1" smtClean="0"/>
              <a:t>Srilanka</a:t>
            </a:r>
            <a:endParaRPr lang="en-US" sz="1400" dirty="0" smtClean="0"/>
          </a:p>
          <a:p>
            <a:pPr lvl="0"/>
            <a:r>
              <a:rPr lang="en-US" sz="1400" dirty="0" smtClean="0"/>
              <a:t>Tanzania</a:t>
            </a:r>
          </a:p>
          <a:p>
            <a:pPr lvl="0"/>
            <a:r>
              <a:rPr lang="en-US" sz="1400" dirty="0" smtClean="0"/>
              <a:t>Malaysia</a:t>
            </a:r>
          </a:p>
          <a:p>
            <a:pPr lvl="0"/>
            <a:r>
              <a:rPr lang="en-US" sz="1400" dirty="0" smtClean="0"/>
              <a:t>Thailand</a:t>
            </a:r>
          </a:p>
          <a:p>
            <a:pPr lvl="0"/>
            <a:r>
              <a:rPr lang="en-US" sz="1400" dirty="0" smtClean="0"/>
              <a:t>Malaya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3228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2275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3095</TotalTime>
  <Words>1620</Words>
  <Application>Microsoft Office PowerPoint</Application>
  <PresentationFormat>On-screen Show (4:3)</PresentationFormat>
  <Paragraphs>551</Paragraphs>
  <Slides>48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5_シック</vt:lpstr>
      <vt:lpstr>Office Theme</vt:lpstr>
      <vt:lpstr>Default Design</vt:lpstr>
      <vt:lpstr>100 kh¨v wewkó m`i nvmcvZvj, wSbvB`n</vt:lpstr>
      <vt:lpstr>PowerPoint Presentation</vt:lpstr>
      <vt:lpstr>MCH Profile of Jhenaidah District- 2017</vt:lpstr>
      <vt:lpstr>A district level Hospital with a Vision …</vt:lpstr>
      <vt:lpstr>PowerPoint Presentation</vt:lpstr>
      <vt:lpstr>PowerPoint Presentation</vt:lpstr>
      <vt:lpstr>Health ,Nutrition and population targets for the 7th FYP</vt:lpstr>
      <vt:lpstr>Health ,Nutrition and population targets for the 7th FYP</vt:lpstr>
      <vt:lpstr>Sadar Hospital, Jhenaidah</vt:lpstr>
      <vt:lpstr>PowerPoint Presentation</vt:lpstr>
      <vt:lpstr>Emergency &amp; Out Door, Indoor  Service 1998 to 2017</vt:lpstr>
      <vt:lpstr>Operation Service (Major) 2011 to 2017</vt:lpstr>
      <vt:lpstr>PowerPoint Presentation</vt:lpstr>
      <vt:lpstr>3 best performing EmOC Hospital in Khulna division - 2017</vt:lpstr>
      <vt:lpstr>PowerPoint Presentation</vt:lpstr>
      <vt:lpstr>  Comparative data of revenue income (in Taka) from 2015 to 2017 </vt:lpstr>
      <vt:lpstr>PowerPoint Presentation</vt:lpstr>
      <vt:lpstr>PowerPoint Presentation</vt:lpstr>
      <vt:lpstr>Changes in EOC Ward</vt:lpstr>
      <vt:lpstr>PowerPoint Presentation</vt:lpstr>
      <vt:lpstr>Changes in Gardens of The Hospital</vt:lpstr>
      <vt:lpstr>PowerPoint Presentation</vt:lpstr>
      <vt:lpstr>Changes in Office and Hospital Internal Environment</vt:lpstr>
      <vt:lpstr>Use of direction sign, labeling of rooms, clean latrine and waste segregation</vt:lpstr>
      <vt:lpstr>Use of color code, alignment of picture &amp; continuous big cleaning day</vt:lpstr>
      <vt:lpstr>Innovative activities of Jhenaidah Sadar Hospital - 1</vt:lpstr>
      <vt:lpstr>PowerPoint Presentation</vt:lpstr>
      <vt:lpstr>PowerPoint Presentation</vt:lpstr>
      <vt:lpstr>Innovative activities of Jhenaidah Sadar Hospital - 4</vt:lpstr>
      <vt:lpstr>Innovative activities of Jhenaidah Sadar Hospital - 5</vt:lpstr>
      <vt:lpstr>Involvement of MP, District Administrator &amp; Mayor in Sadar Hospital</vt:lpstr>
      <vt:lpstr>Involvement of district high officials in hospital activities </vt:lpstr>
      <vt:lpstr>Internal Monitoring System</vt:lpstr>
      <vt:lpstr>PowerPoint Presentation</vt:lpstr>
      <vt:lpstr>Hospital Environment</vt:lpstr>
      <vt:lpstr>PowerPoint Presentation</vt:lpstr>
      <vt:lpstr>Situation of the hospital in May 2012 -1</vt:lpstr>
      <vt:lpstr>Situation of the hospital in May 2012 -2</vt:lpstr>
      <vt:lpstr>Situation of the hospital in May 2012 -3</vt:lpstr>
      <vt:lpstr>How we overcome the challenges</vt:lpstr>
      <vt:lpstr>How we overcome the challenges -2</vt:lpstr>
      <vt:lpstr>How we overcome the challenges -3</vt:lpstr>
      <vt:lpstr>How we overcome the challenges -4</vt:lpstr>
      <vt:lpstr>PowerPoint Presentation</vt:lpstr>
      <vt:lpstr>Problems of Sadar Hospital-1</vt:lpstr>
      <vt:lpstr>Problems of Sadar Hospital-2 </vt:lpstr>
      <vt:lpstr>Awards &amp; Appreciations</vt:lpstr>
      <vt:lpstr>Thank You 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457</cp:revision>
  <cp:lastPrinted>2017-03-18T23:47:54Z</cp:lastPrinted>
  <dcterms:created xsi:type="dcterms:W3CDTF">2013-05-05T09:56:19Z</dcterms:created>
  <dcterms:modified xsi:type="dcterms:W3CDTF">2018-08-26T14:00:54Z</dcterms:modified>
</cp:coreProperties>
</file>