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4.xml" ContentType="application/vnd.openxmlformats-officedocument.theme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3" r:id="rId1"/>
    <p:sldMasterId id="2147483909" r:id="rId2"/>
    <p:sldMasterId id="2147484020" r:id="rId3"/>
    <p:sldMasterId id="2147484068" r:id="rId4"/>
    <p:sldMasterId id="2147484084" r:id="rId5"/>
  </p:sldMasterIdLst>
  <p:notesMasterIdLst>
    <p:notesMasterId r:id="rId48"/>
  </p:notesMasterIdLst>
  <p:sldIdLst>
    <p:sldId id="331" r:id="rId6"/>
    <p:sldId id="345" r:id="rId7"/>
    <p:sldId id="332" r:id="rId8"/>
    <p:sldId id="376" r:id="rId9"/>
    <p:sldId id="401" r:id="rId10"/>
    <p:sldId id="368" r:id="rId11"/>
    <p:sldId id="374" r:id="rId12"/>
    <p:sldId id="341" r:id="rId13"/>
    <p:sldId id="334" r:id="rId14"/>
    <p:sldId id="337" r:id="rId15"/>
    <p:sldId id="338" r:id="rId16"/>
    <p:sldId id="339" r:id="rId17"/>
    <p:sldId id="404" r:id="rId18"/>
    <p:sldId id="340" r:id="rId19"/>
    <p:sldId id="405" r:id="rId20"/>
    <p:sldId id="343" r:id="rId21"/>
    <p:sldId id="256" r:id="rId22"/>
    <p:sldId id="359" r:id="rId23"/>
    <p:sldId id="326" r:id="rId24"/>
    <p:sldId id="327" r:id="rId25"/>
    <p:sldId id="328" r:id="rId26"/>
    <p:sldId id="352" r:id="rId27"/>
    <p:sldId id="351" r:id="rId28"/>
    <p:sldId id="346" r:id="rId29"/>
    <p:sldId id="362" r:id="rId30"/>
    <p:sldId id="369" r:id="rId31"/>
    <p:sldId id="287" r:id="rId32"/>
    <p:sldId id="288" r:id="rId33"/>
    <p:sldId id="290" r:id="rId34"/>
    <p:sldId id="291" r:id="rId35"/>
    <p:sldId id="308" r:id="rId36"/>
    <p:sldId id="323" r:id="rId37"/>
    <p:sldId id="312" r:id="rId38"/>
    <p:sldId id="366" r:id="rId39"/>
    <p:sldId id="364" r:id="rId40"/>
    <p:sldId id="370" r:id="rId41"/>
    <p:sldId id="372" r:id="rId42"/>
    <p:sldId id="297" r:id="rId43"/>
    <p:sldId id="293" r:id="rId44"/>
    <p:sldId id="294" r:id="rId45"/>
    <p:sldId id="330" r:id="rId46"/>
    <p:sldId id="344" r:id="rId47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indows User" initials="WU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C7E17"/>
    <a:srgbClr val="3EEE00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29" autoAdjust="0"/>
    <p:restoredTop sz="91815" autoAdjust="0"/>
  </p:normalViewPr>
  <p:slideViewPr>
    <p:cSldViewPr>
      <p:cViewPr>
        <p:scale>
          <a:sx n="70" d="100"/>
          <a:sy n="70" d="100"/>
        </p:scale>
        <p:origin x="-1602" y="-2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86" y="3934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presProps" Target="pres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slide" Target="slides/slide3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commentAuthors" Target="commentAuthor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3.xml"/><Relationship Id="rId51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31"/>
    </mc:Choice>
    <mc:Fallback>
      <c:style val="31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Bed Occupacy Rate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Sheet1!$A$2:$A$7</c:f>
              <c:numCache>
                <c:formatCode>General</c:formatCode>
                <c:ptCount val="6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</c:numCache>
            </c:numRef>
          </c:cat>
          <c:val>
            <c:numRef>
              <c:f>Sheet1!$B$2:$B$7</c:f>
              <c:numCache>
                <c:formatCode>0%</c:formatCode>
                <c:ptCount val="6"/>
                <c:pt idx="0">
                  <c:v>1.26</c:v>
                </c:pt>
                <c:pt idx="1">
                  <c:v>1.46</c:v>
                </c:pt>
                <c:pt idx="2">
                  <c:v>1.65</c:v>
                </c:pt>
                <c:pt idx="3">
                  <c:v>1.93</c:v>
                </c:pt>
                <c:pt idx="4">
                  <c:v>2.14</c:v>
                </c:pt>
                <c:pt idx="5">
                  <c:v>2.42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46035072"/>
        <c:axId val="146036608"/>
      </c:barChart>
      <c:catAx>
        <c:axId val="1460350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46036608"/>
        <c:crosses val="autoZero"/>
        <c:auto val="1"/>
        <c:lblAlgn val="ctr"/>
        <c:lblOffset val="100"/>
        <c:noMultiLvlLbl val="0"/>
      </c:catAx>
      <c:valAx>
        <c:axId val="146036608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146035072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2141903990973091"/>
          <c:y val="4.4409667541557306E-2"/>
          <c:w val="0.65834289989452255"/>
          <c:h val="0.8447524059492563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Emergency &amp; Outdoors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Sheet1!$A$2:$A$8</c:f>
              <c:numCache>
                <c:formatCode>General</c:formatCode>
                <c:ptCount val="7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81796</c:v>
                </c:pt>
                <c:pt idx="1">
                  <c:v>170854</c:v>
                </c:pt>
                <c:pt idx="2">
                  <c:v>192791</c:v>
                </c:pt>
                <c:pt idx="3">
                  <c:v>233868</c:v>
                </c:pt>
                <c:pt idx="4">
                  <c:v>277301</c:v>
                </c:pt>
                <c:pt idx="5">
                  <c:v>296235</c:v>
                </c:pt>
                <c:pt idx="6">
                  <c:v>340932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Indoor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Sheet1!$A$2:$A$8</c:f>
              <c:numCache>
                <c:formatCode>General</c:formatCode>
                <c:ptCount val="7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</c:numCache>
            </c:numRef>
          </c:cat>
          <c:val>
            <c:numRef>
              <c:f>Sheet1!$C$2:$C$8</c:f>
              <c:numCache>
                <c:formatCode>General</c:formatCode>
                <c:ptCount val="7"/>
                <c:pt idx="0">
                  <c:v>12973</c:v>
                </c:pt>
                <c:pt idx="1">
                  <c:v>22435</c:v>
                </c:pt>
                <c:pt idx="2">
                  <c:v>24643</c:v>
                </c:pt>
                <c:pt idx="3">
                  <c:v>27905</c:v>
                </c:pt>
                <c:pt idx="4">
                  <c:v>29562</c:v>
                </c:pt>
                <c:pt idx="5">
                  <c:v>32300</c:v>
                </c:pt>
                <c:pt idx="6">
                  <c:v>35569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6717696"/>
        <c:axId val="206719232"/>
      </c:barChart>
      <c:catAx>
        <c:axId val="20671769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06719232"/>
        <c:crosses val="autoZero"/>
        <c:auto val="1"/>
        <c:lblAlgn val="ctr"/>
        <c:lblOffset val="100"/>
        <c:noMultiLvlLbl val="0"/>
      </c:catAx>
      <c:valAx>
        <c:axId val="20671923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06717696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8443483700051508"/>
          <c:y val="0.42290223097112861"/>
          <c:w val="0.20621936860696152"/>
          <c:h val="0.27641776027996501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27"/>
    </mc:Choice>
    <mc:Fallback>
      <c:style val="27"/>
    </mc:Fallback>
  </mc:AlternateContent>
  <c:chart>
    <c:autoTitleDeleted val="1"/>
    <c:view3D>
      <c:rotX val="0"/>
      <c:rotY val="0"/>
      <c:depthPercent val="150"/>
      <c:rAngAx val="0"/>
      <c:perspective val="0"/>
    </c:view3D>
    <c:floor>
      <c:thickness val="0"/>
    </c:floor>
    <c:sideWall>
      <c:thickness val="0"/>
    </c:sideWall>
    <c:backWall>
      <c:thickness val="0"/>
    </c:backWall>
    <c:plotArea>
      <c:layout>
        <c:manualLayout>
          <c:layoutTarget val="inner"/>
          <c:xMode val="edge"/>
          <c:yMode val="edge"/>
          <c:x val="0.10934240566213921"/>
          <c:y val="5.0614472425046991E-2"/>
          <c:w val="0.87051107128595528"/>
          <c:h val="0.83049790530628376"/>
        </c:manualLayout>
      </c:layout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Major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Pt>
            <c:idx val="1"/>
            <c:invertIfNegative val="0"/>
            <c:bubble3D val="0"/>
            <c:spPr>
              <a:gradFill rotWithShape="1">
                <a:gsLst>
                  <a:gs pos="0">
                    <a:schemeClr val="accent1">
                      <a:shade val="51000"/>
                      <a:satMod val="130000"/>
                    </a:schemeClr>
                  </a:gs>
                  <a:gs pos="80000">
                    <a:schemeClr val="accent1">
                      <a:shade val="93000"/>
                      <a:satMod val="130000"/>
                    </a:schemeClr>
                  </a:gs>
                  <a:gs pos="100000">
                    <a:schemeClr val="accent1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dPt>
          <c:dLbls>
            <c:dLbl>
              <c:idx val="0"/>
              <c:layout>
                <c:manualLayout>
                  <c:x val="4.494116857551923E-3"/>
                  <c:y val="-5.577249645360904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1.9565363278453828E-3"/>
                  <c:y val="-4.43983470734565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-1.3819792412312097E-3"/>
                  <c:y val="-4.267819329372340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>
                <c:manualLayout>
                  <c:x val="-4.5897458840372229E-3"/>
                  <c:y val="-5.220040706399950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layout>
                <c:manualLayout>
                  <c:x val="2.7922557265569075E-3"/>
                  <c:y val="-3.440677617647663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780</c:v>
                </c:pt>
                <c:pt idx="1">
                  <c:v>977</c:v>
                </c:pt>
                <c:pt idx="2">
                  <c:v>1294</c:v>
                </c:pt>
                <c:pt idx="3">
                  <c:v>1339</c:v>
                </c:pt>
                <c:pt idx="4">
                  <c:v>1582</c:v>
                </c:pt>
                <c:pt idx="5">
                  <c:v>1383</c:v>
                </c:pt>
                <c:pt idx="6">
                  <c:v>1578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cylinder"/>
        <c:axId val="128782720"/>
        <c:axId val="128784256"/>
        <c:axId val="0"/>
      </c:bar3DChart>
      <c:catAx>
        <c:axId val="1287827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28784256"/>
        <c:crosses val="autoZero"/>
        <c:auto val="1"/>
        <c:lblAlgn val="ctr"/>
        <c:lblOffset val="100"/>
        <c:noMultiLvlLbl val="0"/>
      </c:catAx>
      <c:valAx>
        <c:axId val="12878425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28782720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0-28 days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Sheet1!$A$2:$A$5</c:f>
              <c:numCache>
                <c:formatCode>General</c:formatCode>
                <c:ptCount val="4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709</c:v>
                </c:pt>
                <c:pt idx="1">
                  <c:v>766</c:v>
                </c:pt>
                <c:pt idx="2">
                  <c:v>835</c:v>
                </c:pt>
                <c:pt idx="3">
                  <c:v>876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29 days-1 year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Sheet1!$A$2:$A$5</c:f>
              <c:numCache>
                <c:formatCode>General</c:formatCode>
                <c:ptCount val="4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</c:numCache>
            </c:numRef>
          </c:cat>
          <c:val>
            <c:numRef>
              <c:f>Sheet1!$C$2:$C$5</c:f>
              <c:numCache>
                <c:formatCode>General</c:formatCode>
                <c:ptCount val="4"/>
                <c:pt idx="0">
                  <c:v>1127</c:v>
                </c:pt>
                <c:pt idx="1">
                  <c:v>923</c:v>
                </c:pt>
                <c:pt idx="2">
                  <c:v>1595</c:v>
                </c:pt>
                <c:pt idx="3">
                  <c:v>1493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1 – 5 years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Sheet1!$A$2:$A$5</c:f>
              <c:numCache>
                <c:formatCode>General</c:formatCode>
                <c:ptCount val="4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</c:numCache>
            </c:numRef>
          </c:cat>
          <c:val>
            <c:numRef>
              <c:f>Sheet1!$D$2:$D$5</c:f>
              <c:numCache>
                <c:formatCode>General</c:formatCode>
                <c:ptCount val="4"/>
                <c:pt idx="0">
                  <c:v>848</c:v>
                </c:pt>
                <c:pt idx="1">
                  <c:v>806</c:v>
                </c:pt>
                <c:pt idx="2">
                  <c:v>1123</c:v>
                </c:pt>
                <c:pt idx="3">
                  <c:v>1297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Total Admission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Sheet1!$A$2:$A$5</c:f>
              <c:numCache>
                <c:formatCode>General</c:formatCode>
                <c:ptCount val="4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</c:numCache>
            </c:numRef>
          </c:cat>
          <c:val>
            <c:numRef>
              <c:f>Sheet1!$E$2:$E$5</c:f>
              <c:numCache>
                <c:formatCode>General</c:formatCode>
                <c:ptCount val="4"/>
                <c:pt idx="0">
                  <c:v>2684</c:v>
                </c:pt>
                <c:pt idx="1">
                  <c:v>2495</c:v>
                </c:pt>
                <c:pt idx="2">
                  <c:v>3553</c:v>
                </c:pt>
                <c:pt idx="3">
                  <c:v>3666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7059200"/>
        <c:axId val="207069184"/>
      </c:barChart>
      <c:catAx>
        <c:axId val="20705920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07069184"/>
        <c:crosses val="autoZero"/>
        <c:auto val="1"/>
        <c:lblAlgn val="ctr"/>
        <c:lblOffset val="100"/>
        <c:noMultiLvlLbl val="0"/>
      </c:catAx>
      <c:valAx>
        <c:axId val="207069184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07059200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8314925161381854"/>
          <c:y val="0.34423591178275209"/>
          <c:w val="0.20784173937717243"/>
          <c:h val="0.46305371917534455"/>
        </c:manualLayout>
      </c:layout>
      <c:overlay val="0"/>
      <c:txPr>
        <a:bodyPr/>
        <a:lstStyle/>
        <a:p>
          <a:pPr>
            <a:defRPr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31265189073588"/>
          <c:y val="3.6443293946503759E-2"/>
          <c:w val="0.64635972586759993"/>
          <c:h val="0.7815105868077136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ANC 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0"/>
                  <c:y val="1.683619596536692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15360</c:v>
                </c:pt>
                <c:pt idx="1">
                  <c:v>12178</c:v>
                </c:pt>
                <c:pt idx="2">
                  <c:v>6977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 Section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7.716049382716049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1.3888888888888888E-2"/>
                  <c:y val="8.418097982683463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1.2345679012345678E-2"/>
                  <c:y val="5.61206532178897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1143</c:v>
                </c:pt>
                <c:pt idx="1">
                  <c:v>1778</c:v>
                </c:pt>
                <c:pt idx="2">
                  <c:v>1228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NVD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0"/>
                  <c:y val="-2.525429394805039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2.3148148148148206E-2"/>
                  <c:y val="-6.734478386146770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3.0864197530864196E-3"/>
                  <c:y val="-3.086635926983936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1854</c:v>
                </c:pt>
                <c:pt idx="1">
                  <c:v>1189</c:v>
                </c:pt>
                <c:pt idx="2">
                  <c:v>1455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Total Del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3.0864197530864482E-3"/>
                  <c:y val="-1.964222862626141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1.8518397005929815E-2"/>
                  <c:y val="-3.647842459162834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0"/>
                  <c:y val="-2.806032660894488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2997</c:v>
                </c:pt>
                <c:pt idx="1">
                  <c:v>2967</c:v>
                </c:pt>
                <c:pt idx="2">
                  <c:v>2683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565184"/>
        <c:axId val="209566720"/>
      </c:barChart>
      <c:catAx>
        <c:axId val="2095651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09566720"/>
        <c:crosses val="autoZero"/>
        <c:auto val="1"/>
        <c:lblAlgn val="ctr"/>
        <c:lblOffset val="100"/>
        <c:noMultiLvlLbl val="0"/>
      </c:catAx>
      <c:valAx>
        <c:axId val="20956672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09565184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4948624477495873"/>
          <c:y val="0.37195288604878124"/>
          <c:w val="0.14578327014678721"/>
          <c:h val="0.31152795548704221"/>
        </c:manualLayout>
      </c:layout>
      <c:overlay val="0"/>
      <c:txPr>
        <a:bodyPr/>
        <a:lstStyle/>
        <a:p>
          <a:pPr>
            <a:defRPr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0"/>
      <c:rotY val="0"/>
      <c:depthPercent val="100"/>
      <c:rAngAx val="1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b="1">
                    <a:solidFill>
                      <a:schemeClr val="accent1">
                        <a:lumMod val="75000"/>
                      </a:schemeClr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Sheet1!$A$2:$A$4</c:f>
              <c:numCache>
                <c:formatCode>General</c:formatCode>
                <c:ptCount val="3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</c:numCache>
            </c:numRef>
          </c:cat>
          <c:val>
            <c:numRef>
              <c:f>Sheet1!$B$2:$B$4</c:f>
              <c:numCache>
                <c:formatCode>#,##0</c:formatCode>
                <c:ptCount val="3"/>
                <c:pt idx="0">
                  <c:v>6044975</c:v>
                </c:pt>
                <c:pt idx="1">
                  <c:v>6330758</c:v>
                </c:pt>
                <c:pt idx="2">
                  <c:v>7059560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35"/>
        <c:gapDepth val="228"/>
        <c:shape val="cylinder"/>
        <c:axId val="209579392"/>
        <c:axId val="209679872"/>
        <c:axId val="0"/>
      </c:bar3DChart>
      <c:catAx>
        <c:axId val="20957939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09679872"/>
        <c:crosses val="autoZero"/>
        <c:auto val="1"/>
        <c:lblAlgn val="ctr"/>
        <c:lblOffset val="100"/>
        <c:noMultiLvlLbl val="0"/>
      </c:catAx>
      <c:valAx>
        <c:axId val="209679872"/>
        <c:scaling>
          <c:orientation val="minMax"/>
        </c:scaling>
        <c:delete val="0"/>
        <c:axPos val="l"/>
        <c:majorGridlines/>
        <c:numFmt formatCode="#,##0" sourceLinked="1"/>
        <c:majorTickMark val="out"/>
        <c:minorTickMark val="none"/>
        <c:tickLblPos val="nextTo"/>
        <c:txPr>
          <a:bodyPr/>
          <a:lstStyle/>
          <a:p>
            <a:pPr>
              <a:defRPr b="1">
                <a:solidFill>
                  <a:schemeClr val="tx2"/>
                </a:solidFill>
              </a:defRPr>
            </a:pPr>
            <a:endParaRPr lang="en-US"/>
          </a:p>
        </c:txPr>
        <c:crossAx val="209579392"/>
        <c:crosses val="autoZero"/>
        <c:crossBetween val="between"/>
      </c:valAx>
      <c:spPr>
        <a:noFill/>
        <a:ln w="25386">
          <a:noFill/>
        </a:ln>
      </c:spPr>
    </c:plotArea>
    <c:plotVisOnly val="1"/>
    <c:dispBlanksAs val="gap"/>
    <c:showDLblsOverMax val="0"/>
  </c:chart>
  <c:txPr>
    <a:bodyPr/>
    <a:lstStyle/>
    <a:p>
      <a:pPr>
        <a:defRPr sz="1797"/>
      </a:pPr>
      <a:endParaRPr lang="en-US"/>
    </a:p>
  </c:txPr>
  <c:externalData r:id="rId1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B19E7A0-DBE5-4599-AA41-7EF8BE594351}" type="datetimeFigureOut">
              <a:rPr lang="en-US"/>
              <a:pPr>
                <a:defRPr/>
              </a:pPr>
              <a:t>4/20/2018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5B36F5E-8ADC-4553-AFDF-0075743DECD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1381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 smtClean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66DE5D76-C7F9-4E73-8FF9-746B2A4AD456}" type="slidenum">
              <a:rPr lang="en-US" smtClean="0"/>
              <a:pPr/>
              <a:t>2</a:t>
            </a:fld>
            <a:endParaRPr lang="en-US" dirty="0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E1CFFC81-D30A-48BE-844E-591ABC2E2AC9}" type="slidenum">
              <a:rPr lang="en-US" smtClean="0">
                <a:solidFill>
                  <a:srgbClr val="000000"/>
                </a:solidFill>
              </a:rPr>
              <a:pPr/>
              <a:t>3</a:t>
            </a:fld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57066" indent="-291179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64717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30604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96491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DF6B1B4C-4C59-4A03-B638-CFBAD9815A28}" type="slidenum">
              <a:rPr lang="en-US">
                <a:solidFill>
                  <a:prstClr val="black"/>
                </a:solidFill>
              </a:rPr>
              <a:pPr eaLnBrk="1" hangingPunct="1"/>
              <a:t>5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6913"/>
            <a:ext cx="4645025" cy="3484562"/>
          </a:xfrm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664" y="4415790"/>
            <a:ext cx="5605074" cy="418338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795245E5-9100-4885-8E70-993AA1DC8825}" type="slidenum">
              <a:rPr lang="en-US" smtClean="0">
                <a:solidFill>
                  <a:srgbClr val="000000"/>
                </a:solidFill>
              </a:rPr>
              <a:pPr/>
              <a:t>8</a:t>
            </a:fld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 smtClean="0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3A337629-D36D-49E4-ACBA-6A81B0F14D58}" type="slidenum">
              <a:rPr lang="en-US" smtClean="0">
                <a:solidFill>
                  <a:srgbClr val="000000"/>
                </a:solidFill>
              </a:rPr>
              <a:pPr/>
              <a:t>9</a:t>
            </a:fld>
            <a:endParaRPr lang="en-US" dirty="0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700088"/>
            <a:ext cx="4645025" cy="3482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1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700088"/>
            <a:ext cx="4645025" cy="3482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1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2A4FD03C-E954-4298-9799-2404B990A5D5}" type="slidenum">
              <a:rPr lang="en-US" smtClean="0">
                <a:solidFill>
                  <a:srgbClr val="000000"/>
                </a:solidFill>
              </a:rPr>
              <a:pPr/>
              <a:t>12</a:t>
            </a:fld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5025" cy="3484562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30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57066" indent="-291179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64717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30604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96491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A57E1DA7-249B-46DE-8F30-D77A6589D084}" type="slidenum">
              <a:rPr lang="en-US">
                <a:solidFill>
                  <a:srgbClr val="000000"/>
                </a:solidFill>
              </a:rPr>
              <a:pPr eaLnBrk="1" hangingPunct="1"/>
              <a:t>13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0024" y="697230"/>
            <a:ext cx="4670354" cy="3484537"/>
          </a:xfrm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664" y="4415790"/>
            <a:ext cx="5605074" cy="418338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57066" indent="-291179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64717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30604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96491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B394826D-A9C4-4BA0-A87A-E9ABADA5E2DC}" type="slidenum">
              <a:rPr lang="en-US">
                <a:solidFill>
                  <a:srgbClr val="000000"/>
                </a:solidFill>
              </a:rPr>
              <a:pPr eaLnBrk="1" hangingPunct="1"/>
              <a:t>15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1100" y="695325"/>
            <a:ext cx="4648200" cy="3486150"/>
          </a:xfrm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664" y="4415790"/>
            <a:ext cx="5605074" cy="418499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90005B86-5533-402D-BA49-C1AC2C357B9B}" type="slidenum">
              <a:rPr lang="en-US" smtClean="0">
                <a:solidFill>
                  <a:srgbClr val="000000"/>
                </a:solidFill>
              </a:rPr>
              <a:pPr/>
              <a:t>25</a:t>
            </a:fld>
            <a:endParaRPr lang="en-US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B36F5E-8ADC-4553-AFDF-0075743DECD4}" type="slidenum">
              <a:rPr lang="en-US" smtClean="0"/>
              <a:pPr>
                <a:defRPr/>
              </a:pPr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4204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5F89CEDC-CC36-4240-A8E3-18CC66A39448}" type="slidenum">
              <a:rPr lang="en-US" smtClean="0"/>
              <a:pPr/>
              <a:t>41</a:t>
            </a:fld>
            <a:endParaRPr lang="en-US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 txBox="1">
            <a:spLocks noGrp="1" noChangeArrowheads="1"/>
          </p:cNvSpPr>
          <p:nvPr/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/>
            <a:fld id="{38240DB7-E1FF-45BD-8373-B35F370C8A8C}" type="slidenum">
              <a:rPr lang="en-US" sz="1200">
                <a:solidFill>
                  <a:srgbClr val="000000"/>
                </a:solidFill>
              </a:rPr>
              <a:pPr algn="r" eaLnBrk="1" hangingPunct="1"/>
              <a:t>42</a:t>
            </a:fld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角丸四角形 14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角丸四角形 9"/>
          <p:cNvSpPr/>
          <p:nvPr/>
        </p:nvSpPr>
        <p:spPr>
          <a:xfrm>
            <a:off x="418596" y="434162"/>
            <a:ext cx="8306809" cy="3108960"/>
          </a:xfrm>
          <a:prstGeom prst="roundRect">
            <a:avLst>
              <a:gd name="adj" fmla="val 4578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タイトル 4"/>
          <p:cNvSpPr>
            <a:spLocks noGrp="1"/>
          </p:cNvSpPr>
          <p:nvPr>
            <p:ph type="ctrTitle"/>
          </p:nvPr>
        </p:nvSpPr>
        <p:spPr>
          <a:xfrm>
            <a:off x="722376" y="1820206"/>
            <a:ext cx="7772400" cy="1828800"/>
          </a:xfrm>
        </p:spPr>
        <p:txBody>
          <a:bodyPr lIns="45720" rIns="45720" bIns="45720"/>
          <a:lstStyle>
            <a:lvl1pPr algn="r">
              <a:defRPr sz="4500" b="1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</a:defRPr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20" name="サブタイトル 19"/>
          <p:cNvSpPr>
            <a:spLocks noGrp="1"/>
          </p:cNvSpPr>
          <p:nvPr>
            <p:ph type="subTitle" idx="1"/>
          </p:nvPr>
        </p:nvSpPr>
        <p:spPr>
          <a:xfrm>
            <a:off x="722376" y="3685032"/>
            <a:ext cx="7772400" cy="914400"/>
          </a:xfrm>
        </p:spPr>
        <p:txBody>
          <a:bodyPr tIns="0"/>
          <a:lstStyle>
            <a:lvl1pPr marL="36576" indent="0" algn="r">
              <a:spcBef>
                <a:spcPts val="0"/>
              </a:spcBef>
              <a:buNone/>
              <a:defRPr sz="2000">
                <a:solidFill>
                  <a:schemeClr val="bg2">
                    <a:shade val="2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ja-JP" altLang="en-US" smtClean="0"/>
              <a:t>マスタ サブタイトルの書式設定</a:t>
            </a:r>
            <a:endParaRPr lang="en-US"/>
          </a:p>
        </p:txBody>
      </p:sp>
      <p:sp>
        <p:nvSpPr>
          <p:cNvPr id="7" name="日付プレースホルダ 1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8F423E39-EC46-4B87-9157-92D4019721E3}" type="datetimeFigureOut">
              <a:rPr lang="ja-JP" altLang="en-US"/>
              <a:pPr>
                <a:defRPr/>
              </a:pPr>
              <a:t>2018/4/20</a:t>
            </a:fld>
            <a:endParaRPr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668B281E-05FA-4A3F-87CB-6F2DBFB0E332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608696370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502920" y="530352"/>
            <a:ext cx="8183880" cy="4187952"/>
          </a:xfrm>
        </p:spPr>
        <p:txBody>
          <a:bodyPr/>
          <a:lstStyle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4F0A4B03-A037-4479-A95E-9F890E943F1D}" type="datetimeFigureOut">
              <a:rPr lang="ja-JP" altLang="en-US"/>
              <a:pPr>
                <a:defRPr/>
              </a:pPr>
              <a:t>2018/4/20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1305691A-773F-4752-A63A-0306B2347D03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75176660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角丸四角形 13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角丸四角形 10"/>
          <p:cNvSpPr/>
          <p:nvPr/>
        </p:nvSpPr>
        <p:spPr>
          <a:xfrm>
            <a:off x="418596" y="434162"/>
            <a:ext cx="8306809" cy="4341329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68344" y="4928616"/>
            <a:ext cx="8183880" cy="676656"/>
          </a:xfrm>
        </p:spPr>
        <p:txBody>
          <a:bodyPr lIns="91440" bIns="0"/>
          <a:lstStyle>
            <a:lvl1pPr algn="l">
              <a:buNone/>
              <a:defRPr sz="3600" b="0" cap="none" baseline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68344" y="5624484"/>
            <a:ext cx="8183880" cy="420624"/>
          </a:xfrm>
        </p:spPr>
        <p:txBody>
          <a:bodyPr lIns="118872" tIns="0"/>
          <a:lstStyle>
            <a:lvl1pPr marL="0" marR="36576" indent="0" algn="l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accent1">
                    <a:shade val="50000"/>
                    <a:satMod val="110000"/>
                  </a:schemeClr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6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80A492C7-9BF5-407B-9BEB-4402C24C4E0E}" type="datetimeFigureOut">
              <a:rPr lang="ja-JP" altLang="en-US"/>
              <a:pPr>
                <a:defRPr/>
              </a:pPr>
              <a:t>2018/4/20</a:t>
            </a:fld>
            <a:endParaRPr lang="ja-JP" altLang="en-US"/>
          </a:p>
        </p:txBody>
      </p:sp>
      <p:sp>
        <p:nvSpPr>
          <p:cNvPr id="7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8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F1A22980-DD61-414F-B1BB-0DD8FA6FC17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086232344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514352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755360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4709EC0F-9618-4BA0-97B5-480E39F24805}" type="datetimeFigureOut">
              <a:rPr lang="ja-JP" altLang="en-US"/>
              <a:pPr>
                <a:defRPr/>
              </a:pPr>
              <a:t>2018/4/20</a:t>
            </a:fld>
            <a:endParaRPr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5ED81223-A624-438C-A394-98C2ADE1D72F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19066942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lvl1pPr>
              <a:defRPr b="1"/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607224" y="579438"/>
            <a:ext cx="3931920" cy="792162"/>
          </a:xfrm>
        </p:spPr>
        <p:txBody>
          <a:bodyPr lIns="146304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3"/>
          </p:nvPr>
        </p:nvSpPr>
        <p:spPr>
          <a:xfrm>
            <a:off x="4652169" y="579438"/>
            <a:ext cx="3931920" cy="792162"/>
          </a:xfrm>
        </p:spPr>
        <p:txBody>
          <a:bodyPr lIns="137160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5" name="コンテンツ プレースホルダ 4"/>
          <p:cNvSpPr>
            <a:spLocks noGrp="1"/>
          </p:cNvSpPr>
          <p:nvPr>
            <p:ph sz="quarter" idx="2"/>
          </p:nvPr>
        </p:nvSpPr>
        <p:spPr>
          <a:xfrm>
            <a:off x="607224" y="1447800"/>
            <a:ext cx="3931920" cy="348996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52169" y="1447800"/>
            <a:ext cx="3931920" cy="348996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62610355-3AB5-4CFB-BF1E-7F71F0A50339}" type="datetimeFigureOut">
              <a:rPr lang="ja-JP" altLang="en-US"/>
              <a:pPr>
                <a:defRPr/>
              </a:pPr>
              <a:t>2018/4/20</a:t>
            </a:fld>
            <a:endParaRPr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FE793E15-B530-4520-8CD7-8B5C5E2BDF89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06851586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6CDBDD60-69F8-4F1D-B6DC-C055790BA01B}" type="datetimeFigureOut">
              <a:rPr lang="ja-JP" altLang="en-US"/>
              <a:pPr>
                <a:defRPr/>
              </a:pPr>
              <a:t>2018/4/20</a:t>
            </a:fld>
            <a:endParaRPr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A517AC1C-C325-4039-B14B-4CB98637DDA0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190179391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角丸四角形 6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3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BBCACF58-10DC-4662-B41E-DBC9A69CE3C7}" type="datetimeFigureOut">
              <a:rPr lang="ja-JP" altLang="en-US"/>
              <a:pPr>
                <a:defRPr/>
              </a:pPr>
              <a:t>2018/4/20</a:t>
            </a:fld>
            <a:endParaRPr lang="ja-JP" altLang="en-US"/>
          </a:p>
        </p:txBody>
      </p:sp>
      <p:sp>
        <p:nvSpPr>
          <p:cNvPr id="4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C24655F0-8969-4363-944D-6F8C7F78DCFA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610277185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538784" y="533400"/>
            <a:ext cx="2971800" cy="914400"/>
          </a:xfrm>
        </p:spPr>
        <p:txBody>
          <a:bodyPr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2"/>
          </p:nvPr>
        </p:nvSpPr>
        <p:spPr>
          <a:xfrm>
            <a:off x="5538847" y="1447802"/>
            <a:ext cx="2971800" cy="4206112"/>
          </a:xfrm>
        </p:spPr>
        <p:txBody>
          <a:bodyPr lIns="91440"/>
          <a:lstStyle>
            <a:lvl1pPr marL="18288" marR="18288" indent="0"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>
              <a:buNone/>
              <a:defRPr sz="1200">
                <a:solidFill>
                  <a:schemeClr val="tx1"/>
                </a:solidFill>
              </a:defRPr>
            </a:lvl2pPr>
            <a:lvl3pPr>
              <a:buNone/>
              <a:defRPr sz="1000">
                <a:solidFill>
                  <a:schemeClr val="tx1"/>
                </a:solidFill>
              </a:defRPr>
            </a:lvl3pPr>
            <a:lvl4pPr>
              <a:buNone/>
              <a:defRPr sz="900">
                <a:solidFill>
                  <a:schemeClr val="tx1"/>
                </a:solidFill>
              </a:defRPr>
            </a:lvl4pPr>
            <a:lvl5pPr>
              <a:buNone/>
              <a:defRPr sz="900">
                <a:solidFill>
                  <a:schemeClr val="tx1"/>
                </a:solidFill>
              </a:defRPr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1"/>
          </p:nvPr>
        </p:nvSpPr>
        <p:spPr>
          <a:xfrm>
            <a:off x="761372" y="930144"/>
            <a:ext cx="4626159" cy="4724402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6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  <a:lvl6pPr>
              <a:buNone/>
              <a:defRPr/>
            </a:lvl6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BB087666-013F-4FDA-BEFA-0D52CB0B933D}" type="datetimeFigureOut">
              <a:rPr lang="ja-JP" altLang="en-US"/>
              <a:pPr>
                <a:defRPr/>
              </a:pPr>
              <a:t>2018/4/20</a:t>
            </a:fld>
            <a:endParaRPr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42257595-CDAE-4E4E-8D2A-48072503B9A9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497322747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角丸四角形 14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1 つの角を丸めた四角形 10"/>
          <p:cNvSpPr/>
          <p:nvPr/>
        </p:nvSpPr>
        <p:spPr>
          <a:xfrm>
            <a:off x="6400800" y="433388"/>
            <a:ext cx="2324100" cy="4343400"/>
          </a:xfrm>
          <a:prstGeom prst="round1Rect">
            <a:avLst>
              <a:gd name="adj" fmla="val 2748"/>
            </a:avLst>
          </a:prstGeom>
          <a:solidFill>
            <a:srgbClr val="1C1C1C"/>
          </a:soli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5012056"/>
            <a:ext cx="8229600" cy="1051560"/>
          </a:xfrm>
        </p:spPr>
        <p:txBody>
          <a:bodyPr anchor="t"/>
          <a:lstStyle>
            <a:lvl1pPr algn="l">
              <a:buNone/>
              <a:defRPr sz="3600" b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 bwMode="grayWhite">
          <a:xfrm>
            <a:off x="6462712" y="533400"/>
            <a:ext cx="2240280" cy="4211480"/>
          </a:xfrm>
        </p:spPr>
        <p:txBody>
          <a:bodyPr lIns="91440"/>
          <a:lstStyle>
            <a:lvl1pPr marL="45720" indent="0" algn="l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>
                <a:solidFill>
                  <a:srgbClr val="FFFFFF"/>
                </a:solidFill>
              </a:defRPr>
            </a:lvl2pPr>
            <a:lvl3pPr>
              <a:defRPr sz="1000">
                <a:solidFill>
                  <a:srgbClr val="FFFFFF"/>
                </a:solidFill>
              </a:defRPr>
            </a:lvl3pPr>
            <a:lvl4pPr>
              <a:defRPr sz="900">
                <a:solidFill>
                  <a:srgbClr val="FFFFFF"/>
                </a:solidFill>
              </a:defRPr>
            </a:lvl4pPr>
            <a:lvl5pPr>
              <a:defRPr sz="900">
                <a:solidFill>
                  <a:srgbClr val="FFFFFF"/>
                </a:solidFill>
              </a:defRPr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421480" y="435768"/>
            <a:ext cx="5925312" cy="4343400"/>
          </a:xfrm>
          <a:prstGeom prst="snipRoundRect">
            <a:avLst>
              <a:gd name="adj1" fmla="val 1040"/>
              <a:gd name="adj2" fmla="val 0"/>
            </a:avLst>
          </a:prstGeom>
          <a:solidFill>
            <a:schemeClr val="bg2">
              <a:shade val="1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extLst/>
          </a:lstStyle>
          <a:p>
            <a:pPr lvl="0"/>
            <a:r>
              <a:rPr lang="ja-JP" altLang="en-US" noProof="0" smtClean="0"/>
              <a:t>アイコンをクリックして図を追加</a:t>
            </a:r>
            <a:endParaRPr lang="en-US" noProof="0" dirty="0"/>
          </a:p>
        </p:txBody>
      </p:sp>
      <p:sp>
        <p:nvSpPr>
          <p:cNvPr id="7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C3A78DF4-B142-4B1F-AE36-CA2E01530601}" type="datetimeFigureOut">
              <a:rPr lang="ja-JP" altLang="en-US"/>
              <a:pPr>
                <a:defRPr/>
              </a:pPr>
              <a:t>2018/4/20</a:t>
            </a:fld>
            <a:endParaRPr lang="ja-JP" altLang="en-US"/>
          </a:p>
        </p:txBody>
      </p:sp>
      <p:sp>
        <p:nvSpPr>
          <p:cNvPr id="8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24CE8912-7021-44CE-93B5-24B4E497462A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443837545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502920" y="530352"/>
            <a:ext cx="8183880" cy="4187952"/>
          </a:xfrm>
        </p:spPr>
        <p:txBody>
          <a:bodyPr vert="eaVert"/>
          <a:lstStyle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A08256B4-4D99-4226-B7B7-70A96A8C0142}" type="datetimeFigureOut">
              <a:rPr lang="ja-JP" altLang="en-US"/>
              <a:pPr>
                <a:defRPr/>
              </a:pPr>
              <a:t>2018/4/20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A4231D10-4EED-4D9C-9B53-3199AADE8933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279982675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533404"/>
            <a:ext cx="1981200" cy="5257799"/>
          </a:xfrm>
        </p:spPr>
        <p:txBody>
          <a:bodyPr vert="eaVert"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533400" y="533402"/>
            <a:ext cx="5943600" cy="5257801"/>
          </a:xfrm>
        </p:spPr>
        <p:txBody>
          <a:bodyPr vert="eaVert"/>
          <a:lstStyle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02EF0357-2710-446F-8233-F225A9131398}" type="datetimeFigureOut">
              <a:rPr lang="ja-JP" altLang="en-US"/>
              <a:pPr>
                <a:defRPr/>
              </a:pPr>
              <a:t>2018/4/20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88CA1B56-A0EE-40A3-8B26-7F95EB598CFD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76098720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C528EF-78D8-49A5-809B-2599B7DD834B}" type="datetimeFigureOut">
              <a:rPr lang="en-US" altLang="en-US"/>
              <a:pPr>
                <a:defRPr/>
              </a:pPr>
              <a:t>4/20/2018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EFA2A5-5979-48A6-9408-4607D4934BE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602256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C57163-4E2A-442A-AF52-8DCCF3E5F898}" type="datetimeFigureOut">
              <a:rPr lang="en-US" altLang="en-US"/>
              <a:pPr>
                <a:defRPr/>
              </a:pPr>
              <a:t>4/20/2018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14CFB5-2CC1-45EB-A3F2-C919B0329890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027016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CADFD7-462D-4DC3-B03B-C216ECE8D47D}" type="datetimeFigureOut">
              <a:rPr lang="en-US" altLang="en-US"/>
              <a:pPr>
                <a:defRPr/>
              </a:pPr>
              <a:t>4/20/2018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1B0A13-5CDD-4B02-825E-D5B70CB11E2D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73574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CFF109-4CB5-4AAD-95FA-C87EB3E04025}" type="datetimeFigureOut">
              <a:rPr lang="en-US" altLang="en-US"/>
              <a:pPr>
                <a:defRPr/>
              </a:pPr>
              <a:t>4/20/2018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13CE82-7117-4891-B558-D1CF2158FB3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335248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BA6665-6F14-4A40-AA68-DF2D49F6DD20}" type="datetimeFigureOut">
              <a:rPr lang="en-US" altLang="en-US"/>
              <a:pPr>
                <a:defRPr/>
              </a:pPr>
              <a:t>4/20/2018</a:t>
            </a:fld>
            <a:endParaRPr lang="en-US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2395EA-16E2-485C-BE10-C0C30288CF7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044225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CFB527-45A3-4F1F-BC31-990A27D35CF4}" type="datetimeFigureOut">
              <a:rPr lang="en-US" altLang="en-US"/>
              <a:pPr>
                <a:defRPr/>
              </a:pPr>
              <a:t>4/20/2018</a:t>
            </a:fld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252998-14DA-4294-9809-0671B108F66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22159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20C454-2AF4-4F56-B134-15CC2881F322}" type="datetimeFigureOut">
              <a:rPr lang="en-US" altLang="en-US"/>
              <a:pPr>
                <a:defRPr/>
              </a:pPr>
              <a:t>4/20/2018</a:t>
            </a:fld>
            <a:endParaRPr lang="en-US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1FBE90-576A-469F-BB2C-57A27D47CF3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521419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80C9C6-69CB-45B7-9979-6C3E38187D0A}" type="datetimeFigureOut">
              <a:rPr lang="en-US" altLang="en-US"/>
              <a:pPr>
                <a:defRPr/>
              </a:pPr>
              <a:t>4/20/2018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BE9712-EA71-450B-AE72-6EC24D46A791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018187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E0AD57-2794-4A43-BC3A-6D6DEE633501}" type="datetimeFigureOut">
              <a:rPr lang="en-US" altLang="en-US"/>
              <a:pPr>
                <a:defRPr/>
              </a:pPr>
              <a:t>4/20/2018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B9D0AA-CDC8-41BE-AFF7-7A9CB8C401D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713506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9D4D3F-EDC6-440C-ABD2-54996654AEC4}" type="datetimeFigureOut">
              <a:rPr lang="en-US" altLang="en-US"/>
              <a:pPr>
                <a:defRPr/>
              </a:pPr>
              <a:t>4/20/2018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C68EAF-25D6-47A5-AF16-8E40A707229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86205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5DA01-3A8D-4832-86F7-58BF2CA1F9C1}" type="datetimeFigureOut">
              <a:rPr lang="en-US" altLang="en-US"/>
              <a:pPr>
                <a:defRPr/>
              </a:pPr>
              <a:t>4/20/2018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6CA87E-87C4-451A-AA13-2FDE2706BB27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3508030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2BA31-4ADC-4EA2-9C08-0E0505B50D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79544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EB2CD5-9D40-4DFB-8E5D-C6BF1A5B2BF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569369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F6A3F1-EF86-44E9-81F6-A62E1C4C24EE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101676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AF727C-16E6-4F4E-956A-F96F4F070BC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153176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EED43A-835B-4492-A31D-D41EB4AF564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716143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BBB3D6-0CB1-4A88-915A-1500123D3BC9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121179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C161EC-C45F-401A-86E6-6370C3780173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341034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114C25-E776-484A-93AF-3BDE9E372EBE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402950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EAF602-15AF-4BE3-8427-0771CD874DFC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343342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A22FEF-D821-40E8-891A-6F3297CBE87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773549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28A833-17A2-464E-9C8A-A006BA5EEDD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541047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BE8E34-AD64-48C5-B806-684B2685B0A1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403497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B87796-C39E-4D7F-AC3A-ECAA87DCE9A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071712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288955-7055-4548-BE6B-EBB131312ADF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449000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431EEF-BB93-4B18-A267-73F4980A7A70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903707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E424A4-FA87-4C6D-AD4F-E693B5E7665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566925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3D1221-FDE0-48AD-A189-3A3A6EEF549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551107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9434DE-5D5F-40EF-A475-2C8A8435DCC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74149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4D03F0-2D78-4934-BB2D-7C19DE233CA5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778288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375045-B0F9-4ADB-9E2A-0729109C7BFA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909366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D049EB-5682-40BF-ADAA-C6F65144256A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81645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F8F970-B86B-445C-B1A4-0091285E03FF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621989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49F0CC-A0FD-4B55-BCD0-DDFD5A1F5F47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501274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C96485-ED2D-4A8D-9056-080049D6ECFA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162616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D42230-4A56-41A5-98DD-C19772CD9584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737245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7B15A9-92DA-4585-A364-AC7029B14FE9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8771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46EC93-A0FE-44C2-B475-C69BD9081DC5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928431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EFA60B-CA96-4DD4-9A93-25F1AF0AE1E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288632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717EAA-B478-4C46-BA6C-C13AB81BBC2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006000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340C43-F592-470E-B2C4-9D0D94AC45DC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920468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3A6D0B-01F6-47CE-B557-9AF1994F5E75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438716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97B31A-D1D3-459B-9B51-C4900FC8903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744929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9434DE-5D5F-40EF-A475-2C8A8435DCC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040029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4D03F0-2D78-4934-BB2D-7C19DE233CA5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868361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375045-B0F9-4ADB-9E2A-0729109C7BFA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581447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D049EB-5682-40BF-ADAA-C6F65144256A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462205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F8F970-B86B-445C-B1A4-0091285E03FF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902820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49F0CC-A0FD-4B55-BCD0-DDFD5A1F5F47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108980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C96485-ED2D-4A8D-9056-080049D6ECFA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2125830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D42230-4A56-41A5-98DD-C19772CD9584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45983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7B15A9-92DA-4585-A364-AC7029B14FE9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5987650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46EC93-A0FE-44C2-B475-C69BD9081DC5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825255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EFA60B-CA96-4DD4-9A93-25F1AF0AE1E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5520567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717EAA-B478-4C46-BA6C-C13AB81BBC2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6194203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340C43-F592-470E-B2C4-9D0D94AC45DC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3223274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3A6D0B-01F6-47CE-B557-9AF1994F5E75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206888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97B31A-D1D3-459B-9B51-C4900FC8903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1905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6" Type="http://schemas.openxmlformats.org/officeDocument/2006/relationships/theme" Target="../theme/theme3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1.xml"/><Relationship Id="rId2" Type="http://schemas.openxmlformats.org/officeDocument/2006/relationships/slideLayout" Target="../slideLayouts/slideLayout41.xml"/><Relationship Id="rId16" Type="http://schemas.openxmlformats.org/officeDocument/2006/relationships/theme" Target="../theme/theme4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53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2.xml"/><Relationship Id="rId13" Type="http://schemas.openxmlformats.org/officeDocument/2006/relationships/slideLayout" Target="../slideLayouts/slideLayout67.xml"/><Relationship Id="rId3" Type="http://schemas.openxmlformats.org/officeDocument/2006/relationships/slideLayout" Target="../slideLayouts/slideLayout57.xml"/><Relationship Id="rId7" Type="http://schemas.openxmlformats.org/officeDocument/2006/relationships/slideLayout" Target="../slideLayouts/slideLayout61.xml"/><Relationship Id="rId12" Type="http://schemas.openxmlformats.org/officeDocument/2006/relationships/slideLayout" Target="../slideLayouts/slideLayout66.xml"/><Relationship Id="rId2" Type="http://schemas.openxmlformats.org/officeDocument/2006/relationships/slideLayout" Target="../slideLayouts/slideLayout56.xml"/><Relationship Id="rId16" Type="http://schemas.openxmlformats.org/officeDocument/2006/relationships/theme" Target="../theme/theme5.xml"/><Relationship Id="rId1" Type="http://schemas.openxmlformats.org/officeDocument/2006/relationships/slideLayout" Target="../slideLayouts/slideLayout55.xml"/><Relationship Id="rId6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65.xml"/><Relationship Id="rId5" Type="http://schemas.openxmlformats.org/officeDocument/2006/relationships/slideLayout" Target="../slideLayouts/slideLayout59.xml"/><Relationship Id="rId15" Type="http://schemas.openxmlformats.org/officeDocument/2006/relationships/slideLayout" Target="../slideLayouts/slideLayout69.xml"/><Relationship Id="rId10" Type="http://schemas.openxmlformats.org/officeDocument/2006/relationships/slideLayout" Target="../slideLayouts/slideLayout64.xml"/><Relationship Id="rId4" Type="http://schemas.openxmlformats.org/officeDocument/2006/relationships/slideLayout" Target="../slideLayouts/slideLayout58.xml"/><Relationship Id="rId9" Type="http://schemas.openxmlformats.org/officeDocument/2006/relationships/slideLayout" Target="../slideLayouts/slideLayout63.xml"/><Relationship Id="rId14" Type="http://schemas.openxmlformats.org/officeDocument/2006/relationships/slideLayout" Target="../slideLayouts/slideLayout6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角丸四角形 6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9" name="角丸四角形 8"/>
          <p:cNvSpPr/>
          <p:nvPr/>
        </p:nvSpPr>
        <p:spPr>
          <a:xfrm>
            <a:off x="418596" y="434162"/>
            <a:ext cx="8306809" cy="5486400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3" name="タイトル プレースホルダ 12"/>
          <p:cNvSpPr>
            <a:spLocks noGrp="1"/>
          </p:cNvSpPr>
          <p:nvPr>
            <p:ph type="title"/>
          </p:nvPr>
        </p:nvSpPr>
        <p:spPr>
          <a:xfrm>
            <a:off x="503238" y="4986338"/>
            <a:ext cx="8183562" cy="1050925"/>
          </a:xfrm>
          <a:prstGeom prst="rect">
            <a:avLst/>
          </a:prstGeom>
        </p:spPr>
        <p:txBody>
          <a:bodyPr vert="horz" anchor="b">
            <a:normAutofit/>
          </a:bodyPr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1031" name="テキスト プレースホルダ 3"/>
          <p:cNvSpPr>
            <a:spLocks noGrp="1"/>
          </p:cNvSpPr>
          <p:nvPr>
            <p:ph type="body" idx="1"/>
          </p:nvPr>
        </p:nvSpPr>
        <p:spPr bwMode="auto">
          <a:xfrm>
            <a:off x="503238" y="530225"/>
            <a:ext cx="8183562" cy="418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82880" tIns="9144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smtClean="0"/>
          </a:p>
        </p:txBody>
      </p:sp>
      <p:sp>
        <p:nvSpPr>
          <p:cNvPr id="25" name="日付プレースホルダ 24"/>
          <p:cNvSpPr>
            <a:spLocks noGrp="1"/>
          </p:cNvSpPr>
          <p:nvPr>
            <p:ph type="dt" sz="half" idx="2"/>
          </p:nvPr>
        </p:nvSpPr>
        <p:spPr>
          <a:xfrm>
            <a:off x="3776663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1" sz="1000">
                <a:solidFill>
                  <a:srgbClr val="E3DED1">
                    <a:shade val="50000"/>
                  </a:srgbClr>
                </a:solidFill>
                <a:latin typeface="Verdana"/>
                <a:cs typeface="+mn-cs"/>
              </a:defRPr>
            </a:lvl1pPr>
            <a:extLst/>
          </a:lstStyle>
          <a:p>
            <a:pPr>
              <a:defRPr/>
            </a:pPr>
            <a:fld id="{B60A3115-D531-4BF5-8912-0DDF8A1BF818}" type="datetimeFigureOut">
              <a:rPr lang="ja-JP" altLang="en-US"/>
              <a:pPr>
                <a:defRPr/>
              </a:pPr>
              <a:t>2018/4/20</a:t>
            </a:fld>
            <a:endParaRPr lang="ja-JP" altLang="en-US"/>
          </a:p>
        </p:txBody>
      </p:sp>
      <p:sp>
        <p:nvSpPr>
          <p:cNvPr id="18" name="フッター プレースホルダ 17"/>
          <p:cNvSpPr>
            <a:spLocks noGrp="1"/>
          </p:cNvSpPr>
          <p:nvPr>
            <p:ph type="ftr" sz="quarter" idx="3"/>
          </p:nvPr>
        </p:nvSpPr>
        <p:spPr>
          <a:xfrm>
            <a:off x="6062663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1" sz="1000">
                <a:solidFill>
                  <a:srgbClr val="E3DED1">
                    <a:shade val="50000"/>
                  </a:srgbClr>
                </a:solidFill>
                <a:latin typeface="Verdana"/>
                <a:cs typeface="+mn-cs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4"/>
          </p:nvPr>
        </p:nvSpPr>
        <p:spPr>
          <a:xfrm>
            <a:off x="8348663" y="61118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1" sz="1000">
                <a:solidFill>
                  <a:srgbClr val="E3DED1">
                    <a:shade val="50000"/>
                  </a:srgbClr>
                </a:solidFill>
                <a:latin typeface="Verdana"/>
                <a:cs typeface="+mn-cs"/>
              </a:defRPr>
            </a:lvl1pPr>
            <a:extLst/>
          </a:lstStyle>
          <a:p>
            <a:pPr>
              <a:defRPr/>
            </a:pPr>
            <a:fld id="{52C5264A-7754-4726-AC52-E1F06AF192FF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6" r:id="rId1"/>
    <p:sldLayoutId id="2147483997" r:id="rId2"/>
    <p:sldLayoutId id="2147483998" r:id="rId3"/>
    <p:sldLayoutId id="2147483999" r:id="rId4"/>
    <p:sldLayoutId id="2147484000" r:id="rId5"/>
    <p:sldLayoutId id="2147484001" r:id="rId6"/>
    <p:sldLayoutId id="2147484002" r:id="rId7"/>
    <p:sldLayoutId id="2147484003" r:id="rId8"/>
    <p:sldLayoutId id="2147484004" r:id="rId9"/>
    <p:sldLayoutId id="2147484005" r:id="rId10"/>
    <p:sldLayoutId id="2147484006" r:id="rId11"/>
  </p:sldLayoutIdLst>
  <p:transition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600" b="1" kern="1200">
          <a:solidFill>
            <a:srgbClr val="FF8D3E"/>
          </a:solidFill>
          <a:effectLst>
            <a:outerShdw blurRad="53975" dist="22860" dir="5400000" algn="tl" rotWithShape="0">
              <a:srgbClr val="000000">
                <a:alpha val="55000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9pPr>
      <a:extLst/>
    </p:titleStyle>
    <p:bodyStyle>
      <a:lvl1pPr marL="265113" indent="-265113" algn="l" rtl="0" eaLnBrk="0" fontAlgn="base" hangingPunct="0">
        <a:spcBef>
          <a:spcPts val="250"/>
        </a:spcBef>
        <a:spcAft>
          <a:spcPct val="0"/>
        </a:spcAft>
        <a:buClr>
          <a:schemeClr val="accent1"/>
        </a:buClr>
        <a:buSzPct val="80000"/>
        <a:buFont typeface="Wingdings 2" pitchFamily="18" charset="2"/>
        <a:buChar char="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00025" algn="l" rtl="0" eaLnBrk="0" fontAlgn="base" hangingPunct="0">
        <a:spcBef>
          <a:spcPts val="250"/>
        </a:spcBef>
        <a:spcAft>
          <a:spcPct val="0"/>
        </a:spcAft>
        <a:buClr>
          <a:schemeClr val="accent1"/>
        </a:buClr>
        <a:buSzPct val="100000"/>
        <a:buFont typeface="Verdana" pitchFamily="34" charset="0"/>
        <a:buChar char="◦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85813" indent="-182563" algn="l" rtl="0" eaLnBrk="0" fontAlgn="base" hangingPunct="0">
        <a:spcBef>
          <a:spcPts val="250"/>
        </a:spcBef>
        <a:spcAft>
          <a:spcPct val="0"/>
        </a:spcAft>
        <a:buClr>
          <a:srgbClr val="ED3742"/>
        </a:buClr>
        <a:buSzPct val="100000"/>
        <a:buFont typeface="Wingdings 2" pitchFamily="18" charset="2"/>
        <a:buChar char=""/>
        <a:defRPr kumimoji="1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023938" indent="-182563" algn="l" rtl="0" eaLnBrk="0" fontAlgn="base" hangingPunct="0">
        <a:spcBef>
          <a:spcPts val="225"/>
        </a:spcBef>
        <a:spcAft>
          <a:spcPct val="0"/>
        </a:spcAft>
        <a:buClr>
          <a:srgbClr val="ED3742"/>
        </a:buClr>
        <a:buSzPct val="112000"/>
        <a:buFont typeface="Verdana" pitchFamily="34" charset="0"/>
        <a:buChar char="◦"/>
        <a:defRPr kumimoji="1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279525" indent="-182563" algn="l" rtl="0" eaLnBrk="0" fontAlgn="base" hangingPunct="0">
        <a:spcBef>
          <a:spcPts val="250"/>
        </a:spcBef>
        <a:spcAft>
          <a:spcPct val="0"/>
        </a:spcAft>
        <a:buClr>
          <a:srgbClr val="4A85BF"/>
        </a:buClr>
        <a:buSzPct val="100000"/>
        <a:buFont typeface="Wingdings 2" pitchFamily="18" charset="2"/>
        <a:buChar char="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1" sz="17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700784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spcBef>
          <a:spcPts val="257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1" sz="15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148840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FDB412B-A1DC-4656-9B89-0FCB88F4F467}" type="datetimeFigureOut">
              <a:rPr lang="ja-JP" altLang="en-US"/>
              <a:pPr>
                <a:defRPr/>
              </a:pPr>
              <a:t>2018/4/20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B12BA74-9B39-49B3-8E8B-88E185DDBA0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7" r:id="rId1"/>
    <p:sldLayoutId id="2147484008" r:id="rId2"/>
    <p:sldLayoutId id="2147484009" r:id="rId3"/>
    <p:sldLayoutId id="2147484010" r:id="rId4"/>
    <p:sldLayoutId id="2147484011" r:id="rId5"/>
    <p:sldLayoutId id="2147484012" r:id="rId6"/>
    <p:sldLayoutId id="2147484013" r:id="rId7"/>
    <p:sldLayoutId id="2147484014" r:id="rId8"/>
    <p:sldLayoutId id="2147484015" r:id="rId9"/>
    <p:sldLayoutId id="2147484016" r:id="rId10"/>
    <p:sldLayoutId id="2147484017" r:id="rId11"/>
    <p:sldLayoutId id="2147484018" r:id="rId12"/>
    <p:sldLayoutId id="2147484019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089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089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089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fld id="{8B838858-5706-44EB-AD72-80F8021061E0}" type="slidenum">
              <a:rPr lang="en-US">
                <a:solidFill>
                  <a:srgbClr val="000000"/>
                </a:solidFill>
              </a:rPr>
              <a:pPr eaLnBrk="1" hangingPunct="1"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5547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1" r:id="rId1"/>
    <p:sldLayoutId id="2147484022" r:id="rId2"/>
    <p:sldLayoutId id="2147484023" r:id="rId3"/>
    <p:sldLayoutId id="2147484024" r:id="rId4"/>
    <p:sldLayoutId id="2147484025" r:id="rId5"/>
    <p:sldLayoutId id="2147484026" r:id="rId6"/>
    <p:sldLayoutId id="2147484027" r:id="rId7"/>
    <p:sldLayoutId id="2147484028" r:id="rId8"/>
    <p:sldLayoutId id="2147484029" r:id="rId9"/>
    <p:sldLayoutId id="2147484030" r:id="rId10"/>
    <p:sldLayoutId id="2147484031" r:id="rId11"/>
    <p:sldLayoutId id="2147484032" r:id="rId12"/>
    <p:sldLayoutId id="2147484033" r:id="rId13"/>
    <p:sldLayoutId id="2147484034" r:id="rId14"/>
    <p:sldLayoutId id="2147484035" r:id="rId15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089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089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089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fld id="{93B4484E-22E0-4EB5-B581-CC5F77E405F6}" type="slidenum">
              <a:rPr lang="en-US">
                <a:solidFill>
                  <a:srgbClr val="000000"/>
                </a:solidFill>
              </a:rPr>
              <a:pPr eaLnBrk="1" hangingPunct="1"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1829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69" r:id="rId1"/>
    <p:sldLayoutId id="2147484070" r:id="rId2"/>
    <p:sldLayoutId id="2147484071" r:id="rId3"/>
    <p:sldLayoutId id="2147484072" r:id="rId4"/>
    <p:sldLayoutId id="2147484073" r:id="rId5"/>
    <p:sldLayoutId id="2147484074" r:id="rId6"/>
    <p:sldLayoutId id="2147484075" r:id="rId7"/>
    <p:sldLayoutId id="2147484076" r:id="rId8"/>
    <p:sldLayoutId id="2147484077" r:id="rId9"/>
    <p:sldLayoutId id="2147484078" r:id="rId10"/>
    <p:sldLayoutId id="2147484079" r:id="rId11"/>
    <p:sldLayoutId id="2147484080" r:id="rId12"/>
    <p:sldLayoutId id="2147484081" r:id="rId13"/>
    <p:sldLayoutId id="2147484082" r:id="rId14"/>
    <p:sldLayoutId id="2147484083" r:id="rId15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089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089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089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fld id="{93B4484E-22E0-4EB5-B581-CC5F77E405F6}" type="slidenum">
              <a:rPr lang="en-US">
                <a:solidFill>
                  <a:srgbClr val="000000"/>
                </a:solidFill>
              </a:rPr>
              <a:pPr eaLnBrk="1" hangingPunct="1"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6288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5" r:id="rId1"/>
    <p:sldLayoutId id="2147484086" r:id="rId2"/>
    <p:sldLayoutId id="2147484087" r:id="rId3"/>
    <p:sldLayoutId id="2147484088" r:id="rId4"/>
    <p:sldLayoutId id="2147484089" r:id="rId5"/>
    <p:sldLayoutId id="2147484090" r:id="rId6"/>
    <p:sldLayoutId id="2147484091" r:id="rId7"/>
    <p:sldLayoutId id="2147484092" r:id="rId8"/>
    <p:sldLayoutId id="2147484093" r:id="rId9"/>
    <p:sldLayoutId id="2147484094" r:id="rId10"/>
    <p:sldLayoutId id="2147484095" r:id="rId11"/>
    <p:sldLayoutId id="2147484096" r:id="rId12"/>
    <p:sldLayoutId id="2147484097" r:id="rId13"/>
    <p:sldLayoutId id="2147484098" r:id="rId14"/>
    <p:sldLayoutId id="2147484099" r:id="rId15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6.emf"/><Relationship Id="rId4" Type="http://schemas.openxmlformats.org/officeDocument/2006/relationships/oleObject" Target="../embeddings/oleObject1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7.emf"/><Relationship Id="rId4" Type="http://schemas.openxmlformats.org/officeDocument/2006/relationships/oleObject" Target="../embeddings/oleObject2.bin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Relationship Id="rId4" Type="http://schemas.openxmlformats.org/officeDocument/2006/relationships/chart" Target="../charts/char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8.jpeg"/><Relationship Id="rId4" Type="http://schemas.openxmlformats.org/officeDocument/2006/relationships/image" Target="../media/image2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32.jpeg"/><Relationship Id="rId4" Type="http://schemas.openxmlformats.org/officeDocument/2006/relationships/image" Target="../media/image31.jpe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jpeg"/><Relationship Id="rId7" Type="http://schemas.openxmlformats.org/officeDocument/2006/relationships/image" Target="../media/image38.pn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45.jpeg"/><Relationship Id="rId5" Type="http://schemas.openxmlformats.org/officeDocument/2006/relationships/image" Target="../media/image44.jpeg"/><Relationship Id="rId4" Type="http://schemas.openxmlformats.org/officeDocument/2006/relationships/image" Target="../media/image4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49.jpeg"/><Relationship Id="rId4" Type="http://schemas.openxmlformats.org/officeDocument/2006/relationships/image" Target="../media/image48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57.png"/><Relationship Id="rId5" Type="http://schemas.openxmlformats.org/officeDocument/2006/relationships/image" Target="../media/image56.jpeg"/><Relationship Id="rId4" Type="http://schemas.openxmlformats.org/officeDocument/2006/relationships/image" Target="../media/image55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eg"/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1.jpeg"/><Relationship Id="rId4" Type="http://schemas.openxmlformats.org/officeDocument/2006/relationships/image" Target="../media/image60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e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65.jpeg"/><Relationship Id="rId4" Type="http://schemas.openxmlformats.org/officeDocument/2006/relationships/image" Target="../media/image64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eg"/><Relationship Id="rId2" Type="http://schemas.openxmlformats.org/officeDocument/2006/relationships/image" Target="../media/image66.jpe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69.jpeg"/><Relationship Id="rId4" Type="http://schemas.openxmlformats.org/officeDocument/2006/relationships/image" Target="../media/image68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3.jpeg"/><Relationship Id="rId4" Type="http://schemas.openxmlformats.org/officeDocument/2006/relationships/image" Target="../media/image7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jpeg"/><Relationship Id="rId2" Type="http://schemas.openxmlformats.org/officeDocument/2006/relationships/image" Target="../media/image74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jpe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81.jpeg"/><Relationship Id="rId4" Type="http://schemas.openxmlformats.org/officeDocument/2006/relationships/image" Target="../media/image8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jpeg"/><Relationship Id="rId2" Type="http://schemas.openxmlformats.org/officeDocument/2006/relationships/image" Target="../media/image82.jpe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85.jpeg"/><Relationship Id="rId4" Type="http://schemas.openxmlformats.org/officeDocument/2006/relationships/image" Target="../media/image8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jpeg"/><Relationship Id="rId2" Type="http://schemas.openxmlformats.org/officeDocument/2006/relationships/image" Target="../media/image86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9.jpeg"/><Relationship Id="rId4" Type="http://schemas.openxmlformats.org/officeDocument/2006/relationships/image" Target="../media/image88.jpe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76200" y="38100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endParaRPr lang="en-US" sz="4000" b="1" dirty="0">
              <a:solidFill>
                <a:srgbClr val="CC00FF"/>
              </a:solidFill>
            </a:endParaRPr>
          </a:p>
        </p:txBody>
      </p:sp>
      <p:sp>
        <p:nvSpPr>
          <p:cNvPr id="27651" name="TextBox 2"/>
          <p:cNvSpPr txBox="1">
            <a:spLocks noChangeArrowheads="1"/>
          </p:cNvSpPr>
          <p:nvPr/>
        </p:nvSpPr>
        <p:spPr bwMode="auto">
          <a:xfrm>
            <a:off x="391947" y="990600"/>
            <a:ext cx="8686800" cy="1077218"/>
          </a:xfrm>
          <a:prstGeom prst="rect">
            <a:avLst/>
          </a:prstGeom>
          <a:ln/>
          <a:ex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Chowgacha UHC model &amp; Jhenaidah Sadar Hospital Development by local initiatives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267200" y="5491163"/>
            <a:ext cx="4572000" cy="113823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Dr. Md.Emdadul Haque</a:t>
            </a:r>
            <a:r>
              <a:rPr lang="en-US" sz="16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 </a:t>
            </a:r>
          </a:p>
          <a:p>
            <a:pPr algn="ctr">
              <a:defRPr/>
            </a:pP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Senior Consultant (Obst &amp; Gynae)</a:t>
            </a:r>
          </a:p>
          <a:p>
            <a:pPr algn="ctr">
              <a:defRPr/>
            </a:pP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Sadar Hospital Jhenaidah</a:t>
            </a:r>
          </a:p>
        </p:txBody>
      </p:sp>
      <p:pic>
        <p:nvPicPr>
          <p:cNvPr id="27653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2217738"/>
            <a:ext cx="3886200" cy="30114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54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" y="2217738"/>
            <a:ext cx="4048125" cy="30114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85" name="Group 8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0107218"/>
              </p:ext>
            </p:extLst>
          </p:nvPr>
        </p:nvGraphicFramePr>
        <p:xfrm>
          <a:off x="148988" y="1105771"/>
          <a:ext cx="8894763" cy="4642962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914400"/>
                <a:gridCol w="1981200"/>
                <a:gridCol w="2362200"/>
                <a:gridCol w="1905000"/>
                <a:gridCol w="1731963"/>
              </a:tblGrid>
              <a:tr h="80874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SL  NO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Country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Per capita health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Expenditure per year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in 2014 by  Govt.   ($)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Doctors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Population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Nurse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Population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</a:tr>
              <a:tr h="4514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01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USA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9536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25.5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99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02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UK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4356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28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84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Japan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3733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22.9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108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Malaysia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386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12.8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Sri Lanka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118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7.3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17.5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India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63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7.3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20.4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Nepal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44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4.7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184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Pakistan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Bangladesh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32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3.9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2.2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</a:tbl>
          </a:graphicData>
        </a:graphic>
      </p:graphicFrame>
      <p:sp>
        <p:nvSpPr>
          <p:cNvPr id="28675" name="Rectangle 1"/>
          <p:cNvSpPr>
            <a:spLocks noChangeArrowheads="1"/>
          </p:cNvSpPr>
          <p:nvPr/>
        </p:nvSpPr>
        <p:spPr bwMode="auto">
          <a:xfrm>
            <a:off x="6553200" y="6426200"/>
            <a:ext cx="2419350" cy="4000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r" eaLnBrk="1" hangingPunct="1"/>
            <a:r>
              <a:rPr lang="en-US" sz="2000" dirty="0">
                <a:solidFill>
                  <a:srgbClr val="000000"/>
                </a:solidFill>
                <a:latin typeface="Andalus"/>
                <a:ea typeface="Andalus"/>
                <a:cs typeface="Andalus"/>
              </a:rPr>
              <a:t>From internet 2015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52400" y="37531"/>
            <a:ext cx="8820150" cy="990600"/>
          </a:xfrm>
          <a:prstGeom prst="rect">
            <a:avLst/>
          </a:prstGeom>
          <a:solidFill>
            <a:srgbClr val="0070C0"/>
          </a:solidFill>
          <a:ln w="38100">
            <a:solidFill>
              <a:schemeClr val="accent4">
                <a:lumMod val="40000"/>
                <a:lumOff val="60000"/>
              </a:schemeClr>
            </a:solidFill>
            <a:miter lim="800000"/>
            <a:headEnd/>
            <a:tailEnd/>
          </a:ln>
          <a:extLst/>
        </p:spPr>
        <p:txBody>
          <a:bodyPr/>
          <a:lstStyle/>
          <a:p>
            <a:pPr algn="ctr" eaLnBrk="1" hangingPunct="1">
              <a:defRPr/>
            </a:pPr>
            <a:r>
              <a:rPr lang="en-US" sz="28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Comparative data of health facilities of different country of the world</a:t>
            </a:r>
            <a:r>
              <a:rPr lang="en-US" sz="24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 </a:t>
            </a:r>
            <a:endParaRPr lang="en-US" sz="2400" dirty="0">
              <a:solidFill>
                <a:schemeClr val="bg1"/>
              </a:solidFill>
              <a:latin typeface="Andalus" pitchFamily="18" charset="-78"/>
              <a:cs typeface="Andalus" pitchFamily="18" charset="-78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9" name="Picture 12" descr="Picture 23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1963" y="2209800"/>
            <a:ext cx="5735637" cy="352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33" name="Rectangle 13"/>
          <p:cNvSpPr>
            <a:spLocks noChangeArrowheads="1"/>
          </p:cNvSpPr>
          <p:nvPr/>
        </p:nvSpPr>
        <p:spPr bwMode="auto">
          <a:xfrm>
            <a:off x="382588" y="838200"/>
            <a:ext cx="8432800" cy="107791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3200" b="1" dirty="0">
                <a:solidFill>
                  <a:schemeClr val="bg1"/>
                </a:solidFill>
              </a:rPr>
              <a:t>50 BEDED UPAZILA  HEALTH  COMPLEX </a:t>
            </a:r>
            <a:br>
              <a:rPr lang="en-US" sz="3200" b="1" dirty="0">
                <a:solidFill>
                  <a:schemeClr val="bg1"/>
                </a:solidFill>
              </a:rPr>
            </a:br>
            <a:r>
              <a:rPr lang="en-US" sz="3200" b="1" dirty="0">
                <a:solidFill>
                  <a:schemeClr val="bg1"/>
                </a:solidFill>
              </a:rPr>
              <a:t>Chowgacha, Jessore</a:t>
            </a:r>
            <a:r>
              <a: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.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016000"/>
          </a:xfrm>
          <a:solidFill>
            <a:schemeClr val="accent5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sz="3600" b="1" dirty="0"/>
              <a:t>A Sub-district level Women-Friendly Hospital with a Vision …</a:t>
            </a:r>
          </a:p>
        </p:txBody>
      </p:sp>
      <p:sp>
        <p:nvSpPr>
          <p:cNvPr id="5" name="Oval 3"/>
          <p:cNvSpPr>
            <a:spLocks noChangeArrowheads="1"/>
          </p:cNvSpPr>
          <p:nvPr/>
        </p:nvSpPr>
        <p:spPr bwMode="auto">
          <a:xfrm>
            <a:off x="4281487" y="2019300"/>
            <a:ext cx="3124200" cy="12954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sz="1600" b="1" dirty="0">
              <a:solidFill>
                <a:srgbClr val="FF0066"/>
              </a:solidFill>
            </a:endParaRPr>
          </a:p>
          <a:p>
            <a:pPr algn="ctr" eaLnBrk="0" hangingPunct="0"/>
            <a:r>
              <a:rPr lang="en-US" sz="1600" b="1" dirty="0"/>
              <a:t>Maximum utilization of Govt.</a:t>
            </a:r>
          </a:p>
          <a:p>
            <a:pPr algn="ctr" eaLnBrk="0" hangingPunct="0"/>
            <a:r>
              <a:rPr lang="en-US" sz="1600" b="1" dirty="0"/>
              <a:t>resources with </a:t>
            </a:r>
          </a:p>
          <a:p>
            <a:pPr algn="ctr" eaLnBrk="0" hangingPunct="0"/>
            <a:r>
              <a:rPr lang="en-US" sz="1600" b="1" dirty="0"/>
              <a:t>honesty and sincerity</a:t>
            </a:r>
          </a:p>
          <a:p>
            <a:pPr algn="ctr" eaLnBrk="0" hangingPunct="0"/>
            <a:endParaRPr lang="en-US" sz="1600" b="1" dirty="0"/>
          </a:p>
        </p:txBody>
      </p:sp>
      <p:sp>
        <p:nvSpPr>
          <p:cNvPr id="6" name="Oval 4"/>
          <p:cNvSpPr>
            <a:spLocks noChangeArrowheads="1"/>
          </p:cNvSpPr>
          <p:nvPr/>
        </p:nvSpPr>
        <p:spPr bwMode="auto">
          <a:xfrm>
            <a:off x="4281487" y="5105400"/>
            <a:ext cx="3200400" cy="1219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600" b="1" dirty="0"/>
              <a:t>Providing Effective and </a:t>
            </a:r>
          </a:p>
          <a:p>
            <a:pPr algn="ctr" eaLnBrk="0" hangingPunct="0"/>
            <a:r>
              <a:rPr lang="en-US" sz="1600" b="1" dirty="0"/>
              <a:t>prompt services </a:t>
            </a:r>
          </a:p>
          <a:p>
            <a:pPr algn="ctr" eaLnBrk="0" hangingPunct="0"/>
            <a:r>
              <a:rPr lang="en-US" sz="1600" b="1" dirty="0"/>
              <a:t>through improved </a:t>
            </a:r>
          </a:p>
          <a:p>
            <a:pPr algn="ctr" eaLnBrk="0" hangingPunct="0"/>
            <a:r>
              <a:rPr lang="en-US" sz="1600" b="1" dirty="0"/>
              <a:t>management system</a:t>
            </a:r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1447800" y="2438400"/>
            <a:ext cx="2514600" cy="457200"/>
          </a:xfrm>
          <a:prstGeom prst="notchedRightArrow">
            <a:avLst>
              <a:gd name="adj1" fmla="val 50000"/>
              <a:gd name="adj2" fmla="val 137500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1343025" y="5486400"/>
            <a:ext cx="2438400" cy="457200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1" name="Oval 9"/>
          <p:cNvSpPr>
            <a:spLocks noChangeArrowheads="1"/>
          </p:cNvSpPr>
          <p:nvPr/>
        </p:nvSpPr>
        <p:spPr bwMode="auto">
          <a:xfrm>
            <a:off x="4281487" y="3619500"/>
            <a:ext cx="3200400" cy="1219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600" b="1" dirty="0"/>
              <a:t>Integrated approach of </a:t>
            </a:r>
          </a:p>
          <a:p>
            <a:pPr algn="ctr" eaLnBrk="0" hangingPunct="0"/>
            <a:r>
              <a:rPr lang="en-US" sz="1600" b="1" dirty="0"/>
              <a:t>Administration, Community</a:t>
            </a:r>
          </a:p>
          <a:p>
            <a:pPr algn="ctr" eaLnBrk="0" hangingPunct="0"/>
            <a:r>
              <a:rPr lang="en-US" sz="1600" b="1" dirty="0"/>
              <a:t>Leaders &amp; Health </a:t>
            </a:r>
          </a:p>
          <a:p>
            <a:pPr algn="ctr" eaLnBrk="0" hangingPunct="0"/>
            <a:r>
              <a:rPr lang="en-US" sz="1600" b="1" dirty="0"/>
              <a:t>Management</a:t>
            </a:r>
          </a:p>
        </p:txBody>
      </p:sp>
      <p:sp>
        <p:nvSpPr>
          <p:cNvPr id="12" name="AutoShape 10"/>
          <p:cNvSpPr>
            <a:spLocks noChangeArrowheads="1"/>
          </p:cNvSpPr>
          <p:nvPr/>
        </p:nvSpPr>
        <p:spPr bwMode="auto">
          <a:xfrm>
            <a:off x="1328737" y="4000500"/>
            <a:ext cx="2438400" cy="457200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19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914400"/>
          </a:xfrm>
          <a:solidFill>
            <a:schemeClr val="accent1"/>
          </a:solidFill>
        </p:spPr>
        <p:txBody>
          <a:bodyPr/>
          <a:lstStyle/>
          <a:p>
            <a:pPr eaLnBrk="1" hangingPunct="1"/>
            <a:r>
              <a:rPr lang="en-US" sz="2800" b="1" dirty="0" smtClean="0"/>
              <a:t>Background History of MCH services of </a:t>
            </a:r>
            <a:r>
              <a:rPr lang="en-US" sz="2800" b="1" dirty="0" err="1" smtClean="0"/>
              <a:t>Chowgacha</a:t>
            </a:r>
            <a:r>
              <a:rPr lang="en-US" sz="2800" b="1" dirty="0" smtClean="0"/>
              <a:t> Health Complex, </a:t>
            </a:r>
            <a:r>
              <a:rPr lang="en-US" sz="2800" b="1" dirty="0" err="1" smtClean="0"/>
              <a:t>Jessore</a:t>
            </a:r>
            <a:endParaRPr lang="en-US" sz="2800" b="1" dirty="0" smtClean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382000" cy="4876800"/>
          </a:xfrm>
        </p:spPr>
        <p:txBody>
          <a:bodyPr/>
          <a:lstStyle/>
          <a:p>
            <a:pPr marL="0" indent="0" algn="just"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r>
              <a:rPr lang="en-US" sz="2400" b="1" dirty="0" smtClean="0"/>
              <a:t>To reduce Maternal and Child Mortality and Mobility and to ensure the quality services to the mother and child, UHFPO opened 4 special activities headed by medical officers in Feb. 1996. And </a:t>
            </a:r>
            <a:r>
              <a:rPr lang="en-US" sz="2400" b="1" u="sng" dirty="0" smtClean="0"/>
              <a:t>from January 1995 to 1997 </a:t>
            </a:r>
            <a:r>
              <a:rPr lang="en-US" sz="2400" b="1" u="sng" dirty="0" smtClean="0">
                <a:solidFill>
                  <a:srgbClr val="0000FF"/>
                </a:solidFill>
              </a:rPr>
              <a:t>JICA</a:t>
            </a:r>
            <a:r>
              <a:rPr lang="en-US" sz="2400" b="1" u="sng" dirty="0" smtClean="0"/>
              <a:t> helped us by Frontline MCH Program to implement the program by giving technical and logistic supports. Since 1998 </a:t>
            </a:r>
            <a:r>
              <a:rPr lang="en-US" sz="2400" b="1" u="sng" dirty="0" smtClean="0">
                <a:solidFill>
                  <a:srgbClr val="0000FF"/>
                </a:solidFill>
              </a:rPr>
              <a:t>DGHS</a:t>
            </a:r>
            <a:r>
              <a:rPr lang="en-US" sz="2400" b="1" u="sng" dirty="0" smtClean="0"/>
              <a:t> &amp; </a:t>
            </a:r>
            <a:r>
              <a:rPr lang="en-US" sz="2400" b="1" u="sng" dirty="0" smtClean="0">
                <a:solidFill>
                  <a:srgbClr val="0000FF"/>
                </a:solidFill>
              </a:rPr>
              <a:t>UNICEF</a:t>
            </a:r>
            <a:r>
              <a:rPr lang="en-US" sz="2400" b="1" u="sng" dirty="0" smtClean="0"/>
              <a:t> have continued the </a:t>
            </a:r>
          </a:p>
          <a:p>
            <a:pPr marL="0" indent="0" algn="just"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endParaRPr lang="en-US" sz="300" b="1" u="sng" dirty="0" smtClean="0"/>
          </a:p>
          <a:p>
            <a:pPr marL="0" indent="0" algn="just" eaLnBrk="1" hangingPunct="1">
              <a:spcBef>
                <a:spcPts val="600"/>
              </a:spcBef>
              <a:buClr>
                <a:schemeClr val="tx1"/>
              </a:buClr>
              <a:buFontTx/>
              <a:buNone/>
            </a:pPr>
            <a:r>
              <a:rPr lang="en-US" sz="2400" b="1" u="sng" dirty="0" smtClean="0"/>
              <a:t>support.</a:t>
            </a:r>
            <a:endParaRPr lang="en-US" sz="2400" b="1" dirty="0" smtClean="0"/>
          </a:p>
          <a:p>
            <a:pPr marL="0" indent="0" eaLnBrk="1" hangingPunct="1">
              <a:spcBef>
                <a:spcPts val="600"/>
              </a:spcBef>
              <a:buClr>
                <a:schemeClr val="tx1"/>
              </a:buClr>
              <a:buFontTx/>
              <a:buNone/>
            </a:pPr>
            <a:r>
              <a:rPr lang="en-US" sz="2400" b="1" dirty="0" smtClean="0">
                <a:solidFill>
                  <a:srgbClr val="0000FF"/>
                </a:solidFill>
              </a:rPr>
              <a:t>&lt;4 Special activities&gt; </a:t>
            </a:r>
          </a:p>
          <a:p>
            <a:pPr marL="0" indent="0" eaLnBrk="1" hangingPunct="1">
              <a:spcBef>
                <a:spcPts val="600"/>
              </a:spcBef>
              <a:buClr>
                <a:schemeClr val="tx1"/>
              </a:buClr>
              <a:buFontTx/>
              <a:buAutoNum type="arabicParenR"/>
            </a:pPr>
            <a:r>
              <a:rPr lang="en-US" sz="2400" b="1" dirty="0" smtClean="0">
                <a:solidFill>
                  <a:srgbClr val="0000FF"/>
                </a:solidFill>
              </a:rPr>
              <a:t>ANC-Corner</a:t>
            </a:r>
            <a:endParaRPr lang="en-US" sz="2400" b="1" dirty="0" smtClean="0"/>
          </a:p>
          <a:p>
            <a:pPr marL="0" indent="0" eaLnBrk="1" hangingPunct="1">
              <a:spcBef>
                <a:spcPts val="600"/>
              </a:spcBef>
              <a:buClr>
                <a:schemeClr val="tx1"/>
              </a:buClr>
              <a:buFontTx/>
              <a:buAutoNum type="arabicParenR"/>
            </a:pPr>
            <a:r>
              <a:rPr lang="en-US" sz="2400" b="1" dirty="0" smtClean="0">
                <a:solidFill>
                  <a:srgbClr val="0000FF"/>
                </a:solidFill>
              </a:rPr>
              <a:t>Basic EOC service</a:t>
            </a:r>
            <a:r>
              <a:rPr lang="en-US" sz="2400" b="1" dirty="0" smtClean="0"/>
              <a:t> </a:t>
            </a:r>
            <a:endParaRPr lang="en-US" sz="2400" b="1" dirty="0" smtClean="0"/>
          </a:p>
          <a:p>
            <a:pPr marL="0" indent="0" eaLnBrk="1" hangingPunct="1">
              <a:spcBef>
                <a:spcPts val="600"/>
              </a:spcBef>
              <a:buClr>
                <a:schemeClr val="tx1"/>
              </a:buClr>
              <a:buFontTx/>
              <a:buAutoNum type="arabicParenR"/>
            </a:pPr>
            <a:r>
              <a:rPr lang="en-US" sz="2400" b="1" dirty="0" smtClean="0">
                <a:solidFill>
                  <a:srgbClr val="0000FF"/>
                </a:solidFill>
              </a:rPr>
              <a:t>Under </a:t>
            </a:r>
            <a:r>
              <a:rPr lang="en-US" sz="2400" b="1" dirty="0" smtClean="0">
                <a:solidFill>
                  <a:srgbClr val="0000FF"/>
                </a:solidFill>
              </a:rPr>
              <a:t>5 corner for under 5 children</a:t>
            </a:r>
            <a:r>
              <a:rPr lang="en-US" sz="2400" b="1" dirty="0" smtClean="0"/>
              <a:t> </a:t>
            </a:r>
            <a:endParaRPr lang="en-US" sz="2400" b="1" dirty="0" smtClean="0"/>
          </a:p>
          <a:p>
            <a:pPr marL="0" indent="0" eaLnBrk="1" hangingPunct="1">
              <a:spcBef>
                <a:spcPts val="600"/>
              </a:spcBef>
              <a:buClr>
                <a:schemeClr val="tx1"/>
              </a:buClr>
              <a:buFontTx/>
              <a:buAutoNum type="arabicParenR"/>
            </a:pPr>
            <a:r>
              <a:rPr lang="en-US" sz="2400" b="1" dirty="0" smtClean="0">
                <a:solidFill>
                  <a:srgbClr val="0000FF"/>
                </a:solidFill>
              </a:rPr>
              <a:t>Monthly </a:t>
            </a:r>
            <a:r>
              <a:rPr lang="en-US" sz="2400" b="1" dirty="0" smtClean="0">
                <a:solidFill>
                  <a:srgbClr val="0000FF"/>
                </a:solidFill>
              </a:rPr>
              <a:t>birth and death </a:t>
            </a:r>
            <a:r>
              <a:rPr lang="en-US" sz="2400" b="1" dirty="0" smtClean="0">
                <a:solidFill>
                  <a:srgbClr val="0000FF"/>
                </a:solidFill>
              </a:rPr>
              <a:t>record</a:t>
            </a:r>
            <a:endParaRPr lang="en-US" sz="2400" b="1" dirty="0" smtClean="0"/>
          </a:p>
          <a:p>
            <a:pPr marL="0" indent="0" eaLnBrk="1" hangingPunct="1">
              <a:lnSpc>
                <a:spcPct val="80000"/>
              </a:lnSpc>
              <a:buFontTx/>
              <a:buNone/>
            </a:pPr>
            <a:endParaRPr lang="en-US" sz="1800" b="1" dirty="0" smtClean="0"/>
          </a:p>
        </p:txBody>
      </p:sp>
    </p:spTree>
    <p:extLst>
      <p:ext uri="{BB962C8B-B14F-4D97-AF65-F5344CB8AC3E}">
        <p14:creationId xmlns:p14="http://schemas.microsoft.com/office/powerpoint/2010/main" val="40538555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>
            <a:spLocks noGrp="1"/>
          </p:cNvSpPr>
          <p:nvPr/>
        </p:nvSpPr>
        <p:spPr bwMode="auto">
          <a:xfrm>
            <a:off x="0" y="2810889"/>
            <a:ext cx="3733800" cy="69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2860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743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200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657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algn="l"/>
            <a:r>
              <a:rPr lang="en-US" sz="1800" dirty="0" smtClean="0">
                <a:latin typeface="Calibri" pitchFamily="34" charset="0"/>
              </a:rPr>
              <a:t>Blood donation program stared in 16 December, 1996 in Chowgacha UHC</a:t>
            </a:r>
            <a:endParaRPr lang="en-GB" sz="1800" dirty="0" smtClean="0">
              <a:latin typeface="Calibri" pitchFamily="34" charset="0"/>
            </a:endParaRPr>
          </a:p>
        </p:txBody>
      </p:sp>
      <p:pic>
        <p:nvPicPr>
          <p:cNvPr id="5" name="Picture 4" descr="H:\D. S. Islam\ee.jpg"/>
          <p:cNvPicPr>
            <a:picLocks noGrp="1"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0"/>
            <a:ext cx="4191000" cy="2762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 descr="H:\D. S. Islam\e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0"/>
            <a:ext cx="4343400" cy="280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ubtitle 2"/>
          <p:cNvSpPr txBox="1">
            <a:spLocks/>
          </p:cNvSpPr>
          <p:nvPr/>
        </p:nvSpPr>
        <p:spPr bwMode="auto">
          <a:xfrm>
            <a:off x="4800600" y="2826261"/>
            <a:ext cx="4267200" cy="9075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algn="just">
              <a:spcBef>
                <a:spcPct val="20000"/>
              </a:spcBef>
            </a:pPr>
            <a:r>
              <a:rPr lang="en-US" dirty="0">
                <a:latin typeface="Calibri" pitchFamily="34" charset="0"/>
              </a:rPr>
              <a:t>A seminar held on basic information system </a:t>
            </a:r>
            <a:r>
              <a:rPr lang="en-US" dirty="0" smtClean="0">
                <a:latin typeface="Calibri" pitchFamily="34" charset="0"/>
              </a:rPr>
              <a:t>at </a:t>
            </a:r>
            <a:r>
              <a:rPr lang="en-US" dirty="0">
                <a:latin typeface="Calibri" pitchFamily="34" charset="0"/>
              </a:rPr>
              <a:t>Chowgacha </a:t>
            </a:r>
            <a:r>
              <a:rPr lang="en-US" dirty="0" smtClean="0">
                <a:latin typeface="Calibri" pitchFamily="34" charset="0"/>
              </a:rPr>
              <a:t>Degree </a:t>
            </a:r>
            <a:r>
              <a:rPr lang="en-US" dirty="0">
                <a:latin typeface="Calibri" pitchFamily="34" charset="0"/>
              </a:rPr>
              <a:t>College </a:t>
            </a:r>
            <a:r>
              <a:rPr lang="en-US" dirty="0" smtClean="0">
                <a:latin typeface="Calibri" pitchFamily="34" charset="0"/>
              </a:rPr>
              <a:t>in </a:t>
            </a:r>
            <a:r>
              <a:rPr lang="en-US" dirty="0">
                <a:latin typeface="Calibri" pitchFamily="34" charset="0"/>
              </a:rPr>
              <a:t>June, 1997. DC </a:t>
            </a:r>
            <a:r>
              <a:rPr lang="en-US" dirty="0" err="1">
                <a:latin typeface="Calibri" pitchFamily="34" charset="0"/>
              </a:rPr>
              <a:t>Jessore</a:t>
            </a:r>
            <a:r>
              <a:rPr lang="en-US" dirty="0">
                <a:latin typeface="Calibri" pitchFamily="34" charset="0"/>
              </a:rPr>
              <a:t> was the chief </a:t>
            </a:r>
            <a:r>
              <a:rPr lang="en-US" dirty="0" smtClean="0">
                <a:latin typeface="Calibri" pitchFamily="34" charset="0"/>
              </a:rPr>
              <a:t>guest . </a:t>
            </a:r>
            <a:endParaRPr lang="en-GB" dirty="0">
              <a:latin typeface="Calibri" pitchFamily="34" charset="0"/>
            </a:endParaRPr>
          </a:p>
        </p:txBody>
      </p:sp>
      <p:pic>
        <p:nvPicPr>
          <p:cNvPr id="8" name="Picture 4" descr="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0000">
            <a:off x="2062254" y="3684253"/>
            <a:ext cx="4257490" cy="3136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3073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SC0180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9050"/>
            <a:ext cx="4457700" cy="346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3" descr="DSC0181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700" y="3517900"/>
            <a:ext cx="4470400" cy="335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7" descr="DSC0175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9000" y="3517900"/>
            <a:ext cx="4445000" cy="335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 descr="DSC01779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9000" y="9525"/>
            <a:ext cx="4430712" cy="343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37028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8" y="0"/>
            <a:ext cx="4308475" cy="327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6925" y="0"/>
            <a:ext cx="4572000" cy="327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8" y="3505200"/>
            <a:ext cx="4308475" cy="336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5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6925" y="3505200"/>
            <a:ext cx="4578350" cy="336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/>
          <p:cNvSpPr>
            <a:spLocks noGrp="1"/>
          </p:cNvSpPr>
          <p:nvPr>
            <p:ph type="title"/>
          </p:nvPr>
        </p:nvSpPr>
        <p:spPr>
          <a:xfrm>
            <a:off x="0" y="23884"/>
            <a:ext cx="9144000" cy="6096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Achievement of Chowgacha Health Complex</a:t>
            </a:r>
            <a:endParaRPr lang="en-US" sz="36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85800"/>
            <a:ext cx="9144000" cy="6172200"/>
          </a:xfr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marL="457200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Arial" charset="0"/>
              <a:buAutoNum type="arabicPeriod"/>
              <a:defRPr/>
            </a:pPr>
            <a:r>
              <a:rPr lang="en-US" sz="2400" dirty="0" smtClean="0"/>
              <a:t>From 1996 to 2012, took initiatives to develop </a:t>
            </a:r>
            <a:r>
              <a:rPr lang="en-US" sz="2400" b="1" dirty="0" smtClean="0"/>
              <a:t>Upazilla level standard services </a:t>
            </a:r>
            <a:r>
              <a:rPr lang="en-US" sz="2400" dirty="0" smtClean="0"/>
              <a:t>in Chowgacha health complex.</a:t>
            </a:r>
          </a:p>
          <a:p>
            <a:pPr marL="457200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Arial" charset="0"/>
              <a:buAutoNum type="arabicPeriod"/>
              <a:defRPr/>
            </a:pPr>
            <a:r>
              <a:rPr lang="en-US" sz="2400" dirty="0" smtClean="0"/>
              <a:t>In 2010, Chowgacha Health Complex declared as the model upazilla health complex.</a:t>
            </a:r>
          </a:p>
          <a:p>
            <a:pPr marL="457200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Arial" charset="0"/>
              <a:buNone/>
              <a:defRPr/>
            </a:pPr>
            <a:r>
              <a:rPr lang="en-US" sz="2400" dirty="0">
                <a:latin typeface="Symbol" pitchFamily="18" charset="2"/>
              </a:rPr>
              <a:t>	</a:t>
            </a:r>
            <a:endParaRPr lang="en-US" sz="2400" dirty="0" smtClean="0">
              <a:latin typeface="Symbol" pitchFamily="18" charset="2"/>
            </a:endParaRP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smtClean="0">
                <a:cs typeface="Calibri" pitchFamily="34" charset="0"/>
              </a:rPr>
              <a:t> Mobilized 46 additional </a:t>
            </a:r>
            <a:r>
              <a:rPr lang="en-US" sz="2400" dirty="0" smtClean="0"/>
              <a:t>workers from community (26 </a:t>
            </a:r>
            <a:r>
              <a:rPr lang="en-US" sz="2400" dirty="0"/>
              <a:t>volunteer, 12 </a:t>
            </a:r>
            <a:r>
              <a:rPr lang="en-US" sz="2400" dirty="0" smtClean="0"/>
              <a:t>cleaners </a:t>
            </a:r>
            <a:r>
              <a:rPr lang="en-US" sz="2400" dirty="0"/>
              <a:t>and </a:t>
            </a:r>
            <a:r>
              <a:rPr lang="en-US" sz="2400" dirty="0" smtClean="0"/>
              <a:t>others </a:t>
            </a:r>
            <a:r>
              <a:rPr lang="en-US" sz="2400" dirty="0"/>
              <a:t>8</a:t>
            </a:r>
            <a:r>
              <a:rPr lang="en-US" sz="2400" dirty="0" smtClean="0"/>
              <a:t>).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smtClean="0"/>
              <a:t> EOC Beds increased from 11 to 41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smtClean="0"/>
              <a:t>Chowgacha UHC  became the best EOC center  with 98.4% delivery rate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smtClean="0"/>
              <a:t>Chowgacha </a:t>
            </a:r>
            <a:r>
              <a:rPr lang="en-US" sz="2400" dirty="0"/>
              <a:t>UHC achieved </a:t>
            </a:r>
            <a:r>
              <a:rPr lang="en-US" sz="2400" dirty="0" smtClean="0"/>
              <a:t>MDG target in 2009</a:t>
            </a:r>
            <a:r>
              <a:rPr lang="en-US" sz="2400" dirty="0"/>
              <a:t>. </a:t>
            </a:r>
            <a:endParaRPr lang="en-US" sz="2400" dirty="0" smtClean="0"/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smtClean="0"/>
              <a:t>Chowgacha Health complex is awarded for best performance in EOC form 2005 to 2014. 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Upazila Health  Complex</a:t>
            </a:r>
            <a:b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CHOWGACHA , JESSORE.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sz="2800" dirty="0" smtClean="0"/>
          </a:p>
          <a:p>
            <a:pPr algn="ctr" eaLnBrk="1" hangingPunct="1">
              <a:buFontTx/>
              <a:buNone/>
            </a:pPr>
            <a:endParaRPr lang="en-US" sz="2800" dirty="0" smtClean="0"/>
          </a:p>
        </p:txBody>
      </p:sp>
      <p:graphicFrame>
        <p:nvGraphicFramePr>
          <p:cNvPr id="31748" name="Object 29"/>
          <p:cNvGraphicFramePr>
            <a:graphicFrameLocks noGrp="1" noChangeAspect="1"/>
          </p:cNvGraphicFramePr>
          <p:nvPr>
            <p:ph sz="half" idx="2"/>
          </p:nvPr>
        </p:nvGraphicFramePr>
        <p:xfrm>
          <a:off x="914400" y="2211388"/>
          <a:ext cx="7694613" cy="438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42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0" name="Object 29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211388"/>
                        <a:ext cx="7694613" cy="438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49" name="Rectangle 5"/>
          <p:cNvSpPr>
            <a:spLocks noChangeArrowheads="1"/>
          </p:cNvSpPr>
          <p:nvPr/>
        </p:nvSpPr>
        <p:spPr bwMode="auto">
          <a:xfrm>
            <a:off x="457200" y="1600200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24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Activities : 1997- 2011 (Hospital Delivery 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960438"/>
          </a:xfrm>
          <a:solidFill>
            <a:schemeClr val="accent1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Upazila Health  Complex</a:t>
            </a:r>
            <a:b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CHOWGACHA , JESSORE.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sz="3600" dirty="0" smtClean="0">
              <a:solidFill>
                <a:srgbClr val="FF0066"/>
              </a:solidFill>
            </a:endParaRPr>
          </a:p>
          <a:p>
            <a:pPr algn="ctr" eaLnBrk="1" hangingPunct="1">
              <a:buFontTx/>
              <a:buNone/>
            </a:pPr>
            <a:endParaRPr lang="en-US" sz="3600" dirty="0" smtClean="0">
              <a:solidFill>
                <a:srgbClr val="FF0066"/>
              </a:solidFill>
            </a:endParaRPr>
          </a:p>
        </p:txBody>
      </p:sp>
      <p:graphicFrame>
        <p:nvGraphicFramePr>
          <p:cNvPr id="32772" name="Object 105"/>
          <p:cNvGraphicFramePr>
            <a:graphicFrameLocks noGrp="1" noChangeAspect="1"/>
          </p:cNvGraphicFramePr>
          <p:nvPr>
            <p:ph sz="half" idx="2"/>
          </p:nvPr>
        </p:nvGraphicFramePr>
        <p:xfrm>
          <a:off x="1447800" y="2724150"/>
          <a:ext cx="6858000" cy="3905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66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0" name="Object 10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2724150"/>
                        <a:ext cx="6858000" cy="3905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996" name="Rectangle 4"/>
          <p:cNvSpPr>
            <a:spLocks noChangeArrowheads="1"/>
          </p:cNvSpPr>
          <p:nvPr/>
        </p:nvSpPr>
        <p:spPr bwMode="auto">
          <a:xfrm>
            <a:off x="457200" y="1524000"/>
            <a:ext cx="8153400" cy="990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3200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Activities : 2000 - 2011 (Caesarian Section)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95313"/>
            <a:ext cx="8229600" cy="1238250"/>
          </a:xfrm>
          <a:solidFill>
            <a:schemeClr val="accent1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Upazila Health  Complex</a:t>
            </a:r>
            <a:br>
              <a:rPr lang="en-US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sz="36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CHOWGACHA , JESSORE.</a:t>
            </a:r>
          </a:p>
        </p:txBody>
      </p:sp>
      <p:graphicFrame>
        <p:nvGraphicFramePr>
          <p:cNvPr id="19757" name="Group 301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162752733"/>
              </p:ext>
            </p:extLst>
          </p:nvPr>
        </p:nvGraphicFramePr>
        <p:xfrm>
          <a:off x="457200" y="3063874"/>
          <a:ext cx="8153400" cy="3032125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660400"/>
                <a:gridCol w="2336800"/>
                <a:gridCol w="1117600"/>
                <a:gridCol w="1054100"/>
                <a:gridCol w="1041400"/>
                <a:gridCol w="952500"/>
                <a:gridCol w="990600"/>
              </a:tblGrid>
              <a:tr h="71094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SL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No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Name of institute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NVD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Vacuum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Del.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V. 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Breech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C. 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Section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Total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</a:tr>
              <a:tr h="40879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01.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Chowgacha UHC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3346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34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26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1007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4413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</a:tr>
              <a:tr h="40879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02.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Ad-din Hospital Jessore.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1124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1864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3492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</a:tr>
              <a:tr h="63777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03.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Khulna Medical College Hospital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1581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58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1356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3013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</a:tr>
              <a:tr h="865832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04.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250 bed Hospital, Jessore </a:t>
                      </a: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1327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en-US" sz="20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25</a:t>
                      </a:r>
                      <a:endParaRPr kumimoji="0" lang="en-US" sz="20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1498</a:t>
                      </a:r>
                      <a:endParaRPr kumimoji="0" lang="en-US" sz="20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2852</a:t>
                      </a:r>
                      <a:endParaRPr kumimoji="0" lang="en-US" sz="20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T="45709" marB="45709" horzOverflow="overflow"/>
                </a:tc>
              </a:tr>
            </a:tbl>
          </a:graphicData>
        </a:graphic>
      </p:graphicFrame>
      <p:sp>
        <p:nvSpPr>
          <p:cNvPr id="129027" name="Rectangle 3"/>
          <p:cNvSpPr>
            <a:spLocks noChangeArrowheads="1"/>
          </p:cNvSpPr>
          <p:nvPr/>
        </p:nvSpPr>
        <p:spPr bwMode="auto">
          <a:xfrm>
            <a:off x="457200" y="1930400"/>
            <a:ext cx="8153400" cy="8890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dirty="0">
                <a:solidFill>
                  <a:srgbClr val="3333CC"/>
                </a:solidFill>
                <a:latin typeface="Arial" charset="0"/>
                <a:cs typeface="Arial" charset="0"/>
              </a:rPr>
              <a:t>Comparative Data of Delivery of best performing EOC center of Khulna Division in 2011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7924800" y="4049713"/>
            <a:ext cx="381000" cy="158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7896225" y="4443413"/>
            <a:ext cx="419100" cy="317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757" name="Group 301"/>
          <p:cNvGraphicFramePr>
            <a:graphicFrameLocks noGrp="1"/>
          </p:cNvGraphicFramePr>
          <p:nvPr>
            <p:ph sz="half" idx="1"/>
          </p:nvPr>
        </p:nvGraphicFramePr>
        <p:xfrm>
          <a:off x="457200" y="2590800"/>
          <a:ext cx="8153399" cy="3475039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787865"/>
                <a:gridCol w="3194870"/>
                <a:gridCol w="922497"/>
                <a:gridCol w="930031"/>
                <a:gridCol w="1136341"/>
                <a:gridCol w="1181795"/>
              </a:tblGrid>
              <a:tr h="71101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SL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No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Name of institute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ANC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NVD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C. 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Section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Total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</a:tr>
              <a:tr h="4088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01</a:t>
                      </a: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Ad-din Hospital Jessore.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23981</a:t>
                      </a: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640</a:t>
                      </a: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3075</a:t>
                      </a: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3715</a:t>
                      </a:r>
                    </a:p>
                  </a:txBody>
                  <a:tcPr marT="45713" marB="45713" horzOverflow="overflow"/>
                </a:tc>
              </a:tr>
              <a:tr h="40883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02</a:t>
                      </a:r>
                      <a:endParaRPr lang="en-US" sz="1800" dirty="0"/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Jhenaidah</a:t>
                      </a: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</a:t>
                      </a:r>
                      <a:r>
                        <a:rPr kumimoji="0" lang="en-US" sz="1600" b="1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Sadar</a:t>
                      </a: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Hospital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15360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1839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1143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2997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</a:tr>
              <a:tr h="40883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03</a:t>
                      </a:r>
                      <a:endParaRPr lang="en-US" sz="1800" dirty="0"/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250 bed Hospital, Jessore </a:t>
                      </a: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13152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1327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1778</a:t>
                      </a:r>
                      <a:endParaRPr kumimoji="0" lang="en-US" sz="20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2967</a:t>
                      </a:r>
                      <a:endParaRPr kumimoji="0" lang="en-US" sz="20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T="45713" marB="45713" horzOverflow="overflow"/>
                </a:tc>
              </a:tr>
              <a:tr h="40883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04</a:t>
                      </a:r>
                      <a:endParaRPr lang="en-US" sz="1800" dirty="0"/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Chowgacha UHC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18650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2163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759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2922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</a:tr>
              <a:tr h="579155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05</a:t>
                      </a:r>
                      <a:endParaRPr lang="en-US" sz="1800" dirty="0"/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Khulna Medical College Hospital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6977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1455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1228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2683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</a:tr>
              <a:tr h="54955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06</a:t>
                      </a:r>
                      <a:endParaRPr lang="en-US" sz="1800" dirty="0"/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r>
                        <a:rPr lang="en-GB" sz="1600" b="1" dirty="0" smtClean="0"/>
                        <a:t>250</a:t>
                      </a:r>
                      <a:r>
                        <a:rPr lang="en-GB" sz="1600" b="1" baseline="0" dirty="0" smtClean="0"/>
                        <a:t> Bedded Hospital, </a:t>
                      </a:r>
                      <a:r>
                        <a:rPr lang="en-GB" sz="1600" b="1" baseline="0" dirty="0" err="1" smtClean="0"/>
                        <a:t>Kushtia</a:t>
                      </a:r>
                      <a:endParaRPr lang="en-GB" sz="1600" b="1" dirty="0"/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 smtClean="0"/>
                        <a:t>4735</a:t>
                      </a:r>
                      <a:endParaRPr lang="en-GB" sz="1800" b="1" dirty="0">
                        <a:latin typeface="+mn-lt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 smtClean="0"/>
                        <a:t>1595</a:t>
                      </a:r>
                      <a:endParaRPr lang="en-GB" sz="1800" b="1" dirty="0">
                        <a:latin typeface="+mn-lt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 smtClean="0"/>
                        <a:t>919</a:t>
                      </a:r>
                      <a:endParaRPr lang="en-GB" sz="1800" b="1" dirty="0">
                        <a:latin typeface="+mn-lt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baseline="0" dirty="0" smtClean="0"/>
                        <a:t>2514</a:t>
                      </a:r>
                      <a:endParaRPr lang="en-GB" sz="1800" b="1" dirty="0">
                        <a:latin typeface="+mn-lt"/>
                      </a:endParaRPr>
                    </a:p>
                  </a:txBody>
                  <a:tcPr marT="45713" marB="45713" horzOverflow="overflow"/>
                </a:tc>
              </a:tr>
            </a:tbl>
          </a:graphicData>
        </a:graphic>
      </p:graphicFrame>
      <p:sp>
        <p:nvSpPr>
          <p:cNvPr id="3282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990600"/>
          </a:xfrm>
          <a:solidFill>
            <a:srgbClr val="BBE0E3"/>
          </a:solidFill>
        </p:spPr>
        <p:txBody>
          <a:bodyPr/>
          <a:lstStyle/>
          <a:p>
            <a:pPr eaLnBrk="1" hangingPunct="1"/>
            <a:r>
              <a:rPr lang="en-US" sz="3200" b="1" smtClean="0">
                <a:solidFill>
                  <a:srgbClr val="000000"/>
                </a:solidFill>
              </a:rPr>
              <a:t>Upazila Health  Complex</a:t>
            </a:r>
            <a:br>
              <a:rPr lang="en-US" sz="3200" b="1" smtClean="0">
                <a:solidFill>
                  <a:srgbClr val="000000"/>
                </a:solidFill>
              </a:rPr>
            </a:br>
            <a:r>
              <a:rPr lang="en-US" sz="2000" b="1" smtClean="0">
                <a:solidFill>
                  <a:srgbClr val="000000"/>
                </a:solidFill>
              </a:rPr>
              <a:t>CHOWGACHA , JESSORE.</a:t>
            </a:r>
          </a:p>
        </p:txBody>
      </p:sp>
      <p:sp>
        <p:nvSpPr>
          <p:cNvPr id="32829" name="Rectangle 4"/>
          <p:cNvSpPr>
            <a:spLocks noChangeArrowheads="1"/>
          </p:cNvSpPr>
          <p:nvPr/>
        </p:nvSpPr>
        <p:spPr bwMode="auto">
          <a:xfrm>
            <a:off x="457200" y="1447800"/>
            <a:ext cx="8153400" cy="990600"/>
          </a:xfrm>
          <a:prstGeom prst="rect">
            <a:avLst/>
          </a:prstGeom>
          <a:solidFill>
            <a:srgbClr val="00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/>
          <a:p>
            <a:pPr algn="ctr" eaLnBrk="1" hangingPunct="1"/>
            <a:r>
              <a:rPr lang="en-US" sz="2400" smtClean="0">
                <a:solidFill>
                  <a:srgbClr val="3333CC"/>
                </a:solidFill>
              </a:rPr>
              <a:t>Comparative Data of Delivery of best performing EOC center of Khulna Division in 2017</a:t>
            </a:r>
          </a:p>
        </p:txBody>
      </p:sp>
    </p:spTree>
    <p:extLst>
      <p:ext uri="{BB962C8B-B14F-4D97-AF65-F5344CB8AC3E}">
        <p14:creationId xmlns:p14="http://schemas.microsoft.com/office/powerpoint/2010/main" val="3441083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57200" y="1905000"/>
            <a:ext cx="8229600" cy="449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325562"/>
          </a:xfrm>
          <a:solidFill>
            <a:srgbClr val="0070C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b="1" dirty="0" smtClean="0">
                <a:solidFill>
                  <a:schemeClr val="bg1"/>
                </a:solidFill>
              </a:rPr>
              <a:t>Upazilla Health  Complex</a:t>
            </a:r>
            <a:br>
              <a:rPr lang="en-US" sz="5400" b="1" dirty="0" smtClean="0">
                <a:solidFill>
                  <a:schemeClr val="bg1"/>
                </a:solidFill>
              </a:rPr>
            </a:br>
            <a:r>
              <a:rPr lang="en-US" b="1" dirty="0" smtClean="0">
                <a:solidFill>
                  <a:schemeClr val="bg1"/>
                </a:solidFill>
              </a:rPr>
              <a:t>CHOWGACHA , JESSORE.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4495800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 fontScale="92500" lnSpcReduction="10000"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sz="3000" b="1" dirty="0" smtClean="0"/>
              <a:t>COMMUNITY  SUPPORTED MANPOWER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b="1" dirty="0" smtClean="0"/>
              <a:t>TOTAL</a:t>
            </a:r>
            <a:r>
              <a:rPr lang="en-US" dirty="0" smtClean="0"/>
              <a:t> 			:46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Volunteers 		:26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Cleaners &amp; guards	:16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Others			:04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The remunerations come from 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	</a:t>
            </a:r>
            <a:r>
              <a:rPr lang="en-US" sz="2000" dirty="0" smtClean="0"/>
              <a:t>Outsourcing	:25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000" dirty="0" smtClean="0"/>
              <a:t>	Service provider	:21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000" dirty="0" smtClean="0"/>
              <a:t>The amount of remuneration ranging  from 200/= To 8000/=tk. Per month depending  upon the style of work, which costs a total of nearly 90,ooo/=Tk per month.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1447800"/>
          </a:xfrm>
          <a:solidFill>
            <a:srgbClr val="0070C0"/>
          </a:solidFill>
        </p:spPr>
        <p:txBody>
          <a:bodyPr/>
          <a:lstStyle/>
          <a:p>
            <a:pPr eaLnBrk="1" hangingPunct="1"/>
            <a:r>
              <a:rPr lang="en-US" sz="2800" b="1" i="1" smtClean="0">
                <a:solidFill>
                  <a:schemeClr val="bg1"/>
                </a:solidFill>
                <a:latin typeface="Albertus Extra Bold" pitchFamily="34" charset="0"/>
              </a:rPr>
              <a:t>MDG 4 and 5 Achieved at Chowgacha in 2011 and SDG targets in 2030</a:t>
            </a:r>
          </a:p>
        </p:txBody>
      </p:sp>
      <p:sp>
        <p:nvSpPr>
          <p:cNvPr id="28674" name="Rectangle 2"/>
          <p:cNvSpPr>
            <a:spLocks noGrp="1" noChangeArrowheads="1"/>
          </p:cNvSpPr>
          <p:nvPr>
            <p:ph idx="1"/>
          </p:nvPr>
        </p:nvSpPr>
        <p:spPr>
          <a:xfrm>
            <a:off x="419100" y="2133600"/>
            <a:ext cx="8305800" cy="3733800"/>
          </a:xfr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 fontScale="92500" lnSpcReduction="20000"/>
          </a:bodyPr>
          <a:lstStyle/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2000" b="1" dirty="0" smtClean="0">
                <a:solidFill>
                  <a:srgbClr val="C00000"/>
                </a:solidFill>
              </a:rPr>
              <a:t>Per 1000 live Birth      </a:t>
            </a:r>
            <a:r>
              <a:rPr lang="en-US" sz="2000" b="1" dirty="0" err="1" smtClean="0">
                <a:solidFill>
                  <a:srgbClr val="C00000"/>
                </a:solidFill>
              </a:rPr>
              <a:t>Chowgacha</a:t>
            </a:r>
            <a:r>
              <a:rPr lang="en-US" sz="2000" b="1" dirty="0" smtClean="0">
                <a:solidFill>
                  <a:srgbClr val="C00000"/>
                </a:solidFill>
              </a:rPr>
              <a:t>          MDG Target      SDG Target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endParaRPr lang="en-US" sz="2000" b="1" dirty="0" smtClean="0">
              <a:solidFill>
                <a:schemeClr val="hlink"/>
              </a:solidFill>
            </a:endParaRP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dirty="0" smtClean="0">
                <a:solidFill>
                  <a:srgbClr val="0000FF"/>
                </a:solidFill>
              </a:rPr>
              <a:t>MMR:                                        </a:t>
            </a:r>
            <a:r>
              <a:rPr lang="en-US" sz="2400" b="1" dirty="0" smtClean="0">
                <a:solidFill>
                  <a:srgbClr val="669900"/>
                </a:solidFill>
              </a:rPr>
              <a:t>.68</a:t>
            </a:r>
            <a:r>
              <a:rPr lang="en-US" sz="1800" b="1" dirty="0" smtClean="0">
                <a:solidFill>
                  <a:srgbClr val="336600"/>
                </a:solidFill>
              </a:rPr>
              <a:t>                      </a:t>
            </a:r>
            <a:r>
              <a:rPr lang="en-US" sz="1800" b="1" dirty="0" smtClean="0">
                <a:solidFill>
                  <a:srgbClr val="FF0066"/>
                </a:solidFill>
              </a:rPr>
              <a:t>1.47 </a:t>
            </a:r>
            <a:r>
              <a:rPr lang="en-US" sz="1800" b="1" dirty="0" smtClean="0">
                <a:solidFill>
                  <a:srgbClr val="CC0000"/>
                </a:solidFill>
              </a:rPr>
              <a:t>                      </a:t>
            </a:r>
            <a:r>
              <a:rPr lang="en-US" sz="1800" b="1" dirty="0" smtClean="0">
                <a:solidFill>
                  <a:srgbClr val="0000FF"/>
                </a:solidFill>
              </a:rPr>
              <a:t>.70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dirty="0" smtClean="0">
                <a:solidFill>
                  <a:srgbClr val="0000FF"/>
                </a:solidFill>
              </a:rPr>
              <a:t>(MDG 5 Achieved)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endParaRPr lang="en-US" sz="1800" b="1" dirty="0">
              <a:solidFill>
                <a:srgbClr val="0000FF"/>
              </a:solidFill>
            </a:endParaRP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dirty="0" smtClean="0">
                <a:solidFill>
                  <a:srgbClr val="0000FF"/>
                </a:solidFill>
              </a:rPr>
              <a:t>NNMR:			</a:t>
            </a:r>
            <a:r>
              <a:rPr lang="en-US" sz="2600" b="1" dirty="0" smtClean="0">
                <a:solidFill>
                  <a:srgbClr val="0000FF"/>
                </a:solidFill>
              </a:rPr>
              <a:t>   </a:t>
            </a:r>
            <a:r>
              <a:rPr lang="en-US" sz="2200" b="1" dirty="0" smtClean="0">
                <a:solidFill>
                  <a:srgbClr val="669900"/>
                </a:solidFill>
              </a:rPr>
              <a:t>18.2</a:t>
            </a:r>
            <a:r>
              <a:rPr lang="en-US" sz="2600" b="1" dirty="0" smtClean="0">
                <a:solidFill>
                  <a:srgbClr val="669900"/>
                </a:solidFill>
              </a:rPr>
              <a:t>		</a:t>
            </a:r>
            <a:r>
              <a:rPr lang="en-US" sz="2600" b="1" dirty="0" smtClean="0">
                <a:solidFill>
                  <a:srgbClr val="FF0000"/>
                </a:solidFill>
              </a:rPr>
              <a:t>  -       </a:t>
            </a:r>
            <a:r>
              <a:rPr lang="en-US" sz="2600" b="1" dirty="0" smtClean="0">
                <a:solidFill>
                  <a:srgbClr val="669900"/>
                </a:solidFill>
              </a:rPr>
              <a:t>		   </a:t>
            </a:r>
            <a:r>
              <a:rPr lang="en-US" sz="1700" b="1" dirty="0" smtClean="0">
                <a:solidFill>
                  <a:srgbClr val="0000FF"/>
                </a:solidFill>
              </a:rPr>
              <a:t>12</a:t>
            </a:r>
            <a:r>
              <a:rPr lang="en-US" sz="2600" b="1" dirty="0" smtClean="0">
                <a:solidFill>
                  <a:srgbClr val="669900"/>
                </a:solidFill>
              </a:rPr>
              <a:t>	</a:t>
            </a:r>
            <a:endParaRPr lang="en-US" sz="2600" b="1" dirty="0" smtClean="0">
              <a:solidFill>
                <a:srgbClr val="0000FF"/>
              </a:solidFill>
            </a:endParaRP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endParaRPr lang="en-US" sz="1800" b="1" dirty="0" smtClean="0">
              <a:solidFill>
                <a:srgbClr val="0000FF"/>
              </a:solidFill>
            </a:endParaRP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dirty="0" smtClean="0">
                <a:solidFill>
                  <a:srgbClr val="0000FF"/>
                </a:solidFill>
              </a:rPr>
              <a:t>IMR:                                        </a:t>
            </a:r>
            <a:r>
              <a:rPr lang="en-US" sz="1800" b="1" dirty="0" smtClean="0">
                <a:solidFill>
                  <a:srgbClr val="669900"/>
                </a:solidFill>
              </a:rPr>
              <a:t>  </a:t>
            </a:r>
            <a:r>
              <a:rPr lang="en-US" sz="2400" b="1" dirty="0" smtClean="0">
                <a:solidFill>
                  <a:srgbClr val="669900"/>
                </a:solidFill>
              </a:rPr>
              <a:t>23.6 </a:t>
            </a:r>
            <a:r>
              <a:rPr lang="en-US" sz="1800" b="1" dirty="0" smtClean="0">
                <a:solidFill>
                  <a:srgbClr val="669900"/>
                </a:solidFill>
              </a:rPr>
              <a:t> </a:t>
            </a:r>
            <a:r>
              <a:rPr lang="en-US" sz="1800" b="1" dirty="0" smtClean="0">
                <a:solidFill>
                  <a:srgbClr val="0000FF"/>
                </a:solidFill>
              </a:rPr>
              <a:t>                   </a:t>
            </a:r>
            <a:r>
              <a:rPr lang="en-US" sz="1800" b="1" dirty="0" smtClean="0">
                <a:solidFill>
                  <a:srgbClr val="FF0066"/>
                </a:solidFill>
              </a:rPr>
              <a:t>31  </a:t>
            </a:r>
            <a:r>
              <a:rPr lang="en-US" sz="1800" b="1" dirty="0" smtClean="0">
                <a:solidFill>
                  <a:srgbClr val="0000FF"/>
                </a:solidFill>
              </a:rPr>
              <a:t>                         - 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dirty="0" smtClean="0">
                <a:solidFill>
                  <a:srgbClr val="0000FF"/>
                </a:solidFill>
              </a:rPr>
              <a:t>(MDG 4 Achieved)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endParaRPr lang="en-US" sz="1800" b="1" dirty="0" smtClean="0">
              <a:solidFill>
                <a:srgbClr val="0000FF"/>
              </a:solidFill>
            </a:endParaRP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dirty="0" smtClean="0">
                <a:solidFill>
                  <a:srgbClr val="0000FF"/>
                </a:solidFill>
              </a:rPr>
              <a:t>&lt;5 MR:                                     </a:t>
            </a:r>
            <a:r>
              <a:rPr lang="en-US" sz="2400" b="1" dirty="0" smtClean="0">
                <a:solidFill>
                  <a:srgbClr val="0000FF"/>
                </a:solidFill>
              </a:rPr>
              <a:t> </a:t>
            </a:r>
            <a:r>
              <a:rPr lang="en-US" sz="2400" b="1" dirty="0" smtClean="0">
                <a:solidFill>
                  <a:srgbClr val="669900"/>
                </a:solidFill>
              </a:rPr>
              <a:t>25.7 </a:t>
            </a:r>
            <a:r>
              <a:rPr lang="en-US" sz="1800" b="1" dirty="0" smtClean="0">
                <a:solidFill>
                  <a:srgbClr val="669900"/>
                </a:solidFill>
              </a:rPr>
              <a:t> </a:t>
            </a:r>
            <a:r>
              <a:rPr lang="en-US" sz="1800" b="1" dirty="0" smtClean="0">
                <a:solidFill>
                  <a:srgbClr val="0000FF"/>
                </a:solidFill>
              </a:rPr>
              <a:t>                   </a:t>
            </a:r>
            <a:r>
              <a:rPr lang="en-US" sz="1800" b="1" dirty="0" smtClean="0">
                <a:solidFill>
                  <a:srgbClr val="FF0066"/>
                </a:solidFill>
              </a:rPr>
              <a:t>50    </a:t>
            </a:r>
            <a:r>
              <a:rPr lang="en-US" sz="1800" b="1" dirty="0" smtClean="0">
                <a:solidFill>
                  <a:srgbClr val="0000FF"/>
                </a:solidFill>
              </a:rPr>
              <a:t>                      25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dirty="0" smtClean="0">
                <a:solidFill>
                  <a:srgbClr val="0000FF"/>
                </a:solidFill>
              </a:rPr>
              <a:t>(MDG 4 Achieved)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endParaRPr lang="en-US" sz="1800" b="1" dirty="0" smtClean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18433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90" name="Group 6"/>
          <p:cNvGrpSpPr>
            <a:grpSpLocks/>
          </p:cNvGrpSpPr>
          <p:nvPr/>
        </p:nvGrpSpPr>
        <p:grpSpPr bwMode="auto">
          <a:xfrm>
            <a:off x="4611688" y="647700"/>
            <a:ext cx="4267200" cy="2955925"/>
            <a:chOff x="1248" y="288"/>
            <a:chExt cx="3157" cy="2448"/>
          </a:xfrm>
        </p:grpSpPr>
        <p:pic>
          <p:nvPicPr>
            <p:cNvPr id="37894" name="Picture 4" descr="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8" y="288"/>
              <a:ext cx="1782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895" name="Picture 5" descr="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24" y="288"/>
              <a:ext cx="1381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3789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612775"/>
            <a:ext cx="4170362" cy="300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3810000"/>
            <a:ext cx="4140200" cy="302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3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5975" y="3810000"/>
            <a:ext cx="4518025" cy="302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>
          <a:xfrm>
            <a:off x="308194" y="304800"/>
            <a:ext cx="8643938" cy="990600"/>
          </a:xfrm>
          <a:ln>
            <a:miter lim="800000"/>
            <a:headEnd/>
            <a:tailEnd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  <a:ex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100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kh¨v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wewkó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m`i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nvmcvZvj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,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wSbvB`n</a:t>
            </a:r>
            <a:endParaRPr lang="en-US" altLang="en-US" sz="4800" b="1" dirty="0" smtClean="0">
              <a:solidFill>
                <a:schemeClr val="bg1"/>
              </a:solidFill>
              <a:latin typeface="SutonnyMJ" pitchFamily="2" charset="0"/>
              <a:cs typeface="SutonnyMJ" pitchFamily="2" charset="0"/>
            </a:endParaRPr>
          </a:p>
        </p:txBody>
      </p:sp>
      <p:pic>
        <p:nvPicPr>
          <p:cNvPr id="3891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47800"/>
            <a:ext cx="8382000" cy="504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76200"/>
            <a:ext cx="8534400" cy="715962"/>
          </a:xfrm>
          <a:ex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58447" name="Group 79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1538287"/>
              </p:ext>
            </p:extLst>
          </p:nvPr>
        </p:nvGraphicFramePr>
        <p:xfrm>
          <a:off x="152401" y="1524000"/>
          <a:ext cx="8686800" cy="5151966"/>
        </p:xfrm>
        <a:graphic>
          <a:graphicData uri="http://schemas.openxmlformats.org/drawingml/2006/table">
            <a:tbl>
              <a:tblPr/>
              <a:tblGrid>
                <a:gridCol w="1534936"/>
                <a:gridCol w="2808464"/>
                <a:gridCol w="2171700"/>
                <a:gridCol w="2171700"/>
              </a:tblGrid>
              <a:tr h="62472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Serial No.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Person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Post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Vacant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Doctor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40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11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02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Nurse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63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03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03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MLSS, Ward boy,  Ayah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16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04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Cleaner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07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05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Guard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03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06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Gardener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07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Electrician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08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Trolley man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 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09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Others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---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---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Total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151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31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57"/>
          <p:cNvSpPr>
            <a:spLocks noChangeArrowheads="1"/>
          </p:cNvSpPr>
          <p:nvPr/>
        </p:nvSpPr>
        <p:spPr bwMode="auto">
          <a:xfrm>
            <a:off x="228600" y="723792"/>
            <a:ext cx="8534400" cy="6096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headEnd/>
            <a:tailEnd/>
          </a:ln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Important post of Human Resources</a:t>
            </a:r>
          </a:p>
        </p:txBody>
      </p:sp>
    </p:spTree>
    <p:extLst>
      <p:ext uri="{BB962C8B-B14F-4D97-AF65-F5344CB8AC3E}">
        <p14:creationId xmlns:p14="http://schemas.microsoft.com/office/powerpoint/2010/main" val="853456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77" name="Rectangle 57"/>
          <p:cNvSpPr>
            <a:spLocks noChangeArrowheads="1"/>
          </p:cNvSpPr>
          <p:nvPr/>
        </p:nvSpPr>
        <p:spPr bwMode="auto">
          <a:xfrm>
            <a:off x="462176" y="983206"/>
            <a:ext cx="8229600" cy="609601"/>
          </a:xfrm>
          <a:prstGeom prst="rect">
            <a:avLst/>
          </a:prstGeom>
          <a:ln>
            <a:headEnd/>
            <a:tailEnd/>
          </a:ln>
          <a:ex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defRPr/>
            </a:pPr>
            <a:r>
              <a:rPr lang="en-US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Bed Occupancy Rate from 1998 to </a:t>
            </a:r>
            <a:r>
              <a:rPr lang="en-US" sz="24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2017</a:t>
            </a:r>
            <a:endParaRPr lang="en-US" sz="2400" b="1" dirty="0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42015" name="Title 1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75" y="-28032"/>
            <a:ext cx="8339138" cy="131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44" name="Text Box 32"/>
          <p:cNvSpPr txBox="1">
            <a:spLocks noChangeArrowheads="1"/>
          </p:cNvSpPr>
          <p:nvPr/>
        </p:nvSpPr>
        <p:spPr bwMode="auto">
          <a:xfrm>
            <a:off x="452438" y="228600"/>
            <a:ext cx="8229600" cy="71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lnSpc>
                <a:spcPct val="90000"/>
              </a:lnSpc>
              <a:defRPr/>
            </a:pPr>
            <a:r>
              <a:rPr lang="en-US" sz="43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Sadar Hospital, Jhenaidah</a:t>
            </a: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1929509912"/>
              </p:ext>
            </p:extLst>
          </p:nvPr>
        </p:nvGraphicFramePr>
        <p:xfrm>
          <a:off x="1251744" y="1981200"/>
          <a:ext cx="5834856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7"/>
          <p:cNvSpPr>
            <a:spLocks noGrp="1" noChangeArrowheads="1"/>
          </p:cNvSpPr>
          <p:nvPr>
            <p:ph type="title"/>
          </p:nvPr>
        </p:nvSpPr>
        <p:spPr>
          <a:xfrm>
            <a:off x="228600" y="1143000"/>
            <a:ext cx="8534400" cy="503238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Emergency &amp; Out Door, Indoor  Service 1998 to 2017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 bwMode="auto">
          <a:xfrm>
            <a:off x="228600" y="228600"/>
            <a:ext cx="85344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1590283279"/>
              </p:ext>
            </p:extLst>
          </p:nvPr>
        </p:nvGraphicFramePr>
        <p:xfrm>
          <a:off x="609600" y="1981200"/>
          <a:ext cx="81534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8"/>
          <p:cNvSpPr>
            <a:spLocks noGrp="1" noChangeArrowheads="1"/>
          </p:cNvSpPr>
          <p:nvPr>
            <p:ph type="title"/>
          </p:nvPr>
        </p:nvSpPr>
        <p:spPr>
          <a:xfrm>
            <a:off x="533400" y="1066800"/>
            <a:ext cx="8229600" cy="609600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rgbClr val="FFFFFF"/>
                </a:solidFill>
              </a:rPr>
              <a:t>Operation Service (Major) 2011 to 2017</a:t>
            </a:r>
          </a:p>
        </p:txBody>
      </p:sp>
      <p:graphicFrame>
        <p:nvGraphicFramePr>
          <p:cNvPr id="2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4442999"/>
              </p:ext>
            </p:extLst>
          </p:nvPr>
        </p:nvGraphicFramePr>
        <p:xfrm>
          <a:off x="1143000" y="2057400"/>
          <a:ext cx="6934199" cy="419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itle 1"/>
          <p:cNvSpPr txBox="1">
            <a:spLocks/>
          </p:cNvSpPr>
          <p:nvPr/>
        </p:nvSpPr>
        <p:spPr bwMode="auto">
          <a:xfrm>
            <a:off x="457200" y="2286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64558568"/>
              </p:ext>
            </p:extLst>
          </p:nvPr>
        </p:nvGraphicFramePr>
        <p:xfrm>
          <a:off x="381000" y="1528465"/>
          <a:ext cx="84582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itle 1"/>
          <p:cNvSpPr txBox="1">
            <a:spLocks/>
          </p:cNvSpPr>
          <p:nvPr/>
        </p:nvSpPr>
        <p:spPr bwMode="auto">
          <a:xfrm>
            <a:off x="457200" y="2286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Box 4"/>
          <p:cNvSpPr txBox="1">
            <a:spLocks noChangeArrowheads="1"/>
          </p:cNvSpPr>
          <p:nvPr/>
        </p:nvSpPr>
        <p:spPr bwMode="auto">
          <a:xfrm>
            <a:off x="457200" y="1066800"/>
            <a:ext cx="8305800" cy="461665"/>
          </a:xfrm>
          <a:prstGeom prst="rect">
            <a:avLst/>
          </a:prstGeom>
          <a:ln/>
          <a:ex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dirty="0" smtClean="0">
                <a:solidFill>
                  <a:srgbClr val="FFFFFF"/>
                </a:solidFill>
              </a:rPr>
              <a:t>Admitted Under 5 children in  indoor from 2014 to 2017</a:t>
            </a:r>
            <a:endParaRPr lang="en-US" sz="24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2266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8"/>
          <p:cNvSpPr>
            <a:spLocks noGrp="1" noChangeArrowheads="1"/>
          </p:cNvSpPr>
          <p:nvPr>
            <p:ph type="title"/>
          </p:nvPr>
        </p:nvSpPr>
        <p:spPr>
          <a:xfrm>
            <a:off x="457200" y="944562"/>
            <a:ext cx="8305800" cy="609600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 fontScale="90000"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800" b="1" dirty="0" smtClean="0">
                <a:ea typeface="Calibri"/>
                <a:cs typeface="Vrinda"/>
              </a:rPr>
              <a:t>3 best performing </a:t>
            </a:r>
            <a:r>
              <a:rPr lang="en-US" sz="2800" b="1" dirty="0" err="1" smtClean="0">
                <a:ea typeface="Calibri"/>
                <a:cs typeface="Vrinda"/>
              </a:rPr>
              <a:t>EmOC</a:t>
            </a:r>
            <a:r>
              <a:rPr lang="en-US" sz="2800" b="1" dirty="0" smtClean="0">
                <a:ea typeface="Calibri"/>
                <a:cs typeface="Vrinda"/>
              </a:rPr>
              <a:t> Hospital </a:t>
            </a:r>
            <a:r>
              <a:rPr lang="en-US" sz="2800" b="1" dirty="0">
                <a:ea typeface="Calibri"/>
                <a:cs typeface="Vrinda"/>
              </a:rPr>
              <a:t>in Khulna division - </a:t>
            </a:r>
            <a:r>
              <a:rPr lang="en-US" sz="2800" b="1" dirty="0" smtClean="0">
                <a:ea typeface="Calibri"/>
                <a:cs typeface="Vrinda"/>
              </a:rPr>
              <a:t>2017</a:t>
            </a:r>
            <a:endParaRPr lang="en-US" sz="2800" dirty="0">
              <a:ea typeface="Calibri"/>
              <a:cs typeface="Vrinda"/>
            </a:endParaRP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3851720"/>
              </p:ext>
            </p:extLst>
          </p:nvPr>
        </p:nvGraphicFramePr>
        <p:xfrm>
          <a:off x="457200" y="2057400"/>
          <a:ext cx="82296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itle 1"/>
          <p:cNvSpPr txBox="1">
            <a:spLocks/>
          </p:cNvSpPr>
          <p:nvPr/>
        </p:nvSpPr>
        <p:spPr bwMode="auto">
          <a:xfrm>
            <a:off x="457200" y="762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79453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2651" y="792754"/>
            <a:ext cx="8310349" cy="808038"/>
          </a:xfr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/>
            </a:r>
            <a:br>
              <a:rPr lang="en-US" sz="2400" b="1" dirty="0" smtClean="0">
                <a:solidFill>
                  <a:schemeClr val="bg1"/>
                </a:solidFill>
              </a:rPr>
            </a:br>
            <a:r>
              <a:rPr lang="en-US" sz="2400" b="1" dirty="0">
                <a:solidFill>
                  <a:schemeClr val="bg1"/>
                </a:solidFill>
              </a:rPr>
              <a:t/>
            </a:r>
            <a:br>
              <a:rPr lang="en-US" sz="2400" b="1" dirty="0">
                <a:solidFill>
                  <a:schemeClr val="bg1"/>
                </a:solidFill>
              </a:rPr>
            </a:br>
            <a:r>
              <a:rPr lang="en-US" sz="2800" b="1" dirty="0" smtClean="0">
                <a:solidFill>
                  <a:schemeClr val="bg1"/>
                </a:solidFill>
              </a:rPr>
              <a:t>Comparative </a:t>
            </a:r>
            <a:r>
              <a:rPr lang="en-US" sz="2800" b="1" dirty="0">
                <a:solidFill>
                  <a:schemeClr val="bg1"/>
                </a:solidFill>
              </a:rPr>
              <a:t>data of revenue </a:t>
            </a:r>
            <a:r>
              <a:rPr lang="en-US" sz="2800" b="1" dirty="0" smtClean="0">
                <a:solidFill>
                  <a:schemeClr val="bg1"/>
                </a:solidFill>
              </a:rPr>
              <a:t>income (in Taka) from 2015 to 2017</a:t>
            </a:r>
            <a:r>
              <a:rPr lang="en-US" sz="4800" b="1" dirty="0"/>
              <a:t/>
            </a:r>
            <a:br>
              <a:rPr lang="en-US" sz="4800" b="1" dirty="0"/>
            </a:br>
            <a:endParaRPr lang="en-US" sz="5400" b="1" dirty="0"/>
          </a:p>
        </p:txBody>
      </p:sp>
      <p:graphicFrame>
        <p:nvGraphicFramePr>
          <p:cNvPr id="2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1290331"/>
              </p:ext>
            </p:extLst>
          </p:nvPr>
        </p:nvGraphicFramePr>
        <p:xfrm>
          <a:off x="1676400" y="2133600"/>
          <a:ext cx="556260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itle 1"/>
          <p:cNvSpPr txBox="1">
            <a:spLocks/>
          </p:cNvSpPr>
          <p:nvPr/>
        </p:nvSpPr>
        <p:spPr bwMode="auto">
          <a:xfrm>
            <a:off x="452651" y="762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18479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7620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200" b="1" dirty="0">
                <a:solidFill>
                  <a:prstClr val="white"/>
                </a:solidFill>
                <a:latin typeface="Arial" charset="0"/>
                <a:cs typeface="Arial" charset="0"/>
              </a:rPr>
              <a:t>Community Support System in Sadar 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781050"/>
            <a:ext cx="9144000" cy="60769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457200" indent="-457200" algn="just">
              <a:spcBef>
                <a:spcPts val="1200"/>
              </a:spcBef>
              <a:buFontTx/>
              <a:buAutoNum type="arabicPeriod"/>
              <a:defRPr/>
            </a:pP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53 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manpower (Cleaner 20, Ayah &amp; ward boy </a:t>
            </a:r>
            <a:r>
              <a:rPr lang="en-US" sz="24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21,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Guard 6, Volunteer </a:t>
            </a:r>
            <a:r>
              <a:rPr lang="en-US" sz="24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3,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Trolley man 3 ) </a:t>
            </a:r>
            <a:r>
              <a:rPr lang="en-US" sz="24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is supported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by the community.</a:t>
            </a:r>
          </a:p>
          <a:p>
            <a:pPr marL="457200" indent="-457200" algn="just">
              <a:spcBef>
                <a:spcPts val="1200"/>
              </a:spcBef>
              <a:buFontTx/>
              <a:buAutoNum type="arabicPeriod"/>
              <a:defRPr/>
            </a:pP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MP of Jhenaidah-2 donated 14 manpower </a:t>
            </a:r>
            <a:r>
              <a:rPr lang="en-US" sz="24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support.</a:t>
            </a:r>
            <a:endParaRPr lang="en-US" sz="2400" dirty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spcBef>
                <a:spcPts val="1200"/>
              </a:spcBef>
              <a:buFontTx/>
              <a:buAutoNum type="arabicPeriod"/>
              <a:defRPr/>
            </a:pPr>
            <a:r>
              <a:rPr lang="en-US" sz="24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Chairman of </a:t>
            </a:r>
            <a:r>
              <a:rPr lang="en-US" sz="24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Zahedee</a:t>
            </a:r>
            <a:r>
              <a:rPr lang="en-US" sz="24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foundation supports 12 manpower and an intercom with a cost of nearly two lac taka. </a:t>
            </a:r>
          </a:p>
          <a:p>
            <a:pPr marL="457200" indent="-457200" algn="just">
              <a:spcBef>
                <a:spcPts val="1200"/>
              </a:spcBef>
              <a:buFontTx/>
              <a:buAutoNum type="arabicPeriod"/>
              <a:defRPr/>
            </a:pPr>
            <a:r>
              <a:rPr lang="en-US" sz="24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Mayor of Jhenaidah Paurasava plays an important role in </a:t>
            </a:r>
            <a:r>
              <a:rPr lang="en-US" sz="24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security , cleanliness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, repaired the boundary </a:t>
            </a:r>
            <a:r>
              <a:rPr lang="en-US" sz="24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wall and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supports 5</a:t>
            </a:r>
            <a:r>
              <a:rPr lang="en-US" sz="24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man </a:t>
            </a:r>
            <a:r>
              <a:rPr lang="en-US" sz="24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power and renovation of pediatric word and donation of a biochemistry analyzer at a cost of 1,15,000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Taka. </a:t>
            </a:r>
            <a:endParaRPr lang="en-US" sz="2400" dirty="0" smtClean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spcBef>
                <a:spcPts val="1200"/>
              </a:spcBef>
              <a:buFontTx/>
              <a:buAutoNum type="arabicPeriod"/>
              <a:defRPr/>
            </a:pPr>
            <a:r>
              <a:rPr lang="en-US" sz="24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Retired secretary donated a generator for 24 hours OT service    with a cost of nearly 33 thousand taka</a:t>
            </a:r>
            <a:r>
              <a:rPr lang="en-US" sz="24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.</a:t>
            </a:r>
          </a:p>
          <a:p>
            <a:pPr marL="457200" indent="-457200" algn="just">
              <a:spcBef>
                <a:spcPts val="1200"/>
              </a:spcBef>
              <a:buFontTx/>
              <a:buAutoNum type="arabicPeriod"/>
              <a:defRPr/>
            </a:pPr>
            <a:r>
              <a:rPr lang="en-US" sz="24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Doctors </a:t>
            </a:r>
            <a:r>
              <a:rPr lang="en-US" sz="24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of the hospital and </a:t>
            </a:r>
            <a:r>
              <a:rPr lang="en-US" sz="24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Jhenaidah</a:t>
            </a:r>
            <a:r>
              <a:rPr lang="en-US" sz="24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town supports 17 man power.</a:t>
            </a:r>
            <a:endParaRPr lang="en-US" sz="2400" b="1" dirty="0" smtClean="0">
              <a:solidFill>
                <a:srgbClr val="1F497D">
                  <a:lumMod val="75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algn="just">
              <a:defRPr/>
            </a:pPr>
            <a:endParaRPr lang="en-US" sz="2600" dirty="0" smtClean="0">
              <a:solidFill>
                <a:srgbClr val="1F497D">
                  <a:lumMod val="75000"/>
                </a:srgbClr>
              </a:solidFill>
            </a:endParaRPr>
          </a:p>
          <a:p>
            <a:pPr marL="0" algn="just">
              <a:defRPr/>
            </a:pPr>
            <a:endParaRPr lang="en-US" sz="2600" dirty="0" smtClean="0">
              <a:solidFill>
                <a:srgbClr val="1F497D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6838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530" y="685800"/>
            <a:ext cx="4309243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0"/>
            <a:ext cx="9140825" cy="471488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Visit to </a:t>
            </a:r>
            <a:r>
              <a:rPr lang="en-US" sz="2000" b="1" dirty="0" err="1">
                <a:solidFill>
                  <a:schemeClr val="bg1"/>
                </a:solidFill>
              </a:rPr>
              <a:t>Shatkhira</a:t>
            </a:r>
            <a:r>
              <a:rPr lang="en-US" sz="2000" b="1" dirty="0">
                <a:solidFill>
                  <a:schemeClr val="bg1"/>
                </a:solidFill>
              </a:rPr>
              <a:t> District </a:t>
            </a:r>
            <a:r>
              <a:rPr lang="en-US" sz="2000" b="1" dirty="0" smtClean="0">
                <a:solidFill>
                  <a:schemeClr val="bg1"/>
                </a:solidFill>
              </a:rPr>
              <a:t>Hospital and Introduction </a:t>
            </a:r>
            <a:r>
              <a:rPr lang="en-US" sz="2000" b="1" dirty="0">
                <a:solidFill>
                  <a:schemeClr val="bg1"/>
                </a:solidFill>
              </a:rPr>
              <a:t>of TQM </a:t>
            </a:r>
            <a:r>
              <a:rPr lang="en-US" sz="2000" b="1" dirty="0" smtClean="0">
                <a:solidFill>
                  <a:schemeClr val="bg1"/>
                </a:solidFill>
              </a:rPr>
              <a:t>activities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7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983" y="3814916"/>
            <a:ext cx="4303713" cy="295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827206"/>
            <a:ext cx="4303713" cy="295275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794" name="Picture 2" descr="DSC03196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984" y="685801"/>
            <a:ext cx="4281094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78861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/>
          <p:cNvSpPr>
            <a:spLocks noGrp="1"/>
          </p:cNvSpPr>
          <p:nvPr>
            <p:ph type="title" sz="quarter"/>
          </p:nvPr>
        </p:nvSpPr>
        <p:spPr>
          <a:xfrm>
            <a:off x="228600" y="152400"/>
            <a:ext cx="86868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chemeClr val="bg1"/>
                </a:solidFill>
              </a:rPr>
              <a:t>Changes in EOC Ward</a:t>
            </a:r>
          </a:p>
        </p:txBody>
      </p:sp>
      <p:pic>
        <p:nvPicPr>
          <p:cNvPr id="45059" name="Picture 19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762000"/>
            <a:ext cx="3886200" cy="2743200"/>
          </a:xfrm>
          <a:noFill/>
        </p:spPr>
      </p:pic>
      <p:pic>
        <p:nvPicPr>
          <p:cNvPr id="45060" name="Picture 20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8388" y="762000"/>
            <a:ext cx="4037012" cy="2630488"/>
          </a:xfrm>
          <a:noFill/>
        </p:spPr>
      </p:pic>
      <p:pic>
        <p:nvPicPr>
          <p:cNvPr id="45061" name="コンテンツ プレースホルダ 4" descr="②.jpg"/>
          <p:cNvPicPr>
            <a:picLocks noGrp="1" noChangeAspect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3657600"/>
            <a:ext cx="3886200" cy="3048000"/>
          </a:xfrm>
        </p:spPr>
      </p:pic>
      <p:pic>
        <p:nvPicPr>
          <p:cNvPr id="45062" name="Picture 16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29200" y="3776663"/>
            <a:ext cx="3733800" cy="2860675"/>
          </a:xfrm>
          <a:noFill/>
        </p:spPr>
      </p:pic>
      <p:sp>
        <p:nvSpPr>
          <p:cNvPr id="45063" name="Right Arrow 2"/>
          <p:cNvSpPr>
            <a:spLocks noChangeArrowheads="1"/>
          </p:cNvSpPr>
          <p:nvPr/>
        </p:nvSpPr>
        <p:spPr bwMode="auto">
          <a:xfrm>
            <a:off x="429895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4" name="Right Arrow 11"/>
          <p:cNvSpPr>
            <a:spLocks noChangeArrowheads="1"/>
          </p:cNvSpPr>
          <p:nvPr/>
        </p:nvSpPr>
        <p:spPr bwMode="auto">
          <a:xfrm>
            <a:off x="4298950" y="4821238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5" name="Rectangle 8"/>
          <p:cNvSpPr>
            <a:spLocks noChangeArrowheads="1"/>
          </p:cNvSpPr>
          <p:nvPr/>
        </p:nvSpPr>
        <p:spPr bwMode="auto">
          <a:xfrm>
            <a:off x="4938713" y="3859213"/>
            <a:ext cx="723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5066" name="Rectangle 7"/>
          <p:cNvSpPr>
            <a:spLocks noChangeArrowheads="1"/>
          </p:cNvSpPr>
          <p:nvPr/>
        </p:nvSpPr>
        <p:spPr bwMode="auto">
          <a:xfrm>
            <a:off x="304800" y="3657600"/>
            <a:ext cx="9159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5067" name="Rectangle 1"/>
          <p:cNvSpPr>
            <a:spLocks noChangeArrowheads="1"/>
          </p:cNvSpPr>
          <p:nvPr/>
        </p:nvSpPr>
        <p:spPr bwMode="auto">
          <a:xfrm>
            <a:off x="333375" y="801688"/>
            <a:ext cx="9159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45068" name="Rectangle 9"/>
          <p:cNvSpPr>
            <a:spLocks noChangeArrowheads="1"/>
          </p:cNvSpPr>
          <p:nvPr/>
        </p:nvSpPr>
        <p:spPr bwMode="auto">
          <a:xfrm>
            <a:off x="4930775" y="742950"/>
            <a:ext cx="723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29200" y="3733800"/>
            <a:ext cx="3886200" cy="29718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Content Placeholde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88900" y="3733800"/>
            <a:ext cx="4102100" cy="295275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itle 1"/>
          <p:cNvSpPr txBox="1">
            <a:spLocks/>
          </p:cNvSpPr>
          <p:nvPr/>
        </p:nvSpPr>
        <p:spPr bwMode="auto">
          <a:xfrm>
            <a:off x="228600" y="152400"/>
            <a:ext cx="86868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 fontScale="900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smtClean="0">
                <a:solidFill>
                  <a:schemeClr val="bg1"/>
                </a:solidFill>
              </a:rPr>
              <a:t>Changes in Surgery &amp; Pediatric Word</a:t>
            </a:r>
            <a:endParaRPr lang="en-US" sz="2800" b="1" dirty="0" smtClean="0">
              <a:solidFill>
                <a:schemeClr val="bg1"/>
              </a:solidFill>
            </a:endParaRPr>
          </a:p>
        </p:txBody>
      </p:sp>
      <p:pic>
        <p:nvPicPr>
          <p:cNvPr id="21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17475" y="762000"/>
            <a:ext cx="4038600" cy="26670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876800" y="762000"/>
            <a:ext cx="4038600" cy="26670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Right Arrow 2"/>
          <p:cNvSpPr>
            <a:spLocks noChangeArrowheads="1"/>
          </p:cNvSpPr>
          <p:nvPr/>
        </p:nvSpPr>
        <p:spPr bwMode="auto">
          <a:xfrm>
            <a:off x="4333875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>
              <a:solidFill>
                <a:srgbClr val="000000"/>
              </a:solidFill>
            </a:endParaRPr>
          </a:p>
        </p:txBody>
      </p:sp>
      <p:pic>
        <p:nvPicPr>
          <p:cNvPr id="24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4363" y="4953000"/>
            <a:ext cx="476250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Picture 1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8" y="762000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Picture 13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00" y="3884613"/>
            <a:ext cx="1146175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" name="Picture 14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0125" y="3629025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Picture 15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6625" y="609600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Title 1"/>
          <p:cNvSpPr>
            <a:spLocks noGrp="1"/>
          </p:cNvSpPr>
          <p:nvPr>
            <p:ph type="title" sz="quarter"/>
          </p:nvPr>
        </p:nvSpPr>
        <p:spPr>
          <a:xfrm>
            <a:off x="152400" y="152400"/>
            <a:ext cx="87630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chemeClr val="bg1"/>
                </a:solidFill>
              </a:rPr>
              <a:t>Changes in Gardens of The Hospital</a:t>
            </a:r>
          </a:p>
        </p:txBody>
      </p:sp>
      <p:pic>
        <p:nvPicPr>
          <p:cNvPr id="47107" name="Picture 5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953000" y="3811588"/>
            <a:ext cx="3886200" cy="2894012"/>
          </a:xfrm>
        </p:spPr>
      </p:pic>
      <p:pic>
        <p:nvPicPr>
          <p:cNvPr id="47108" name="Picture 4" descr="8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1138" y="703263"/>
            <a:ext cx="4033837" cy="2743200"/>
          </a:xfrm>
        </p:spPr>
      </p:pic>
      <p:pic>
        <p:nvPicPr>
          <p:cNvPr id="47109" name="Picture 2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0175" y="3740150"/>
            <a:ext cx="4114800" cy="2971800"/>
          </a:xfrm>
          <a:noFill/>
        </p:spPr>
      </p:pic>
      <p:pic>
        <p:nvPicPr>
          <p:cNvPr id="47110" name="Picture 1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6175" y="696913"/>
            <a:ext cx="3883025" cy="2743200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9525">
            <a:solidFill>
              <a:srgbClr val="000000"/>
            </a:solidFill>
            <a:miter lim="800000"/>
            <a:headEnd/>
            <a:tailEnd/>
          </a:ln>
        </p:spPr>
      </p:pic>
      <p:sp>
        <p:nvSpPr>
          <p:cNvPr id="47111" name="Right Arrow 9"/>
          <p:cNvSpPr>
            <a:spLocks noChangeArrowheads="1"/>
          </p:cNvSpPr>
          <p:nvPr/>
        </p:nvSpPr>
        <p:spPr bwMode="auto">
          <a:xfrm>
            <a:off x="4473575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7112" name="Right Arrow 10"/>
          <p:cNvSpPr>
            <a:spLocks noChangeArrowheads="1"/>
          </p:cNvSpPr>
          <p:nvPr/>
        </p:nvSpPr>
        <p:spPr bwMode="auto">
          <a:xfrm>
            <a:off x="4291013" y="4887913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7113" name="Rectangle 11"/>
          <p:cNvSpPr>
            <a:spLocks noChangeArrowheads="1"/>
          </p:cNvSpPr>
          <p:nvPr/>
        </p:nvSpPr>
        <p:spPr bwMode="auto">
          <a:xfrm>
            <a:off x="250825" y="696913"/>
            <a:ext cx="9159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7114" name="Rectangle 14"/>
          <p:cNvSpPr>
            <a:spLocks noChangeArrowheads="1"/>
          </p:cNvSpPr>
          <p:nvPr/>
        </p:nvSpPr>
        <p:spPr bwMode="auto">
          <a:xfrm>
            <a:off x="4953000" y="814388"/>
            <a:ext cx="723900" cy="3698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4956175" y="3811588"/>
            <a:ext cx="6731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" name="Rectangle 10"/>
          <p:cNvSpPr>
            <a:spLocks noChangeArrowheads="1"/>
          </p:cNvSpPr>
          <p:nvPr/>
        </p:nvSpPr>
        <p:spPr bwMode="auto">
          <a:xfrm>
            <a:off x="268288" y="3690938"/>
            <a:ext cx="10668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550863"/>
            <a:ext cx="4754563" cy="362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87325" y="706438"/>
            <a:ext cx="3978275" cy="3006725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8132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800" b="1" dirty="0" smtClean="0">
                <a:solidFill>
                  <a:srgbClr val="FFFFFF"/>
                </a:solidFill>
              </a:rPr>
              <a:t>Waste </a:t>
            </a:r>
            <a:r>
              <a:rPr lang="en-US" sz="2800" b="1" dirty="0">
                <a:solidFill>
                  <a:srgbClr val="FFFFFF"/>
                </a:solidFill>
              </a:rPr>
              <a:t>Management &amp; Campus Protection</a:t>
            </a:r>
          </a:p>
        </p:txBody>
      </p:sp>
      <p:sp>
        <p:nvSpPr>
          <p:cNvPr id="48133" name="Right Arrow 8"/>
          <p:cNvSpPr>
            <a:spLocks noChangeArrowheads="1"/>
          </p:cNvSpPr>
          <p:nvPr/>
        </p:nvSpPr>
        <p:spPr bwMode="auto">
          <a:xfrm>
            <a:off x="426720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6393" name="Rectangle 10"/>
          <p:cNvSpPr>
            <a:spLocks noChangeArrowheads="1"/>
          </p:cNvSpPr>
          <p:nvPr/>
        </p:nvSpPr>
        <p:spPr bwMode="auto">
          <a:xfrm>
            <a:off x="169863" y="835025"/>
            <a:ext cx="91598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396" name="Rectangle 13"/>
          <p:cNvSpPr>
            <a:spLocks noChangeArrowheads="1"/>
          </p:cNvSpPr>
          <p:nvPr/>
        </p:nvSpPr>
        <p:spPr bwMode="auto">
          <a:xfrm>
            <a:off x="4899025" y="776288"/>
            <a:ext cx="7239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4" name="Picture 8" descr="DSC0240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863" y="3962400"/>
            <a:ext cx="3944937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7661" y="3978275"/>
            <a:ext cx="4173940" cy="271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Right Arrow 9"/>
          <p:cNvSpPr>
            <a:spLocks noChangeArrowheads="1"/>
          </p:cNvSpPr>
          <p:nvPr/>
        </p:nvSpPr>
        <p:spPr bwMode="auto">
          <a:xfrm>
            <a:off x="4267200" y="5029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1"/>
          <p:cNvSpPr>
            <a:spLocks noChangeArrowheads="1"/>
          </p:cNvSpPr>
          <p:nvPr/>
        </p:nvSpPr>
        <p:spPr bwMode="auto">
          <a:xfrm>
            <a:off x="246063" y="3990975"/>
            <a:ext cx="915988" cy="369888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bg1"/>
                </a:solidFill>
              </a:rPr>
              <a:t>Before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8" name="Rectangle 12"/>
          <p:cNvSpPr>
            <a:spLocks noChangeArrowheads="1"/>
          </p:cNvSpPr>
          <p:nvPr/>
        </p:nvSpPr>
        <p:spPr bwMode="auto">
          <a:xfrm>
            <a:off x="4876800" y="3976688"/>
            <a:ext cx="723900" cy="369887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bg1"/>
                </a:solidFill>
              </a:rPr>
              <a:t>After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2" name="Title 1"/>
          <p:cNvSpPr>
            <a:spLocks noGrp="1"/>
          </p:cNvSpPr>
          <p:nvPr>
            <p:ph type="title" sz="quarter"/>
          </p:nvPr>
        </p:nvSpPr>
        <p:spPr>
          <a:xfrm>
            <a:off x="228600" y="274638"/>
            <a:ext cx="8534400" cy="563562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000" b="1" dirty="0" smtClean="0">
                <a:solidFill>
                  <a:srgbClr val="FFFFFF"/>
                </a:solidFill>
                <a:latin typeface="Arial" charset="0"/>
                <a:cs typeface="Arial" charset="0"/>
              </a:rPr>
              <a:t>Use of direction sign, labeling of rooms, clean latrine and waste segregation</a:t>
            </a:r>
          </a:p>
        </p:txBody>
      </p:sp>
      <p:pic>
        <p:nvPicPr>
          <p:cNvPr id="51203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085850"/>
            <a:ext cx="4114800" cy="2571750"/>
          </a:xfrm>
        </p:spPr>
      </p:pic>
      <p:pic>
        <p:nvPicPr>
          <p:cNvPr id="51204" name="Content Placeholder 9"/>
          <p:cNvPicPr>
            <a:picLocks noGrp="1" noChangeAspect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24400" y="1066800"/>
            <a:ext cx="3968750" cy="2590800"/>
          </a:xfrm>
        </p:spPr>
      </p:pic>
      <p:pic>
        <p:nvPicPr>
          <p:cNvPr id="51205" name="Picture 6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3962400"/>
            <a:ext cx="4038600" cy="2625725"/>
          </a:xfrm>
          <a:noFill/>
        </p:spPr>
      </p:pic>
      <p:pic>
        <p:nvPicPr>
          <p:cNvPr id="51206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1225" y="3962400"/>
            <a:ext cx="3965575" cy="265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7" name="Rectangle 4"/>
          <p:cNvSpPr>
            <a:spLocks noChangeArrowheads="1"/>
          </p:cNvSpPr>
          <p:nvPr/>
        </p:nvSpPr>
        <p:spPr bwMode="auto">
          <a:xfrm>
            <a:off x="304800" y="1143000"/>
            <a:ext cx="2466975" cy="36988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Use of direction sign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51208" name="Rectangle 5"/>
          <p:cNvSpPr>
            <a:spLocks noChangeArrowheads="1"/>
          </p:cNvSpPr>
          <p:nvPr/>
        </p:nvSpPr>
        <p:spPr bwMode="auto">
          <a:xfrm>
            <a:off x="4941888" y="1143000"/>
            <a:ext cx="2185987" cy="36988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b="1">
                <a:solidFill>
                  <a:srgbClr val="FF0000"/>
                </a:solidFill>
              </a:rPr>
              <a:t>Labeling of rooms</a:t>
            </a:r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457200" y="3998913"/>
            <a:ext cx="1981200" cy="36988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waist segregation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1210" name="Rectangle 8"/>
          <p:cNvSpPr>
            <a:spLocks noChangeArrowheads="1"/>
          </p:cNvSpPr>
          <p:nvPr/>
        </p:nvSpPr>
        <p:spPr bwMode="auto">
          <a:xfrm>
            <a:off x="4702175" y="4021138"/>
            <a:ext cx="1570038" cy="3698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b="1">
                <a:solidFill>
                  <a:srgbClr val="FF0000"/>
                </a:solidFill>
              </a:rPr>
              <a:t>Clean latrine</a:t>
            </a:r>
            <a:endParaRPr 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 sz="quarter"/>
          </p:nvPr>
        </p:nvSpPr>
        <p:spPr>
          <a:xfrm>
            <a:off x="228600" y="274638"/>
            <a:ext cx="8458200" cy="563562"/>
          </a:xfrm>
          <a:solidFill>
            <a:srgbClr val="006600"/>
          </a:solidFill>
        </p:spPr>
        <p:txBody>
          <a:bodyPr/>
          <a:lstStyle/>
          <a:p>
            <a:pPr eaLnBrk="1" hangingPunct="1"/>
            <a:r>
              <a:rPr lang="en-US" sz="1800" b="1" smtClean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Use of color code, alignment of picture &amp; continuous big cleaning day</a:t>
            </a:r>
          </a:p>
        </p:txBody>
      </p:sp>
      <p:pic>
        <p:nvPicPr>
          <p:cNvPr id="52227" name="Content Placeholder 9"/>
          <p:cNvPicPr>
            <a:picLocks noGrp="1" noChangeAspect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24400" y="1030288"/>
            <a:ext cx="3962400" cy="2603500"/>
          </a:xfrm>
        </p:spPr>
      </p:pic>
      <p:pic>
        <p:nvPicPr>
          <p:cNvPr id="52228" name="Content Placeholder 11"/>
          <p:cNvPicPr>
            <a:picLocks noGrp="1" noChangeAspect="1"/>
          </p:cNvPicPr>
          <p:nvPr>
            <p:ph sz="quarter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001714"/>
            <a:ext cx="4132263" cy="2608262"/>
          </a:xfrm>
        </p:spPr>
      </p:pic>
      <p:pic>
        <p:nvPicPr>
          <p:cNvPr id="52229" name="Picture 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810000"/>
            <a:ext cx="4114800" cy="290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30" name="Rectangle 4"/>
          <p:cNvSpPr>
            <a:spLocks noChangeArrowheads="1"/>
          </p:cNvSpPr>
          <p:nvPr/>
        </p:nvSpPr>
        <p:spPr bwMode="auto">
          <a:xfrm>
            <a:off x="304800" y="3979863"/>
            <a:ext cx="2557463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Alignment of pictures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2231" name="Rectangle 4"/>
          <p:cNvSpPr>
            <a:spLocks noChangeArrowheads="1"/>
          </p:cNvSpPr>
          <p:nvPr/>
        </p:nvSpPr>
        <p:spPr bwMode="auto">
          <a:xfrm>
            <a:off x="304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2232" name="Rectangle 4"/>
          <p:cNvSpPr>
            <a:spLocks noChangeArrowheads="1"/>
          </p:cNvSpPr>
          <p:nvPr/>
        </p:nvSpPr>
        <p:spPr bwMode="auto">
          <a:xfrm>
            <a:off x="4876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pic>
        <p:nvPicPr>
          <p:cNvPr id="13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3809999"/>
            <a:ext cx="4038600" cy="2908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0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875" y="609600"/>
            <a:ext cx="3997325" cy="290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1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0" y="3733800"/>
            <a:ext cx="4013200" cy="293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2" name="Content Placeholder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3733800"/>
            <a:ext cx="3997325" cy="293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284162" y="669925"/>
            <a:ext cx="1709738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FF00"/>
                </a:solidFill>
              </a:rPr>
              <a:t>Reception room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239713" y="3762375"/>
            <a:ext cx="2570162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FF00"/>
                </a:solidFill>
              </a:rPr>
              <a:t>Health education session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4459288" y="3762375"/>
            <a:ext cx="2587625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Community engagement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69875" y="38100"/>
            <a:ext cx="82296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Sadar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Hospital - 1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53257" name="Content Placeholder 3"/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486275" y="609600"/>
            <a:ext cx="4006850" cy="2905125"/>
          </a:xfrm>
        </p:spPr>
      </p:pic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4495800" y="644525"/>
            <a:ext cx="2403475" cy="368300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FF00"/>
                </a:solidFill>
              </a:rPr>
              <a:t>Creation  of nursing aid</a:t>
            </a:r>
            <a:endParaRPr lang="en-US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500" y="3927929"/>
            <a:ext cx="4267200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5" descr="DSC0249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10100" y="852487"/>
            <a:ext cx="4419600" cy="2705100"/>
          </a:xfrm>
          <a:prstGeom prst="rect">
            <a:avLst/>
          </a:prstGeom>
          <a:noFill/>
          <a:ln/>
        </p:spPr>
      </p:pic>
      <p:pic>
        <p:nvPicPr>
          <p:cNvPr id="5" name="Picture 4" descr="DSC0254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1407" y="852487"/>
            <a:ext cx="4257675" cy="2705100"/>
          </a:xfrm>
          <a:prstGeom prst="rect">
            <a:avLst/>
          </a:prstGeom>
          <a:noFill/>
          <a:ln/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191407" y="152400"/>
            <a:ext cx="8838293" cy="490537"/>
          </a:xfrm>
          <a:prstGeom prst="rect">
            <a:avLst/>
          </a:prstGeom>
          <a:solidFill>
            <a:srgbClr val="0C7E17"/>
          </a:solidFill>
          <a:ln w="25400" cap="flat" cmpd="sng" algn="ctr">
            <a:solidFill>
              <a:schemeClr val="bg1"/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Jhenaidah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Sadar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Hospital - 2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Content Placeholder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407" y="3886200"/>
            <a:ext cx="4257675" cy="27849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220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036" y="1066800"/>
            <a:ext cx="4342829" cy="2514599"/>
          </a:xfrm>
        </p:spPr>
      </p:pic>
      <p:pic>
        <p:nvPicPr>
          <p:cNvPr id="10" name="Content Placeholder 9"/>
          <p:cNvPicPr>
            <a:picLocks noGrp="1" noChangeAspect="1"/>
          </p:cNvPicPr>
          <p:nvPr>
            <p:ph sz="quarter" idx="4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84" y="990600"/>
            <a:ext cx="4041775" cy="2667000"/>
          </a:xfrm>
        </p:spPr>
      </p:pic>
      <p:pic>
        <p:nvPicPr>
          <p:cNvPr id="12" name="Content Placeholder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84" y="3886198"/>
            <a:ext cx="4041606" cy="2819401"/>
          </a:xfrm>
          <a:prstGeom prst="rect">
            <a:avLst/>
          </a:prstGeom>
        </p:spPr>
      </p:pic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304798" y="457200"/>
            <a:ext cx="8537491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Sadar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Hospital - 4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Content Placeholder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8600" y="3886199"/>
            <a:ext cx="4419600" cy="2819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87810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1365250" y="4648200"/>
            <a:ext cx="30511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endParaRPr lang="en-US"/>
          </a:p>
        </p:txBody>
      </p:sp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14400"/>
            <a:ext cx="4176713" cy="287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1688" y="914400"/>
            <a:ext cx="4532312" cy="28765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4114800"/>
            <a:ext cx="449580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Oval 8"/>
          <p:cNvSpPr/>
          <p:nvPr/>
        </p:nvSpPr>
        <p:spPr>
          <a:xfrm>
            <a:off x="7345363" y="2335213"/>
            <a:ext cx="1524000" cy="1447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10" name="Content Placeholder 3"/>
          <p:cNvPicPr>
            <a:picLocks noGrp="1" noChangeAspect="1"/>
          </p:cNvPicPr>
          <p:nvPr>
            <p:ph sz="quarter" idx="1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114800"/>
            <a:ext cx="4257675" cy="2743200"/>
          </a:xfrm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Sadar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Hospital - 5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1310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6273" y="847725"/>
            <a:ext cx="4652963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6" descr="G:\101MSDCF 1\DSC02621.JP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838200"/>
            <a:ext cx="4343400" cy="2862263"/>
          </a:xfrm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8" y="3981451"/>
            <a:ext cx="4329112" cy="287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6273" y="3962400"/>
            <a:ext cx="4662489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42863"/>
            <a:ext cx="91440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Involvement of MP, District </a:t>
            </a:r>
            <a:r>
              <a:rPr lang="en-US" sz="2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dministrator &amp; Mayor in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Sadar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Hospital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0986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Title 4"/>
          <p:cNvSpPr>
            <a:spLocks noGrp="1"/>
          </p:cNvSpPr>
          <p:nvPr>
            <p:ph type="title" sz="quarter"/>
          </p:nvPr>
        </p:nvSpPr>
        <p:spPr>
          <a:xfrm>
            <a:off x="0" y="-4763"/>
            <a:ext cx="9144000" cy="461963"/>
          </a:xfrm>
          <a:solidFill>
            <a:srgbClr val="0C7E17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>
                <a:solidFill>
                  <a:schemeClr val="bg1"/>
                </a:solidFill>
              </a:rPr>
              <a:t>Internal Monitoring System</a:t>
            </a:r>
          </a:p>
        </p:txBody>
      </p:sp>
      <p:pic>
        <p:nvPicPr>
          <p:cNvPr id="50179" name="Content Placeholder 10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41837" y="3895725"/>
            <a:ext cx="4419600" cy="2914650"/>
          </a:xfrm>
        </p:spPr>
      </p:pic>
      <p:pic>
        <p:nvPicPr>
          <p:cNvPr id="50180" name="Picture 8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48200" y="685800"/>
            <a:ext cx="4343400" cy="2895600"/>
          </a:xfrm>
          <a:noFill/>
        </p:spPr>
      </p:pic>
      <p:pic>
        <p:nvPicPr>
          <p:cNvPr id="50181" name="Picture 7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00" y="674688"/>
            <a:ext cx="4327525" cy="2906712"/>
          </a:xfrm>
          <a:noFill/>
        </p:spPr>
      </p:pic>
      <p:pic>
        <p:nvPicPr>
          <p:cNvPr id="50182" name="Content Placeholder 11"/>
          <p:cNvPicPr>
            <a:picLocks noGrp="1" noChangeAspect="1"/>
          </p:cNvPicPr>
          <p:nvPr>
            <p:ph sz="quarter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00" y="3900487"/>
            <a:ext cx="4306888" cy="2884488"/>
          </a:xfrm>
        </p:spPr>
      </p:pic>
      <p:sp>
        <p:nvSpPr>
          <p:cNvPr id="50183" name="Rectangle 4"/>
          <p:cNvSpPr>
            <a:spLocks noChangeArrowheads="1"/>
          </p:cNvSpPr>
          <p:nvPr/>
        </p:nvSpPr>
        <p:spPr bwMode="auto">
          <a:xfrm>
            <a:off x="76200" y="685800"/>
            <a:ext cx="42672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Meting of health improvement committee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0184" name="Rectangle 4"/>
          <p:cNvSpPr>
            <a:spLocks noChangeArrowheads="1"/>
          </p:cNvSpPr>
          <p:nvPr/>
        </p:nvSpPr>
        <p:spPr bwMode="auto">
          <a:xfrm>
            <a:off x="4648200" y="742950"/>
            <a:ext cx="44196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Meting of community support group committee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0185" name="Rectangle 3"/>
          <p:cNvSpPr>
            <a:spLocks noChangeArrowheads="1"/>
          </p:cNvSpPr>
          <p:nvPr/>
        </p:nvSpPr>
        <p:spPr bwMode="auto">
          <a:xfrm>
            <a:off x="122237" y="3886200"/>
            <a:ext cx="41751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QIC meeting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50186" name="Rectangle 4"/>
          <p:cNvSpPr>
            <a:spLocks noChangeArrowheads="1"/>
          </p:cNvSpPr>
          <p:nvPr/>
        </p:nvSpPr>
        <p:spPr bwMode="auto">
          <a:xfrm>
            <a:off x="4637087" y="3930816"/>
            <a:ext cx="4441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Monthly meeting schedule</a:t>
            </a:r>
            <a:endParaRPr lang="en-US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58738" y="762000"/>
            <a:ext cx="4367212" cy="276225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/>
          <a:stretch>
            <a:fillRect/>
          </a:stretch>
        </p:blipFill>
        <p:spPr>
          <a:xfrm>
            <a:off x="5083175" y="3879850"/>
            <a:ext cx="3925888" cy="2909888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6324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Improved </a:t>
            </a:r>
            <a:r>
              <a:rPr lang="en-US" sz="2800">
                <a:solidFill>
                  <a:schemeClr val="bg1"/>
                </a:solidFill>
              </a:rPr>
              <a:t>pediatric </a:t>
            </a:r>
            <a:r>
              <a:rPr lang="en-US" sz="2800" smtClean="0">
                <a:solidFill>
                  <a:schemeClr val="bg1"/>
                </a:solidFill>
              </a:rPr>
              <a:t>ward </a:t>
            </a:r>
            <a:r>
              <a:rPr lang="en-US" sz="2800" dirty="0">
                <a:solidFill>
                  <a:schemeClr val="bg1"/>
                </a:solidFill>
              </a:rPr>
              <a:t>by local initiative</a:t>
            </a:r>
            <a:endParaRPr lang="en-US" sz="2800" b="1" dirty="0">
              <a:solidFill>
                <a:schemeClr val="bg1"/>
              </a:solidFill>
            </a:endParaRPr>
          </a:p>
        </p:txBody>
      </p:sp>
      <p:pic>
        <p:nvPicPr>
          <p:cNvPr id="5632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609600"/>
            <a:ext cx="4675188" cy="327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6"/>
          <p:cNvPicPr>
            <a:picLocks noChangeAspect="1" noChangeArrowheads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152400" y="3732213"/>
            <a:ext cx="4267200" cy="30575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ctrTitle"/>
          </p:nvPr>
        </p:nvSpPr>
        <p:spPr>
          <a:xfrm>
            <a:off x="228600" y="76200"/>
            <a:ext cx="8631238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>
                <a:solidFill>
                  <a:schemeClr val="bg1"/>
                </a:solidFill>
              </a:rPr>
              <a:t>Hospital Environment</a:t>
            </a:r>
          </a:p>
        </p:txBody>
      </p:sp>
      <p:pic>
        <p:nvPicPr>
          <p:cNvPr id="57347" name="Picture 3" descr="1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3836987"/>
            <a:ext cx="4502150" cy="2994026"/>
          </a:xfrm>
        </p:spPr>
      </p:pic>
      <p:pic>
        <p:nvPicPr>
          <p:cNvPr id="57348" name="Picture 2" descr="DSC0256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6800" y="700088"/>
            <a:ext cx="4267200" cy="2936875"/>
          </a:xfrm>
        </p:spPr>
      </p:pic>
      <p:pic>
        <p:nvPicPr>
          <p:cNvPr id="57349" name="Picture 2" descr="G:\G\Dr Emdad\Photos- Jhenaidah\22-6-15\New folder\New folder\District hospital. Jhenaidah by GMB Akash (56)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8576" y="684213"/>
            <a:ext cx="4524375" cy="297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350" name="Picture 7" descr="G:\101MSDCF\DSC02710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3836987"/>
            <a:ext cx="4267200" cy="302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9144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altLang="ja-JP" sz="3200" b="1" dirty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Jhenaidah Sadar Hospital, Jhenaidah</a:t>
            </a:r>
          </a:p>
          <a:p>
            <a:pPr algn="ctr" fontAlgn="auto">
              <a:spcAft>
                <a:spcPts val="0"/>
              </a:spcAft>
              <a:defRPr/>
            </a:pPr>
            <a:r>
              <a:rPr lang="en-US" altLang="ja-JP" sz="3200" b="1" dirty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Achievement of the 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914400"/>
            <a:ext cx="9144000" cy="5943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r>
              <a:rPr lang="en-US" b="1" dirty="0" smtClean="0"/>
              <a:t>1. Active </a:t>
            </a:r>
            <a:r>
              <a:rPr lang="en-US" b="1" dirty="0"/>
              <a:t>C</a:t>
            </a:r>
            <a:r>
              <a:rPr lang="en-US" b="1" dirty="0" smtClean="0"/>
              <a:t>ommunity Participation in health service is an example in </a:t>
            </a:r>
            <a:r>
              <a:rPr lang="en-US" b="1" dirty="0" smtClean="0"/>
              <a:t>Bangladesh</a:t>
            </a:r>
            <a:r>
              <a:rPr lang="en-US" b="1" dirty="0" smtClean="0"/>
              <a:t>.</a:t>
            </a:r>
          </a:p>
          <a:p>
            <a:pPr marL="0" algn="just">
              <a:defRPr/>
            </a:pPr>
            <a:r>
              <a:rPr lang="en-US" dirty="0" smtClean="0"/>
              <a:t> </a:t>
            </a:r>
          </a:p>
          <a:p>
            <a:pPr marL="0" algn="just">
              <a:defRPr/>
            </a:pPr>
            <a:r>
              <a:rPr lang="en-US" b="1" dirty="0" smtClean="0"/>
              <a:t>2. Improved   </a:t>
            </a:r>
            <a:r>
              <a:rPr lang="en-US" b="1" dirty="0"/>
              <a:t>p</a:t>
            </a:r>
            <a:r>
              <a:rPr lang="en-US" b="1" dirty="0" smtClean="0"/>
              <a:t>erformance  of all services specially Pediatric, </a:t>
            </a:r>
            <a:r>
              <a:rPr lang="en-US" b="1" dirty="0"/>
              <a:t>o</a:t>
            </a:r>
            <a:r>
              <a:rPr lang="en-US" b="1" dirty="0" smtClean="0"/>
              <a:t>bstetric, operation and outdoor service.</a:t>
            </a:r>
            <a:endParaRPr lang="en-US" b="1" dirty="0"/>
          </a:p>
          <a:p>
            <a:pPr marL="0">
              <a:defRPr/>
            </a:pPr>
            <a:endParaRPr lang="en-US" b="1" dirty="0" smtClean="0"/>
          </a:p>
          <a:p>
            <a:pPr marL="0">
              <a:defRPr/>
            </a:pPr>
            <a:r>
              <a:rPr lang="en-US" b="1" dirty="0" smtClean="0"/>
              <a:t>3</a:t>
            </a:r>
            <a:r>
              <a:rPr lang="en-US" b="1" dirty="0"/>
              <a:t>. Improved Cleanliness and </a:t>
            </a:r>
            <a:r>
              <a:rPr lang="en-US" b="1" dirty="0" smtClean="0"/>
              <a:t>Beautification of Campus.</a:t>
            </a:r>
            <a:endParaRPr lang="en-US" b="1" dirty="0"/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 smtClean="0"/>
              <a:t>4. </a:t>
            </a:r>
            <a:r>
              <a:rPr lang="en-US" b="1" dirty="0"/>
              <a:t>Functioning </a:t>
            </a:r>
            <a:r>
              <a:rPr lang="en-US" b="1" dirty="0" smtClean="0"/>
              <a:t>of X-Ray service and starting of Biochemistry investigation by local initiatives.</a:t>
            </a:r>
            <a:endParaRPr lang="en-US" sz="900" dirty="0"/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 smtClean="0"/>
              <a:t>5. </a:t>
            </a:r>
            <a:r>
              <a:rPr lang="en-US" b="1" dirty="0"/>
              <a:t>Improved </a:t>
            </a:r>
            <a:r>
              <a:rPr lang="en-US" b="1" dirty="0" smtClean="0"/>
              <a:t>Security.</a:t>
            </a:r>
            <a:endParaRPr lang="en-US" sz="900" dirty="0"/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 smtClean="0"/>
              <a:t>6. </a:t>
            </a:r>
            <a:r>
              <a:rPr lang="en-US" b="1" dirty="0"/>
              <a:t>Improved Financial Management</a:t>
            </a:r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/>
              <a:t>7</a:t>
            </a:r>
            <a:r>
              <a:rPr lang="en-US" b="1" dirty="0" smtClean="0"/>
              <a:t>. Piloting of “Model  District Hospital” is running in Jhenaidah Sadar Hospital.</a:t>
            </a:r>
          </a:p>
          <a:p>
            <a:pPr marL="0" algn="just">
              <a:defRPr/>
            </a:pPr>
            <a:endParaRPr lang="en-US" b="1" dirty="0"/>
          </a:p>
          <a:p>
            <a:pPr marL="0" algn="just">
              <a:defRPr/>
            </a:pPr>
            <a:r>
              <a:rPr lang="en-US" b="1" dirty="0" smtClean="0"/>
              <a:t>8. </a:t>
            </a:r>
            <a:r>
              <a:rPr lang="en-US" b="1" dirty="0"/>
              <a:t>The hospital is </a:t>
            </a:r>
            <a:r>
              <a:rPr lang="en-US" b="1" dirty="0" smtClean="0"/>
              <a:t>awarded 5 </a:t>
            </a:r>
            <a:r>
              <a:rPr lang="en-US" b="1" dirty="0"/>
              <a:t>times from 2013 to </a:t>
            </a:r>
            <a:r>
              <a:rPr lang="en-US" b="1" dirty="0" smtClean="0"/>
              <a:t>2017. </a:t>
            </a:r>
            <a:r>
              <a:rPr lang="en-US" b="1" dirty="0"/>
              <a:t>Stood first award by 5S-KAIZEN-TQM among the 100 bedded district hospitals by defeating </a:t>
            </a:r>
            <a:r>
              <a:rPr lang="en-US" b="1" dirty="0" err="1" smtClean="0"/>
              <a:t>Norsindi</a:t>
            </a:r>
            <a:r>
              <a:rPr lang="en-US" b="1" dirty="0" smtClean="0"/>
              <a:t> </a:t>
            </a:r>
            <a:r>
              <a:rPr lang="en-US" b="1" dirty="0"/>
              <a:t>Sadar Hospital.</a:t>
            </a:r>
          </a:p>
          <a:p>
            <a:pPr marL="0" algn="just">
              <a:defRPr/>
            </a:pPr>
            <a:endParaRPr lang="en-US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 descr="Sunset"/>
          <p:cNvSpPr>
            <a:spLocks noGrp="1" noChangeArrowheads="1"/>
          </p:cNvSpPr>
          <p:nvPr>
            <p:ph type="body" idx="4294967295"/>
          </p:nvPr>
        </p:nvSpPr>
        <p:spPr>
          <a:xfrm>
            <a:off x="-2275" y="0"/>
            <a:ext cx="9144000" cy="6858000"/>
          </a:xfrm>
          <a:blipFill dpi="0" rotWithShape="1">
            <a:blip r:embed="rId3"/>
            <a:srcRect/>
            <a:stretch>
              <a:fillRect/>
            </a:stretch>
          </a:blipFill>
          <a:ln>
            <a:solidFill>
              <a:schemeClr val="tx1"/>
            </a:solidFill>
            <a:miter lim="800000"/>
            <a:headEnd/>
            <a:tailEnd/>
          </a:ln>
          <a:extLst/>
        </p:spPr>
        <p:txBody>
          <a:bodyPr/>
          <a:lstStyle/>
          <a:p>
            <a:pPr algn="ctr" eaLnBrk="1" hangingPunct="1">
              <a:buFontTx/>
              <a:buNone/>
              <a:defRPr/>
            </a:pPr>
            <a:endParaRPr lang="en-US" sz="4400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  <a:p>
            <a:pPr algn="ctr" eaLnBrk="1" hangingPunct="1">
              <a:buFontTx/>
              <a:buNone/>
              <a:defRPr/>
            </a:pPr>
            <a:endParaRPr lang="en-US" sz="4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  <a:p>
            <a:pPr algn="ctr" eaLnBrk="1" hangingPunct="1">
              <a:buFontTx/>
              <a:buNone/>
              <a:defRPr/>
            </a:pPr>
            <a:endParaRPr lang="en-US" sz="4400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/>
        <p:txBody>
          <a:bodyPr>
            <a:norm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4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Albertus Extra Bold"/>
              </a:rPr>
              <a:t>Thank You</a:t>
            </a:r>
          </a:p>
          <a:p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5_シック">
  <a:themeElements>
    <a:clrScheme name="シック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シック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シック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270000"/>
              </a:schemeClr>
            </a:gs>
            <a:gs pos="25000">
              <a:schemeClr val="phClr">
                <a:tint val="60000"/>
                <a:satMod val="300000"/>
              </a:schemeClr>
            </a:gs>
            <a:gs pos="100000">
              <a:schemeClr val="phClr">
                <a:tint val="29000"/>
                <a:satMod val="40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5000"/>
                <a:satMod val="155000"/>
              </a:schemeClr>
            </a:gs>
            <a:gs pos="60000">
              <a:schemeClr val="phClr">
                <a:shade val="95000"/>
                <a:satMod val="150000"/>
              </a:schemeClr>
            </a:gs>
            <a:gs pos="100000">
              <a:schemeClr val="phClr">
                <a:tint val="87000"/>
                <a:satMod val="2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atMod val="150000"/>
            </a:schemeClr>
          </a:solidFill>
          <a:prstDash val="solid"/>
        </a:ln>
        <a:ln w="425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2000000"/>
            </a:lightRig>
          </a:scene3d>
          <a:sp3d prstMaterial="powder">
            <a:bevelT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35000"/>
                <a:satMod val="150000"/>
              </a:schemeClr>
            </a:gs>
            <a:gs pos="45000">
              <a:schemeClr val="phClr">
                <a:shade val="68000"/>
                <a:satMod val="15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0"/>
        </a:gradFill>
        <a:blipFill>
          <a:blip xmlns:r="http://schemas.openxmlformats.org/officeDocument/2006/relationships" r:embed="rId1">
            <a:duotone>
              <a:schemeClr val="phClr">
                <a:shade val="800"/>
                <a:satMod val="150000"/>
              </a:schemeClr>
              <a:schemeClr val="phClr">
                <a:tint val="80000"/>
                <a:satMod val="150000"/>
              </a:schemeClr>
            </a:duotone>
          </a:blip>
          <a:tile tx="0" ty="0" sx="75000" sy="7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3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4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Couture</Template>
  <TotalTime>3160</TotalTime>
  <Words>1140</Words>
  <Application>Microsoft Office PowerPoint</Application>
  <PresentationFormat>On-screen Show (4:3)</PresentationFormat>
  <Paragraphs>361</Paragraphs>
  <Slides>42</Slides>
  <Notes>16</Notes>
  <HiddenSlides>0</HiddenSlides>
  <MMClips>0</MMClips>
  <ScaleCrop>false</ScaleCrop>
  <HeadingPairs>
    <vt:vector size="6" baseType="variant">
      <vt:variant>
        <vt:lpstr>Theme</vt:lpstr>
      </vt:variant>
      <vt:variant>
        <vt:i4>5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8" baseType="lpstr">
      <vt:lpstr>5_シック</vt:lpstr>
      <vt:lpstr>Office Theme</vt:lpstr>
      <vt:lpstr>Default Design</vt:lpstr>
      <vt:lpstr>3_Default Design</vt:lpstr>
      <vt:lpstr>4_Default Design</vt:lpstr>
      <vt:lpstr>Chart</vt:lpstr>
      <vt:lpstr>PowerPoint Presentation</vt:lpstr>
      <vt:lpstr>PowerPoint Presentation</vt:lpstr>
      <vt:lpstr>PowerPoint Presentation</vt:lpstr>
      <vt:lpstr>A Sub-district level Women-Friendly Hospital with a Vision …</vt:lpstr>
      <vt:lpstr>Background History of MCH services of Chowgacha Health Complex, Jessore</vt:lpstr>
      <vt:lpstr>PowerPoint Presentation</vt:lpstr>
      <vt:lpstr>PowerPoint Presentation</vt:lpstr>
      <vt:lpstr>PowerPoint Presentation</vt:lpstr>
      <vt:lpstr>Achievement of Chowgacha Health Complex</vt:lpstr>
      <vt:lpstr>Upazila Health  Complex CHOWGACHA , JESSORE.</vt:lpstr>
      <vt:lpstr>Upazila Health  Complex CHOWGACHA , JESSORE.</vt:lpstr>
      <vt:lpstr>Upazila Health  Complex CHOWGACHA , JESSORE.</vt:lpstr>
      <vt:lpstr>Upazila Health  Complex CHOWGACHA , JESSORE.</vt:lpstr>
      <vt:lpstr>Upazilla Health  Complex CHOWGACHA , JESSORE.</vt:lpstr>
      <vt:lpstr>MDG 4 and 5 Achieved at Chowgacha in 2011 and SDG targets in 2030</vt:lpstr>
      <vt:lpstr>PowerPoint Presentation</vt:lpstr>
      <vt:lpstr>100 kh¨v wewkó m`i nvmcvZvj, wSbvB`n</vt:lpstr>
      <vt:lpstr>Sadar Hospital, Jhenaidah</vt:lpstr>
      <vt:lpstr>PowerPoint Presentation</vt:lpstr>
      <vt:lpstr>Emergency &amp; Out Door, Indoor  Service 1998 to 2017</vt:lpstr>
      <vt:lpstr>Operation Service (Major) 2011 to 2017</vt:lpstr>
      <vt:lpstr>PowerPoint Presentation</vt:lpstr>
      <vt:lpstr>3 best performing EmOC Hospital in Khulna division - 2017</vt:lpstr>
      <vt:lpstr>  Comparative data of revenue income (in Taka) from 2015 to 2017 </vt:lpstr>
      <vt:lpstr>PowerPoint Presentation</vt:lpstr>
      <vt:lpstr>PowerPoint Presentation</vt:lpstr>
      <vt:lpstr>Changes in EOC Ward</vt:lpstr>
      <vt:lpstr>PowerPoint Presentation</vt:lpstr>
      <vt:lpstr>Changes in Gardens of The Hospital</vt:lpstr>
      <vt:lpstr>PowerPoint Presentation</vt:lpstr>
      <vt:lpstr>Use of direction sign, labeling of rooms, clean latrine and waste segregation</vt:lpstr>
      <vt:lpstr>Use of color code, alignment of picture &amp; continuous big cleaning day</vt:lpstr>
      <vt:lpstr>Innovative activities of Jhenaidah Sadar Hospital - 1</vt:lpstr>
      <vt:lpstr>PowerPoint Presentation</vt:lpstr>
      <vt:lpstr>Innovative activities of Jhenaidah Sadar Hospital - 4</vt:lpstr>
      <vt:lpstr>Innovative activities of Jhenaidah Sadar Hospital - 5</vt:lpstr>
      <vt:lpstr>Involvement of MP, District Administrator &amp; Mayor in Sadar Hospital</vt:lpstr>
      <vt:lpstr>Internal Monitoring System</vt:lpstr>
      <vt:lpstr>PowerPoint Presentation</vt:lpstr>
      <vt:lpstr>Hospital Environment</vt:lpstr>
      <vt:lpstr>PowerPoint Presentation</vt:lpstr>
      <vt:lpstr>Thank You </vt:lpstr>
    </vt:vector>
  </TitlesOfParts>
  <Company>UNICEF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 and good practice of Quality Improvement through 5S-CQI-TQM approach</dc:title>
  <dc:creator>Emdad</dc:creator>
  <cp:lastModifiedBy>Emdad</cp:lastModifiedBy>
  <cp:revision>471</cp:revision>
  <cp:lastPrinted>2017-03-18T23:47:54Z</cp:lastPrinted>
  <dcterms:created xsi:type="dcterms:W3CDTF">2013-05-05T09:56:19Z</dcterms:created>
  <dcterms:modified xsi:type="dcterms:W3CDTF">2018-04-20T14:34:48Z</dcterms:modified>
</cp:coreProperties>
</file>