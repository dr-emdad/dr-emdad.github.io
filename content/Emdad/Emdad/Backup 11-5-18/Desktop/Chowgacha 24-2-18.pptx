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69" r:id="rId2"/>
  </p:sldMasterIdLst>
  <p:notesMasterIdLst>
    <p:notesMasterId r:id="rId29"/>
  </p:notesMasterIdLst>
  <p:sldIdLst>
    <p:sldId id="256" r:id="rId3"/>
    <p:sldId id="288" r:id="rId4"/>
    <p:sldId id="308" r:id="rId5"/>
    <p:sldId id="309" r:id="rId6"/>
    <p:sldId id="311" r:id="rId7"/>
    <p:sldId id="312" r:id="rId8"/>
    <p:sldId id="362" r:id="rId9"/>
    <p:sldId id="314" r:id="rId10"/>
    <p:sldId id="357" r:id="rId11"/>
    <p:sldId id="358" r:id="rId12"/>
    <p:sldId id="359" r:id="rId13"/>
    <p:sldId id="360" r:id="rId14"/>
    <p:sldId id="361" r:id="rId15"/>
    <p:sldId id="316" r:id="rId16"/>
    <p:sldId id="337" r:id="rId17"/>
    <p:sldId id="370" r:id="rId18"/>
    <p:sldId id="369" r:id="rId19"/>
    <p:sldId id="351" r:id="rId20"/>
    <p:sldId id="368" r:id="rId21"/>
    <p:sldId id="372" r:id="rId22"/>
    <p:sldId id="376" r:id="rId23"/>
    <p:sldId id="373" r:id="rId24"/>
    <p:sldId id="374" r:id="rId25"/>
    <p:sldId id="375" r:id="rId26"/>
    <p:sldId id="371" r:id="rId27"/>
    <p:sldId id="345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9966"/>
    <a:srgbClr val="6699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73" autoAdjust="0"/>
    <p:restoredTop sz="95369" autoAdjust="0"/>
  </p:normalViewPr>
  <p:slideViewPr>
    <p:cSldViewPr>
      <p:cViewPr varScale="1">
        <p:scale>
          <a:sx n="39" d="100"/>
          <a:sy n="39" d="100"/>
        </p:scale>
        <p:origin x="11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643E7C3-ABCC-444D-AE7A-BA4A24F584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25189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A37D56-56D4-4A90-8889-1F8B04D779C9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157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091963A-5467-4962-84B5-24358FC84D12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753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4527016-4825-4940-A658-5571A950D76F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  <p:sp>
        <p:nvSpPr>
          <p:cNvPr id="4608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61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0080D1-3EA0-4778-8E4C-A1AD3C3CC765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053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970321-C93C-4B72-A980-D992168E04A5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4813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59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35330F7-43D2-4BFC-8F67-42B6DEE7734A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887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884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D484A67-B00C-44E1-AB6C-8F16B94A7158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52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996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592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371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242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868182-34DB-4000-9E73-D3CEB6E62CA2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5632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81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D4F48CD-8446-463B-B020-A0201547773E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5734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999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43565B-C423-43CA-BB37-FFE4CEEE6954}" type="slidenum">
              <a:rPr lang="en-US" altLang="en-US">
                <a:solidFill>
                  <a:srgbClr val="000000"/>
                </a:solidFill>
              </a:rPr>
              <a:pPr eaLnBrk="1" hangingPunct="1"/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548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8F0C957-6E22-44F4-B778-CB435EFFC095}" type="slidenum">
              <a:rPr lang="en-US" altLang="en-US">
                <a:solidFill>
                  <a:srgbClr val="000000"/>
                </a:solidFill>
              </a:rPr>
              <a:pPr eaLnBrk="1" hangingPunct="1"/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28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C324893-2578-4F31-A019-D7B2F1E9A53A}" type="slidenum">
              <a:rPr lang="en-US" altLang="en-US">
                <a:solidFill>
                  <a:srgbClr val="000000"/>
                </a:solidFill>
              </a:rPr>
              <a:pPr eaLnBrk="1" hangingPunct="1"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4213"/>
            <a:ext cx="4572000" cy="34290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828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035EC9-EDE8-4F1C-A5D4-4B0D0E54FF54}" type="slidenum">
              <a:rPr lang="en-US" altLang="en-US">
                <a:solidFill>
                  <a:srgbClr val="000000"/>
                </a:solidFill>
              </a:rPr>
              <a:pPr eaLnBrk="1" hangingPunct="1"/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752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CF269F-1D3D-4A93-8469-736A01425A11}" type="slidenum">
              <a:rPr lang="en-US" altLang="en-US">
                <a:solidFill>
                  <a:srgbClr val="000000"/>
                </a:solidFill>
              </a:rPr>
              <a:pPr eaLnBrk="1" hangingPunct="1"/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8870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ADECD02-E641-475E-80FC-8E0CA8B51FA3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  <p:sp>
        <p:nvSpPr>
          <p:cNvPr id="634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23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C1E69A-FC27-4C1E-90AE-B7BB07C6FC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62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3BDEAB-C729-4DF3-A1D3-24AA45DE0E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8900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8D2259-32C7-45FE-A5F5-D4143DFD1F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406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590C28-DE90-4957-8228-FF54A19953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0130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ED22FA-28E5-41E7-AB96-E2A5142AD8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55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C721E1-69AB-4423-A4F3-24893123B6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85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5562C3-0615-4234-906C-3D14B7C71A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192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B779C-6FDC-4179-A215-1B73FC9726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38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C33D64-1FD8-4029-AB93-B8B7E2BC29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412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01FD49-0C52-48FD-9002-D871A57FB9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695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7E071B-9DDC-493F-97FB-6B5DE64558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373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60169E-9B03-40E1-AC89-B21EBAEAF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745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90369E-A84B-45C4-95FE-69DCBCA97C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934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641CC5-7AF9-4627-B7DB-B86EA26CEB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369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54147B-5272-40B9-911F-FBD9400BA0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083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131228DD-3346-4736-B398-A1865EA3E85F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87DDC3B9-B968-4A66-B02C-7FF6CEA2D9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254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E6F8AB35-ED82-4E84-B191-39F688F3D96D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7E392550-726A-40D7-A743-B5F6978A0C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7348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073A4D6-CE30-4FB1-96F7-CFFB54657EEC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21B1427D-8455-47F6-880E-3AB4EEE2A0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691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65937E62-60C1-4F56-9D4D-5A5E1EA1F650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D249D410-DEEE-44FB-A4B2-8916947A2D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63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69EDBA4C-C7BD-4149-B959-2EC8C75608BA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5D0DC53B-0F38-42DA-A197-475AA5900F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8071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E03A59C4-849F-4E91-B060-85B8FE0AAE2D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41F2AF1A-F482-43DC-BB63-BBF474CD8E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3157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E37690F8-CD88-4254-9B57-E6A1FF74FF3D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8AE04B8B-0992-4B8E-BD9D-0FDE74F3F4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31855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507A899-BB70-407B-9B16-D517FE5F792C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C868889A-7E5A-48D8-B25B-91750DD9D1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0312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6037707-FA16-4824-B344-B2E85A8230FE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DA67793D-B456-4C21-849F-76B8DCFF5C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4692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0BA5CB3C-0008-4E2E-8BA9-315089F0BFC9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7D0F2D45-2822-451A-BABC-5E4D70518E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293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A0571336-12FC-4E32-8519-2FD1D25C6BD6}" type="datetimeFigureOut">
              <a:rPr lang="en-US" altLang="en-US"/>
              <a:pPr>
                <a:defRPr/>
              </a:pPr>
              <a:t>7/22/2025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E0ADC839-ACED-476D-AEC2-BE151E1DB5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992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E47A049A-2D4F-4321-9E31-A8A22089CC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2327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fld id="{599FB40F-8B23-4F5B-A9FF-391950B4D5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654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748D7AC-548D-49B0-A292-BFD7ABB41AF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prstClr val="black">
                    <a:tint val="75000"/>
                  </a:prst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D9B8B75-03C4-4899-84FF-E8D923E1D4B5}" type="datetimeFigureOut">
              <a:rPr lang="ja-JP" altLang="en-US"/>
              <a:pPr>
                <a:defRPr/>
              </a:pPr>
              <a:t>2025/7/22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prstClr val="black">
                    <a:tint val="75000"/>
                  </a:prst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898989"/>
                </a:solidFill>
              </a:defRPr>
            </a:lvl1pPr>
          </a:lstStyle>
          <a:p>
            <a:fld id="{79C43E26-1267-41FE-8528-E903C3CC8088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eaLnBrk="1" hangingPunct="1"/>
            <a:endParaRPr lang="en-US" altLang="en-US" sz="4000" smtClean="0"/>
          </a:p>
          <a:p>
            <a:pPr eaLnBrk="1" hangingPunct="1"/>
            <a:endParaRPr lang="en-US" altLang="en-US" smtClean="0"/>
          </a:p>
        </p:txBody>
      </p:sp>
      <p:pic>
        <p:nvPicPr>
          <p:cNvPr id="1638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048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12" descr="Picture 23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9800"/>
            <a:ext cx="5735638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143000" y="1235075"/>
            <a:ext cx="655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50 BEDED UPAZILA  HEALTH  COMPLEX</a:t>
            </a:r>
            <a:r>
              <a:rPr lang="en-US" sz="2400" b="1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br>
              <a:rPr lang="en-US" sz="2400" b="1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</a:br>
            <a:r>
              <a:rPr lang="en-US" sz="2400" b="1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Chowgacha, Jessore.</a:t>
            </a:r>
          </a:p>
        </p:txBody>
      </p:sp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1295400" y="5791200"/>
            <a:ext cx="6553200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 Emdadul Haque</a:t>
            </a:r>
          </a:p>
          <a:p>
            <a:pPr algn="ctr">
              <a:defRPr/>
            </a:pPr>
            <a:r>
              <a:rPr lang="en-US" sz="1600" b="1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Chowgacha UHC, Jessore</a:t>
            </a:r>
            <a:r>
              <a:rPr lang="en-US" b="1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600" b="1" smtClean="0"/>
              <a:t>A Sub-district level Women-Friendly Hospital with a Vision …</a:t>
            </a:r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4267200" y="1676400"/>
            <a:ext cx="312420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400" b="1"/>
          </a:p>
          <a:p>
            <a:pPr algn="ctr"/>
            <a:endParaRPr lang="en-US" altLang="en-US" sz="1600" b="1"/>
          </a:p>
          <a:p>
            <a:pPr algn="ctr"/>
            <a:r>
              <a:rPr lang="en-US" altLang="en-US" sz="1600" b="1"/>
              <a:t>Maximum utilization of Govt.</a:t>
            </a:r>
          </a:p>
          <a:p>
            <a:pPr algn="ctr"/>
            <a:r>
              <a:rPr lang="en-US" altLang="en-US" sz="1600" b="1"/>
              <a:t>resources with </a:t>
            </a:r>
          </a:p>
          <a:p>
            <a:pPr algn="ctr"/>
            <a:r>
              <a:rPr lang="en-US" altLang="en-US" sz="1600" b="1"/>
              <a:t>honesty and sincerity</a:t>
            </a:r>
          </a:p>
          <a:p>
            <a:pPr algn="ctr"/>
            <a:endParaRPr lang="en-US" altLang="en-US" sz="1600" b="1"/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4267200" y="4876800"/>
            <a:ext cx="3200400" cy="1219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600" b="1"/>
              <a:t>Providing Effective and </a:t>
            </a:r>
          </a:p>
          <a:p>
            <a:pPr algn="ctr"/>
            <a:r>
              <a:rPr lang="en-US" altLang="en-US" sz="1600" b="1"/>
              <a:t>prompt services </a:t>
            </a:r>
          </a:p>
          <a:p>
            <a:pPr algn="ctr"/>
            <a:r>
              <a:rPr lang="en-US" altLang="en-US" sz="1600" b="1"/>
              <a:t>through improved </a:t>
            </a:r>
          </a:p>
          <a:p>
            <a:pPr algn="ctr"/>
            <a:r>
              <a:rPr lang="en-US" altLang="en-US" sz="1600" b="1"/>
              <a:t>management system</a:t>
            </a:r>
          </a:p>
        </p:txBody>
      </p:sp>
      <p:sp>
        <p:nvSpPr>
          <p:cNvPr id="17413" name="AutoShape 6"/>
          <p:cNvSpPr>
            <a:spLocks noChangeArrowheads="1"/>
          </p:cNvSpPr>
          <p:nvPr/>
        </p:nvSpPr>
        <p:spPr bwMode="auto">
          <a:xfrm>
            <a:off x="1447800" y="22098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4" name="AutoShape 7"/>
          <p:cNvSpPr>
            <a:spLocks noChangeArrowheads="1"/>
          </p:cNvSpPr>
          <p:nvPr/>
        </p:nvSpPr>
        <p:spPr bwMode="auto">
          <a:xfrm>
            <a:off x="1524000" y="52578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5" name="Oval 9"/>
          <p:cNvSpPr>
            <a:spLocks noChangeArrowheads="1"/>
          </p:cNvSpPr>
          <p:nvPr/>
        </p:nvSpPr>
        <p:spPr bwMode="auto">
          <a:xfrm>
            <a:off x="4419600" y="3276600"/>
            <a:ext cx="3200400" cy="1219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600" b="1"/>
              <a:t>Integrated approach of </a:t>
            </a:r>
          </a:p>
          <a:p>
            <a:pPr algn="ctr"/>
            <a:r>
              <a:rPr lang="en-US" altLang="en-US" sz="1600" b="1"/>
              <a:t>Administration, Community</a:t>
            </a:r>
          </a:p>
          <a:p>
            <a:pPr algn="ctr"/>
            <a:r>
              <a:rPr lang="en-US" altLang="en-US" sz="1600" b="1"/>
              <a:t>Leaders &amp; Health </a:t>
            </a:r>
          </a:p>
          <a:p>
            <a:pPr algn="ctr"/>
            <a:r>
              <a:rPr lang="en-US" altLang="en-US" sz="1600" b="1"/>
              <a:t>Management</a:t>
            </a:r>
          </a:p>
        </p:txBody>
      </p:sp>
      <p:sp>
        <p:nvSpPr>
          <p:cNvPr id="17416" name="AutoShape 10"/>
          <p:cNvSpPr>
            <a:spLocks noChangeArrowheads="1"/>
          </p:cNvSpPr>
          <p:nvPr/>
        </p:nvSpPr>
        <p:spPr bwMode="auto">
          <a:xfrm>
            <a:off x="1371600" y="3581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>
          <a:xfrm>
            <a:off x="1600200" y="2286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smtClean="0"/>
              <a:t>Total population		:    247887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smtClean="0"/>
              <a:t>Total Fertile Couples 		:    53033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smtClean="0"/>
              <a:t>Total Pregnant		:    5264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smtClean="0"/>
              <a:t>Total Delivery		:    4475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smtClean="0"/>
              <a:t>Total Live birth		:    4389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smtClean="0"/>
              <a:t>Total death 			:    1009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smtClean="0"/>
              <a:t>Total Maternal death		:    03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smtClean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	a. Doctor			:    12 (10+2)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	b. Nurse                  		:   18(14+4)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	c. HA                   		:    25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	d. SBA                   		:    13( 3HA+10 FWA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          e. Volunteer, Security guard &amp; cleaner: 52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	a. Health Complex        	:   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	b. H &amp; FWC                   	:   11 (RD- 4 + FWC– 7 )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	c. Community clinic		:    23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smtClean="0"/>
              <a:t>	d. Non- Govt. Clinic  		:    04</a:t>
            </a:r>
          </a:p>
          <a:p>
            <a:pPr marL="609600" indent="-609600" eaLnBrk="1" hangingPunct="1">
              <a:buFontTx/>
              <a:buNone/>
            </a:pPr>
            <a:endParaRPr lang="en-US" altLang="en-US" sz="1600" b="1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smtClean="0"/>
              <a:t>Health Profile of Chowgacha Upazila- 2011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457200" y="457200"/>
            <a:ext cx="8229600" cy="505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10. Mother Taken-ANC	1</a:t>
            </a:r>
            <a:r>
              <a:rPr lang="en-US" altLang="en-US" sz="1600" b="1" baseline="30000"/>
              <a:t>st</a:t>
            </a:r>
            <a:r>
              <a:rPr lang="en-US" altLang="en-US" sz="1600" b="1"/>
              <a:t> 	:    170% (8935) 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en-US" sz="1600" b="1"/>
              <a:t>11. Hospital Delivery Rate		:    98.6% (4413)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en-US" sz="1600" b="1"/>
              <a:t>12. Total C. Section rate		:    22.5% (1007)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en-US" sz="1600" b="1"/>
              <a:t>13. Total C. Section rate of 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en-US" sz="1600" b="1"/>
              <a:t>   Chowgacha Mothers		:    12.8% (575)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lang="en-US" altLang="en-US" sz="1600" b="1"/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en-US" sz="1600" b="1"/>
              <a:t>14. No. of Hospital bed		:    50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15. Bed Occupancy Rate 		:    208%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16. CPR    			:    69%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17. CBR				:    17.7 /1000 population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18CDR       			:    4.1 /1000 population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19. Population Growth Rate		:    1.36 %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20. Maternal Mortality Ratio		:    68 / 100000 live birth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21. Neonatal Mortality Rate		:    18.2 / 1000 live birth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22. Infant Mortality Rate   		:    23.6 /1000 live birth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600" b="1"/>
              <a:t>23. Under-5 Mortality Rate   		:    25.7 /1000 live birth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smtClean="0"/>
              <a:t>Background History of MCH services of Chowgacha Health Complex, Jessore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9530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en-US" sz="1800" b="1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altLang="en-US" sz="1800" b="1" u="sng" smtClean="0"/>
              <a:t>from January 1995 to 1997 </a:t>
            </a:r>
            <a:r>
              <a:rPr lang="en-US" altLang="en-US" sz="1800" b="1" u="sng" smtClean="0">
                <a:solidFill>
                  <a:srgbClr val="0000FF"/>
                </a:solidFill>
              </a:rPr>
              <a:t>JICA</a:t>
            </a:r>
            <a:r>
              <a:rPr lang="en-US" altLang="en-US" sz="1800" b="1" u="sng" smtClean="0"/>
              <a:t> helped us by Frontline MCH Program to implement the program by giving technical and logistic supports. Since 1998 </a:t>
            </a:r>
            <a:r>
              <a:rPr lang="en-US" altLang="en-US" sz="1800" b="1" u="sng" smtClean="0">
                <a:solidFill>
                  <a:srgbClr val="0000FF"/>
                </a:solidFill>
              </a:rPr>
              <a:t>DGHS</a:t>
            </a:r>
            <a:r>
              <a:rPr lang="en-US" altLang="en-US" sz="1800" b="1" u="sng" smtClean="0"/>
              <a:t> &amp; </a:t>
            </a:r>
            <a:r>
              <a:rPr lang="en-US" altLang="en-US" sz="1800" b="1" u="sng" smtClean="0">
                <a:solidFill>
                  <a:srgbClr val="0000FF"/>
                </a:solidFill>
              </a:rPr>
              <a:t>UNICEF</a:t>
            </a:r>
            <a:r>
              <a:rPr lang="en-US" altLang="en-US" sz="1800" b="1" u="sng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altLang="en-US" sz="1800" b="1" u="sng" smtClean="0"/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en-US" sz="1800" b="1" u="sng" smtClean="0"/>
              <a:t>support.</a:t>
            </a:r>
            <a:endParaRPr lang="en-US" altLang="en-US" sz="1800" b="1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en-US" sz="1800" b="1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altLang="en-US" sz="1800" b="1" smtClean="0">
                <a:solidFill>
                  <a:srgbClr val="0000FF"/>
                </a:solidFill>
              </a:rPr>
              <a:t>ANC-Corner</a:t>
            </a:r>
            <a:r>
              <a:rPr lang="en-US" altLang="en-US" sz="1800" b="1" smtClean="0"/>
              <a:t> – leaded by female Medical Officer for pregnant mother for effective ANC services who receive TT immunization in the Health Complex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altLang="en-US" sz="1800" b="1" smtClean="0">
                <a:solidFill>
                  <a:srgbClr val="0000FF"/>
                </a:solidFill>
              </a:rPr>
              <a:t>Basic EOC service</a:t>
            </a:r>
            <a:r>
              <a:rPr lang="en-US" altLang="en-US" sz="1800" b="1" smtClean="0"/>
              <a:t> by a Gyne &amp; Obs. trained MO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altLang="en-US" sz="1800" b="1" smtClean="0">
                <a:solidFill>
                  <a:srgbClr val="0000FF"/>
                </a:solidFill>
              </a:rPr>
              <a:t>Under 5 corner for under 5 children</a:t>
            </a:r>
            <a:r>
              <a:rPr lang="en-US" altLang="en-US" sz="1800" b="1" smtClean="0"/>
              <a:t> for their nutritional assessment and treatment by RMO.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altLang="en-US" sz="1800" b="1" smtClean="0">
                <a:solidFill>
                  <a:srgbClr val="0000FF"/>
                </a:solidFill>
              </a:rPr>
              <a:t>Monthly birth and death record</a:t>
            </a:r>
            <a:r>
              <a:rPr lang="en-US" altLang="en-US" sz="1800" b="1" smtClean="0"/>
              <a:t> by specially developed format by health assistant throughout the Upazilla to asses the progress of maternal and child health status by health indicators supervised by UH&amp;FPO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altLang="en-US" sz="1800" b="1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smtClean="0"/>
              <a:t>Contd.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From Dec. 1999 Reproductive Health Department of DGHS and UNICEF gave logistic supports and human resources development (like medical officer trained in anesthesia).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altLang="en-US" sz="500" b="1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Form November 2000 started Comprehensive EOC program.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altLang="en-US" sz="500" b="1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In 2004, 2005, 2006, 2007 , 2008, 2009 , 2010,2011,2012&amp;,2013 the UHC was awarded by the Bangladesh Government and UNICEF for best performance on EOC Service.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altLang="en-US" sz="500" b="1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From August 2006 Safe Blood Transfusion unit established with the aid of UNICEF.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altLang="en-US" sz="500" b="1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From April 2007 Demand Side Financing (DSF) program started. 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altLang="en-US" sz="500" b="1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Women friendly Hospital declared in 2008.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altLang="en-US" sz="500" b="1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Hospital is declared as model health complex on 20 June 2008 and upgraded to 50 bedded hospital by Secretary of Ministry of Health &amp; family welfare.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altLang="en-US" sz="500" b="1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Chowgacha health complex Model is replicable through out the country. Declared by Dr. Margaret Chan, D.G. WHO on 8</a:t>
            </a:r>
            <a:r>
              <a:rPr lang="en-US" altLang="en-US" sz="1600" b="1" baseline="30000" smtClean="0"/>
              <a:t>th</a:t>
            </a:r>
            <a:r>
              <a:rPr lang="en-US" altLang="en-US" sz="1600" b="1" smtClean="0"/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Major Killer Disease (diabetes, hypertension, cancer, RTA &amp; poisoning)  prevention program starts in  1</a:t>
            </a:r>
            <a:r>
              <a:rPr lang="en-US" altLang="en-US" sz="1600" b="1" baseline="30000" smtClean="0"/>
              <a:t>st</a:t>
            </a:r>
            <a:r>
              <a:rPr lang="en-US" altLang="en-US" sz="1600" b="1" smtClean="0"/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en-US" sz="1600" b="1" smtClean="0"/>
              <a:t>TQM activates starts in July 2011 by the support of JACA.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7500"/>
            <a:ext cx="8229600" cy="698500"/>
          </a:xfrm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200" b="1" smtClean="0"/>
              <a:t>Upazila Health  Complex</a:t>
            </a:r>
            <a:br>
              <a:rPr lang="en-US" altLang="en-US" sz="3200" b="1" smtClean="0"/>
            </a:br>
            <a:r>
              <a:rPr lang="en-US" altLang="en-US" sz="2000" b="1" smtClean="0"/>
              <a:t>CHOWGACHA , JESSORE.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/>
          <a:p>
            <a:pPr algn="ctr">
              <a:buFontTx/>
              <a:buNone/>
            </a:pPr>
            <a:endParaRPr lang="en-US" altLang="en-US" sz="2800" smtClean="0"/>
          </a:p>
          <a:p>
            <a:pPr algn="ctr">
              <a:buFontTx/>
              <a:buNone/>
            </a:pPr>
            <a:endParaRPr lang="en-US" altLang="en-US" sz="2800" smtClean="0"/>
          </a:p>
        </p:txBody>
      </p:sp>
      <p:graphicFrame>
        <p:nvGraphicFramePr>
          <p:cNvPr id="88192" name="Group 128"/>
          <p:cNvGraphicFramePr>
            <a:graphicFrameLocks noGrp="1"/>
          </p:cNvGraphicFramePr>
          <p:nvPr>
            <p:ph sz="quarter" idx="2"/>
          </p:nvPr>
        </p:nvGraphicFramePr>
        <p:xfrm>
          <a:off x="1905000" y="2438400"/>
          <a:ext cx="5181600" cy="3932239"/>
        </p:xfrm>
        <a:graphic>
          <a:graphicData uri="http://schemas.openxmlformats.org/drawingml/2006/table">
            <a:tbl>
              <a:tblPr/>
              <a:tblGrid>
                <a:gridCol w="742950"/>
                <a:gridCol w="1009650"/>
                <a:gridCol w="1752600"/>
                <a:gridCol w="1676400"/>
              </a:tblGrid>
              <a:tr h="8230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Emergency Patients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Out door Service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4308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80591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4287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105963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4275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120117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5144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126369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7071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95958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0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6318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91638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120" name="Rectangle 56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Emergency &amp; Out door  Service 2005 to 2011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7500"/>
            <a:ext cx="8229600" cy="8255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smtClean="0"/>
              <a:t>Upazila Health  Complex</a:t>
            </a:r>
            <a:br>
              <a:rPr lang="en-US" altLang="en-US" sz="3200" b="1" smtClean="0"/>
            </a:br>
            <a:r>
              <a:rPr lang="en-US" altLang="en-US" sz="2000" b="1" smtClean="0"/>
              <a:t>CHOWGACHA , JESSORE.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 smtClean="0"/>
          </a:p>
          <a:p>
            <a:pPr algn="ctr" eaLnBrk="1" hangingPunct="1">
              <a:buFontTx/>
              <a:buNone/>
            </a:pPr>
            <a:endParaRPr lang="en-US" altLang="en-US" sz="2800" smtClean="0"/>
          </a:p>
        </p:txBody>
      </p:sp>
      <p:graphicFrame>
        <p:nvGraphicFramePr>
          <p:cNvPr id="1154" name="Group 130"/>
          <p:cNvGraphicFramePr>
            <a:graphicFrameLocks noGrp="1"/>
          </p:cNvGraphicFramePr>
          <p:nvPr>
            <p:ph sz="quarter" idx="2"/>
          </p:nvPr>
        </p:nvGraphicFramePr>
        <p:xfrm>
          <a:off x="228600" y="2667000"/>
          <a:ext cx="5334000" cy="3749674"/>
        </p:xfrm>
        <a:graphic>
          <a:graphicData uri="http://schemas.openxmlformats.org/drawingml/2006/table">
            <a:tbl>
              <a:tblPr/>
              <a:tblGrid>
                <a:gridCol w="688975"/>
                <a:gridCol w="1031875"/>
                <a:gridCol w="1174750"/>
                <a:gridCol w="990600"/>
                <a:gridCol w="1447800"/>
              </a:tblGrid>
              <a:tr h="1006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indoor Service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No of Bed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7126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8743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10944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12717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185.0%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13887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14819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688" name="Rectangle 48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6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Indoor Service 2005 to 2011</a:t>
            </a:r>
          </a:p>
        </p:txBody>
      </p:sp>
      <p:graphicFrame>
        <p:nvGraphicFramePr>
          <p:cNvPr id="23610" name="Object 131"/>
          <p:cNvGraphicFramePr>
            <a:graphicFrameLocks noChangeAspect="1"/>
          </p:cNvGraphicFramePr>
          <p:nvPr/>
        </p:nvGraphicFramePr>
        <p:xfrm>
          <a:off x="5562600" y="3505200"/>
          <a:ext cx="358140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1" name="Chart" r:id="rId4" imgW="4495800" imgH="2648102" progId="Excel.Chart.8">
                  <p:embed/>
                </p:oleObj>
              </mc:Choice>
              <mc:Fallback>
                <p:oleObj name="Chart" r:id="rId4" imgW="4495800" imgH="2648102" progId="Excel.Chart.8">
                  <p:embed/>
                  <p:pic>
                    <p:nvPicPr>
                      <p:cNvPr id="0" name="Object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505200"/>
                        <a:ext cx="3581400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200" b="1" smtClean="0"/>
              <a:t>Upazila Health  Complex</a:t>
            </a:r>
            <a:br>
              <a:rPr lang="en-US" altLang="en-US" sz="3200" b="1" smtClean="0"/>
            </a:br>
            <a:r>
              <a:rPr lang="en-US" altLang="en-US" sz="2000" b="1" smtClean="0"/>
              <a:t>CHOWGACHA , JESSORE.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 smtClean="0"/>
          </a:p>
          <a:p>
            <a:pPr algn="ctr">
              <a:buFontTx/>
              <a:buNone/>
            </a:pPr>
            <a:endParaRPr lang="en-US" altLang="en-US" sz="2800" smtClean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24581" name="Object 25"/>
          <p:cNvGraphicFramePr>
            <a:graphicFrameLocks noChangeAspect="1"/>
          </p:cNvGraphicFramePr>
          <p:nvPr>
            <p:ph sz="half" idx="2"/>
          </p:nvPr>
        </p:nvGraphicFramePr>
        <p:xfrm>
          <a:off x="990600" y="2286000"/>
          <a:ext cx="71628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200" b="1" smtClean="0"/>
              <a:t>Upazila Health  Complex</a:t>
            </a:r>
            <a:br>
              <a:rPr lang="en-US" altLang="en-US" sz="3200" b="1" smtClean="0"/>
            </a:br>
            <a:r>
              <a:rPr lang="en-US" altLang="en-US" sz="2000" b="1" smtClean="0"/>
              <a:t>CHOWGACHA , JESSORE.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 smtClean="0"/>
          </a:p>
          <a:p>
            <a:pPr algn="ctr">
              <a:buFontTx/>
              <a:buNone/>
            </a:pPr>
            <a:endParaRPr lang="en-US" altLang="en-US" sz="2800" smtClean="0"/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(Admission in labour ward </a:t>
            </a:r>
          </a:p>
        </p:txBody>
      </p:sp>
      <p:graphicFrame>
        <p:nvGraphicFramePr>
          <p:cNvPr id="25605" name="Object 24"/>
          <p:cNvGraphicFramePr>
            <a:graphicFrameLocks noChangeAspect="1"/>
          </p:cNvGraphicFramePr>
          <p:nvPr>
            <p:ph sz="half" idx="2"/>
          </p:nvPr>
        </p:nvGraphicFramePr>
        <p:xfrm>
          <a:off x="1295400" y="2286000"/>
          <a:ext cx="7086600" cy="403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86000"/>
                        <a:ext cx="7086600" cy="403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200" b="1" smtClean="0"/>
              <a:t>Upazila Health  Complex</a:t>
            </a:r>
            <a:br>
              <a:rPr lang="en-US" altLang="en-US" sz="3200" b="1" smtClean="0"/>
            </a:br>
            <a:r>
              <a:rPr lang="en-US" altLang="en-US" sz="2000" b="1" smtClean="0"/>
              <a:t>CHOWGACHA , JESSORE.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 smtClean="0"/>
          </a:p>
          <a:p>
            <a:pPr algn="ctr">
              <a:buFontTx/>
              <a:buNone/>
            </a:pPr>
            <a:endParaRPr lang="en-US" altLang="en-US" sz="2800" smtClean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  <p:graphicFrame>
        <p:nvGraphicFramePr>
          <p:cNvPr id="26629" name="Object 29"/>
          <p:cNvGraphicFramePr>
            <a:graphicFrameLocks noChangeAspect="1"/>
          </p:cNvGraphicFramePr>
          <p:nvPr>
            <p:ph sz="half" idx="2"/>
          </p:nvPr>
        </p:nvGraphicFramePr>
        <p:xfrm>
          <a:off x="914400" y="2209800"/>
          <a:ext cx="7696200" cy="438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09800"/>
                        <a:ext cx="7696200" cy="438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3200" b="1" smtClean="0"/>
              <a:t>Upazila Health  Complex</a:t>
            </a:r>
            <a:br>
              <a:rPr lang="en-US" altLang="en-US" sz="3200" b="1" smtClean="0"/>
            </a:br>
            <a:r>
              <a:rPr lang="en-US" altLang="en-US" sz="2000" b="1" smtClean="0"/>
              <a:t>CHOWGACHA , JESSORE.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 smtClean="0"/>
          </a:p>
          <a:p>
            <a:pPr algn="ctr">
              <a:buFontTx/>
              <a:buNone/>
            </a:pPr>
            <a:endParaRPr lang="en-US" alt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  <p:graphicFrame>
        <p:nvGraphicFramePr>
          <p:cNvPr id="27653" name="Object 105"/>
          <p:cNvGraphicFramePr>
            <a:graphicFrameLocks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smtClean="0"/>
              <a:t>Upazila Health  Complex</a:t>
            </a:r>
            <a:br>
              <a:rPr lang="en-US" altLang="en-US" sz="3600" b="1" smtClean="0"/>
            </a:br>
            <a:r>
              <a:rPr lang="en-US" altLang="en-US" sz="2400" b="1" smtClean="0"/>
              <a:t>CHOWGACHA , JESSORE.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2006 - 2011 (Caesarian Tubectomy)</a:t>
            </a:r>
          </a:p>
        </p:txBody>
      </p:sp>
      <p:grpSp>
        <p:nvGrpSpPr>
          <p:cNvPr id="28676" name="Group 23"/>
          <p:cNvGrpSpPr>
            <a:grpSpLocks/>
          </p:cNvGrpSpPr>
          <p:nvPr/>
        </p:nvGrpSpPr>
        <p:grpSpPr bwMode="auto">
          <a:xfrm>
            <a:off x="1981200" y="2590800"/>
            <a:ext cx="5029200" cy="3276600"/>
            <a:chOff x="1440" y="2640"/>
            <a:chExt cx="2544" cy="1449"/>
          </a:xfrm>
        </p:grpSpPr>
        <p:sp>
          <p:nvSpPr>
            <p:cNvPr id="28677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3579" y="3168"/>
              <a:ext cx="117" cy="4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2011</a:t>
              </a:r>
            </a:p>
          </p:txBody>
        </p:sp>
        <p:graphicFrame>
          <p:nvGraphicFramePr>
            <p:cNvPr id="28678" name="Object 14"/>
            <p:cNvGraphicFramePr>
              <a:graphicFrameLocks noChangeAspect="1"/>
            </p:cNvGraphicFramePr>
            <p:nvPr/>
          </p:nvGraphicFramePr>
          <p:xfrm>
            <a:off x="1440" y="2640"/>
            <a:ext cx="2544" cy="1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85" name="Chart" r:id="rId3" imgW="4667402" imgH="2657551" progId="Excel.Chart.8">
                    <p:embed/>
                  </p:oleObj>
                </mc:Choice>
                <mc:Fallback>
                  <p:oleObj name="Chart" r:id="rId3" imgW="4667402" imgH="2657551" progId="Excel.Chart.8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640"/>
                          <a:ext cx="2544" cy="1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9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1792" y="3427"/>
              <a:ext cx="156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46</a:t>
              </a:r>
            </a:p>
          </p:txBody>
        </p:sp>
        <p:sp>
          <p:nvSpPr>
            <p:cNvPr id="28680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2144" y="3360"/>
              <a:ext cx="156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</a:p>
          </p:txBody>
        </p:sp>
        <p:sp>
          <p:nvSpPr>
            <p:cNvPr id="28681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2448" y="3408"/>
              <a:ext cx="156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53</a:t>
              </a:r>
            </a:p>
          </p:txBody>
        </p:sp>
        <p:sp>
          <p:nvSpPr>
            <p:cNvPr id="28682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2816" y="3456"/>
              <a:ext cx="156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47</a:t>
              </a:r>
            </a:p>
          </p:txBody>
        </p:sp>
        <p:sp>
          <p:nvSpPr>
            <p:cNvPr id="28683" name="WordArt 20"/>
            <p:cNvSpPr>
              <a:spLocks noChangeArrowheads="1" noChangeShapeType="1" noTextEdit="1"/>
            </p:cNvSpPr>
            <p:nvPr/>
          </p:nvSpPr>
          <p:spPr bwMode="auto">
            <a:xfrm>
              <a:off x="3168" y="3264"/>
              <a:ext cx="156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82</a:t>
              </a:r>
            </a:p>
          </p:txBody>
        </p:sp>
        <p:sp>
          <p:nvSpPr>
            <p:cNvPr id="28684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3520" y="2744"/>
              <a:ext cx="156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167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smtClean="0"/>
              <a:t>Upazila Health  Complex</a:t>
            </a:r>
            <a:br>
              <a:rPr lang="en-US" altLang="en-US" sz="3200" b="1" smtClean="0"/>
            </a:br>
            <a:r>
              <a:rPr lang="en-US" altLang="en-US" sz="2000" b="1" smtClean="0"/>
              <a:t>CHOWGACHA , JESSORE.</a:t>
            </a:r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(PNC )</a:t>
            </a:r>
          </a:p>
        </p:txBody>
      </p:sp>
      <p:graphicFrame>
        <p:nvGraphicFramePr>
          <p:cNvPr id="29700" name="Object 21"/>
          <p:cNvGraphicFramePr>
            <a:graphicFrameLocks noChangeAspect="1"/>
          </p:cNvGraphicFramePr>
          <p:nvPr/>
        </p:nvGraphicFramePr>
        <p:xfrm>
          <a:off x="990600" y="2362200"/>
          <a:ext cx="7086600" cy="403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362200"/>
                        <a:ext cx="7086600" cy="403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62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smtClean="0"/>
              <a:t>Upazila Health  Complex</a:t>
            </a:r>
            <a:br>
              <a:rPr lang="en-US" altLang="en-US" sz="3200" b="1" smtClean="0"/>
            </a:br>
            <a:r>
              <a:rPr lang="en-US" altLang="en-US" sz="2000" b="1" smtClean="0"/>
              <a:t>CHOWGACHA , JESSORE.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 smtClean="0"/>
          </a:p>
          <a:p>
            <a:pPr algn="ctr" eaLnBrk="1" hangingPunct="1">
              <a:buFontTx/>
              <a:buNone/>
            </a:pPr>
            <a:endParaRPr lang="en-US" altLang="en-US" sz="2800" smtClean="0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Progress Of EOC Activities based on UN Process Indicators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441325" y="2246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8708" name="Group 276"/>
          <p:cNvGraphicFramePr>
            <a:graphicFrameLocks noGrp="1"/>
          </p:cNvGraphicFramePr>
          <p:nvPr>
            <p:ph sz="half" idx="2"/>
          </p:nvPr>
        </p:nvGraphicFramePr>
        <p:xfrm>
          <a:off x="715963" y="1905000"/>
          <a:ext cx="8047037" cy="4075114"/>
        </p:xfrm>
        <a:graphic>
          <a:graphicData uri="http://schemas.openxmlformats.org/drawingml/2006/table">
            <a:tbl>
              <a:tblPr/>
              <a:tblGrid>
                <a:gridCol w="469900"/>
                <a:gridCol w="2349500"/>
                <a:gridCol w="914400"/>
                <a:gridCol w="609600"/>
                <a:gridCol w="685800"/>
                <a:gridCol w="762000"/>
                <a:gridCol w="774700"/>
                <a:gridCol w="801687"/>
                <a:gridCol w="679450"/>
              </a:tblGrid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 of UN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Pregnancy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5270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5793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5595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Hospital delivery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3755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4413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Caesarian section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473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death in health Complex.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of birth in health Complex.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&gt;15%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Met-need for EmOC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92.1%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175 %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263%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of all births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22.5%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9900"/>
                          </a:solidFill>
                          <a:effectLst/>
                          <a:latin typeface="Arial" charset="0"/>
                          <a:cs typeface="Arial" charset="0"/>
                        </a:rPr>
                        <a:t>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5-15%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Case Fatality Rate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0.44%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.13%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0.38%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828" name="Text Box 108"/>
          <p:cNvSpPr txBox="1">
            <a:spLocks noChangeArrowheads="1"/>
          </p:cNvSpPr>
          <p:nvPr/>
        </p:nvSpPr>
        <p:spPr bwMode="auto">
          <a:xfrm>
            <a:off x="914400" y="5943600"/>
            <a:ext cx="715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669900"/>
                </a:solidFill>
              </a:rPr>
              <a:t>*</a:t>
            </a:r>
            <a:r>
              <a:rPr lang="en-US" altLang="en-US"/>
              <a:t> </a:t>
            </a:r>
            <a:r>
              <a:rPr lang="en-US" altLang="en-US" sz="1400"/>
              <a:t> Among the total delivery of Chowgacha Upazilla, the CS rate is 12.8% but CS 9.7% is </a:t>
            </a:r>
          </a:p>
          <a:p>
            <a:r>
              <a:rPr lang="en-US" altLang="en-US" sz="1400"/>
              <a:t>increased due to complicated delivery from outside this upazilla.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457200" y="3063875"/>
          <a:ext cx="8153400" cy="262103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640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</a:tr>
              <a:tr h="5790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</a:tr>
              <a:tr h="6704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695" marB="45695" horzOverflow="overflow"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 err="1" smtClean="0">
                <a:solidFill>
                  <a:sysClr val="windowText" lastClr="000000"/>
                </a:solidFill>
              </a:rPr>
              <a:t>Upazila</a:t>
            </a:r>
            <a:r>
              <a:rPr lang="en-US" sz="3200" b="1" kern="0" dirty="0" smtClean="0">
                <a:solidFill>
                  <a:sysClr val="windowText" lastClr="000000"/>
                </a:solidFill>
              </a:rPr>
              <a:t> Health  Complex</a:t>
            </a:r>
            <a:br>
              <a:rPr lang="en-US" sz="3200" b="1" kern="0" dirty="0" smtClean="0">
                <a:solidFill>
                  <a:sysClr val="windowText" lastClr="000000"/>
                </a:solidFill>
              </a:rPr>
            </a:br>
            <a:r>
              <a:rPr lang="en-US" sz="2000" b="1" kern="0" dirty="0" smtClean="0">
                <a:solidFill>
                  <a:sysClr val="windowText" lastClr="000000"/>
                </a:solidFill>
              </a:rPr>
              <a:t>CHOWGACHA , JESSORE.</a:t>
            </a:r>
          </a:p>
        </p:txBody>
      </p:sp>
      <p:sp>
        <p:nvSpPr>
          <p:cNvPr id="3179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3333CC"/>
                </a:solidFill>
              </a:rPr>
              <a:t>Comparative Data of Delivery of best performing EOC center of Khulna Division in 2011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457200" y="2590800"/>
          <a:ext cx="8153399" cy="34750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alt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altLang="en-US" sz="3200" b="1" smtClean="0">
                <a:solidFill>
                  <a:srgbClr val="000000"/>
                </a:solidFill>
              </a:rPr>
            </a:br>
            <a:r>
              <a:rPr lang="en-US" alt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" descr="Water droplets"/>
          <p:cNvSpPr txBox="1">
            <a:spLocks noChangeArrowheads="1"/>
          </p:cNvSpPr>
          <p:nvPr/>
        </p:nvSpPr>
        <p:spPr bwMode="auto">
          <a:xfrm>
            <a:off x="1828800" y="2057400"/>
            <a:ext cx="5181600" cy="457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00FF"/>
                </a:solidFill>
              </a:rPr>
              <a:t>Under 5 Service (2009-2011)</a:t>
            </a:r>
            <a:r>
              <a:rPr lang="en-US" altLang="en-US" sz="2400" b="1"/>
              <a:t>.</a:t>
            </a:r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876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graphicFrame>
        <p:nvGraphicFramePr>
          <p:cNvPr id="20543" name="Group 63"/>
          <p:cNvGraphicFramePr>
            <a:graphicFrameLocks noGrp="1"/>
          </p:cNvGraphicFramePr>
          <p:nvPr>
            <p:ph idx="1"/>
          </p:nvPr>
        </p:nvGraphicFramePr>
        <p:xfrm>
          <a:off x="647700" y="2819400"/>
          <a:ext cx="8229600" cy="2162186"/>
        </p:xfrm>
        <a:graphic>
          <a:graphicData uri="http://schemas.openxmlformats.org/drawingml/2006/table">
            <a:tbl>
              <a:tblPr/>
              <a:tblGrid>
                <a:gridCol w="954088"/>
                <a:gridCol w="936625"/>
                <a:gridCol w="1019175"/>
                <a:gridCol w="1122362"/>
                <a:gridCol w="1052513"/>
                <a:gridCol w="954087"/>
                <a:gridCol w="885825"/>
                <a:gridCol w="1304925"/>
              </a:tblGrid>
              <a:tr h="457161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S.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No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 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 gridSpan="5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Admission in indoor 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Outdoor 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4571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Male 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Female 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</a:t>
                      </a: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cs typeface="Arial" charset="0"/>
                        </a:rPr>
                        <a:t>Refer 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620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1416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855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2271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55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24776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4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1733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1124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2897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66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20919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0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1458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1013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2471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73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21312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45" name="Rectangle 2"/>
          <p:cNvSpPr txBox="1">
            <a:spLocks noChangeArrowheads="1"/>
          </p:cNvSpPr>
          <p:nvPr/>
        </p:nvSpPr>
        <p:spPr bwMode="auto">
          <a:xfrm>
            <a:off x="457200" y="228600"/>
            <a:ext cx="8229600" cy="990600"/>
          </a:xfrm>
          <a:prstGeom prst="rect">
            <a:avLst/>
          </a:prstGeom>
          <a:solidFill>
            <a:srgbClr val="BBE0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3200" b="1">
                <a:solidFill>
                  <a:srgbClr val="000000"/>
                </a:solidFill>
              </a:rPr>
              <a:t>Upazila Health  Complex</a:t>
            </a:r>
            <a:br>
              <a:rPr lang="en-US" altLang="en-US" sz="3200" b="1">
                <a:solidFill>
                  <a:srgbClr val="000000"/>
                </a:solidFill>
              </a:rPr>
            </a:br>
            <a:r>
              <a:rPr lang="en-US" altLang="en-US" sz="2000" b="1">
                <a:solidFill>
                  <a:srgbClr val="000000"/>
                </a:solidFill>
              </a:rPr>
              <a:t>CHOWGACHA , JESSORE.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altLang="en-US" sz="2800" b="1" i="1" smtClean="0">
                <a:solidFill>
                  <a:schemeClr val="bg1"/>
                </a:solidFill>
                <a:latin typeface="Albertus Extra Bold"/>
              </a:rPr>
              <a:t>MDG 4 and 5 Achieved at Chowgacha in 2011 and SDG targets in 2030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SDG Target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.68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.70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NNMR:			</a:t>
            </a:r>
            <a:r>
              <a:rPr lang="en-US" sz="2600" b="1" dirty="0" smtClean="0">
                <a:solidFill>
                  <a:srgbClr val="0000FF"/>
                </a:solidFill>
              </a:rPr>
              <a:t>   </a:t>
            </a:r>
            <a:r>
              <a:rPr lang="en-US" sz="2200" b="1" dirty="0" smtClean="0">
                <a:solidFill>
                  <a:srgbClr val="669900"/>
                </a:solidFill>
              </a:rPr>
              <a:t>18.2</a:t>
            </a:r>
            <a:r>
              <a:rPr lang="en-US" sz="2600" b="1" dirty="0" smtClean="0">
                <a:solidFill>
                  <a:srgbClr val="669900"/>
                </a:solidFill>
              </a:rPr>
              <a:t>		  -       		   </a:t>
            </a:r>
            <a:r>
              <a:rPr lang="en-US" sz="1700" b="1" dirty="0" smtClean="0">
                <a:solidFill>
                  <a:srgbClr val="0000FF"/>
                </a:solidFill>
              </a:rPr>
              <a:t>12</a:t>
            </a:r>
            <a:r>
              <a:rPr lang="en-US" sz="2600" b="1" dirty="0" smtClean="0">
                <a:solidFill>
                  <a:srgbClr val="669900"/>
                </a:solidFill>
              </a:rPr>
              <a:t>	</a:t>
            </a:r>
            <a:endParaRPr lang="en-US" sz="26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23.6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   -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25.7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25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alt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altLang="en-US" sz="3200" b="1" smtClean="0">
                <a:solidFill>
                  <a:srgbClr val="000000"/>
                </a:solidFill>
              </a:rPr>
            </a:br>
            <a:r>
              <a:rPr lang="en-US" alt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38100" y="228600"/>
            <a:ext cx="8953500" cy="609600"/>
          </a:xfrm>
          <a:solidFill>
            <a:srgbClr val="0000FF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3340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 eaLnBrk="1" hangingPunct="1">
              <a:spcBef>
                <a:spcPct val="0"/>
              </a:spcBef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From 1996 to 2012, took initiatives to develop </a:t>
            </a:r>
            <a:r>
              <a:rPr lang="en-US" sz="2400" b="1" dirty="0" err="1" smtClean="0">
                <a:solidFill>
                  <a:srgbClr val="000000"/>
                </a:solidFill>
              </a:rPr>
              <a:t>Upazilla</a:t>
            </a:r>
            <a:r>
              <a:rPr lang="en-US" sz="2400" b="1" dirty="0" smtClean="0">
                <a:solidFill>
                  <a:srgbClr val="000000"/>
                </a:solidFill>
              </a:rPr>
              <a:t> level standard services </a:t>
            </a:r>
            <a:r>
              <a:rPr lang="en-US" sz="2400" dirty="0" smtClean="0">
                <a:solidFill>
                  <a:srgbClr val="000000"/>
                </a:solidFill>
              </a:rPr>
              <a:t>in </a:t>
            </a:r>
            <a:r>
              <a:rPr lang="en-US" sz="2400" dirty="0" err="1" smtClean="0">
                <a:solidFill>
                  <a:srgbClr val="000000"/>
                </a:solidFill>
              </a:rPr>
              <a:t>Chowgacha</a:t>
            </a:r>
            <a:r>
              <a:rPr lang="en-US" sz="2400" dirty="0" smtClean="0">
                <a:solidFill>
                  <a:srgbClr val="000000"/>
                </a:solidFill>
              </a:rPr>
              <a:t> health complex.</a:t>
            </a:r>
          </a:p>
          <a:p>
            <a:pPr algn="just" eaLnBrk="1" hangingPunct="1">
              <a:spcBef>
                <a:spcPct val="0"/>
              </a:spcBef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In 2010, </a:t>
            </a:r>
            <a:r>
              <a:rPr lang="en-US" sz="2400" dirty="0" err="1" smtClean="0">
                <a:solidFill>
                  <a:srgbClr val="000000"/>
                </a:solidFill>
              </a:rPr>
              <a:t>Chowgacha</a:t>
            </a:r>
            <a:r>
              <a:rPr lang="en-US" sz="2400" dirty="0" smtClean="0">
                <a:solidFill>
                  <a:srgbClr val="000000"/>
                </a:solidFill>
              </a:rPr>
              <a:t> Health Complex declared as the model </a:t>
            </a:r>
            <a:r>
              <a:rPr lang="en-US" sz="2400" dirty="0" err="1" smtClean="0">
                <a:solidFill>
                  <a:srgbClr val="000000"/>
                </a:solidFill>
              </a:rPr>
              <a:t>upazilla</a:t>
            </a:r>
            <a:r>
              <a:rPr lang="en-US" sz="2400" dirty="0" smtClean="0">
                <a:solidFill>
                  <a:srgbClr val="000000"/>
                </a:solidFill>
              </a:rPr>
              <a:t> health complex.</a:t>
            </a:r>
          </a:p>
          <a:p>
            <a:pPr algn="just" eaLnBrk="1" hangingPunct="1">
              <a:spcBef>
                <a:spcPct val="0"/>
              </a:spcBef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Mobilized 46 additional workers from community (26 volunteer, 12 cleaners and others 8).</a:t>
            </a:r>
          </a:p>
          <a:p>
            <a:pPr algn="just" eaLnBrk="1" hangingPunct="1">
              <a:spcBef>
                <a:spcPct val="0"/>
              </a:spcBef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 EOC Beds increased from 11 to 41</a:t>
            </a:r>
          </a:p>
          <a:p>
            <a:pPr algn="just" eaLnBrk="1" hangingPunct="1">
              <a:spcBef>
                <a:spcPct val="0"/>
              </a:spcBef>
              <a:defRPr/>
            </a:pPr>
            <a:r>
              <a:rPr lang="en-US" sz="2400" dirty="0" err="1" smtClean="0">
                <a:solidFill>
                  <a:srgbClr val="000000"/>
                </a:solidFill>
              </a:rPr>
              <a:t>Chowgacha</a:t>
            </a:r>
            <a:r>
              <a:rPr lang="en-US" sz="2400" dirty="0" smtClean="0">
                <a:solidFill>
                  <a:srgbClr val="000000"/>
                </a:solidFill>
              </a:rPr>
              <a:t> UHC  became the best EOC center  with 98.4% delivery rate</a:t>
            </a:r>
          </a:p>
          <a:p>
            <a:pPr algn="just" eaLnBrk="1" hangingPunct="1">
              <a:spcBef>
                <a:spcPct val="0"/>
              </a:spcBef>
              <a:defRPr/>
            </a:pPr>
            <a:r>
              <a:rPr lang="en-US" sz="2400" dirty="0" err="1" smtClean="0">
                <a:solidFill>
                  <a:srgbClr val="000000"/>
                </a:solidFill>
              </a:rPr>
              <a:t>Chowgacha</a:t>
            </a:r>
            <a:r>
              <a:rPr lang="en-US" sz="2400" dirty="0" smtClean="0">
                <a:solidFill>
                  <a:srgbClr val="000000"/>
                </a:solidFill>
              </a:rPr>
              <a:t> </a:t>
            </a:r>
            <a:r>
              <a:rPr lang="en-US" sz="2400" smtClean="0">
                <a:solidFill>
                  <a:srgbClr val="000000"/>
                </a:solidFill>
              </a:rPr>
              <a:t>UHC nearly achieved </a:t>
            </a:r>
            <a:r>
              <a:rPr lang="en-US" sz="2400" dirty="0">
                <a:solidFill>
                  <a:srgbClr val="000000"/>
                </a:solidFill>
              </a:rPr>
              <a:t>h</a:t>
            </a:r>
            <a:r>
              <a:rPr lang="en-US" sz="2400" dirty="0" smtClean="0">
                <a:solidFill>
                  <a:srgbClr val="000000"/>
                </a:solidFill>
              </a:rPr>
              <a:t>ealth related SDG target in 2011. </a:t>
            </a:r>
            <a:endParaRPr lang="en-US" sz="2400" dirty="0">
              <a:solidFill>
                <a:srgbClr val="000000"/>
              </a:solidFill>
            </a:endParaRPr>
          </a:p>
          <a:p>
            <a:pPr algn="just" eaLnBrk="1" hangingPunct="1">
              <a:spcBef>
                <a:spcPct val="0"/>
              </a:spcBef>
              <a:defRPr/>
            </a:pPr>
            <a:r>
              <a:rPr lang="en-US" sz="2400" dirty="0" err="1" smtClean="0">
                <a:solidFill>
                  <a:srgbClr val="000000"/>
                </a:solidFill>
              </a:rPr>
              <a:t>Chowgacha</a:t>
            </a:r>
            <a:r>
              <a:rPr lang="en-US" sz="2400" dirty="0" smtClean="0">
                <a:solidFill>
                  <a:srgbClr val="000000"/>
                </a:solidFill>
              </a:rPr>
              <a:t>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0" y="2811463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>
                <a:latin typeface="Calibri" panose="020F0502020204030204" pitchFamily="34" charset="0"/>
              </a:rPr>
              <a:t>Blood donation program stared in 16 December, 1996 in Chowgacha UHC</a:t>
            </a:r>
            <a:endParaRPr lang="en-GB" altLang="en-US">
              <a:latin typeface="Calibri" panose="020F0502020204030204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4800600" y="2825750"/>
            <a:ext cx="42672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altLang="en-US">
                <a:latin typeface="Calibri" panose="020F0502020204030204" pitchFamily="34" charset="0"/>
              </a:rPr>
              <a:t>A seminar held on basic information system at Chowgacha Degree College in June, 1997. DC Jessore was the chief guest . </a:t>
            </a:r>
            <a:endParaRPr lang="en-GB" altLang="en-US">
              <a:latin typeface="Calibri" panose="020F0502020204030204" pitchFamily="34" charset="0"/>
            </a:endParaRPr>
          </a:p>
        </p:txBody>
      </p:sp>
      <p:pic>
        <p:nvPicPr>
          <p:cNvPr id="37894" name="Picture 4" descr="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163" y="3684588"/>
            <a:ext cx="4257675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5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2" descr="DSC0177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3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40966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67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381000"/>
            <a:ext cx="8382000" cy="6096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600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</a:pPr>
            <a:r>
              <a:rPr lang="en-US" altLang="en-US" sz="6000" smtClean="0">
                <a:solidFill>
                  <a:srgbClr val="FF0066"/>
                </a:solidFill>
                <a:latin typeface="Albertus Extra Bold"/>
              </a:rPr>
              <a:t>   </a:t>
            </a:r>
          </a:p>
          <a:p>
            <a:pPr algn="ctr" eaLnBrk="1" hangingPunct="1">
              <a:buFontTx/>
              <a:buNone/>
            </a:pPr>
            <a:r>
              <a:rPr lang="en-US" altLang="en-US" sz="6000" smtClean="0">
                <a:solidFill>
                  <a:schemeClr val="folHlink"/>
                </a:solidFill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</TotalTime>
  <Words>1177</Words>
  <Application>Microsoft Office PowerPoint</Application>
  <PresentationFormat>On-screen Show (4:3)</PresentationFormat>
  <Paragraphs>425</Paragraphs>
  <Slides>26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MS PGothic</vt:lpstr>
      <vt:lpstr>Wingdings</vt:lpstr>
      <vt:lpstr>Times New Roman</vt:lpstr>
      <vt:lpstr>+mj-lt</vt:lpstr>
      <vt:lpstr>Albertus Extra Bold</vt:lpstr>
      <vt:lpstr>Wingdings 2</vt:lpstr>
      <vt:lpstr>Default Design</vt:lpstr>
      <vt:lpstr>Office Theme</vt:lpstr>
      <vt:lpstr>Microsoft Excel Chart</vt:lpstr>
      <vt:lpstr>PowerPoint Presentation</vt:lpstr>
      <vt:lpstr>A Sub-district level Women-Friendly Hospital with a Vision …</vt:lpstr>
      <vt:lpstr>Health Profile of Chowgacha Upazila- 2011</vt:lpstr>
      <vt:lpstr>PowerPoint Presentation</vt:lpstr>
      <vt:lpstr>Background History of MCH services of Chowgacha Health Complex, Jessore</vt:lpstr>
      <vt:lpstr>Contd.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PowerPoint Presentation</vt:lpstr>
      <vt:lpstr>MDG 4 and 5 Achieved at Chowgacha in 2011 and SDG targets in 2030</vt:lpstr>
      <vt:lpstr>Upazila Health  Complex CHOWGACHA , JESSORE.</vt:lpstr>
      <vt:lpstr>Achievement of Chowgacha Health Complex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 Wohidul Islam</dc:creator>
  <cp:lastModifiedBy>user</cp:lastModifiedBy>
  <cp:revision>238</cp:revision>
  <cp:lastPrinted>1601-01-01T00:00:00Z</cp:lastPrinted>
  <dcterms:created xsi:type="dcterms:W3CDTF">1601-01-01T00:00:00Z</dcterms:created>
  <dcterms:modified xsi:type="dcterms:W3CDTF">2025-07-22T11:51:34Z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