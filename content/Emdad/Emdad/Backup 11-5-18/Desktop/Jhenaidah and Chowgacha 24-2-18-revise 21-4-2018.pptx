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68" r:id="rId4"/>
    <p:sldMasterId id="2147484084" r:id="rId5"/>
  </p:sldMasterIdLst>
  <p:notesMasterIdLst>
    <p:notesMasterId r:id="rId48"/>
  </p:notesMasterIdLst>
  <p:sldIdLst>
    <p:sldId id="331" r:id="rId6"/>
    <p:sldId id="345" r:id="rId7"/>
    <p:sldId id="332" r:id="rId8"/>
    <p:sldId id="376" r:id="rId9"/>
    <p:sldId id="401" r:id="rId10"/>
    <p:sldId id="368" r:id="rId11"/>
    <p:sldId id="374" r:id="rId12"/>
    <p:sldId id="341" r:id="rId13"/>
    <p:sldId id="334" r:id="rId14"/>
    <p:sldId id="337" r:id="rId15"/>
    <p:sldId id="338" r:id="rId16"/>
    <p:sldId id="339" r:id="rId17"/>
    <p:sldId id="340" r:id="rId18"/>
    <p:sldId id="405" r:id="rId19"/>
    <p:sldId id="343" r:id="rId20"/>
    <p:sldId id="406" r:id="rId21"/>
    <p:sldId id="256" r:id="rId22"/>
    <p:sldId id="359" r:id="rId23"/>
    <p:sldId id="326" r:id="rId24"/>
    <p:sldId id="327" r:id="rId25"/>
    <p:sldId id="328" r:id="rId26"/>
    <p:sldId id="352" r:id="rId27"/>
    <p:sldId id="404" r:id="rId28"/>
    <p:sldId id="346" r:id="rId29"/>
    <p:sldId id="362" r:id="rId30"/>
    <p:sldId id="369" r:id="rId31"/>
    <p:sldId id="287" r:id="rId32"/>
    <p:sldId id="288" r:id="rId33"/>
    <p:sldId id="290" r:id="rId34"/>
    <p:sldId id="291" r:id="rId35"/>
    <p:sldId id="308" r:id="rId36"/>
    <p:sldId id="323" r:id="rId37"/>
    <p:sldId id="312" r:id="rId38"/>
    <p:sldId id="366" r:id="rId39"/>
    <p:sldId id="364" r:id="rId40"/>
    <p:sldId id="370" r:id="rId41"/>
    <p:sldId id="372" r:id="rId42"/>
    <p:sldId id="297" r:id="rId43"/>
    <p:sldId id="293" r:id="rId44"/>
    <p:sldId id="294" r:id="rId45"/>
    <p:sldId id="330" r:id="rId46"/>
    <p:sldId id="344" r:id="rId4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EE00"/>
    <a:srgbClr val="0C7E17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02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584256"/>
        <c:axId val="117585792"/>
      </c:barChart>
      <c:catAx>
        <c:axId val="117584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7585792"/>
        <c:crosses val="autoZero"/>
        <c:auto val="1"/>
        <c:lblAlgn val="ctr"/>
        <c:lblOffset val="100"/>
        <c:noMultiLvlLbl val="0"/>
      </c:catAx>
      <c:valAx>
        <c:axId val="11758579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175842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636096"/>
        <c:axId val="117900032"/>
      </c:barChart>
      <c:catAx>
        <c:axId val="117636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7900032"/>
        <c:crosses val="autoZero"/>
        <c:auto val="1"/>
        <c:lblAlgn val="ctr"/>
        <c:lblOffset val="100"/>
        <c:noMultiLvlLbl val="0"/>
      </c:catAx>
      <c:valAx>
        <c:axId val="117900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763609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17963776"/>
        <c:axId val="118080256"/>
        <c:axId val="0"/>
      </c:bar3DChart>
      <c:catAx>
        <c:axId val="1179637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8080256"/>
        <c:crosses val="autoZero"/>
        <c:auto val="1"/>
        <c:lblAlgn val="ctr"/>
        <c:lblOffset val="100"/>
        <c:noMultiLvlLbl val="0"/>
      </c:catAx>
      <c:valAx>
        <c:axId val="1180802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179637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4134912"/>
        <c:axId val="124136448"/>
      </c:barChart>
      <c:catAx>
        <c:axId val="124134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4136448"/>
        <c:crosses val="autoZero"/>
        <c:auto val="1"/>
        <c:lblAlgn val="ctr"/>
        <c:lblOffset val="100"/>
        <c:noMultiLvlLbl val="0"/>
      </c:catAx>
      <c:valAx>
        <c:axId val="1241364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41349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42193408"/>
        <c:axId val="142194944"/>
        <c:axId val="0"/>
      </c:bar3DChart>
      <c:catAx>
        <c:axId val="142193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2194944"/>
        <c:crosses val="autoZero"/>
        <c:auto val="1"/>
        <c:lblAlgn val="ctr"/>
        <c:lblOffset val="100"/>
        <c:noMultiLvlLbl val="0"/>
      </c:catAx>
      <c:valAx>
        <c:axId val="142194944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4219340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394826D-A9C4-4BA0-A87A-E9ABADA5E2DC}" type="slidenum">
              <a:rPr lang="en-US">
                <a:solidFill>
                  <a:srgbClr val="000000"/>
                </a:solidFill>
              </a:rPr>
              <a:pPr eaLnBrk="1" hangingPunct="1"/>
              <a:t>14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49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23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42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5/7/2018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14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82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93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164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198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127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6261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3724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843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863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600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2046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871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49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002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836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144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22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82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898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1258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5983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8765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52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205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942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2327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6888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2018/5/7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2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8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  <p:sldLayoutId id="2147484096" r:id="rId12"/>
    <p:sldLayoutId id="2147484097" r:id="rId13"/>
    <p:sldLayoutId id="2147484098" r:id="rId14"/>
    <p:sldLayoutId id="2147484099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2.png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jpeg"/><Relationship Id="rId4" Type="http://schemas.openxmlformats.org/officeDocument/2006/relationships/image" Target="../media/image6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8.jpeg"/><Relationship Id="rId4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6.jpeg"/><Relationship Id="rId4" Type="http://schemas.openxmlformats.org/officeDocument/2006/relationships/image" Target="../media/image8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0.jpeg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4.jpeg"/><Relationship Id="rId4" Type="http://schemas.openxmlformats.org/officeDocument/2006/relationships/image" Target="../media/image93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76200" y="6858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ChowgachaUHC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–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Sadar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Hospital Model In  Bangladesh.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Associate Professor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(Obst &amp; Gynae)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Ad-Din 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Sakina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Medical College 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Jessore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.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07218"/>
              </p:ext>
            </p:extLst>
          </p:nvPr>
        </p:nvGraphicFramePr>
        <p:xfrm>
          <a:off x="148988" y="1105771"/>
          <a:ext cx="8894763" cy="464296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</a:t>
            </a:r>
            <a:r>
              <a:rPr lang="en-US" sz="2800" b="1" dirty="0" smtClean="0"/>
              <a:t>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</a:t>
            </a:r>
            <a:r>
              <a:rPr lang="en-US" sz="2800" b="1" dirty="0" smtClean="0"/>
              <a:t>Health </a:t>
            </a:r>
            <a:r>
              <a:rPr lang="en-US" sz="2800" b="1" dirty="0" err="1" smtClean="0"/>
              <a:t>Complex,Model</a:t>
            </a:r>
            <a:r>
              <a:rPr lang="en-US" sz="2800" b="1" dirty="0" smtClean="0"/>
              <a:t> .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8768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2400" b="1" u="sng" dirty="0" smtClean="0"/>
              <a:t>from January 1995 to 1997 </a:t>
            </a:r>
            <a:r>
              <a:rPr lang="en-US" sz="2400" b="1" u="sng" dirty="0" smtClean="0">
                <a:solidFill>
                  <a:srgbClr val="0000FF"/>
                </a:solidFill>
              </a:rPr>
              <a:t>JICA</a:t>
            </a:r>
            <a:r>
              <a:rPr lang="en-US" sz="2400" b="1" u="sng" dirty="0" smtClean="0"/>
              <a:t> helped us by Frontline MCH Program to implement the program by giving technical and logistic supports. Since 1998 </a:t>
            </a:r>
            <a:r>
              <a:rPr lang="en-US" sz="2400" b="1" u="sng" dirty="0" smtClean="0">
                <a:solidFill>
                  <a:srgbClr val="0000FF"/>
                </a:solidFill>
              </a:rPr>
              <a:t>DGHS</a:t>
            </a:r>
            <a:r>
              <a:rPr lang="en-US" sz="2400" b="1" u="sng" dirty="0" smtClean="0"/>
              <a:t> &amp; </a:t>
            </a:r>
            <a:r>
              <a:rPr lang="en-US" sz="2400" b="1" u="sng" dirty="0" smtClean="0">
                <a:solidFill>
                  <a:srgbClr val="0000FF"/>
                </a:solidFill>
              </a:rPr>
              <a:t>UNICEF</a:t>
            </a:r>
            <a:r>
              <a:rPr lang="en-US" sz="2400" b="1" u="sng" dirty="0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300" b="1" u="sng" dirty="0" smtClean="0"/>
          </a:p>
          <a:p>
            <a:pPr marL="0" indent="0" algn="just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support.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ANC-Corner</a:t>
            </a:r>
            <a:endParaRPr lang="en-US" sz="2400" b="1" dirty="0" smtClean="0"/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400" b="1" dirty="0" smtClean="0"/>
              <a:t>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 smtClean="0"/>
              <a:t> </a:t>
            </a:r>
          </a:p>
          <a:p>
            <a:pPr marL="0" indent="0" eaLnBrk="1" hangingPunct="1">
              <a:spcBef>
                <a:spcPts val="60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Monthly birth and death record &amp;</a:t>
            </a:r>
            <a:r>
              <a:rPr lang="en-US" sz="2400" b="1" dirty="0" err="1" smtClean="0">
                <a:solidFill>
                  <a:srgbClr val="0000FF"/>
                </a:solidFill>
              </a:rPr>
              <a:t>devlop</a:t>
            </a:r>
            <a:r>
              <a:rPr lang="en-US" sz="2400" b="1" dirty="0" smtClean="0">
                <a:solidFill>
                  <a:srgbClr val="0000FF"/>
                </a:solidFill>
              </a:rPr>
              <a:t> information based </a:t>
            </a:r>
            <a:r>
              <a:rPr lang="en-US" sz="2400" b="1" dirty="0" err="1" smtClean="0">
                <a:solidFill>
                  <a:srgbClr val="0000FF"/>
                </a:solidFill>
              </a:rPr>
              <a:t>responsibilites</a:t>
            </a:r>
            <a:r>
              <a:rPr lang="en-US" sz="2400" b="1" dirty="0" smtClean="0">
                <a:solidFill>
                  <a:srgbClr val="0000FF"/>
                </a:solidFill>
              </a:rPr>
              <a:t>.</a:t>
            </a:r>
            <a:endParaRPr lang="en-US" sz="2400" b="1" dirty="0" smtClean="0"/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sz="2800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.68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NNMR:			</a:t>
            </a:r>
            <a:r>
              <a:rPr lang="en-US" sz="2600" b="1" dirty="0" smtClean="0">
                <a:solidFill>
                  <a:srgbClr val="0000FF"/>
                </a:solidFill>
              </a:rPr>
              <a:t>   </a:t>
            </a:r>
            <a:r>
              <a:rPr lang="en-US" sz="2200" b="1" dirty="0" smtClean="0">
                <a:solidFill>
                  <a:srgbClr val="669900"/>
                </a:solidFill>
              </a:rPr>
              <a:t>18.2</a:t>
            </a:r>
            <a:r>
              <a:rPr lang="en-US" sz="2600" b="1" dirty="0" smtClean="0">
                <a:solidFill>
                  <a:srgbClr val="669900"/>
                </a:solidFill>
              </a:rPr>
              <a:t>		</a:t>
            </a:r>
            <a:r>
              <a:rPr lang="en-US" sz="2600" b="1" dirty="0" smtClean="0">
                <a:solidFill>
                  <a:srgbClr val="FF0000"/>
                </a:solidFill>
              </a:rPr>
              <a:t>  -       </a:t>
            </a:r>
            <a:r>
              <a:rPr lang="en-US" sz="2600" b="1" dirty="0" smtClean="0">
                <a:solidFill>
                  <a:srgbClr val="669900"/>
                </a:solidFill>
              </a:rPr>
              <a:t>		   </a:t>
            </a:r>
            <a:r>
              <a:rPr lang="en-US" sz="1700" b="1" dirty="0" smtClean="0">
                <a:solidFill>
                  <a:srgbClr val="0000FF"/>
                </a:solidFill>
              </a:rPr>
              <a:t>12</a:t>
            </a:r>
            <a:r>
              <a:rPr lang="en-US" sz="2600" b="1" dirty="0" smtClean="0">
                <a:solidFill>
                  <a:srgbClr val="669900"/>
                </a:solidFill>
              </a:rPr>
              <a:t>	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23.6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25.7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4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447800"/>
            <a:ext cx="3902166" cy="2743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3EEE00"/>
          </a:solidFill>
        </p:spPr>
        <p:txBody>
          <a:bodyPr/>
          <a:lstStyle/>
          <a:p>
            <a:r>
              <a:rPr lang="en-US" dirty="0" smtClean="0"/>
              <a:t>Activities of Local Industrialist</a:t>
            </a:r>
            <a:endParaRPr lang="en-US" dirty="0"/>
          </a:p>
        </p:txBody>
      </p:sp>
      <p:pic>
        <p:nvPicPr>
          <p:cNvPr id="8" name="Content Placeholder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47801"/>
            <a:ext cx="4114800" cy="243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C:\Users\Nishat\Desktop\PHCC Recent\20151030_12144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199" y="3958988"/>
            <a:ext cx="3902166" cy="2177112"/>
          </a:xfrm>
          <a:prstGeom prst="rect">
            <a:avLst/>
          </a:prstGeom>
          <a:noFill/>
        </p:spPr>
      </p:pic>
      <p:pic>
        <p:nvPicPr>
          <p:cNvPr id="12" name="Content Placeholder 4"/>
          <p:cNvPicPr>
            <a:picLocks noGrp="1"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90833"/>
            <a:ext cx="4114799" cy="218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17771225"/>
              </p:ext>
            </p:extLst>
          </p:nvPr>
        </p:nvGraphicFramePr>
        <p:xfrm>
          <a:off x="457200" y="2590800"/>
          <a:ext cx="8153399" cy="306620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01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 smtClean="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44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4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 algn="just">
              <a:spcBef>
                <a:spcPts val="1200"/>
              </a:spcBef>
              <a:buFontTx/>
              <a:buAutoNum type="arabicPeriod"/>
              <a:defRPr/>
            </a:pP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4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4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4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3962400"/>
            <a:ext cx="394493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661" y="3978275"/>
            <a:ext cx="4173940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ight Arrow 9"/>
          <p:cNvSpPr>
            <a:spLocks noChangeArrowheads="1"/>
          </p:cNvSpPr>
          <p:nvPr/>
        </p:nvSpPr>
        <p:spPr bwMode="auto">
          <a:xfrm>
            <a:off x="4267200" y="5029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246063" y="39909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4876800" y="39766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3886199"/>
            <a:ext cx="4419600" cy="2819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</a:t>
            </a:r>
            <a:r>
              <a:rPr lang="en-US" sz="2800">
                <a:solidFill>
                  <a:schemeClr val="bg1"/>
                </a:solidFill>
              </a:rPr>
              <a:t>pediatric </a:t>
            </a:r>
            <a:r>
              <a:rPr lang="en-US" sz="2800" smtClean="0">
                <a:solidFill>
                  <a:schemeClr val="bg1"/>
                </a:solidFill>
              </a:rPr>
              <a:t>ward </a:t>
            </a:r>
            <a:r>
              <a:rPr lang="en-US" sz="2800" dirty="0">
                <a:solidFill>
                  <a:schemeClr val="bg1"/>
                </a:solidFill>
              </a:rPr>
              <a:t>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3235</TotalTime>
  <Words>1114</Words>
  <Application>Microsoft Office PowerPoint</Application>
  <PresentationFormat>On-screen Show (4:3)</PresentationFormat>
  <Paragraphs>344</Paragraphs>
  <Slides>42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5_シック</vt:lpstr>
      <vt:lpstr>Office Theme</vt:lpstr>
      <vt:lpstr>Default Design</vt:lpstr>
      <vt:lpstr>3_Default Design</vt:lpstr>
      <vt:lpstr>4_Default Design</vt:lpstr>
      <vt:lpstr>Chart</vt:lpstr>
      <vt:lpstr>PowerPoint Presentation</vt:lpstr>
      <vt:lpstr>PowerPoint Presentation</vt:lpstr>
      <vt:lpstr>PowerPoint Presentation</vt:lpstr>
      <vt:lpstr>A Sub-district level Women-Friendly Hospital with a Vision …</vt:lpstr>
      <vt:lpstr>Background History of Chowgacha Health Complex,Model .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2011 and SDG targets in 2030</vt:lpstr>
      <vt:lpstr>PowerPoint Presentation</vt:lpstr>
      <vt:lpstr>Activities of Local Industrialist</vt:lpstr>
      <vt:lpstr>100 kh¨v wewkó m`i nvmcvZvj, wSbvB`n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Upazila Health  Complex CHOWGACHA , JESSORE.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Internal Monitoring System</vt:lpstr>
      <vt:lpstr>PowerPoint Presentation</vt:lpstr>
      <vt:lpstr>Hospital Environment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484</cp:revision>
  <cp:lastPrinted>2017-03-18T23:47:54Z</cp:lastPrinted>
  <dcterms:created xsi:type="dcterms:W3CDTF">2013-05-05T09:56:19Z</dcterms:created>
  <dcterms:modified xsi:type="dcterms:W3CDTF">2018-05-07T00:26:35Z</dcterms:modified>
</cp:coreProperties>
</file>