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  <p:sldMasterId id="2147484036" r:id="rId4"/>
  </p:sldMasterIdLst>
  <p:notesMasterIdLst>
    <p:notesMasterId r:id="rId28"/>
  </p:notesMasterIdLst>
  <p:sldIdLst>
    <p:sldId id="332" r:id="rId5"/>
    <p:sldId id="376" r:id="rId6"/>
    <p:sldId id="403" r:id="rId7"/>
    <p:sldId id="309" r:id="rId8"/>
    <p:sldId id="401" r:id="rId9"/>
    <p:sldId id="402" r:id="rId10"/>
    <p:sldId id="326" r:id="rId11"/>
    <p:sldId id="327" r:id="rId12"/>
    <p:sldId id="346" r:id="rId13"/>
    <p:sldId id="337" r:id="rId14"/>
    <p:sldId id="338" r:id="rId15"/>
    <p:sldId id="288" r:id="rId16"/>
    <p:sldId id="290" r:id="rId17"/>
    <p:sldId id="308" r:id="rId18"/>
    <p:sldId id="287" r:id="rId19"/>
    <p:sldId id="297" r:id="rId20"/>
    <p:sldId id="348" r:id="rId21"/>
    <p:sldId id="388" r:id="rId22"/>
    <p:sldId id="343" r:id="rId23"/>
    <p:sldId id="334" r:id="rId24"/>
    <p:sldId id="404" r:id="rId25"/>
    <p:sldId id="405" r:id="rId26"/>
    <p:sldId id="344" r:id="rId2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87290" autoAdjust="0"/>
  </p:normalViewPr>
  <p:slideViewPr>
    <p:cSldViewPr>
      <p:cViewPr varScale="1">
        <p:scale>
          <a:sx n="76" d="100"/>
          <a:sy n="76" d="100"/>
        </p:scale>
        <p:origin x="190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2081536"/>
        <c:axId val="132083072"/>
      </c:barChart>
      <c:catAx>
        <c:axId val="132081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2083072"/>
        <c:crosses val="autoZero"/>
        <c:auto val="1"/>
        <c:lblAlgn val="ctr"/>
        <c:lblOffset val="100"/>
        <c:noMultiLvlLbl val="0"/>
      </c:catAx>
      <c:valAx>
        <c:axId val="1320830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20815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7252224"/>
        <c:axId val="159080832"/>
      </c:barChart>
      <c:catAx>
        <c:axId val="157252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080832"/>
        <c:crosses val="autoZero"/>
        <c:auto val="1"/>
        <c:lblAlgn val="ctr"/>
        <c:lblOffset val="100"/>
        <c:noMultiLvlLbl val="0"/>
      </c:catAx>
      <c:valAx>
        <c:axId val="1590808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72522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9-46BF-9D79-F0F8DA2C8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3938944"/>
        <c:axId val="233941632"/>
        <c:axId val="0"/>
      </c:bar3DChart>
      <c:catAx>
        <c:axId val="23393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941632"/>
        <c:crosses val="autoZero"/>
        <c:auto val="1"/>
        <c:lblAlgn val="ctr"/>
        <c:lblOffset val="100"/>
        <c:noMultiLvlLbl val="0"/>
      </c:catAx>
      <c:valAx>
        <c:axId val="23394163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393894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1/15/2023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C9AF92-867A-466E-BC2E-768F9ED70BBF}" type="slidenum">
              <a:rPr lang="en-US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41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006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296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22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106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23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1/15/2023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2023/1/15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Hospital with a Vision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65200"/>
            <a:ext cx="8229600" cy="55499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800" b="1">
                <a:solidFill>
                  <a:srgbClr val="CC0000"/>
                </a:solidFill>
              </a:rPr>
              <a:t>Total population		: 245730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>
                <a:solidFill>
                  <a:srgbClr val="CC0000"/>
                </a:solidFill>
              </a:rPr>
              <a:t>Total Fertile Couples 	: 52268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>
                <a:solidFill>
                  <a:srgbClr val="CC0000"/>
                </a:solidFill>
              </a:rPr>
              <a:t>Total Pregnant		: 5208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>
                <a:solidFill>
                  <a:srgbClr val="CC0000"/>
                </a:solidFill>
              </a:rPr>
              <a:t>Total Delivery		: 4427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>
                <a:solidFill>
                  <a:srgbClr val="CC0000"/>
                </a:solidFill>
              </a:rPr>
              <a:t>Total Live birth		: 4312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/>
              <a:t>Total death 		: 932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/>
              <a:t>Total Maternal death	: 02                           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800" b="1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a. Doctor			: 19 ( 11 + 8)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b. Nurse                  		: 14+4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c. HA                   		: 25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d. SBA                   		: 13( 3HA+10 FWA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          e. Volunteer, Security guard &amp; cleaner: 36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9.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a. Health Complex        	: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b. H &amp; FWC                   	: 11 (RD- 4 + FWC– 7 )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</a:t>
            </a:r>
            <a:r>
              <a:rPr lang="en-US" altLang="en-US" sz="1800" b="1">
                <a:solidFill>
                  <a:srgbClr val="CC0000"/>
                </a:solidFill>
              </a:rPr>
              <a:t>c. Community clinic	: 23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800" b="1"/>
              <a:t>	d. Non- Govt. Clinic  	: 03</a:t>
            </a:r>
          </a:p>
          <a:p>
            <a:pPr marL="609600" indent="-609600" eaLnBrk="1" hangingPunct="1">
              <a:buFontTx/>
              <a:buNone/>
            </a:pPr>
            <a:endParaRPr lang="en-US" altLang="en-US" sz="1800" b="1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6400"/>
            <a:ext cx="8229600" cy="508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/>
              <a:t>Health Profile of Chowgacha Upazila- 2010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4238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10. Mother Taken-ANC		: 143% ( 1st Visit)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11. Hospital Delivery Rate	: 84.8% (3755)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12. Total C. Section rate		: 21.7% (962)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13. No. of Hospital bed		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14. Bed Occupancy Rate 		: 200%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15. Maternal Mortality Ratio	: 42 / 100000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16. Neonatal Mortality Rate	: 16.7 / 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17. Infant Mortality Rate   	: 20.6 /1000 live birth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</a:rPr>
              <a:t>18. Under-5 Mortality Rate   	: 22.7 /1000 live birth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/>
              <a:t>Background History of MCH services of </a:t>
            </a:r>
            <a:r>
              <a:rPr lang="en-US" sz="2800" b="1" dirty="0" err="1"/>
              <a:t>Chowgacha</a:t>
            </a:r>
            <a:r>
              <a:rPr lang="en-US" sz="2800" b="1" dirty="0"/>
              <a:t> Health Complex, </a:t>
            </a:r>
            <a:r>
              <a:rPr lang="en-US" sz="2800" b="1" dirty="0" err="1"/>
              <a:t>Jessore</a:t>
            </a:r>
            <a:endParaRPr lang="en-US" sz="28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18160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Maternal and Child Mortality and Mobility and to ensure the quality services to the mother and child, UHFPO opened 4 special activities in Feb. 1996. And from January 1995 to 1997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JICA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by Frontline MCH Program. Since 1998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DGHS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UNICEF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continued the support.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Special activities: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5 corner for under 5 children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birth and death record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7807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Dec. 1999 Reproductive Health Department of DGHS and UNICEF gave logistic supports and human resources development (like medical officer trained in anesthesia).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November 2000 started Comprehensive EOC program.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2004, 2005, 2006, 2007 , 2008, 2009, 2010,2011 &amp; 2012 the UHC was awarded by the Bangladesh Government and UNICEF for best performance on EOC Service.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August 2006 Safe Blood Transfusion unit established with the aid of UNICEF.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April 2007 Demand Side Financing (DSF) program started.  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friendly Hospital declared in 2008.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is declared as model health complex on 20 June 2008 and upgraded to 50 bedded hospital by Secretary of Ministry of Health &amp; family welfare.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Chowgacha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 complex Model is replicable through out the country. Declared by Dr. Margaret Chan, D.G. WHO on 8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2010.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Killer Disease (diabetes, hypertension, cancer, RTA &amp; poisoning)  prevention program starts in  1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January-2011.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TQM activates starts in July 2011 by the support of JACA. 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1998 to 2017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457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Comparative data of revenue 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</p:spTree>
    <p:extLst>
      <p:ext uri="{BB962C8B-B14F-4D97-AF65-F5344CB8AC3E}">
        <p14:creationId xmlns:p14="http://schemas.microsoft.com/office/powerpoint/2010/main" val="3018268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Ward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/>
              <a:t>Upazila Health  Complex</a:t>
            </a:r>
            <a:br>
              <a:rPr lang="en-US" altLang="en-US" sz="3200" b="1"/>
            </a:br>
            <a:r>
              <a:rPr lang="en-US" altLang="en-US" sz="2000" b="1"/>
              <a:t>CHOWGACHA , JESSORE.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DCD4D61-0048-4A50-A148-F5E3D58F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15367"/>
            <a:ext cx="85344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ANC&amp; growth monitoring card donated by Ad-Din hospital , JICA , Upazilla  Parishad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IPS &amp; 2 cleaners donated by Municipalities. 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Salary of Aya, ward boy, Cleaners Security guard (36 in no.) are donated by the community. 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Drugs for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Arsenicosis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2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Tyers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Ambulance donated by Upazila Parishad. 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Supply of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 by Some NGOs. 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by about 732 enlisted blood donors in emergency need (Transfusion of 165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 F/blood are given in 2009)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of Generator donated by Upazilla  Parishad and UNICEF through WF. 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News of paper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/>
              <a:t>  </a:t>
            </a:r>
          </a:p>
          <a:p>
            <a:pPr>
              <a:buFontTx/>
              <a:buNone/>
            </a:pPr>
            <a:endParaRPr lang="en-US" sz="600"/>
          </a:p>
        </p:txBody>
      </p:sp>
      <p:pic>
        <p:nvPicPr>
          <p:cNvPr id="193540" name="Picture 4" descr="Untitled-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701800"/>
            <a:ext cx="7924800" cy="4622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008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4896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From 1996 to 2012, took initiatives to develop </a:t>
            </a:r>
            <a:r>
              <a:rPr lang="en-US" sz="2400" b="1" dirty="0"/>
              <a:t>Upazilla level standard services </a:t>
            </a:r>
            <a:r>
              <a:rPr lang="en-US" sz="2400" dirty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cs typeface="Calibri" pitchFamily="34" charset="0"/>
              </a:rPr>
              <a:t> Mobilized 46 additional </a:t>
            </a:r>
            <a:r>
              <a:rPr lang="en-US" sz="2400" dirty="0"/>
              <a:t>workers from community (26 volunteer, 12 cleaners and others 8).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Chowgacha UHC achieved MDG target in 2009.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Chowgacha Health complex is awarded for best performance in EOC form 2005 to 2014. </a:t>
            </a:r>
          </a:p>
        </p:txBody>
      </p:sp>
    </p:spTree>
    <p:extLst>
      <p:ext uri="{BB962C8B-B14F-4D97-AF65-F5344CB8AC3E}">
        <p14:creationId xmlns:p14="http://schemas.microsoft.com/office/powerpoint/2010/main" val="2787237505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6355114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Way Forward…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46986548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3191</TotalTime>
  <Words>604</Words>
  <Application>Microsoft Office PowerPoint</Application>
  <PresentationFormat>On-screen Show (4:3)</PresentationFormat>
  <Paragraphs>134</Paragraphs>
  <Slides>23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8" baseType="lpstr">
      <vt:lpstr>ＭＳ ゴシック</vt:lpstr>
      <vt:lpstr>ＭＳ Ｐゴシック</vt:lpstr>
      <vt:lpstr>Albertus Extra Bold</vt:lpstr>
      <vt:lpstr>Arial</vt:lpstr>
      <vt:lpstr>Calibri</vt:lpstr>
      <vt:lpstr>Symbol</vt:lpstr>
      <vt:lpstr>Times New Roman</vt:lpstr>
      <vt:lpstr>Verdana</vt:lpstr>
      <vt:lpstr>Wingdings</vt:lpstr>
      <vt:lpstr>Wingdings 2</vt:lpstr>
      <vt:lpstr>5_シック</vt:lpstr>
      <vt:lpstr>Office Theme</vt:lpstr>
      <vt:lpstr>Default Design</vt:lpstr>
      <vt:lpstr>1_Default Design</vt:lpstr>
      <vt:lpstr>Chart</vt:lpstr>
      <vt:lpstr>PowerPoint Presentation</vt:lpstr>
      <vt:lpstr>A Sub-district level Hospital with a Vision</vt:lpstr>
      <vt:lpstr>Health Profile of Chowgacha Upazila- 2010</vt:lpstr>
      <vt:lpstr>PowerPoint Presentation</vt:lpstr>
      <vt:lpstr>Background History of MCH services of Chowgacha Health Complex, Jessore</vt:lpstr>
      <vt:lpstr>Contd.</vt:lpstr>
      <vt:lpstr>PowerPoint Presentation</vt:lpstr>
      <vt:lpstr>Emergency &amp; Out Door, Indoor  Service 1998 to 2017</vt:lpstr>
      <vt:lpstr>  Comparative data of revenue income (in Taka) from 2015 to 2017 </vt:lpstr>
      <vt:lpstr>Upazila Health  Complex CHOWGACHA , JESSORE.</vt:lpstr>
      <vt:lpstr>Upazila Health  Complex CHOWGACHA , JESSORE.</vt:lpstr>
      <vt:lpstr>PowerPoint Presentation</vt:lpstr>
      <vt:lpstr>Changes in Gardens of The Hospital</vt:lpstr>
      <vt:lpstr>Use of direction sign, labeling of rooms, clean latrine and waste segregation</vt:lpstr>
      <vt:lpstr>Changes in EOC Ward</vt:lpstr>
      <vt:lpstr>Internal Monitoring System</vt:lpstr>
      <vt:lpstr>Upazila Health  Complex CHOWGACHA , JESSORE.</vt:lpstr>
      <vt:lpstr>                 News of paper</vt:lpstr>
      <vt:lpstr>PowerPoint Presentation</vt:lpstr>
      <vt:lpstr>Achievement of Chowgacha Health Complex</vt:lpstr>
      <vt:lpstr>Challenges</vt:lpstr>
      <vt:lpstr>Way Forward…</vt:lpstr>
      <vt:lpstr>Thank You 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User</cp:lastModifiedBy>
  <cp:revision>468</cp:revision>
  <cp:lastPrinted>2017-03-18T23:47:54Z</cp:lastPrinted>
  <dcterms:created xsi:type="dcterms:W3CDTF">2013-05-05T09:56:19Z</dcterms:created>
  <dcterms:modified xsi:type="dcterms:W3CDTF">2023-01-15T06:38:01Z</dcterms:modified>
</cp:coreProperties>
</file>