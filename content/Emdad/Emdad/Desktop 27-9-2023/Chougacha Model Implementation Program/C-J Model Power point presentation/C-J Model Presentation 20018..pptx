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3"/>
  </p:notesMasterIdLst>
  <p:sldIdLst>
    <p:sldId id="385" r:id="rId2"/>
    <p:sldId id="527" r:id="rId3"/>
    <p:sldId id="512" r:id="rId4"/>
    <p:sldId id="532" r:id="rId5"/>
    <p:sldId id="361" r:id="rId6"/>
    <p:sldId id="378" r:id="rId7"/>
    <p:sldId id="452" r:id="rId8"/>
    <p:sldId id="515" r:id="rId9"/>
    <p:sldId id="516" r:id="rId10"/>
    <p:sldId id="447" r:id="rId11"/>
    <p:sldId id="469" r:id="rId12"/>
    <p:sldId id="357" r:id="rId13"/>
    <p:sldId id="513" r:id="rId14"/>
    <p:sldId id="539" r:id="rId15"/>
    <p:sldId id="538" r:id="rId16"/>
    <p:sldId id="434" r:id="rId17"/>
    <p:sldId id="391" r:id="rId18"/>
    <p:sldId id="537" r:id="rId19"/>
    <p:sldId id="533" r:id="rId20"/>
    <p:sldId id="535" r:id="rId21"/>
    <p:sldId id="536" r:id="rId22"/>
    <p:sldId id="510" r:id="rId23"/>
    <p:sldId id="384" r:id="rId24"/>
    <p:sldId id="376" r:id="rId25"/>
    <p:sldId id="477" r:id="rId26"/>
    <p:sldId id="480" r:id="rId27"/>
    <p:sldId id="481" r:id="rId28"/>
    <p:sldId id="484" r:id="rId29"/>
    <p:sldId id="351" r:id="rId30"/>
    <p:sldId id="488" r:id="rId31"/>
    <p:sldId id="490" r:id="rId32"/>
    <p:sldId id="492" r:id="rId33"/>
    <p:sldId id="323" r:id="rId34"/>
    <p:sldId id="495" r:id="rId35"/>
    <p:sldId id="496" r:id="rId36"/>
    <p:sldId id="372" r:id="rId37"/>
    <p:sldId id="514" r:id="rId38"/>
    <p:sldId id="412" r:id="rId39"/>
    <p:sldId id="500" r:id="rId40"/>
    <p:sldId id="293" r:id="rId41"/>
    <p:sldId id="487" r:id="rId42"/>
    <p:sldId id="507" r:id="rId43"/>
    <p:sldId id="522" r:id="rId44"/>
    <p:sldId id="523" r:id="rId45"/>
    <p:sldId id="524" r:id="rId46"/>
    <p:sldId id="509" r:id="rId47"/>
    <p:sldId id="530" r:id="rId48"/>
    <p:sldId id="528" r:id="rId49"/>
    <p:sldId id="525" r:id="rId50"/>
    <p:sldId id="451" r:id="rId51"/>
    <p:sldId id="262" r:id="rId5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 varScale="1">
        <p:scale>
          <a:sx n="62" d="100"/>
          <a:sy n="62" d="100"/>
        </p:scale>
        <p:origin x="17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7.jpeg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F-44CA-84E8-7BF74E19B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8364800"/>
        <c:axId val="288370688"/>
      </c:barChart>
      <c:catAx>
        <c:axId val="28836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88370688"/>
        <c:crosses val="autoZero"/>
        <c:auto val="1"/>
        <c:lblAlgn val="ctr"/>
        <c:lblOffset val="100"/>
        <c:noMultiLvlLbl val="0"/>
      </c:catAx>
      <c:valAx>
        <c:axId val="28837068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8364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4-4B43-9B3D-389D9FD40D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A4-4B43-9B3D-389D9FD40DB4}"/>
                </c:ext>
              </c:extLst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5A4-4B43-9B3D-389D9FD40DB4}"/>
                </c:ext>
              </c:extLst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A4-4B43-9B3D-389D9FD40DB4}"/>
                </c:ext>
              </c:extLst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A4-4B43-9B3D-389D9FD40D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A4-4B43-9B3D-389D9FD40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40000"/>
        <c:axId val="14270464"/>
      </c:barChart>
      <c:catAx>
        <c:axId val="1424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270464"/>
        <c:crosses val="autoZero"/>
        <c:auto val="1"/>
        <c:lblAlgn val="ctr"/>
        <c:lblOffset val="100"/>
        <c:noMultiLvlLbl val="0"/>
      </c:catAx>
      <c:valAx>
        <c:axId val="142704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40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80-4FAD-9110-D7C256A3E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80-4FAD-9110-D7C256A3E8CF}"/>
                </c:ext>
              </c:extLst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80-4FAD-9110-D7C256A3E8CF}"/>
                </c:ext>
              </c:extLst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80-4FAD-9110-D7C256A3E8CF}"/>
                </c:ext>
              </c:extLst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80-4FAD-9110-D7C256A3E8CF}"/>
                </c:ext>
              </c:extLst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80-4FAD-9110-D7C256A3E8CF}"/>
                </c:ext>
              </c:extLst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80-4FAD-9110-D7C256A3E8CF}"/>
                </c:ext>
              </c:extLst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80-4FAD-9110-D7C256A3E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80-4FAD-9110-D7C256A3E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569984"/>
        <c:axId val="200571520"/>
      </c:barChart>
      <c:catAx>
        <c:axId val="2005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0571520"/>
        <c:crosses val="autoZero"/>
        <c:auto val="1"/>
        <c:lblAlgn val="ctr"/>
        <c:lblOffset val="100"/>
        <c:noMultiLvlLbl val="0"/>
      </c:catAx>
      <c:valAx>
        <c:axId val="200571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5699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36-415A-9D8B-B1D9EAB3B4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36-415A-9D8B-B1D9EAB3B4D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36-415A-9D8B-B1D9EAB3B4D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36-415A-9D8B-B1D9EAB3B4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6-415A-9D8B-B1D9EAB3B4D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36-415A-9D8B-B1D9EAB3B4D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F36-415A-9D8B-B1D9EAB3B4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36-415A-9D8B-B1D9EAB3B4D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36-415A-9D8B-B1D9EAB3B4D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F36-415A-9D8B-B1D9EAB3B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F36-415A-9D8B-B1D9EAB3B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202"/>
            <a:ext cx="5483225" cy="447556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4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A6AD93-BD72-42ED-B1DC-C5E58BE4E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E77E2E-B07E-48FD-91A3-58E45726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745A486-D04E-4858-ACD6-AEE5D957B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BAC74D-5FC4-4CD9-AAE7-6B58F7832856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D7204C3-3D7C-44CF-B1C4-458B16267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6FA1C3-20ED-42CC-BC9D-06769CA8E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6555712-0B84-4C3A-9118-B3E48184A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DBCCB-4C23-435A-8E51-FBD2B31FEC8C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2257331-E17E-4C34-ACBB-D2849C4C6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6E0831-79F6-435B-B69B-D7A870F9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128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41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50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1/5/2023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F48E46-651E-4A25-8C45-5E50D3C6F0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B1F6F67-C9E9-4051-A654-02685ADD7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AB8AAC6-DE81-40DE-A858-F57EB4DEC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7483D-2146-4775-927D-60B547393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2023/1/5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jpeg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eg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jpeg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50430"/>
              </p:ext>
            </p:extLst>
          </p:nvPr>
        </p:nvGraphicFramePr>
        <p:xfrm>
          <a:off x="144439" y="1295400"/>
          <a:ext cx="9016993" cy="496523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%GDP budget used in health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Total </a:t>
                      </a:r>
                      <a:r>
                        <a:rPr kumimoji="0" 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halth</a:t>
                      </a: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budget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Total population in 2018.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9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11462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17.6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3600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4270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252 .5Bil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426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3.75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26.58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162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85.1 Mil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2.95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14.7Bil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51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4.53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510 Mil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3.2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1.84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42  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2.5 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2.49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10108178" y="6075336"/>
            <a:ext cx="4522222" cy="3508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countries  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SAARC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29389" y="1900622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29389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Providing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32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19200" y="5070226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32190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of 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19175" y="3696839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81000"/>
            <a:ext cx="7543800" cy="13906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Background History  of </a:t>
            </a:r>
            <a:r>
              <a:rPr lang="en-US" sz="3600" b="1" dirty="0" err="1"/>
              <a:t>Chowgacha</a:t>
            </a:r>
            <a:r>
              <a:rPr lang="en-US" sz="3600" b="1" dirty="0"/>
              <a:t> Health </a:t>
            </a:r>
            <a:r>
              <a:rPr lang="en-US" sz="3600" b="1" dirty="0" err="1"/>
              <a:t>Complex,Model</a:t>
            </a:r>
            <a:endParaRPr lang="en-US" sz="36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18145"/>
            <a:ext cx="8001000" cy="510812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 </a:t>
            </a:r>
            <a:r>
              <a:rPr lang="en-US" sz="2400" b="1" dirty="0"/>
              <a:t>*</a:t>
            </a:r>
            <a:r>
              <a:rPr lang="en-US" sz="2600" b="1" dirty="0" err="1"/>
              <a:t>Choowgacha</a:t>
            </a:r>
            <a:r>
              <a:rPr lang="en-US" sz="2600" b="1" dirty="0"/>
              <a:t> UHC Model  starts in 1985 and effectively in Feb. 1996</a:t>
            </a:r>
            <a:r>
              <a:rPr lang="en-US" sz="3000" b="1" dirty="0"/>
              <a:t>. 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3300" b="1" dirty="0"/>
              <a:t>*</a:t>
            </a:r>
            <a:r>
              <a:rPr lang="en-US" sz="2600" b="1" dirty="0"/>
              <a:t>From January 1995 to 1997 </a:t>
            </a:r>
            <a:r>
              <a:rPr lang="en-US" sz="2600" b="1" dirty="0">
                <a:solidFill>
                  <a:srgbClr val="0000FF"/>
                </a:solidFill>
              </a:rPr>
              <a:t>JICA</a:t>
            </a:r>
            <a:r>
              <a:rPr lang="en-US" sz="2600" b="1" dirty="0"/>
              <a:t>  by Frontline MCH Program to  by giving technical and logistic supports.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1800" b="1" dirty="0"/>
              <a:t>  *</a:t>
            </a:r>
            <a:r>
              <a:rPr lang="en-US" sz="2800" b="1" dirty="0"/>
              <a:t> From 1998 </a:t>
            </a:r>
            <a:r>
              <a:rPr lang="en-US" sz="2800" b="1" dirty="0">
                <a:solidFill>
                  <a:srgbClr val="0000FF"/>
                </a:solidFill>
              </a:rPr>
              <a:t>DGHS</a:t>
            </a:r>
            <a:r>
              <a:rPr lang="en-US" sz="2800" b="1" dirty="0"/>
              <a:t> &amp; </a:t>
            </a:r>
            <a:r>
              <a:rPr lang="en-US" sz="2800" b="1" dirty="0">
                <a:solidFill>
                  <a:srgbClr val="0000FF"/>
                </a:solidFill>
              </a:rPr>
              <a:t>UNICEF</a:t>
            </a:r>
            <a:r>
              <a:rPr lang="en-US" sz="2800" b="1" dirty="0"/>
              <a:t> have continued the support.</a:t>
            </a:r>
            <a:endParaRPr lang="en-US" sz="18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sz="1350" b="1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676401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50-bedded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810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31-bedded 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3780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rmAutofit fontScale="55000" lnSpcReduction="20000"/>
          </a:bodyPr>
          <a:lstStyle/>
          <a:p>
            <a:r>
              <a:rPr lang="en-US" sz="3200" dirty="0"/>
              <a:t>Cycle stand near the entrance</a:t>
            </a:r>
            <a:r>
              <a:rPr lang="en-US" dirty="0"/>
              <a:t>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1295400" y="5107209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1700" b="1" dirty="0" err="1"/>
              <a:t>Pushti</a:t>
            </a:r>
            <a:r>
              <a:rPr lang="en-US" sz="1700" b="1" dirty="0"/>
              <a:t> Tray” –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Labour</a:t>
            </a:r>
            <a:r>
              <a:rPr lang="en-US" sz="1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3F51AF1-FD59-4942-8F00-26723330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661D01-577D-4F3A-AF86-1D2945DA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/>
          </a:p>
          <a:p>
            <a:pPr algn="ctr">
              <a:buFontTx/>
              <a:buNone/>
            </a:pPr>
            <a:endParaRPr lang="en-US" altLang="en-US" sz="2800"/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E9477B92-AA10-4251-B80A-38389EBD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9461" name="Object 25">
            <a:extLst>
              <a:ext uri="{FF2B5EF4-FFF2-40B4-BE49-F238E27FC236}">
                <a16:creationId xmlns:a16="http://schemas.microsoft.com/office/drawing/2014/main" id="{1F9264CA-D3DE-4070-9B16-D7A9224FB4F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9461" name="Object 25">
                        <a:extLst>
                          <a:ext uri="{FF2B5EF4-FFF2-40B4-BE49-F238E27FC236}">
                            <a16:creationId xmlns:a16="http://schemas.microsoft.com/office/drawing/2014/main" id="{1F9264CA-D3DE-4070-9B16-D7A9224FB4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910652-6617-46CB-9760-29CB7EB57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9600" cy="8255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519B08-538D-4990-AC1E-B9627E1316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graphicFrame>
        <p:nvGraphicFramePr>
          <p:cNvPr id="1154" name="Group 130">
            <a:extLst>
              <a:ext uri="{FF2B5EF4-FFF2-40B4-BE49-F238E27FC236}">
                <a16:creationId xmlns:a16="http://schemas.microsoft.com/office/drawing/2014/main" id="{4CC30397-DD21-45D1-8F8B-FBC5002310EF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28600" y="2667000"/>
          <a:ext cx="5334000" cy="3749674"/>
        </p:xfrm>
        <a:graphic>
          <a:graphicData uri="http://schemas.openxmlformats.org/drawingml/2006/table">
            <a:tbl>
              <a:tblPr/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6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No of Bed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7126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8743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10944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12717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185.0%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13887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14819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2688" name="Rectangle 48">
            <a:extLst>
              <a:ext uri="{FF2B5EF4-FFF2-40B4-BE49-F238E27FC236}">
                <a16:creationId xmlns:a16="http://schemas.microsoft.com/office/drawing/2014/main" id="{A036C37C-E526-427E-8C8D-F53B5999E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Indoor Service 2005 to 2011</a:t>
            </a:r>
          </a:p>
        </p:txBody>
      </p:sp>
      <p:graphicFrame>
        <p:nvGraphicFramePr>
          <p:cNvPr id="17466" name="Object 131">
            <a:extLst>
              <a:ext uri="{FF2B5EF4-FFF2-40B4-BE49-F238E27FC236}">
                <a16:creationId xmlns:a16="http://schemas.microsoft.com/office/drawing/2014/main" id="{34A306BF-17CD-4388-8962-838A14703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3505200"/>
          <a:ext cx="35814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Chart" r:id="rId4" imgW="4495800" imgH="2648102" progId="Excel.Chart.8">
                  <p:embed/>
                </p:oleObj>
              </mc:Choice>
              <mc:Fallback>
                <p:oleObj name="Chart" r:id="rId4" imgW="4495800" imgH="2648102" progId="Excel.Chart.8">
                  <p:embed/>
                  <p:pic>
                    <p:nvPicPr>
                      <p:cNvPr id="17466" name="Object 131">
                        <a:extLst>
                          <a:ext uri="{FF2B5EF4-FFF2-40B4-BE49-F238E27FC236}">
                            <a16:creationId xmlns:a16="http://schemas.microsoft.com/office/drawing/2014/main" id="{34A306BF-17CD-4388-8962-838A14703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05200"/>
                        <a:ext cx="35814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6B77D2-4122-4E45-9F4E-C7BA6C3F5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640"/>
            <a:ext cx="8153400" cy="97555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9689E5E-2CF0-42C3-A770-171EB38F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3401"/>
            <a:ext cx="81153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>
            <a:extLst>
              <a:ext uri="{FF2B5EF4-FFF2-40B4-BE49-F238E27FC236}">
                <a16:creationId xmlns:a16="http://schemas.microsoft.com/office/drawing/2014/main" id="{D86488D1-44EB-4DD7-902F-D51CEB2D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629421"/>
              </p:ext>
            </p:extLst>
          </p:nvPr>
        </p:nvGraphicFramePr>
        <p:xfrm>
          <a:off x="533400" y="2057400"/>
          <a:ext cx="8153400" cy="478541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1424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3288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Fatima Hospital Jessore.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1586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07670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2802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25637"/>
              </p:ext>
            </p:extLst>
          </p:nvPr>
        </p:nvGraphicFramePr>
        <p:xfrm>
          <a:off x="76200" y="1921113"/>
          <a:ext cx="8915399" cy="4964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Participation./Social welfare committee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service.6/7 EPI.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0249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3352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070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353637225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3000" b="1" dirty="0" err="1"/>
              <a:t>Insecured</a:t>
            </a:r>
            <a:r>
              <a:rPr lang="en-US" sz="3000" b="1" dirty="0"/>
              <a:t>  hospital environment.</a:t>
            </a:r>
          </a:p>
          <a:p>
            <a:pPr algn="just">
              <a:defRPr/>
            </a:pPr>
            <a:r>
              <a:rPr lang="en-US" sz="3000" b="1" dirty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/>
              <a:t>Very limited support staff.</a:t>
            </a:r>
          </a:p>
          <a:p>
            <a:pPr algn="just">
              <a:defRPr/>
            </a:pPr>
            <a:r>
              <a:rPr lang="en-US" sz="3000" b="1" dirty="0"/>
              <a:t>3 doctors including RMO was suspended. </a:t>
            </a:r>
          </a:p>
          <a:p>
            <a:pPr algn="just">
              <a:defRPr/>
            </a:pPr>
            <a:r>
              <a:rPr lang="en-US" sz="3000" b="1" dirty="0"/>
              <a:t>48 Non-gov. staff. demanding money from the patients.</a:t>
            </a:r>
          </a:p>
          <a:p>
            <a:pPr algn="just">
              <a:defRPr/>
            </a:pPr>
            <a:r>
              <a:rPr lang="en-US" sz="3000" b="1" dirty="0"/>
              <a:t>Waste management system was poor.</a:t>
            </a:r>
          </a:p>
          <a:p>
            <a:pPr algn="just">
              <a:defRPr/>
            </a:pPr>
            <a:r>
              <a:rPr lang="en-US" sz="3000" b="1" dirty="0"/>
              <a:t>Monitoring meeting was not performed regularl</a:t>
            </a:r>
            <a:r>
              <a:rPr lang="en-US" sz="2800" b="1" dirty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553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19100" y="609600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7227064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068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645567418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</a:t>
            </a:r>
            <a:r>
              <a:rPr lang="en-US" b="1" dirty="0">
                <a:solidFill>
                  <a:srgbClr val="0070C0"/>
                </a:solidFill>
              </a:rPr>
              <a:t>Emergency + Outdoor visit</a:t>
            </a:r>
            <a:r>
              <a:rPr lang="en-US" dirty="0"/>
              <a:t>,       </a:t>
            </a:r>
            <a:r>
              <a:rPr lang="en-US" dirty="0">
                <a:solidFill>
                  <a:srgbClr val="C00000"/>
                </a:solidFill>
              </a:rPr>
              <a:t>Indoor (admission)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0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/>
              <a:t>Total ANC and Delivery in Jhenaidah District Hospital 2011-2019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80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90407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in 2014.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04800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43641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monthly meeting schedule.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19254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4481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12213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 by the consultants.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0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 in 2021.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3074" name="Picture 2" descr="F:\Hospital Picture\New 2022\IMG_526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4419600" cy="2819400"/>
          </a:xfrm>
          <a:prstGeom prst="rect">
            <a:avLst/>
          </a:prstGeom>
          <a:noFill/>
        </p:spPr>
      </p:pic>
      <p:pic>
        <p:nvPicPr>
          <p:cNvPr id="3077" name="Picture 5" descr="F:\Hospital Picture\New 2022\IMG_527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685800"/>
            <a:ext cx="4489450" cy="2909888"/>
          </a:xfrm>
          <a:prstGeom prst="rect">
            <a:avLst/>
          </a:prstGeom>
          <a:noFill/>
        </p:spPr>
      </p:pic>
      <p:pic>
        <p:nvPicPr>
          <p:cNvPr id="3081" name="Picture 9" descr="C:\Users\USER\Desktop\rsz_1img_527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657600"/>
            <a:ext cx="4419600" cy="3200400"/>
          </a:xfrm>
          <a:prstGeom prst="rect">
            <a:avLst/>
          </a:prstGeom>
          <a:noFill/>
        </p:spPr>
      </p:pic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5800" y="3657601"/>
            <a:ext cx="46482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326020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20 District hospital &amp; 40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7th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81318"/>
              </p:ext>
            </p:extLst>
          </p:nvPr>
        </p:nvGraphicFramePr>
        <p:xfrm>
          <a:off x="457200" y="950340"/>
          <a:ext cx="8077200" cy="5298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70.4 (SVRS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 </a:t>
                      </a:r>
                      <a:r>
                        <a:rPr lang="en-GB" sz="16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yr</a:t>
                      </a: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170 (MMEIG 2013)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36.1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2.3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6401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18485"/>
              </p:ext>
            </p:extLst>
          </p:nvPr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62.4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42.1 (BDHS 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15:69.5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identification rate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53 (GTR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wasting rate of children aged under five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13643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8A62065-D262-4C8B-AA7F-FA5E49DE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167771"/>
              </p:ext>
            </p:extLst>
          </p:nvPr>
        </p:nvGraphicFramePr>
        <p:xfrm>
          <a:off x="762000" y="457200"/>
          <a:ext cx="8077200" cy="592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65044690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329915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399283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605533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2910588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2022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911565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Exclusive Breastfeeding infant under 6 months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55.3 (2014)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4027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Adolescent fertility rate (15-19) per 1000 married couple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005158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Deaths due to NCD per ten thousand population (30 - 69 years)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3266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Heart disease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430159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Cancer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727304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435352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Chronic respiratory illness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BD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 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790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87164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A4BC-8525-4EEB-B12A-B9E74D66F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1"/>
            <a:ext cx="7772400" cy="8382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2700" b="1" dirty="0"/>
              <a:t>8th Five Year Plan, Health, Nutrition and Population Target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224D-FBD7-4615-A81A-D241A6E7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7772400" cy="4953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4E81D3-7098-4160-B448-0E2EFC6A23B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950340"/>
          <a:ext cx="8077200" cy="5333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0490598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133118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0428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5963622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05302822"/>
                    </a:ext>
                  </a:extLst>
                </a:gridCol>
              </a:tblGrid>
              <a:tr h="10805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Year2019)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8th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845806"/>
                  </a:ext>
                </a:extLst>
              </a:tr>
              <a:tr h="6361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life expectancy at birth (in year)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72.6 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546600"/>
                  </a:ext>
                </a:extLst>
              </a:tr>
              <a:tr h="6139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Under five mortality rate (per 1000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2334868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Infant (0-1,year) mortality rate (per 1000 live births)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21(SVRS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982229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Maternal mortality ratio (per 100000 live birth)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96337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ratio of underweight children under 5 years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32.6 (BDHS 2014)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646935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stunting in under 5 years children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28%(MICS- 2019)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703974"/>
                  </a:ext>
                </a:extLst>
              </a:tr>
              <a:tr h="6006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fertility rate (children per head of every woman of reproductive age)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2.04(SVRS- 2019)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15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98248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FA4A883-3C96-4EE0-8381-49912B31C247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57200"/>
          <a:ext cx="8153400" cy="596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416368059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9610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944942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41929515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38225704"/>
                    </a:ext>
                  </a:extLst>
                </a:gridCol>
              </a:tblGrid>
              <a:tr h="777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Contraceptive prevalence rate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63.4 (SVRS 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311156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Immunization coverage among Children under the age of one year(%)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98(%)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81881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Ratio of childbirth (%) delivery by trained person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 (MICS- 2019)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0314428"/>
                  </a:ext>
                </a:extLst>
              </a:tr>
              <a:tr h="795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of institutional delivery according to wealth status (ratio of highest and lowest fifth)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1:3 (BDHS 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1:1.5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3195608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Tuberculosis </a:t>
                      </a:r>
                      <a:r>
                        <a:rPr lang="en-GB" sz="160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incidance 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rate /1,00,000 pop.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221(GTR-2019)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01630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Neonatal mortality rate per 1000 live birth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 (SVRS-2019)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117782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rate by NCD(Cardiovascular, Cancer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Diabetis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GB" sz="1600" dirty="0" err="1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Chorinicrespiratory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illness) (%)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21.6(WHO-2019)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Vrinda" panose="020B0502040204020203" pitchFamily="34" charset="0"/>
                        </a:rPr>
                        <a:t>16.8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877409"/>
                  </a:ext>
                </a:extLst>
              </a:tr>
              <a:tr h="727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Ante-natal Health Care (ANC) 4</a:t>
                      </a:r>
                      <a:r>
                        <a:rPr lang="en-GB" sz="1600" baseline="300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GB" sz="1600" dirty="0">
                          <a:solidFill>
                            <a:srgbClr val="21212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visit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979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13183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59A3C3C-9BC5-42FF-9216-C3CC642A9083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143000"/>
          <a:ext cx="8153400" cy="441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756354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31830248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9339227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545994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69277320"/>
                    </a:ext>
                  </a:extLst>
                </a:gridCol>
              </a:tblGrid>
              <a:tr h="1034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 No.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Indicator (effect/ results)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Start Year Info (Start Year)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target of 7th Five-Year Plan is only by 2025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SDG by 2030</a:t>
                      </a:r>
                      <a:endParaRPr lang="en-US" sz="1800" baseline="-25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30593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Mortality in road traffic accidents (per 100,000 population)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5594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19a.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016653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 b.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628612"/>
                  </a:ext>
                </a:extLst>
              </a:tr>
              <a:tr h="8463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Smoker's rate (every 100,000 population) in 15+ years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416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3311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/>
              <a:t>Secretary of MOHFW A.K.M. </a:t>
            </a:r>
            <a:r>
              <a:rPr lang="en-US" altLang="en-US" sz="1400" b="1" dirty="0" err="1"/>
              <a:t>Zaforullah</a:t>
            </a:r>
            <a:r>
              <a:rPr lang="en-US" altLang="en-US" sz="1400" b="1" dirty="0"/>
              <a:t> Khan </a:t>
            </a:r>
          </a:p>
          <a:p>
            <a:pPr algn="ctr"/>
            <a:r>
              <a:rPr lang="en-US" altLang="en-US" sz="1400" b="1" dirty="0"/>
              <a:t>declared “</a:t>
            </a:r>
            <a:r>
              <a:rPr lang="en-US" altLang="en-US" sz="1400" b="1" dirty="0" err="1"/>
              <a:t>Chowgacha</a:t>
            </a:r>
            <a:r>
              <a:rPr lang="en-US" altLang="en-US" sz="1400" b="1" dirty="0"/>
              <a:t> UHC model” in DSF</a:t>
            </a:r>
          </a:p>
          <a:p>
            <a:pPr algn="ctr"/>
            <a:r>
              <a:rPr lang="en-US" altLang="en-US" sz="1400" b="1" dirty="0"/>
              <a:t> voucher distribution ceremony on 20 June-2008</a:t>
            </a:r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Honorable Health Minister Prof </a:t>
            </a:r>
            <a:r>
              <a:rPr lang="en-US" sz="1400" b="1" dirty="0">
                <a:latin typeface="+mn-lt"/>
              </a:rPr>
              <a:t>Dr. </a:t>
            </a:r>
            <a:r>
              <a:rPr lang="en-US" sz="1400" b="1" dirty="0" err="1">
                <a:latin typeface="+mn-lt"/>
              </a:rPr>
              <a:t>Ruhul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Haque</a:t>
            </a:r>
            <a:endParaRPr lang="en-US" sz="1400" b="1" dirty="0">
              <a:latin typeface="+mn-lt"/>
            </a:endParaRPr>
          </a:p>
          <a:p>
            <a:pPr algn="ctr"/>
            <a:r>
              <a:rPr lang="en-US" sz="1400" b="1" dirty="0">
                <a:latin typeface="+mn-lt"/>
              </a:rPr>
              <a:t> MP with WHO Representative handing over </a:t>
            </a:r>
          </a:p>
          <a:p>
            <a:pPr algn="ctr"/>
            <a:r>
              <a:rPr lang="en-US" sz="1400" b="1" dirty="0">
                <a:latin typeface="+mn-lt"/>
              </a:rPr>
              <a:t>money and 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Visit by Dignitaries – UHC Chowgacha</a:t>
            </a:r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375832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4198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7350</TotalTime>
  <Words>2091</Words>
  <Application>Microsoft Office PowerPoint</Application>
  <PresentationFormat>On-screen Show (4:3)</PresentationFormat>
  <Paragraphs>607</Paragraphs>
  <Slides>51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Albertus Extra Bold</vt:lpstr>
      <vt:lpstr>Andalus</vt:lpstr>
      <vt:lpstr>Arial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A Hospital with a Vision …</vt:lpstr>
      <vt:lpstr>Background History  of Chowgacha Health Complex,Model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UHC,CHOWGACHA,JASHORE. </vt:lpstr>
      <vt:lpstr>Upazilla Health  Complex CHOWGACHA , JESSORE.</vt:lpstr>
      <vt:lpstr>PowerPoint Presentation</vt:lpstr>
      <vt:lpstr>PowerPoint Presentation</vt:lpstr>
      <vt:lpstr>Criteria Of C-J Model.</vt:lpstr>
      <vt:lpstr>Criteria of C-J Model.</vt:lpstr>
      <vt:lpstr>Criteria of C-J Model.</vt:lpstr>
      <vt:lpstr>Acheivement of Chowgacha UHC</vt:lpstr>
      <vt:lpstr>PowerPoint Presentation</vt:lpstr>
      <vt:lpstr>100 kh¨v wewkó m`i nvmcvZvj, wSbvB`n</vt:lpstr>
      <vt:lpstr>Challenges of the hospital in 2012</vt:lpstr>
      <vt:lpstr>PowerPoint Presentation</vt:lpstr>
      <vt:lpstr>Emergency + Out Door &amp; Indoor  Service 1998 to 2019</vt:lpstr>
      <vt:lpstr>Total ANC and Delivery in Jhenaidah District Hospital 2011-2019</vt:lpstr>
      <vt:lpstr>3 best performing EmOC Hospital in Khulna division - 2017</vt:lpstr>
      <vt:lpstr>PowerPoint Presentation</vt:lpstr>
      <vt:lpstr>Changes in Pediatric Ward and EOC Ward in 2014.</vt:lpstr>
      <vt:lpstr>PowerPoint Presentation</vt:lpstr>
      <vt:lpstr>Use of color code, alignment of picture &amp; monthly meeting schedule.</vt:lpstr>
      <vt:lpstr>Innovative activities of Jhenaidah Sadar Hospital - 1</vt:lpstr>
      <vt:lpstr>Innovative activities community supported manpower -  2</vt:lpstr>
      <vt:lpstr>Involvement of MP, District Administrator &amp; Mayor in Sadar Hospital</vt:lpstr>
      <vt:lpstr>PowerPoint Presentation</vt:lpstr>
      <vt:lpstr>PowerPoint Presentation</vt:lpstr>
      <vt:lpstr>Innovative activities of Jhenaidah Sadar Hospital - 6</vt:lpstr>
      <vt:lpstr>PowerPoint Presentation</vt:lpstr>
      <vt:lpstr>PowerPoint Presentation</vt:lpstr>
      <vt:lpstr>PowerPoint Presentation</vt:lpstr>
      <vt:lpstr> 7th Five Year Plan, Health, Nutrition and Population Target </vt:lpstr>
      <vt:lpstr>PowerPoint Presentation</vt:lpstr>
      <vt:lpstr>PowerPoint Presentation</vt:lpstr>
      <vt:lpstr>Thank You</vt:lpstr>
      <vt:lpstr> 8th Five Year Plan, Health, Nutrition and Population Target </vt:lpstr>
      <vt:lpstr>PowerPoint Presentation</vt:lpstr>
      <vt:lpstr>PowerPoint Presentation</vt:lpstr>
      <vt:lpstr>PowerPoint Presentation</vt:lpstr>
      <vt:lpstr>Our usual solution:  We need more RESOURCES!!!!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1008</cp:revision>
  <cp:lastPrinted>2017-03-18T23:47:54Z</cp:lastPrinted>
  <dcterms:created xsi:type="dcterms:W3CDTF">2013-05-05T09:56:19Z</dcterms:created>
  <dcterms:modified xsi:type="dcterms:W3CDTF">2023-01-05T06:59:31Z</dcterms:modified>
</cp:coreProperties>
</file>