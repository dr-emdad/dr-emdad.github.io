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535" r:id="rId2"/>
    <p:sldId id="532" r:id="rId3"/>
    <p:sldId id="341" r:id="rId4"/>
    <p:sldId id="384" r:id="rId5"/>
    <p:sldId id="361" r:id="rId6"/>
    <p:sldId id="326" r:id="rId7"/>
    <p:sldId id="451" r:id="rId8"/>
    <p:sldId id="337" r:id="rId9"/>
    <p:sldId id="536" r:id="rId10"/>
    <p:sldId id="276" r:id="rId11"/>
    <p:sldId id="275" r:id="rId12"/>
    <p:sldId id="256" r:id="rId13"/>
    <p:sldId id="274" r:id="rId14"/>
    <p:sldId id="268" r:id="rId15"/>
    <p:sldId id="273" r:id="rId16"/>
    <p:sldId id="257" r:id="rId17"/>
    <p:sldId id="278" r:id="rId18"/>
    <p:sldId id="280" r:id="rId19"/>
    <p:sldId id="348" r:id="rId20"/>
    <p:sldId id="443" r:id="rId21"/>
    <p:sldId id="452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Upto July 2022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1.1479999999999999</c:v>
                </c:pt>
                <c:pt idx="1">
                  <c:v>1.008</c:v>
                </c:pt>
                <c:pt idx="2">
                  <c:v>1.0109999999999999</c:v>
                </c:pt>
                <c:pt idx="3">
                  <c:v>0.97199999999999998</c:v>
                </c:pt>
                <c:pt idx="4">
                  <c:v>1.1459999999999999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 &amp; Emergency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70471</c:v>
                </c:pt>
                <c:pt idx="1">
                  <c:v>62837</c:v>
                </c:pt>
                <c:pt idx="2">
                  <c:v>85200</c:v>
                </c:pt>
                <c:pt idx="3">
                  <c:v>76551</c:v>
                </c:pt>
                <c:pt idx="4">
                  <c:v>93695</c:v>
                </c:pt>
                <c:pt idx="5">
                  <c:v>71584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543209876543207E-2"/>
                  <c:y val="-1.388888888888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A0-44B9-A000-4259AFCC04E7}"/>
                </c:ext>
              </c:extLst>
            </c:dLbl>
            <c:dLbl>
              <c:idx val="1"/>
              <c:layout>
                <c:manualLayout>
                  <c:x val="1.6975308641975308E-2"/>
                  <c:y val="-1.66666666666667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A0-44B9-A000-4259AFCC04E7}"/>
                </c:ext>
              </c:extLst>
            </c:dLbl>
            <c:dLbl>
              <c:idx val="2"/>
              <c:layout>
                <c:manualLayout>
                  <c:x val="2.7777777777777665E-2"/>
                  <c:y val="-2.22222222222223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A0-44B9-A000-4259AFCC04E7}"/>
                </c:ext>
              </c:extLst>
            </c:dLbl>
            <c:dLbl>
              <c:idx val="3"/>
              <c:layout>
                <c:manualLayout>
                  <c:x val="2.0061728395061672E-2"/>
                  <c:y val="-1.11111111111112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BA0-44B9-A000-4259AFCC04E7}"/>
                </c:ext>
              </c:extLst>
            </c:dLbl>
            <c:dLbl>
              <c:idx val="4"/>
              <c:layout>
                <c:manualLayout>
                  <c:x val="2.1604938271604937E-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A0-44B9-A000-4259AFCC04E7}"/>
                </c:ext>
              </c:extLst>
            </c:dLbl>
            <c:dLbl>
              <c:idx val="5"/>
              <c:layout>
                <c:manualLayout>
                  <c:x val="2.3148148148148147E-2"/>
                  <c:y val="-2.50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BA0-44B9-A000-4259AFCC04E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947239233984636"/>
          <c:y val="0.35068000874890637"/>
          <c:w val="0.17818198542939145"/>
          <c:h val="0.2868488626421697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</c:v>
                </c:pt>
                <c:pt idx="1">
                  <c:v>65</c:v>
                </c:pt>
                <c:pt idx="2">
                  <c:v>99</c:v>
                </c:pt>
                <c:pt idx="3">
                  <c:v>114</c:v>
                </c:pt>
                <c:pt idx="4">
                  <c:v>198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E-4423-9B5D-FBA0EAF017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2732084733237234"/>
          <c:h val="0.1620794769074918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4.0840585716259148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1st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ANC 4th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</c:v>
                </c:pt>
                <c:pt idx="1">
                  <c:v>112</c:v>
                </c:pt>
                <c:pt idx="2">
                  <c:v>143</c:v>
                </c:pt>
                <c:pt idx="3">
                  <c:v>195</c:v>
                </c:pt>
                <c:pt idx="4">
                  <c:v>222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3-44AF-85C1-79899E8BD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7480414812278899"/>
          <c:h val="0.3141262605332228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44509-462F-4D4B-963D-EC64B68F83A4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30AC6-545E-49BD-9519-0D7D05CF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3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EA92A3-7171-458B-AB4B-B713F49A2A6B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8" y="746125"/>
            <a:ext cx="662622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4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3F0-0D4F-44E5-BBAF-E6B09FF9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5F0-B9C2-49DC-9969-C94CD3F7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36A0-10C0-4207-A29D-99209934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275F-4621-4317-95EF-C1A7A379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9E8F-8250-4D04-AD62-04781B3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9E0E-0997-4C1D-A226-98409539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66F7-3160-4F82-95D2-94B4545B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4CC9-B3DE-4F26-9D3C-CCBBAA4D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B7B4-8CD7-4CAB-B676-EAEBDEF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59D8-2A91-48F6-9FE0-B008DC8D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6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8797-F0B3-4C0B-B6C2-15095BE6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AEC9-AEDA-493C-B145-860FA5C4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9D3B-4DB2-4D9F-BBB3-53990223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3FA5-24AB-4EB3-A38A-120781C8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91C0-E6B8-49DA-9E96-E79F05D6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3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E127-22D1-4BAB-9A4F-F0A5EE72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8FCC8-A794-4354-8CDC-4ECE43A5E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4A0FD-F7DF-45B5-9DCB-20969950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C968-A88E-42F8-A13F-90BBFC42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62CC9-E205-4F5B-B6BF-7BCB77C5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4275-425D-4575-807C-446EC3E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F1D5-135C-4467-B226-A932D01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91C9-A1F5-49EB-AD6C-ABC963FD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445C9-9A01-429C-BB33-A7FF76A13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C21E-A77C-4D02-8E84-1F10B86B1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1641A-B170-4E16-AE08-3B5252399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4B23A-0B5A-4725-AB4E-3CA60C11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F198F-CDC1-47A5-B2A8-15AFCB81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1FC4C-0504-408F-977A-FC27E170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0CEB-260F-47FC-9D3C-D4BBD909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82DB3-E044-4EF2-9021-06AB9C2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0B8FD-33AB-4C1E-AFAC-1A50C089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D63A-A0E8-4722-8146-22D059C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0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95A3C-1387-4F89-B3CD-0AE05B19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F3C0D-F7AF-41CA-A78D-608110EA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69F8C-9B4A-4CC4-A306-075BBA0D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1844-8934-41BE-BD7F-F26F89F1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9242-5870-4AE4-A647-6668398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F5610-5CC6-4E86-8B3A-3CD53DEB4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52E81-C589-42AD-A5E4-A074C45E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9002-988C-484E-8B0D-5F323B53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2DD02-8599-4F7F-AC91-430529B5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1AD1-400C-4A5E-B46D-BC697CDE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2C13-3D0A-4CE0-9608-807E903CA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A9B69-85DF-4F13-89F4-B7A9754C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1C4A-17F6-4C3E-8117-06134FA5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BE01-DF84-49E3-9B4C-4C979249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6F8ED-7D6F-4E28-83D3-5956E6F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6F11-FBA3-4D4A-9F78-ED216B69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54DF-B3C5-4952-813C-EBC2A0EC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1C5B-0835-478A-8953-AB0DFC82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DDB-1659-4CE7-8772-B9ACCBA4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E565-3973-437F-9612-22320A12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E5E3D-4046-4134-87FE-278EA5C7D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A4F48-6B77-4FB4-87ED-42D1D41A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70703-7208-42A6-AC06-9E93A69B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9D3-802A-45BC-AC68-9C5BF659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1726-6B43-4583-BE96-C4AF8F03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0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06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252D5-E7EB-4B56-897E-6FE292876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E242-3314-4DCA-A59C-9CDAFA0A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0BCA3-DEDA-4473-AF98-475DFDBFB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E28BB-AE5D-4A2F-AACA-C43CC357A70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A4FF-B118-497C-81D5-E309E1D98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2DC3-9A2C-4712-9E75-E63D8EC9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6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9BE3-1FC9-3988-F786-C009256CF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0933"/>
            <a:ext cx="4718756" cy="147884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latin typeface="Aparajita" panose="020B0604020202020204" pitchFamily="34" charset="0"/>
                <a:cs typeface="Aparajita" panose="020B0604020202020204" pitchFamily="34" charset="0"/>
              </a:rPr>
              <a:t>Upazila</a:t>
            </a:r>
            <a:r>
              <a:rPr lang="en-US" dirty="0">
                <a:latin typeface="Aparajita" panose="020B0604020202020204" pitchFamily="34" charset="0"/>
                <a:cs typeface="Aparajita" panose="020B0604020202020204" pitchFamily="34" charset="0"/>
              </a:rPr>
              <a:t> Health Complex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A99E1-5155-EE71-F59E-17275B48D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8800"/>
            <a:ext cx="4425244" cy="11740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400" dirty="0" err="1"/>
              <a:t>Ramgati</a:t>
            </a:r>
            <a:r>
              <a:rPr lang="en-US" sz="4400" dirty="0"/>
              <a:t> </a:t>
            </a:r>
            <a:r>
              <a:rPr lang="en-US" sz="4400" dirty="0" err="1"/>
              <a:t>Lakshmipur</a:t>
            </a:r>
            <a:r>
              <a:rPr lang="en-US" sz="4400" dirty="0"/>
              <a:t> </a:t>
            </a:r>
          </a:p>
          <a:p>
            <a:endParaRPr lang="en-US" sz="4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09E967-C62A-B6D9-99F7-101F59E0A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948" y="1607255"/>
            <a:ext cx="5181600" cy="388620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4A1C09C8-1CDE-A80C-E912-F93EC027A658}"/>
              </a:ext>
            </a:extLst>
          </p:cNvPr>
          <p:cNvSpPr txBox="1">
            <a:spLocks/>
          </p:cNvSpPr>
          <p:nvPr/>
        </p:nvSpPr>
        <p:spPr>
          <a:xfrm>
            <a:off x="332611" y="1924756"/>
            <a:ext cx="3838222" cy="5644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Welcome 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164E-23F0-AEC1-4C6D-D5B8EDD0199B}"/>
              </a:ext>
            </a:extLst>
          </p:cNvPr>
          <p:cNvSpPr txBox="1"/>
          <p:nvPr/>
        </p:nvSpPr>
        <p:spPr>
          <a:xfrm>
            <a:off x="6096000" y="5706085"/>
            <a:ext cx="393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Bed Hospital, Char </a:t>
            </a:r>
            <a:r>
              <a:rPr lang="en-US" dirty="0" err="1"/>
              <a:t>Alexandar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8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7289" y="463325"/>
            <a:ext cx="6768947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653389" y="1810565"/>
            <a:ext cx="3682847" cy="152053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000" b="1" dirty="0"/>
              <a:t>Maximum utilization of Govt.</a:t>
            </a:r>
          </a:p>
          <a:p>
            <a:pPr algn="ctr" eaLnBrk="0" hangingPunct="0"/>
            <a:r>
              <a:rPr lang="en-US" sz="2000" b="1" dirty="0"/>
              <a:t>resources with </a:t>
            </a:r>
          </a:p>
          <a:p>
            <a:pPr algn="ctr" eaLnBrk="0" hangingPunct="0"/>
            <a:r>
              <a:rPr lang="en-US" sz="20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5682833" y="4866297"/>
            <a:ext cx="3653403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156348" y="2248772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963021" y="5228013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653391" y="3373957"/>
            <a:ext cx="3682846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963021" y="3741944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C83-B8D2-C25F-634F-C2996141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-145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Health Profile of Ramgati Upazila- 2022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1C85-E2A1-8126-B31F-71134368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1030"/>
            <a:ext cx="4939696" cy="5351027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/>
              <a:t>Total Union: 07</a:t>
            </a:r>
          </a:p>
          <a:p>
            <a:r>
              <a:rPr lang="en-US" sz="1900" b="1" dirty="0"/>
              <a:t>Pouroshova: 01</a:t>
            </a:r>
          </a:p>
          <a:p>
            <a:r>
              <a:rPr lang="en-US" sz="1900" b="1" dirty="0"/>
              <a:t>Total Population: </a:t>
            </a:r>
            <a:r>
              <a:rPr lang="en-US" sz="2600" dirty="0"/>
              <a:t>2,30,000</a:t>
            </a:r>
          </a:p>
          <a:p>
            <a:r>
              <a:rPr lang="en-US" sz="1900" b="1" dirty="0">
                <a:solidFill>
                  <a:srgbClr val="FF0000"/>
                </a:solidFill>
              </a:rPr>
              <a:t>Total Fertile Couple</a:t>
            </a:r>
          </a:p>
          <a:p>
            <a:r>
              <a:rPr lang="en-US" sz="1900" b="1" dirty="0">
                <a:solidFill>
                  <a:srgbClr val="FF0000"/>
                </a:solidFill>
              </a:rPr>
              <a:t>Total Pregnant Mother</a:t>
            </a:r>
          </a:p>
          <a:p>
            <a:r>
              <a:rPr lang="en-US" sz="1900" b="1" dirty="0">
                <a:solidFill>
                  <a:srgbClr val="FF0000"/>
                </a:solidFill>
              </a:rPr>
              <a:t>Total Under 5 Children</a:t>
            </a:r>
          </a:p>
          <a:p>
            <a:pPr marL="0" indent="0">
              <a:buNone/>
            </a:pPr>
            <a:r>
              <a:rPr lang="en-US" sz="2000" b="1" dirty="0"/>
              <a:t>Health Human Resource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Doctor : 8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Nurse: 9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Midwives:2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Medical  Technologist: 2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HA: 28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FWA- 26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CHCP- 18</a:t>
            </a:r>
          </a:p>
          <a:p>
            <a:pPr>
              <a:buFont typeface="+mj-lt"/>
              <a:buAutoNum type="alphaLcParenR"/>
            </a:pPr>
            <a:r>
              <a:rPr lang="en-US" sz="2000" dirty="0"/>
              <a:t>Security Guard &amp; Cleaner: 4</a:t>
            </a:r>
          </a:p>
          <a:p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1F555-6AAA-4274-8259-E331E528C41D}"/>
              </a:ext>
            </a:extLst>
          </p:cNvPr>
          <p:cNvSpPr txBox="1">
            <a:spLocks/>
          </p:cNvSpPr>
          <p:nvPr/>
        </p:nvSpPr>
        <p:spPr>
          <a:xfrm>
            <a:off x="6335151" y="1547081"/>
            <a:ext cx="3984506" cy="3051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400" b="1" dirty="0">
                <a:solidFill>
                  <a:schemeClr val="tx1"/>
                </a:solidFill>
              </a:rPr>
              <a:t>Health Institutions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Health Complex: 01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 Sub-Centre:2, 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FWC: 5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Community Clinic: 20</a:t>
            </a:r>
          </a:p>
          <a:p>
            <a:pPr marL="457200" indent="-457200">
              <a:buClr>
                <a:schemeClr val="tx1"/>
              </a:buClr>
              <a:buFont typeface="+mj-lt"/>
              <a:buAutoNum type="alphaUcPeriod"/>
            </a:pPr>
            <a:r>
              <a:rPr lang="en-US" sz="2600" dirty="0">
                <a:solidFill>
                  <a:srgbClr val="FF0000"/>
                </a:solidFill>
              </a:rPr>
              <a:t>Non- Govt Clinic: </a:t>
            </a:r>
            <a:r>
              <a:rPr lang="en-US" sz="26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1903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09600" y="457200"/>
            <a:ext cx="10972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 Mother Taken-ANC 1</a:t>
            </a:r>
            <a:r>
              <a:rPr lang="en-US" sz="2133" b="1" baseline="30000" dirty="0">
                <a:solidFill>
                  <a:srgbClr val="FF0000"/>
                </a:solidFill>
              </a:rPr>
              <a:t>st</a:t>
            </a:r>
            <a:r>
              <a:rPr lang="en-US" sz="2133" b="1" dirty="0">
                <a:solidFill>
                  <a:srgbClr val="FF0000"/>
                </a:solidFill>
              </a:rPr>
              <a:t> visit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Mother taken ANC 4</a:t>
            </a:r>
            <a:r>
              <a:rPr lang="en-US" sz="2133" b="1" baseline="30000" dirty="0">
                <a:solidFill>
                  <a:srgbClr val="FF0000"/>
                </a:solidFill>
              </a:rPr>
              <a:t>th</a:t>
            </a:r>
            <a:r>
              <a:rPr lang="en-US" sz="2133" b="1" dirty="0">
                <a:solidFill>
                  <a:srgbClr val="FF0000"/>
                </a:solidFill>
              </a:rPr>
              <a:t> Visit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>
                <a:solidFill>
                  <a:srgbClr val="FF0000"/>
                </a:solidFill>
              </a:rPr>
              <a:t> Hospital Delivery Rate	               :    		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No. of Hospital bed		:    31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Bed Occupancy Rate 		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EPI Coverage         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Covid-19 ( Immunization Coverage ):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CPR    		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TFR                                       :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CBR	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CDR       		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Population Growth Rate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Maternal Mortality Ratio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Neonatal Mortality Rate	: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Infant Mortality Rate   	: 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>
                <a:solidFill>
                  <a:srgbClr val="FF0000"/>
                </a:solidFill>
              </a:rPr>
              <a:t>Under-5 Mortality Rate   	:   </a:t>
            </a:r>
            <a:endParaRPr lang="en-US" sz="2133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81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836" y="134911"/>
            <a:ext cx="9548112" cy="137909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b="1" dirty="0"/>
              <a:t>Background History  of Ramgati UHC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799" y="1349115"/>
            <a:ext cx="8694295" cy="5577152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buClr>
                <a:schemeClr val="tx1"/>
              </a:buClr>
            </a:pPr>
            <a:r>
              <a:rPr lang="en-US" b="1" dirty="0"/>
              <a:t>  Ramgati UHC started as 20 bedded Hospital in …… </a:t>
            </a:r>
          </a:p>
          <a:p>
            <a:pPr algn="just">
              <a:lnSpc>
                <a:spcPct val="110000"/>
              </a:lnSpc>
              <a:buClr>
                <a:schemeClr val="tx1"/>
              </a:buClr>
            </a:pPr>
            <a:r>
              <a:rPr lang="en-US" b="1" dirty="0"/>
              <a:t> The Health complex upgraded to 31 bedded in….</a:t>
            </a:r>
          </a:p>
          <a:p>
            <a:pPr algn="just">
              <a:lnSpc>
                <a:spcPct val="110000"/>
              </a:lnSpc>
              <a:buClr>
                <a:schemeClr val="tx1"/>
              </a:buClr>
            </a:pPr>
            <a:r>
              <a:rPr lang="en-US" b="1" dirty="0"/>
              <a:t>   From ……….. </a:t>
            </a:r>
            <a:r>
              <a:rPr lang="en-US" dirty="0"/>
              <a:t>UH&amp;FPO started ……  special activates</a:t>
            </a:r>
            <a:r>
              <a:rPr lang="en-US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b="1" dirty="0">
                <a:solidFill>
                  <a:srgbClr val="0000FF"/>
                </a:solidFill>
              </a:rPr>
              <a:t>    &lt;3 Special activities&gt; (as example)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b="1" dirty="0">
                <a:solidFill>
                  <a:srgbClr val="0000FF"/>
                </a:solidFill>
              </a:rPr>
              <a:t>       1) ANC-Corner</a:t>
            </a:r>
            <a:endParaRPr lang="en-US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b="1" dirty="0">
                <a:solidFill>
                  <a:srgbClr val="0000FF"/>
                </a:solidFill>
              </a:rPr>
              <a:t>       2)Basic EOC service</a:t>
            </a:r>
            <a:r>
              <a:rPr lang="en-US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b="1" dirty="0">
                <a:solidFill>
                  <a:srgbClr val="0000FF"/>
                </a:solidFill>
              </a:rPr>
              <a:t>       3)IMCI corner for Under 5 children</a:t>
            </a:r>
          </a:p>
          <a:p>
            <a:pPr>
              <a:spcBef>
                <a:spcPts val="450"/>
              </a:spcBef>
              <a:buClr>
                <a:schemeClr val="tx1"/>
              </a:buClr>
            </a:pPr>
            <a:r>
              <a:rPr lang="en-US" b="1" dirty="0">
                <a:solidFill>
                  <a:srgbClr val="0000FF"/>
                </a:solidFill>
              </a:rPr>
              <a:t>  C-Section starts on ……</a:t>
            </a:r>
          </a:p>
          <a:p>
            <a:pPr>
              <a:spcBef>
                <a:spcPts val="450"/>
              </a:spcBef>
              <a:buClr>
                <a:schemeClr val="tx1"/>
              </a:buClr>
            </a:pPr>
            <a:r>
              <a:rPr lang="en-US" b="1" dirty="0">
                <a:solidFill>
                  <a:srgbClr val="0000FF"/>
                </a:solidFill>
              </a:rPr>
              <a:t>SSK Program starts on August 2022.</a:t>
            </a:r>
          </a:p>
          <a:p>
            <a:pPr>
              <a:spcBef>
                <a:spcPts val="450"/>
              </a:spcBef>
              <a:buClr>
                <a:schemeClr val="tx1"/>
              </a:buClr>
            </a:pPr>
            <a:endParaRPr lang="en-US" b="1" dirty="0"/>
          </a:p>
          <a:p>
            <a:pPr marL="0" indent="0">
              <a:lnSpc>
                <a:spcPct val="80000"/>
              </a:lnSpc>
              <a:buNone/>
            </a:pP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986176" y="983207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 2017 to 2022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1986176" y="236832"/>
            <a:ext cx="8229600" cy="715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Ramgati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831870782"/>
              </p:ext>
            </p:extLst>
          </p:nvPr>
        </p:nvGraphicFramePr>
        <p:xfrm>
          <a:off x="1334125" y="1981200"/>
          <a:ext cx="9054059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0C7D70D-15B7-49D0-9FAF-51BFA25704D4}"/>
              </a:ext>
            </a:extLst>
          </p:cNvPr>
          <p:cNvSpPr txBox="1"/>
          <p:nvPr/>
        </p:nvSpPr>
        <p:spPr>
          <a:xfrm flipH="1">
            <a:off x="9718996" y="1981200"/>
            <a:ext cx="2277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Please add data of Ramgati UHC</a:t>
            </a:r>
          </a:p>
        </p:txBody>
      </p:sp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752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2017 to July-2022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752600" y="228600"/>
            <a:ext cx="8534400" cy="715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Ramgati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083787867"/>
              </p:ext>
            </p:extLst>
          </p:nvPr>
        </p:nvGraphicFramePr>
        <p:xfrm>
          <a:off x="1334125" y="1981200"/>
          <a:ext cx="10028419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2FEF2A-57AB-48E4-863D-E105171BEA20}"/>
              </a:ext>
            </a:extLst>
          </p:cNvPr>
          <p:cNvSpPr txBox="1"/>
          <p:nvPr/>
        </p:nvSpPr>
        <p:spPr>
          <a:xfrm flipH="1">
            <a:off x="9224321" y="2682876"/>
            <a:ext cx="2277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Please add data of Ramgati UHC</a:t>
            </a:r>
          </a:p>
        </p:txBody>
      </p:sp>
    </p:spTree>
    <p:extLst>
      <p:ext uri="{BB962C8B-B14F-4D97-AF65-F5344CB8AC3E}">
        <p14:creationId xmlns:p14="http://schemas.microsoft.com/office/powerpoint/2010/main" val="274637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153400" cy="71596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3600" b="1" dirty="0"/>
              <a:t>Ramgati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981200" y="10033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July 2022 (NVD and C-section)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263531"/>
              </p:ext>
            </p:extLst>
          </p:nvPr>
        </p:nvGraphicFramePr>
        <p:xfrm>
          <a:off x="1439055" y="1782763"/>
          <a:ext cx="9443803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9304642" y="2065764"/>
            <a:ext cx="2277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Please add data of Ramgati UHC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153400" cy="71596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3600" b="1" dirty="0"/>
              <a:t>Ramgati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981200" y="10033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ANC Care: 2017 to July 2022 (ANC 1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st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and 4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Visit)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93508"/>
              </p:ext>
            </p:extLst>
          </p:nvPr>
        </p:nvGraphicFramePr>
        <p:xfrm>
          <a:off x="1678898" y="1782762"/>
          <a:ext cx="9069050" cy="4343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9269665" y="2065763"/>
            <a:ext cx="2277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Please add data of Ramgati UHC</a:t>
            </a:r>
          </a:p>
        </p:txBody>
      </p:sp>
    </p:spTree>
    <p:extLst>
      <p:ext uri="{BB962C8B-B14F-4D97-AF65-F5344CB8AC3E}">
        <p14:creationId xmlns:p14="http://schemas.microsoft.com/office/powerpoint/2010/main" val="343284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0" y="0"/>
            <a:ext cx="10606088" cy="10207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Office room of UH&amp;FPO, Ramgati</a:t>
            </a:r>
          </a:p>
        </p:txBody>
      </p:sp>
      <p:pic>
        <p:nvPicPr>
          <p:cNvPr id="20482" name="Picture 2" descr="Ramgoti 4">
            <a:extLst>
              <a:ext uri="{FF2B5EF4-FFF2-40B4-BE49-F238E27FC236}">
                <a16:creationId xmlns:a16="http://schemas.microsoft.com/office/drawing/2014/main" id="{815A2C78-D85E-489D-912A-FA92A47A4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020763"/>
            <a:ext cx="8201025" cy="5470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59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1" y="0"/>
            <a:ext cx="11158538" cy="6064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Training on Quality of Care and formation of QIC committee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A138AA-FC17-42A6-9F64-C92D7798E0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878" y="606425"/>
            <a:ext cx="8114243" cy="60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181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8E8BE9D-F5B2-4943-8BC9-045C79194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13" y="1049614"/>
            <a:ext cx="3730174" cy="255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5E1CFB0-4DD8-4AE9-884A-41F63AD53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11562" y="392144"/>
            <a:ext cx="2566635" cy="388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176607D-C0E8-4C75-B105-199B74663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79192" y="3298391"/>
            <a:ext cx="2852015" cy="373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1FAF660-3933-4A1F-854B-162D7E92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092" y="3737470"/>
            <a:ext cx="3881576" cy="285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D94A34B-83C0-4DE2-AC82-7E789186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91" y="187933"/>
            <a:ext cx="10515600" cy="77288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Innovation of Ramgati UHC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2B887B3-524B-4C18-A80A-79AC0968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357" y="3287020"/>
            <a:ext cx="1717684" cy="2789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Liberation Corner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F8136A72-0176-4560-95B3-435348938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9574" y="3297835"/>
            <a:ext cx="1570610" cy="27564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Supply Drug List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C78632EC-970F-463C-A4E4-A63E72067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113" y="6234640"/>
            <a:ext cx="3730173" cy="3548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Health education messages on staircase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BC605784-45C6-4A54-A99B-8DC74A49D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324" y="6234640"/>
            <a:ext cx="1761110" cy="33685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Information </a:t>
            </a:r>
            <a:r>
              <a:rPr lang="en-US" altLang="en-US" sz="1400" b="1" dirty="0">
                <a:latin typeface="Calibri" panose="020F0502020204030204" pitchFamily="34" charset="0"/>
              </a:rPr>
              <a:t>Desk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DB0D6-EA30-4C71-9E57-75AAE4C2494B}"/>
              </a:ext>
            </a:extLst>
          </p:cNvPr>
          <p:cNvSpPr txBox="1"/>
          <p:nvPr/>
        </p:nvSpPr>
        <p:spPr>
          <a:xfrm flipH="1">
            <a:off x="9484620" y="2686855"/>
            <a:ext cx="2277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Please add date of each innovation</a:t>
            </a:r>
          </a:p>
        </p:txBody>
      </p:sp>
    </p:spTree>
    <p:extLst>
      <p:ext uri="{BB962C8B-B14F-4D97-AF65-F5344CB8AC3E}">
        <p14:creationId xmlns:p14="http://schemas.microsoft.com/office/powerpoint/2010/main" val="95210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81480A-CE08-46DC-BB80-8285AC1DC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9" y="1037915"/>
            <a:ext cx="3839451" cy="2747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55" y="0"/>
            <a:ext cx="11752289" cy="101329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Changes in the Indoor </a:t>
            </a:r>
            <a:br>
              <a:rPr lang="en-US" dirty="0"/>
            </a:br>
            <a:r>
              <a:rPr lang="en-US" sz="3100" dirty="0"/>
              <a:t>(</a:t>
            </a:r>
            <a:r>
              <a:rPr lang="en-US" sz="2700" dirty="0"/>
              <a:t>Observational Difference between 1</a:t>
            </a:r>
            <a:r>
              <a:rPr lang="en-US" sz="2700" baseline="30000" dirty="0"/>
              <a:t>st</a:t>
            </a:r>
            <a:r>
              <a:rPr lang="en-US" sz="2700" dirty="0"/>
              <a:t> August 22 and 13</a:t>
            </a:r>
            <a:r>
              <a:rPr lang="en-US" sz="2700" baseline="30000" dirty="0"/>
              <a:t>th</a:t>
            </a:r>
            <a:r>
              <a:rPr lang="en-US" sz="2700" dirty="0"/>
              <a:t> September 22)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8D0C8B-966F-401B-8CB2-9D0A1BB0E3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37914"/>
            <a:ext cx="4005701" cy="274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3547" y="1037914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037914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2" descr="IMG_20220802_111722">
            <a:extLst>
              <a:ext uri="{FF2B5EF4-FFF2-40B4-BE49-F238E27FC236}">
                <a16:creationId xmlns:a16="http://schemas.microsoft.com/office/drawing/2014/main" id="{FE8E4AC0-87FC-4D40-950A-E2D8DC192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649" y="3834261"/>
            <a:ext cx="3839451" cy="288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15">
            <a:extLst>
              <a:ext uri="{FF2B5EF4-FFF2-40B4-BE49-F238E27FC236}">
                <a16:creationId xmlns:a16="http://schemas.microsoft.com/office/drawing/2014/main" id="{4C9EDEE7-B1FC-4C5C-BE0A-4F5BFF99B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473" y="3834261"/>
            <a:ext cx="3948753" cy="2814107"/>
          </a:xfrm>
          <a:prstGeom prst="rect">
            <a:avLst/>
          </a:prstGeom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5F2BBBE2-880E-4832-B24F-495E9CA5E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3547" y="3844253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FB3708E9-1AE7-49C3-951F-AB99D2645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970" y="3859243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8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Removal of unwanted items for labour room</a:t>
            </a:r>
            <a:br>
              <a:rPr lang="en-US" dirty="0"/>
            </a:br>
            <a:r>
              <a:rPr lang="en-US" sz="3100" dirty="0"/>
              <a:t>(</a:t>
            </a:r>
            <a:r>
              <a:rPr lang="en-US" sz="2700" dirty="0"/>
              <a:t>Observational Difference between 1</a:t>
            </a:r>
            <a:r>
              <a:rPr lang="en-US" sz="2700" baseline="30000" dirty="0"/>
              <a:t>st</a:t>
            </a:r>
            <a:r>
              <a:rPr lang="en-US" sz="2700" dirty="0"/>
              <a:t> August 22 and 13</a:t>
            </a:r>
            <a:r>
              <a:rPr lang="en-US" sz="2700" baseline="30000" dirty="0"/>
              <a:t>th</a:t>
            </a:r>
            <a:r>
              <a:rPr lang="en-US" sz="2700" dirty="0"/>
              <a:t> September 22)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3905DE7-6887-4206-A7EB-8F790163EB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370" y="1908062"/>
            <a:ext cx="46135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amgoti 16">
            <a:extLst>
              <a:ext uri="{FF2B5EF4-FFF2-40B4-BE49-F238E27FC236}">
                <a16:creationId xmlns:a16="http://schemas.microsoft.com/office/drawing/2014/main" id="{3964F075-57B1-48B9-8B3B-402D88BC0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78" y="1908062"/>
            <a:ext cx="4613579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47091703-3EBE-4234-80AF-E7DEF1D1C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278" y="1908061"/>
            <a:ext cx="1054394" cy="38543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6D0F21E4-89AA-4793-AD16-BFCE8ABF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369" y="1908062"/>
            <a:ext cx="886801" cy="3854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1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6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Improvement in waste management</a:t>
            </a:r>
            <a:br>
              <a:rPr lang="en-US" dirty="0"/>
            </a:br>
            <a:r>
              <a:rPr lang="en-US" sz="3100" dirty="0"/>
              <a:t>(</a:t>
            </a:r>
            <a:r>
              <a:rPr lang="en-US" sz="2700" dirty="0"/>
              <a:t>Observational Difference between 1</a:t>
            </a:r>
            <a:r>
              <a:rPr lang="en-US" sz="2700" baseline="30000" dirty="0"/>
              <a:t>st</a:t>
            </a:r>
            <a:r>
              <a:rPr lang="en-US" sz="2700" dirty="0"/>
              <a:t> August 22 and 13</a:t>
            </a:r>
            <a:r>
              <a:rPr lang="en-US" sz="2700" baseline="30000" dirty="0"/>
              <a:t>th</a:t>
            </a:r>
            <a:r>
              <a:rPr lang="en-US" sz="2700" dirty="0"/>
              <a:t> September 22)</a:t>
            </a:r>
            <a:endParaRPr lang="en-US" dirty="0"/>
          </a:p>
        </p:txBody>
      </p:sp>
      <p:pic>
        <p:nvPicPr>
          <p:cNvPr id="17410" name="Picture 2" descr="Ramgoti%2020">
            <a:extLst>
              <a:ext uri="{FF2B5EF4-FFF2-40B4-BE49-F238E27FC236}">
                <a16:creationId xmlns:a16="http://schemas.microsoft.com/office/drawing/2014/main" id="{4F7BF212-5784-42F3-8106-4936BF4D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364572"/>
            <a:ext cx="4129087" cy="5016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04C3E38-FF6F-4CAD-9737-B86A0F27D8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56015" y="1921965"/>
            <a:ext cx="4999505" cy="391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32EC7DD8-7E38-45DE-B2B4-C4DE433A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7" y="1360763"/>
            <a:ext cx="1457323" cy="3895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43EE306-8B56-4A7A-86F2-7A494C730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8" y="1364741"/>
            <a:ext cx="1147765" cy="3887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86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312" y="143512"/>
            <a:ext cx="9825349" cy="10376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Changes on the Rooftop</a:t>
            </a:r>
            <a:br>
              <a:rPr lang="en-US" dirty="0"/>
            </a:br>
            <a:r>
              <a:rPr lang="en-US" sz="3100" dirty="0"/>
              <a:t>(</a:t>
            </a:r>
            <a:r>
              <a:rPr lang="en-US" sz="2700" dirty="0"/>
              <a:t>Observational Difference between 1</a:t>
            </a:r>
            <a:r>
              <a:rPr lang="en-US" sz="2700" baseline="30000" dirty="0"/>
              <a:t>st</a:t>
            </a:r>
            <a:r>
              <a:rPr lang="en-US" sz="2700" dirty="0"/>
              <a:t> August 22 and 13</a:t>
            </a:r>
            <a:r>
              <a:rPr lang="en-US" sz="2700" baseline="30000" dirty="0"/>
              <a:t>th</a:t>
            </a:r>
            <a:r>
              <a:rPr lang="en-US" sz="2700" dirty="0"/>
              <a:t> September 22)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D00C3E-F007-46DF-B8FD-D6CC74B4E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19" y="1181172"/>
            <a:ext cx="7065170" cy="53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85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405"/>
            <a:ext cx="10515600" cy="735013"/>
          </a:xfrm>
        </p:spPr>
        <p:txBody>
          <a:bodyPr/>
          <a:lstStyle/>
          <a:p>
            <a:pPr algn="ctr"/>
            <a:r>
              <a:rPr lang="en-US" dirty="0"/>
              <a:t>Newly constructed 4 washroom for patients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2669C-994A-4049-BC6B-C6DC311D9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993826"/>
            <a:ext cx="7886700" cy="5087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07887A-6FEB-4487-90DE-84444FCEA2AD}"/>
              </a:ext>
            </a:extLst>
          </p:cNvPr>
          <p:cNvSpPr/>
          <p:nvPr/>
        </p:nvSpPr>
        <p:spPr>
          <a:xfrm>
            <a:off x="3244850" y="586417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/>
              <a:t>Functioning from September 2022</a:t>
            </a:r>
          </a:p>
        </p:txBody>
      </p:sp>
    </p:spTree>
    <p:extLst>
      <p:ext uri="{BB962C8B-B14F-4D97-AF65-F5344CB8AC3E}">
        <p14:creationId xmlns:p14="http://schemas.microsoft.com/office/powerpoint/2010/main" val="203510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405"/>
            <a:ext cx="10515600" cy="735013"/>
          </a:xfrm>
        </p:spPr>
        <p:txBody>
          <a:bodyPr/>
          <a:lstStyle/>
          <a:p>
            <a:pPr algn="ctr"/>
            <a:r>
              <a:rPr lang="en-US" dirty="0"/>
              <a:t>Vegetable Garden in UHC Campus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E6CE2-65A6-4737-8C44-9A3DFAA5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998" y="1006476"/>
            <a:ext cx="7862003" cy="54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9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4954" y="682286"/>
            <a:ext cx="8229600" cy="665162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3600" b="1" dirty="0"/>
              <a:t>Community Support in Ramgati UHC</a:t>
            </a:r>
            <a:endParaRPr lang="en-US" altLang="en-US" sz="24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/>
          </a:p>
          <a:p>
            <a:pPr algn="ctr" eaLnBrk="1" hangingPunct="1">
              <a:buFontTx/>
              <a:buNone/>
            </a:pPr>
            <a:endParaRPr lang="en-US" altLang="en-US"/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1915368"/>
            <a:ext cx="7956549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IPS &amp; delivery instruments financed by JICA for 10 delivery centres in each union.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organized  by Upazila Parishad.  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 bag F/blood are given in 2021, 2022)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Upazilla Parishad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87871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4000" b="1" dirty="0"/>
              <a:t>Achievements of the UHC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For Example:</a:t>
            </a:r>
          </a:p>
          <a:p>
            <a:r>
              <a:rPr lang="en-US" dirty="0">
                <a:solidFill>
                  <a:srgbClr val="FF0000"/>
                </a:solidFill>
              </a:rPr>
              <a:t>Strong support from Upazilla </a:t>
            </a:r>
            <a:r>
              <a:rPr lang="en-US" dirty="0" err="1">
                <a:solidFill>
                  <a:srgbClr val="FF0000"/>
                </a:solidFill>
              </a:rPr>
              <a:t>Parisad</a:t>
            </a:r>
            <a:r>
              <a:rPr lang="en-US" dirty="0">
                <a:solidFill>
                  <a:srgbClr val="FF0000"/>
                </a:solidFill>
              </a:rPr>
              <a:t> for renovation of the UHC.</a:t>
            </a:r>
          </a:p>
          <a:p>
            <a:r>
              <a:rPr lang="en-US" dirty="0">
                <a:solidFill>
                  <a:srgbClr val="FF0000"/>
                </a:solidFill>
              </a:rPr>
              <a:t>A Jeep was allocated for UH&amp;FPO by Govt.</a:t>
            </a:r>
          </a:p>
          <a:p>
            <a:r>
              <a:rPr lang="en-US" dirty="0">
                <a:solidFill>
                  <a:srgbClr val="FF0000"/>
                </a:solidFill>
              </a:rPr>
              <a:t>Our corona vaccine coverage- 1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dose-86.25% and 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dose-81.3%</a:t>
            </a:r>
          </a:p>
          <a:p>
            <a:r>
              <a:rPr lang="en-US" dirty="0">
                <a:solidFill>
                  <a:srgbClr val="FF0000"/>
                </a:solidFill>
              </a:rPr>
              <a:t>EPI coverage-99.99%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effective dental unit.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NCD corner.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4000" b="1" dirty="0"/>
              <a:t>Way Forward….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For Example: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Starting of VIA activities to prevent cervical and breast cancer of female.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Starting of C-section for delivery mother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Functioning of X-ray facility.   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Establishment of USG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Functioning of ECG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Implementation of effective SSK program.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</a:rPr>
              <a:t>Establish a cycle stand close to the main gate.</a:t>
            </a:r>
          </a:p>
        </p:txBody>
      </p:sp>
    </p:spTree>
    <p:extLst>
      <p:ext uri="{BB962C8B-B14F-4D97-AF65-F5344CB8AC3E}">
        <p14:creationId xmlns:p14="http://schemas.microsoft.com/office/powerpoint/2010/main" val="34383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177BFD66-F622-4AB0-AEB3-D037D59F07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1" y="571946"/>
            <a:ext cx="7618808" cy="571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DE8D746-783E-485F-82EC-504DC350D274}"/>
              </a:ext>
            </a:extLst>
          </p:cNvPr>
          <p:cNvSpPr txBox="1">
            <a:spLocks/>
          </p:cNvSpPr>
          <p:nvPr/>
        </p:nvSpPr>
        <p:spPr>
          <a:xfrm>
            <a:off x="8775981" y="609185"/>
            <a:ext cx="2796426" cy="5321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231" y="4672921"/>
            <a:ext cx="10515600" cy="8207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Hospital Garden</a:t>
            </a:r>
          </a:p>
        </p:txBody>
      </p:sp>
    </p:spTree>
    <p:extLst>
      <p:ext uri="{BB962C8B-B14F-4D97-AF65-F5344CB8AC3E}">
        <p14:creationId xmlns:p14="http://schemas.microsoft.com/office/powerpoint/2010/main" val="165125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561</Words>
  <Application>Microsoft Office PowerPoint</Application>
  <PresentationFormat>Widescreen</PresentationFormat>
  <Paragraphs>137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Aparajita</vt:lpstr>
      <vt:lpstr>Arial</vt:lpstr>
      <vt:lpstr>Calibri</vt:lpstr>
      <vt:lpstr>Calibri Light</vt:lpstr>
      <vt:lpstr>Times New Roman</vt:lpstr>
      <vt:lpstr>Wingdings</vt:lpstr>
      <vt:lpstr>Wingdings 3</vt:lpstr>
      <vt:lpstr>Office Theme</vt:lpstr>
      <vt:lpstr>Upazila Health Complex </vt:lpstr>
      <vt:lpstr>A Hospital with a Vision …</vt:lpstr>
      <vt:lpstr>Health Profile of Ramgati Upazila- 2022</vt:lpstr>
      <vt:lpstr>PowerPoint Presentation</vt:lpstr>
      <vt:lpstr>Background History  of Ramgati UHC</vt:lpstr>
      <vt:lpstr>PowerPoint Presentation</vt:lpstr>
      <vt:lpstr>Emergency &amp; Out Door, Indoor  Service 2017 to July-2022</vt:lpstr>
      <vt:lpstr>Ramgati UHC</vt:lpstr>
      <vt:lpstr>Ramgati UHC</vt:lpstr>
      <vt:lpstr>Office room of UH&amp;FPO, Ramgati</vt:lpstr>
      <vt:lpstr>Training on Quality of Care and formation of QIC committee</vt:lpstr>
      <vt:lpstr>Innovation of Ramgati UHC</vt:lpstr>
      <vt:lpstr>Changes in the Indoor  (Observational Difference between 1st August 22 and 13th September 22)</vt:lpstr>
      <vt:lpstr>Removal of unwanted items for labour room (Observational Difference between 1st August 22 and 13th September 22)</vt:lpstr>
      <vt:lpstr>Improvement in waste management (Observational Difference between 1st August 22 and 13th September 22)</vt:lpstr>
      <vt:lpstr>Changes on the Rooftop (Observational Difference between 1st August 22 and 13th September 22)</vt:lpstr>
      <vt:lpstr>Newly constructed 4 washroom for patients</vt:lpstr>
      <vt:lpstr>Vegetable Garden in UHC Campus</vt:lpstr>
      <vt:lpstr>Community Support in Ramgati UHC</vt:lpstr>
      <vt:lpstr>Achievements of the UHC</vt:lpstr>
      <vt:lpstr>Way Forward….</vt:lpstr>
      <vt:lpstr>Hospital Garden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80</cp:revision>
  <dcterms:created xsi:type="dcterms:W3CDTF">2022-09-16T15:27:42Z</dcterms:created>
  <dcterms:modified xsi:type="dcterms:W3CDTF">2022-10-24T06:44:53Z</dcterms:modified>
</cp:coreProperties>
</file>