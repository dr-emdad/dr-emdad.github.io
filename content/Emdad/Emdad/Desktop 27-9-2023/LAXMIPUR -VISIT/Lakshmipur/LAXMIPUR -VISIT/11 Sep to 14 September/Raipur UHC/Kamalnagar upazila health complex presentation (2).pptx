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9" r:id="rId1"/>
    <p:sldMasterId id="2147484020" r:id="rId2"/>
    <p:sldMasterId id="2147484036" r:id="rId3"/>
  </p:sldMasterIdLst>
  <p:notesMasterIdLst>
    <p:notesMasterId r:id="rId42"/>
  </p:notesMasterIdLst>
  <p:sldIdLst>
    <p:sldId id="332" r:id="rId4"/>
    <p:sldId id="403" r:id="rId5"/>
    <p:sldId id="309" r:id="rId6"/>
    <p:sldId id="376" r:id="rId7"/>
    <p:sldId id="445" r:id="rId8"/>
    <p:sldId id="447" r:id="rId9"/>
    <p:sldId id="401" r:id="rId10"/>
    <p:sldId id="402" r:id="rId11"/>
    <p:sldId id="448" r:id="rId12"/>
    <p:sldId id="326" r:id="rId13"/>
    <p:sldId id="327" r:id="rId14"/>
    <p:sldId id="346" r:id="rId15"/>
    <p:sldId id="337" r:id="rId16"/>
    <p:sldId id="433" r:id="rId17"/>
    <p:sldId id="439" r:id="rId18"/>
    <p:sldId id="427" r:id="rId19"/>
    <p:sldId id="426" r:id="rId20"/>
    <p:sldId id="429" r:id="rId21"/>
    <p:sldId id="430" r:id="rId22"/>
    <p:sldId id="431" r:id="rId23"/>
    <p:sldId id="428" r:id="rId24"/>
    <p:sldId id="432" r:id="rId25"/>
    <p:sldId id="434" r:id="rId26"/>
    <p:sldId id="435" r:id="rId27"/>
    <p:sldId id="436" r:id="rId28"/>
    <p:sldId id="437" r:id="rId29"/>
    <p:sldId id="444" r:id="rId30"/>
    <p:sldId id="438" r:id="rId31"/>
    <p:sldId id="417" r:id="rId32"/>
    <p:sldId id="412" r:id="rId33"/>
    <p:sldId id="441" r:id="rId34"/>
    <p:sldId id="415" r:id="rId35"/>
    <p:sldId id="421" r:id="rId36"/>
    <p:sldId id="440" r:id="rId37"/>
    <p:sldId id="348" r:id="rId38"/>
    <p:sldId id="443" r:id="rId39"/>
    <p:sldId id="449" r:id="rId40"/>
    <p:sldId id="446" r:id="rId41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indows User" initials="W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3CC33"/>
    <a:srgbClr val="0C7E17"/>
    <a:srgbClr val="3EE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29" autoAdjust="0"/>
    <p:restoredTop sz="96248" autoAdjust="0"/>
  </p:normalViewPr>
  <p:slideViewPr>
    <p:cSldViewPr>
      <p:cViewPr varScale="1">
        <p:scale>
          <a:sx n="63" d="100"/>
          <a:sy n="63" d="100"/>
        </p:scale>
        <p:origin x="1592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86" y="3934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commentAuthors" Target="commentAuthor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theme" Target="theme/theme1.xml"/><Relationship Id="rId20" Type="http://schemas.openxmlformats.org/officeDocument/2006/relationships/slide" Target="slides/slide17.xml"/><Relationship Id="rId41" Type="http://schemas.openxmlformats.org/officeDocument/2006/relationships/slide" Target="slides/slide38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1"/>
    </mc:Choice>
    <mc:Fallback>
      <c:style val="31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Bed Occupacy Rate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</c:numCache>
            </c:numRef>
          </c:cat>
          <c:val>
            <c:numRef>
              <c:f>Sheet1!$B$2:$B$7</c:f>
              <c:numCache>
                <c:formatCode>0%</c:formatCode>
                <c:ptCount val="6"/>
                <c:pt idx="0">
                  <c:v>1.1479999999999997</c:v>
                </c:pt>
                <c:pt idx="1">
                  <c:v>1.008</c:v>
                </c:pt>
                <c:pt idx="2">
                  <c:v>1.0109999999999997</c:v>
                </c:pt>
                <c:pt idx="3">
                  <c:v>0.97199999999999998</c:v>
                </c:pt>
                <c:pt idx="4">
                  <c:v>1.1459999999999997</c:v>
                </c:pt>
                <c:pt idx="5">
                  <c:v>1.08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F0-4EC3-8B7B-D897AC0875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9329664"/>
        <c:axId val="159339648"/>
      </c:barChart>
      <c:catAx>
        <c:axId val="15932966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59339648"/>
        <c:crosses val="autoZero"/>
        <c:auto val="1"/>
        <c:lblAlgn val="ctr"/>
        <c:lblOffset val="100"/>
        <c:noMultiLvlLbl val="0"/>
      </c:catAx>
      <c:valAx>
        <c:axId val="159339648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5932966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2141903990973091"/>
          <c:y val="4.4409667541557334E-2"/>
          <c:w val="0.6583428998945231"/>
          <c:h val="0.844752405949256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Out door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  <c:pt idx="0">
                  <c:v>67965</c:v>
                </c:pt>
                <c:pt idx="1">
                  <c:v>59094</c:v>
                </c:pt>
                <c:pt idx="2">
                  <c:v>81101</c:v>
                </c:pt>
                <c:pt idx="3">
                  <c:v>72470</c:v>
                </c:pt>
                <c:pt idx="4">
                  <c:v>87774</c:v>
                </c:pt>
                <c:pt idx="5">
                  <c:v>67556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2EC-45CC-8C31-9F6FA093276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Indoor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</c:numCache>
            </c:numRef>
          </c:cat>
          <c:val>
            <c:numRef>
              <c:f>Sheet1!$C$2:$C$7</c:f>
              <c:numCache>
                <c:formatCode>General</c:formatCode>
                <c:ptCount val="6"/>
                <c:pt idx="0">
                  <c:v>6718</c:v>
                </c:pt>
                <c:pt idx="1">
                  <c:v>7099</c:v>
                </c:pt>
                <c:pt idx="2">
                  <c:v>8531</c:v>
                </c:pt>
                <c:pt idx="3">
                  <c:v>6338</c:v>
                </c:pt>
                <c:pt idx="4">
                  <c:v>7652</c:v>
                </c:pt>
                <c:pt idx="5">
                  <c:v>5275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2EC-45CC-8C31-9F6FA093276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Emergency</c:v>
                </c:pt>
              </c:strCache>
            </c:strRef>
          </c:tx>
          <c:invertIfNegative val="0"/>
          <c:cat>
            <c:numRef>
              <c:f>Sheet1!$A$2:$A$7</c:f>
              <c:numCache>
                <c:formatCode>General</c:formatCode>
                <c:ptCount val="6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</c:numCache>
            </c:numRef>
          </c:cat>
          <c:val>
            <c:numRef>
              <c:f>Sheet1!$D$2:$D$7</c:f>
              <c:numCache>
                <c:formatCode>General</c:formatCode>
                <c:ptCount val="6"/>
                <c:pt idx="0">
                  <c:v>2506</c:v>
                </c:pt>
                <c:pt idx="1">
                  <c:v>3743</c:v>
                </c:pt>
                <c:pt idx="2">
                  <c:v>4099</c:v>
                </c:pt>
                <c:pt idx="3">
                  <c:v>4081</c:v>
                </c:pt>
                <c:pt idx="4">
                  <c:v>5921</c:v>
                </c:pt>
                <c:pt idx="5">
                  <c:v>4028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5E3-4EF3-AFFF-6058E285CA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63944704"/>
        <c:axId val="163954688"/>
      </c:barChart>
      <c:catAx>
        <c:axId val="16394470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63954688"/>
        <c:crosses val="autoZero"/>
        <c:auto val="1"/>
        <c:lblAlgn val="ctr"/>
        <c:lblOffset val="100"/>
        <c:noMultiLvlLbl val="0"/>
      </c:catAx>
      <c:valAx>
        <c:axId val="16395468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63944704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8443483700051564"/>
          <c:y val="0.42290223097112861"/>
          <c:w val="0.16755059239090442"/>
          <c:h val="0.23129330708661419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0"/>
      <c:rotY val="0"/>
      <c:depthPercent val="100"/>
      <c:rAngAx val="1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>
                    <a:solidFill>
                      <a:schemeClr val="accent1">
                        <a:lumMod val="75000"/>
                      </a:schemeClr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</c:numCache>
            </c:numRef>
          </c:val>
          <c:extLst>
            <c:ext xmlns:c16="http://schemas.microsoft.com/office/drawing/2014/chart" uri="{C3380CC4-5D6E-409C-BE32-E72D297353CC}">
              <c16:uniqueId val="{00000000-5489-46BF-9D79-F0F8DA2C83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35"/>
        <c:gapDepth val="228"/>
        <c:shape val="cylinder"/>
        <c:axId val="163961088"/>
        <c:axId val="163811328"/>
        <c:axId val="0"/>
      </c:bar3DChart>
      <c:catAx>
        <c:axId val="1639610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63811328"/>
        <c:crosses val="autoZero"/>
        <c:auto val="1"/>
        <c:lblAlgn val="ctr"/>
        <c:lblOffset val="100"/>
        <c:noMultiLvlLbl val="0"/>
      </c:catAx>
      <c:valAx>
        <c:axId val="16381132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>
                <a:solidFill>
                  <a:schemeClr val="tx2"/>
                </a:solidFill>
              </a:defRPr>
            </a:pPr>
            <a:endParaRPr lang="en-US"/>
          </a:p>
        </c:txPr>
        <c:crossAx val="163961088"/>
        <c:crosses val="autoZero"/>
        <c:crossBetween val="between"/>
      </c:valAx>
      <c:spPr>
        <a:noFill/>
        <a:ln w="25386">
          <a:noFill/>
        </a:ln>
      </c:spPr>
    </c:plotArea>
    <c:plotVisOnly val="1"/>
    <c:dispBlanksAs val="gap"/>
    <c:showDLblsOverMax val="0"/>
  </c:chart>
  <c:txPr>
    <a:bodyPr/>
    <a:lstStyle/>
    <a:p>
      <a:pPr>
        <a:defRPr sz="1797"/>
      </a:pPr>
      <a:endParaRPr lang="en-US"/>
    </a:p>
  </c:txPr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B19E7A0-DBE5-4599-AA41-7EF8BE594351}" type="datetimeFigureOut">
              <a:rPr lang="en-US"/>
              <a:pPr>
                <a:defRPr/>
              </a:pPr>
              <a:t>9/11/2022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5B36F5E-8ADC-4553-AFDF-0075743DEC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1381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E1CFFC81-D30A-48BE-844E-591ABC2E2AC9}" type="slidenum">
              <a:rPr lang="en-US" smtClean="0">
                <a:solidFill>
                  <a:srgbClr val="000000"/>
                </a:solidFill>
              </a:rPr>
              <a:pPr/>
              <a:t>1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E1B3019F-5BA1-41E7-AF51-142D8FD0DDA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6091965-B0C9-4A35-945D-E643E804FE38}" type="slidenum">
              <a:rPr lang="en-US" altLang="en-US"/>
              <a:pPr>
                <a:spcBef>
                  <a:spcPct val="0"/>
                </a:spcBef>
              </a:pPr>
              <a:t>2</a:t>
            </a:fld>
            <a:endParaRPr lang="en-US" altLang="en-US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2CDC19C7-0E6A-4DD2-83B5-D89E4186E1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68825" cy="3427413"/>
          </a:xfrm>
          <a:ln/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A0C15B1F-55B7-4F2F-8316-A64215E646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7388" y="4343400"/>
            <a:ext cx="5483225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E96EEC61-29BA-4FA5-AC3F-CCFC8F9FC9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0CE0D24-27B3-4CEF-8609-6AB964DD7BA1}" type="slidenum">
              <a:rPr lang="en-US" altLang="en-US"/>
              <a:pPr>
                <a:spcBef>
                  <a:spcPct val="0"/>
                </a:spcBef>
              </a:pPr>
              <a:t>3</a:t>
            </a:fld>
            <a:endParaRPr lang="en-US" altLang="en-US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C8D9B9F2-E75D-4851-A2B5-DE53059362A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68825" cy="3427413"/>
          </a:xfrm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17C6E471-2F57-4C7E-9BD7-82B8F19E52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7388" y="4343400"/>
            <a:ext cx="5483225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DF6B1B4C-4C59-4A03-B638-CFBAD9815A28}" type="slidenum">
              <a:rPr lang="en-US">
                <a:solidFill>
                  <a:prstClr val="black"/>
                </a:solidFill>
              </a:rPr>
              <a:pPr eaLnBrk="1" hangingPunct="1"/>
              <a:t>7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6913"/>
            <a:ext cx="4645025" cy="3484562"/>
          </a:xfrm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338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D368612D-96C9-46AB-852D-A011AE381F4F}" type="slidenum">
              <a:rPr lang="en-US">
                <a:solidFill>
                  <a:prstClr val="black"/>
                </a:solidFill>
              </a:rPr>
              <a:pPr eaLnBrk="1" hangingPunct="1"/>
              <a:t>8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6913"/>
            <a:ext cx="4645025" cy="3484562"/>
          </a:xfrm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338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32560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700088"/>
            <a:ext cx="4645025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C6EABAFB-2B28-4D74-9B46-453841E933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CFCFF2C-9AA9-4FA8-B407-804E6459DEE5}" type="slidenum">
              <a:rPr lang="en-US" altLang="en-US"/>
              <a:pPr>
                <a:spcBef>
                  <a:spcPct val="0"/>
                </a:spcBef>
              </a:pPr>
              <a:t>35</a:t>
            </a:fld>
            <a:endParaRPr lang="en-US" altLang="en-US"/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4A2A4B5E-0B63-4A7D-B6A0-703D2F4BF2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68825" cy="3427413"/>
          </a:xfrm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AA8673A9-ED9E-4870-822F-B17B3A5B3C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7388" y="4343400"/>
            <a:ext cx="5483225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C528EF-78D8-49A5-809B-2599B7DD834B}" type="datetimeFigureOut">
              <a:rPr lang="en-US" altLang="en-US"/>
              <a:pPr>
                <a:defRPr/>
              </a:pPr>
              <a:t>9/11/2022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EFA2A5-5979-48A6-9408-4607D4934BE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60225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C57163-4E2A-442A-AF52-8DCCF3E5F898}" type="datetimeFigureOut">
              <a:rPr lang="en-US" altLang="en-US"/>
              <a:pPr>
                <a:defRPr/>
              </a:pPr>
              <a:t>9/11/2022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14CFB5-2CC1-45EB-A3F2-C919B032989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02701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CADFD7-462D-4DC3-B03B-C216ECE8D47D}" type="datetimeFigureOut">
              <a:rPr lang="en-US" altLang="en-US"/>
              <a:pPr>
                <a:defRPr/>
              </a:pPr>
              <a:t>9/11/2022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1B0A13-5CDD-4B02-825E-D5B70CB11E2D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7357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CFF109-4CB5-4AAD-95FA-C87EB3E04025}" type="datetimeFigureOut">
              <a:rPr lang="en-US" altLang="en-US"/>
              <a:pPr>
                <a:defRPr/>
              </a:pPr>
              <a:t>9/11/2022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13CE82-7117-4891-B558-D1CF2158FB3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33524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BA6665-6F14-4A40-AA68-DF2D49F6DD20}" type="datetimeFigureOut">
              <a:rPr lang="en-US" altLang="en-US"/>
              <a:pPr>
                <a:defRPr/>
              </a:pPr>
              <a:t>9/11/2022</a:t>
            </a:fld>
            <a:endParaRPr lang="en-US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2395EA-16E2-485C-BE10-C0C30288CF7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04422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CFB527-45A3-4F1F-BC31-990A27D35CF4}" type="datetimeFigureOut">
              <a:rPr lang="en-US" altLang="en-US"/>
              <a:pPr>
                <a:defRPr/>
              </a:pPr>
              <a:t>9/11/2022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52998-14DA-4294-9809-0671B108F66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2215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20C454-2AF4-4F56-B134-15CC2881F322}" type="datetimeFigureOut">
              <a:rPr lang="en-US" altLang="en-US"/>
              <a:pPr>
                <a:defRPr/>
              </a:pPr>
              <a:t>9/11/2022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1FBE90-576A-469F-BB2C-57A27D47CF3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52141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80C9C6-69CB-45B7-9979-6C3E38187D0A}" type="datetimeFigureOut">
              <a:rPr lang="en-US" altLang="en-US"/>
              <a:pPr>
                <a:defRPr/>
              </a:pPr>
              <a:t>9/11/2022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BE9712-EA71-450B-AE72-6EC24D46A79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01818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E0AD57-2794-4A43-BC3A-6D6DEE633501}" type="datetimeFigureOut">
              <a:rPr lang="en-US" altLang="en-US"/>
              <a:pPr>
                <a:defRPr/>
              </a:pPr>
              <a:t>9/11/2022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B9D0AA-CDC8-41BE-AFF7-7A9CB8C401D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71350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D4D3F-EDC6-440C-ABD2-54996654AEC4}" type="datetimeFigureOut">
              <a:rPr lang="en-US" altLang="en-US"/>
              <a:pPr>
                <a:defRPr/>
              </a:pPr>
              <a:t>9/11/2022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C68EAF-25D6-47A5-AF16-8E40A707229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8620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5DA01-3A8D-4832-86F7-58BF2CA1F9C1}" type="datetimeFigureOut">
              <a:rPr lang="en-US" altLang="en-US"/>
              <a:pPr>
                <a:defRPr/>
              </a:pPr>
              <a:t>9/11/2022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6CA87E-87C4-451A-AA13-2FDE2706BB2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350803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2BA31-4ADC-4EA2-9C08-0E0505B50D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7954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F6A3F1-EF86-44E9-81F6-A62E1C4C24E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10167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AF727C-16E6-4F4E-956A-F96F4F070BC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15317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EED43A-835B-4492-A31D-D41EB4AF564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71614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BBB3D6-0CB1-4A88-915A-1500123D3BC9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12117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C161EC-C45F-401A-86E6-6370C3780173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34103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114C25-E776-484A-93AF-3BDE9E372EB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40295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EAF602-15AF-4BE3-8427-0771CD874DFC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34334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A22FEF-D821-40E8-891A-6F3297CBE87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77354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28A833-17A2-464E-9C8A-A006BA5EEDD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54104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BE8E34-AD64-48C5-B806-684B2685B0A1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403497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B87796-C39E-4D7F-AC3A-ECAA87DCE9A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071712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288955-7055-4548-BE6B-EBB131312ADF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449000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431EEF-BB93-4B18-A267-73F4980A7A70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903707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E424A4-FA87-4C6D-AD4F-E693B5E7665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566925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3D1221-FDE0-48AD-A189-3A3A6EEF549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551107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F6A3F1-EF86-44E9-81F6-A62E1C4C24E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893299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AF727C-16E6-4F4E-956A-F96F4F070BC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678948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EED43A-835B-4492-A31D-D41EB4AF564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003802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BBB3D6-0CB1-4A88-915A-1500123D3BC9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559783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C161EC-C45F-401A-86E6-6370C3780173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994685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114C25-E776-484A-93AF-3BDE9E372EB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723653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EAF602-15AF-4BE3-8427-0771CD874DFC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361942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A22FEF-D821-40E8-891A-6F3297CBE87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592487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28A833-17A2-464E-9C8A-A006BA5EEDD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254874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BE8E34-AD64-48C5-B806-684B2685B0A1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888287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B87796-C39E-4D7F-AC3A-ECAA87DCE9A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782383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288955-7055-4548-BE6B-EBB131312ADF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819108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431EEF-BB93-4B18-A267-73F4980A7A70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198269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E424A4-FA87-4C6D-AD4F-E693B5E7665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869817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3D1221-FDE0-48AD-A189-3A3A6EEF549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965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9.xml"/><Relationship Id="rId16" Type="http://schemas.openxmlformats.org/officeDocument/2006/relationships/theme" Target="../theme/theme3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FDB412B-A1DC-4656-9B89-0FCB88F4F467}" type="datetimeFigureOut">
              <a:rPr lang="ja-JP" altLang="en-US"/>
              <a:pPr>
                <a:defRPr/>
              </a:pPr>
              <a:t>2022/9/11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B12BA74-9B39-49B3-8E8B-88E185DDBA0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8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89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89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89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fld id="{8B838858-5706-44EB-AD72-80F8021061E0}" type="slidenum">
              <a:rPr lang="en-US">
                <a:solidFill>
                  <a:srgbClr val="000000"/>
                </a:solidFill>
              </a:rPr>
              <a:pPr eaLnBrk="1" hangingPunct="1"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5547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1" r:id="rId1"/>
    <p:sldLayoutId id="2147484022" r:id="rId2"/>
    <p:sldLayoutId id="2147484023" r:id="rId3"/>
    <p:sldLayoutId id="2147484024" r:id="rId4"/>
    <p:sldLayoutId id="2147484025" r:id="rId5"/>
    <p:sldLayoutId id="2147484026" r:id="rId6"/>
    <p:sldLayoutId id="2147484027" r:id="rId7"/>
    <p:sldLayoutId id="2147484028" r:id="rId8"/>
    <p:sldLayoutId id="2147484029" r:id="rId9"/>
    <p:sldLayoutId id="2147484030" r:id="rId10"/>
    <p:sldLayoutId id="2147484031" r:id="rId11"/>
    <p:sldLayoutId id="2147484032" r:id="rId12"/>
    <p:sldLayoutId id="2147484033" r:id="rId13"/>
    <p:sldLayoutId id="2147484034" r:id="rId14"/>
    <p:sldLayoutId id="2147484035" r:id="rId1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89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89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89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fld id="{8B838858-5706-44EB-AD72-80F8021061E0}" type="slidenum">
              <a:rPr lang="en-US">
                <a:solidFill>
                  <a:srgbClr val="000000"/>
                </a:solidFill>
              </a:rPr>
              <a:pPr eaLnBrk="1" hangingPunct="1"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2920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7" r:id="rId1"/>
    <p:sldLayoutId id="2147484038" r:id="rId2"/>
    <p:sldLayoutId id="2147484039" r:id="rId3"/>
    <p:sldLayoutId id="2147484040" r:id="rId4"/>
    <p:sldLayoutId id="2147484041" r:id="rId5"/>
    <p:sldLayoutId id="2147484042" r:id="rId6"/>
    <p:sldLayoutId id="2147484043" r:id="rId7"/>
    <p:sldLayoutId id="2147484044" r:id="rId8"/>
    <p:sldLayoutId id="2147484045" r:id="rId9"/>
    <p:sldLayoutId id="2147484046" r:id="rId10"/>
    <p:sldLayoutId id="2147484047" r:id="rId11"/>
    <p:sldLayoutId id="2147484048" r:id="rId12"/>
    <p:sldLayoutId id="2147484049" r:id="rId13"/>
    <p:sldLayoutId id="2147484050" r:id="rId14"/>
    <p:sldLayoutId id="2147484051" r:id="rId1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1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JPG"/><Relationship Id="rId4" Type="http://schemas.openxmlformats.org/officeDocument/2006/relationships/image" Target="../media/image44.JP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3" name="Rectangle 13"/>
          <p:cNvSpPr>
            <a:spLocks noChangeArrowheads="1"/>
          </p:cNvSpPr>
          <p:nvPr/>
        </p:nvSpPr>
        <p:spPr bwMode="auto">
          <a:xfrm>
            <a:off x="382588" y="228600"/>
            <a:ext cx="8609012" cy="107721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200" b="1" dirty="0">
                <a:solidFill>
                  <a:schemeClr val="bg1"/>
                </a:solidFill>
              </a:rPr>
              <a:t>50 BEDED UPAZILA  HEALTH  COMPLEX </a:t>
            </a:r>
            <a:br>
              <a:rPr lang="en-US" sz="3200" b="1" dirty="0">
                <a:solidFill>
                  <a:schemeClr val="bg1"/>
                </a:solidFill>
              </a:rPr>
            </a:br>
            <a:r>
              <a:rPr lang="en-US" sz="3200" b="1" dirty="0" err="1" smtClean="0">
                <a:solidFill>
                  <a:schemeClr val="bg1"/>
                </a:solidFill>
              </a:rPr>
              <a:t>Kamalnagar</a:t>
            </a:r>
            <a:r>
              <a:rPr lang="en-US" sz="3200" b="1" dirty="0" smtClean="0">
                <a:solidFill>
                  <a:schemeClr val="bg1"/>
                </a:solidFill>
              </a:rPr>
              <a:t>, </a:t>
            </a:r>
            <a:r>
              <a:rPr lang="en-US" sz="3200" b="1" dirty="0" err="1" smtClean="0">
                <a:solidFill>
                  <a:schemeClr val="bg1"/>
                </a:solidFill>
              </a:rPr>
              <a:t>Lakshmipur</a:t>
            </a:r>
            <a:r>
              <a:rPr lang="en-US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.</a:t>
            </a:r>
            <a:endParaRPr 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47801"/>
            <a:ext cx="6248400" cy="52578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248400" y="1447801"/>
            <a:ext cx="2895600" cy="5257800"/>
          </a:xfrm>
          <a:prstGeom prst="rect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51E3BD5C-418E-4E6F-8442-8A2EE37100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965200"/>
            <a:ext cx="8229600" cy="5549900"/>
          </a:xfrm>
        </p:spPr>
        <p:txBody>
          <a:bodyPr/>
          <a:lstStyle/>
          <a:p>
            <a:pPr marL="609600" indent="-609600" eaLnBrk="1" hangingPunct="1">
              <a:buFontTx/>
              <a:buAutoNum type="arabicPeriod"/>
            </a:pPr>
            <a:r>
              <a:rPr lang="en-US" altLang="en-US" sz="1800" b="1" dirty="0">
                <a:solidFill>
                  <a:srgbClr val="CC0000"/>
                </a:solidFill>
              </a:rPr>
              <a:t>Total population		: </a:t>
            </a:r>
            <a:r>
              <a:rPr lang="en-US" altLang="en-US" sz="1800" b="1" dirty="0" smtClean="0">
                <a:solidFill>
                  <a:srgbClr val="CC0000"/>
                </a:solidFill>
              </a:rPr>
              <a:t>217391</a:t>
            </a:r>
            <a:endParaRPr lang="en-US" altLang="en-US" sz="1800" b="1" dirty="0">
              <a:solidFill>
                <a:srgbClr val="CC0000"/>
              </a:solidFill>
            </a:endParaRPr>
          </a:p>
          <a:p>
            <a:pPr marL="609600" indent="-609600" eaLnBrk="1" hangingPunct="1">
              <a:buFontTx/>
              <a:buAutoNum type="arabicPeriod"/>
            </a:pPr>
            <a:r>
              <a:rPr lang="en-US" altLang="en-US" sz="1800" b="1" dirty="0">
                <a:solidFill>
                  <a:srgbClr val="CC0000"/>
                </a:solidFill>
              </a:rPr>
              <a:t>Total Fertile Couples 	</a:t>
            </a:r>
            <a:r>
              <a:rPr lang="en-US" altLang="en-US" sz="1800" b="1" dirty="0" smtClean="0">
                <a:solidFill>
                  <a:srgbClr val="CC0000"/>
                </a:solidFill>
              </a:rPr>
              <a:t>	: 34576</a:t>
            </a:r>
            <a:endParaRPr lang="en-US" altLang="en-US" sz="1800" b="1" dirty="0">
              <a:solidFill>
                <a:srgbClr val="CC0000"/>
              </a:solidFill>
            </a:endParaRPr>
          </a:p>
          <a:p>
            <a:pPr marL="609600" indent="-609600" eaLnBrk="1" hangingPunct="1">
              <a:buFontTx/>
              <a:buAutoNum type="arabicPeriod"/>
            </a:pPr>
            <a:r>
              <a:rPr lang="en-US" altLang="en-US" sz="1800" b="1" dirty="0">
                <a:solidFill>
                  <a:srgbClr val="CC0000"/>
                </a:solidFill>
              </a:rPr>
              <a:t>Total Pregnant		: </a:t>
            </a:r>
            <a:r>
              <a:rPr lang="en-US" altLang="en-US" sz="1800" b="1" dirty="0" smtClean="0">
                <a:solidFill>
                  <a:srgbClr val="CC0000"/>
                </a:solidFill>
              </a:rPr>
              <a:t>1518</a:t>
            </a:r>
            <a:endParaRPr lang="en-US" altLang="en-US" sz="1800" b="1" dirty="0">
              <a:solidFill>
                <a:srgbClr val="CC0000"/>
              </a:solidFill>
            </a:endParaRPr>
          </a:p>
          <a:p>
            <a:pPr marL="609600" indent="-609600" eaLnBrk="1" hangingPunct="1">
              <a:buFontTx/>
              <a:buAutoNum type="arabicPeriod"/>
            </a:pPr>
            <a:r>
              <a:rPr lang="en-US" altLang="en-US" sz="1800" b="1" dirty="0">
                <a:solidFill>
                  <a:srgbClr val="CC0000"/>
                </a:solidFill>
              </a:rPr>
              <a:t>Total Delivery		: </a:t>
            </a:r>
            <a:r>
              <a:rPr lang="en-US" altLang="en-US" sz="1800" b="1" dirty="0" smtClean="0">
                <a:solidFill>
                  <a:srgbClr val="CC0000"/>
                </a:solidFill>
              </a:rPr>
              <a:t>1737</a:t>
            </a:r>
            <a:endParaRPr lang="en-US" altLang="en-US" sz="1800" b="1" dirty="0">
              <a:solidFill>
                <a:srgbClr val="CC0000"/>
              </a:solidFill>
            </a:endParaRPr>
          </a:p>
          <a:p>
            <a:pPr marL="609600" indent="-609600" eaLnBrk="1" hangingPunct="1">
              <a:buFontTx/>
              <a:buAutoNum type="arabicPeriod"/>
            </a:pPr>
            <a:r>
              <a:rPr lang="en-US" altLang="en-US" sz="1800" b="1" dirty="0">
                <a:solidFill>
                  <a:srgbClr val="CC0000"/>
                </a:solidFill>
              </a:rPr>
              <a:t>Total Live birth		: </a:t>
            </a:r>
            <a:r>
              <a:rPr lang="en-US" altLang="en-US" sz="1800" b="1" dirty="0" smtClean="0">
                <a:solidFill>
                  <a:srgbClr val="CC0000"/>
                </a:solidFill>
              </a:rPr>
              <a:t>1724</a:t>
            </a:r>
            <a:endParaRPr lang="en-US" altLang="en-US" sz="1800" b="1" dirty="0">
              <a:solidFill>
                <a:srgbClr val="CC0000"/>
              </a:solidFill>
            </a:endParaRPr>
          </a:p>
          <a:p>
            <a:pPr marL="609600" indent="-609600" eaLnBrk="1" hangingPunct="1">
              <a:buFontTx/>
              <a:buAutoNum type="arabicPeriod"/>
            </a:pPr>
            <a:r>
              <a:rPr lang="en-US" altLang="en-US" sz="1800" b="1" dirty="0"/>
              <a:t>Total death 		</a:t>
            </a:r>
            <a:r>
              <a:rPr lang="en-US" altLang="en-US" sz="1800" b="1" dirty="0" smtClean="0"/>
              <a:t>	: 13</a:t>
            </a:r>
            <a:endParaRPr lang="en-US" altLang="en-US" sz="1800" b="1" dirty="0"/>
          </a:p>
          <a:p>
            <a:pPr marL="609600" indent="-609600" eaLnBrk="1" hangingPunct="1">
              <a:buFontTx/>
              <a:buAutoNum type="arabicPeriod"/>
            </a:pPr>
            <a:r>
              <a:rPr lang="en-US" altLang="en-US" sz="1800" b="1" dirty="0"/>
              <a:t>Total Maternal death	</a:t>
            </a:r>
            <a:r>
              <a:rPr lang="en-US" altLang="en-US" sz="1800" b="1" dirty="0" smtClean="0"/>
              <a:t>	: </a:t>
            </a:r>
            <a:r>
              <a:rPr lang="en-US" altLang="en-US" sz="1800" b="1" dirty="0"/>
              <a:t>02                               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 altLang="en-US" sz="1800" b="1" dirty="0"/>
              <a:t>Health Man power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800" b="1" dirty="0"/>
              <a:t>	a. Doctor			: 19 ( 11 + 8)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800" b="1" dirty="0"/>
              <a:t>	b. Nurse                  		: </a:t>
            </a:r>
            <a:r>
              <a:rPr lang="en-US" altLang="en-US" sz="1800" b="1" dirty="0" smtClean="0"/>
              <a:t>15</a:t>
            </a:r>
            <a:endParaRPr lang="en-US" altLang="en-US" sz="1800" b="1" dirty="0"/>
          </a:p>
          <a:p>
            <a:pPr marL="609600" indent="-609600" eaLnBrk="1" hangingPunct="1">
              <a:buFontTx/>
              <a:buNone/>
            </a:pPr>
            <a:r>
              <a:rPr lang="en-US" altLang="en-US" sz="1800" b="1" dirty="0"/>
              <a:t>	c. HA                   		: 25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800" b="1" dirty="0"/>
              <a:t>	d. SBA                   		: </a:t>
            </a:r>
            <a:r>
              <a:rPr lang="en-US" altLang="en-US" sz="1800" b="1" dirty="0" smtClean="0"/>
              <a:t> ( 2HA+4 FWA + 1CHCP)</a:t>
            </a:r>
            <a:endParaRPr lang="en-US" altLang="en-US" sz="1800" b="1" dirty="0"/>
          </a:p>
          <a:p>
            <a:pPr marL="609600" indent="-609600" eaLnBrk="1" hangingPunct="1">
              <a:buFontTx/>
              <a:buNone/>
            </a:pPr>
            <a:r>
              <a:rPr lang="en-US" altLang="en-US" sz="1800" b="1" dirty="0"/>
              <a:t>          e. Volunteer, Security guard &amp; cleaner: </a:t>
            </a:r>
            <a:r>
              <a:rPr lang="en-US" altLang="en-US" sz="1800" b="1" dirty="0" smtClean="0"/>
              <a:t>14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800" b="1" dirty="0" smtClean="0"/>
              <a:t>9</a:t>
            </a:r>
            <a:r>
              <a:rPr lang="en-US" altLang="en-US" sz="1800" b="1" dirty="0"/>
              <a:t>.     Health Institutions			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800" b="1" dirty="0"/>
              <a:t>	a. Health Complex        	: 01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800" b="1" dirty="0"/>
              <a:t>	b. H &amp; FWC                   	: </a:t>
            </a:r>
            <a:r>
              <a:rPr lang="en-US" altLang="en-US" sz="1800" b="1" dirty="0" smtClean="0"/>
              <a:t>4 (Sub-2 </a:t>
            </a:r>
            <a:r>
              <a:rPr lang="en-US" altLang="en-US" sz="1800" b="1" dirty="0"/>
              <a:t>FWC– </a:t>
            </a:r>
            <a:r>
              <a:rPr lang="en-US" altLang="en-US" sz="1800" b="1" dirty="0" smtClean="0"/>
              <a:t>2 </a:t>
            </a:r>
            <a:r>
              <a:rPr lang="en-US" altLang="en-US" sz="1800" b="1" dirty="0"/>
              <a:t>)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800" b="1" dirty="0"/>
              <a:t>	</a:t>
            </a:r>
            <a:r>
              <a:rPr lang="en-US" altLang="en-US" sz="1800" b="1" dirty="0">
                <a:solidFill>
                  <a:srgbClr val="CC0000"/>
                </a:solidFill>
              </a:rPr>
              <a:t>c. Community clinic	: </a:t>
            </a:r>
            <a:r>
              <a:rPr lang="en-US" altLang="en-US" sz="1800" b="1" dirty="0" smtClean="0">
                <a:solidFill>
                  <a:srgbClr val="CC0000"/>
                </a:solidFill>
              </a:rPr>
              <a:t>22</a:t>
            </a:r>
            <a:endParaRPr lang="en-US" altLang="en-US" sz="1800" b="1" dirty="0">
              <a:solidFill>
                <a:srgbClr val="CC0000"/>
              </a:solidFill>
            </a:endParaRPr>
          </a:p>
          <a:p>
            <a:pPr marL="609600" indent="-609600" eaLnBrk="1" hangingPunct="1">
              <a:buFontTx/>
              <a:buNone/>
            </a:pPr>
            <a:r>
              <a:rPr lang="en-US" altLang="en-US" sz="1800" b="1" dirty="0"/>
              <a:t>	d. Non- Govt. Clinic  	: </a:t>
            </a:r>
            <a:r>
              <a:rPr lang="en-US" altLang="en-US" sz="1800" b="1" dirty="0" smtClean="0"/>
              <a:t>02</a:t>
            </a:r>
            <a:endParaRPr lang="en-US" altLang="en-US" sz="1800" b="1" dirty="0"/>
          </a:p>
          <a:p>
            <a:pPr marL="609600" indent="-609600" eaLnBrk="1" hangingPunct="1">
              <a:buFontTx/>
              <a:buNone/>
            </a:pPr>
            <a:endParaRPr lang="en-US" altLang="en-US" sz="1800" b="1" dirty="0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B72BFF30-49BB-420B-B0B5-C335381613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06400"/>
            <a:ext cx="8229600" cy="508000"/>
          </a:xfrm>
          <a:solidFill>
            <a:schemeClr val="accent1"/>
          </a:solidFill>
        </p:spPr>
        <p:txBody>
          <a:bodyPr/>
          <a:lstStyle/>
          <a:p>
            <a:pPr eaLnBrk="1" hangingPunct="1"/>
            <a:r>
              <a:rPr lang="en-US" altLang="en-US" sz="2800" b="1" dirty="0"/>
              <a:t>Health Profile </a:t>
            </a:r>
            <a:r>
              <a:rPr lang="en-US" altLang="en-US" sz="2800" b="1" dirty="0" smtClean="0"/>
              <a:t>of </a:t>
            </a:r>
            <a:r>
              <a:rPr lang="en-US" altLang="en-US" sz="2800" b="1" dirty="0" err="1" smtClean="0"/>
              <a:t>kamalnagar</a:t>
            </a:r>
            <a:r>
              <a:rPr lang="en-US" altLang="en-US" sz="2800" b="1" dirty="0" smtClean="0"/>
              <a:t> </a:t>
            </a:r>
            <a:r>
              <a:rPr lang="en-US" altLang="en-US" sz="2800" b="1" dirty="0" err="1"/>
              <a:t>Upazila</a:t>
            </a:r>
            <a:r>
              <a:rPr lang="en-US" altLang="en-US" sz="2800" b="1" dirty="0"/>
              <a:t>- </a:t>
            </a:r>
            <a:r>
              <a:rPr lang="en-US" altLang="en-US" sz="2800" b="1" dirty="0" smtClean="0"/>
              <a:t>2022</a:t>
            </a:r>
            <a:endParaRPr lang="en-US" altLang="en-US" sz="2800" b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800D9D7C-63B0-4885-9C97-EF9BFDCA4E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884238"/>
            <a:ext cx="8229600" cy="5059362"/>
          </a:xfrm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 dirty="0">
                <a:solidFill>
                  <a:srgbClr val="CC0000"/>
                </a:solidFill>
              </a:rPr>
              <a:t>10. Mother Taken-ANC		: 143% ( 1st Visit)</a:t>
            </a:r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b="1" dirty="0">
                <a:solidFill>
                  <a:srgbClr val="CC0000"/>
                </a:solidFill>
              </a:rPr>
              <a:t>11. Hospital Delivery Rate	</a:t>
            </a:r>
            <a:r>
              <a:rPr lang="en-US" altLang="en-US" sz="2400" b="1" dirty="0" smtClean="0">
                <a:solidFill>
                  <a:srgbClr val="CC0000"/>
                </a:solidFill>
              </a:rPr>
              <a:t>	: </a:t>
            </a:r>
            <a:r>
              <a:rPr lang="en-US" altLang="en-US" sz="2400" b="1" dirty="0">
                <a:solidFill>
                  <a:srgbClr val="CC0000"/>
                </a:solidFill>
              </a:rPr>
              <a:t>84.8% (3755</a:t>
            </a:r>
            <a:r>
              <a:rPr lang="en-US" altLang="en-US" sz="2400" b="1" dirty="0" smtClean="0">
                <a:solidFill>
                  <a:srgbClr val="CC0000"/>
                </a:solidFill>
              </a:rPr>
              <a:t>)</a:t>
            </a:r>
            <a:endParaRPr lang="en-US" altLang="en-US" sz="2400" b="1" dirty="0">
              <a:solidFill>
                <a:srgbClr val="CC0000"/>
              </a:solidFill>
            </a:endParaRPr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b="1" dirty="0" smtClean="0">
                <a:solidFill>
                  <a:srgbClr val="CC0000"/>
                </a:solidFill>
              </a:rPr>
              <a:t>12. </a:t>
            </a:r>
            <a:r>
              <a:rPr lang="en-US" altLang="en-US" sz="2400" b="1" dirty="0">
                <a:solidFill>
                  <a:srgbClr val="CC0000"/>
                </a:solidFill>
              </a:rPr>
              <a:t>No. of Hospital bed		: 50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 dirty="0" smtClean="0">
                <a:solidFill>
                  <a:srgbClr val="CC0000"/>
                </a:solidFill>
              </a:rPr>
              <a:t>13. </a:t>
            </a:r>
            <a:r>
              <a:rPr lang="en-US" altLang="en-US" sz="2400" b="1" dirty="0">
                <a:solidFill>
                  <a:srgbClr val="CC0000"/>
                </a:solidFill>
              </a:rPr>
              <a:t>Bed Occupancy Rate 		</a:t>
            </a:r>
            <a:r>
              <a:rPr lang="en-US" altLang="en-US" sz="2400" b="1" dirty="0" smtClean="0">
                <a:solidFill>
                  <a:srgbClr val="CC0000"/>
                </a:solidFill>
              </a:rPr>
              <a:t>:108%</a:t>
            </a:r>
            <a:endParaRPr lang="en-US" altLang="en-US" sz="2400" b="1" dirty="0">
              <a:solidFill>
                <a:srgbClr val="CC0000"/>
              </a:solidFill>
            </a:endParaRP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 dirty="0" smtClean="0">
                <a:solidFill>
                  <a:srgbClr val="CC0000"/>
                </a:solidFill>
              </a:rPr>
              <a:t>14. </a:t>
            </a:r>
            <a:r>
              <a:rPr lang="en-US" altLang="en-US" sz="2400" b="1" dirty="0">
                <a:solidFill>
                  <a:srgbClr val="CC0000"/>
                </a:solidFill>
              </a:rPr>
              <a:t>Maternal Mortality Ratio	: 42 / 100000 live Birth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 dirty="0" smtClean="0">
                <a:solidFill>
                  <a:srgbClr val="CC0000"/>
                </a:solidFill>
              </a:rPr>
              <a:t>15. </a:t>
            </a:r>
            <a:r>
              <a:rPr lang="en-US" altLang="en-US" sz="2400" b="1" dirty="0">
                <a:solidFill>
                  <a:srgbClr val="CC0000"/>
                </a:solidFill>
              </a:rPr>
              <a:t>Neonatal Mortality Rate	: 16.7 / 1000 live birth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 dirty="0" smtClean="0">
                <a:solidFill>
                  <a:srgbClr val="CC0000"/>
                </a:solidFill>
              </a:rPr>
              <a:t>16. </a:t>
            </a:r>
            <a:r>
              <a:rPr lang="en-US" altLang="en-US" sz="2400" b="1" dirty="0">
                <a:solidFill>
                  <a:srgbClr val="CC0000"/>
                </a:solidFill>
              </a:rPr>
              <a:t>Infant Mortality Rate   	: 20.6 /1000 live birth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 dirty="0" smtClean="0">
                <a:solidFill>
                  <a:srgbClr val="CC0000"/>
                </a:solidFill>
              </a:rPr>
              <a:t>17. </a:t>
            </a:r>
            <a:r>
              <a:rPr lang="en-US" altLang="en-US" sz="2400" b="1" dirty="0">
                <a:solidFill>
                  <a:srgbClr val="CC0000"/>
                </a:solidFill>
              </a:rPr>
              <a:t>Under-5 Mortality Rate   	: 22.7 /1000 live birth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016000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z="3600" b="1" dirty="0"/>
              <a:t>A Sub-district level Hospital with a Vision</a:t>
            </a:r>
          </a:p>
        </p:txBody>
      </p:sp>
      <p:sp>
        <p:nvSpPr>
          <p:cNvPr id="5" name="Oval 3"/>
          <p:cNvSpPr>
            <a:spLocks noChangeArrowheads="1"/>
          </p:cNvSpPr>
          <p:nvPr/>
        </p:nvSpPr>
        <p:spPr bwMode="auto">
          <a:xfrm>
            <a:off x="4281487" y="2019300"/>
            <a:ext cx="3124200" cy="12954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1600" b="1" dirty="0">
              <a:solidFill>
                <a:srgbClr val="FF0066"/>
              </a:solidFill>
            </a:endParaRPr>
          </a:p>
          <a:p>
            <a:pPr algn="ctr" eaLnBrk="0" hangingPunct="0"/>
            <a:r>
              <a:rPr lang="en-US" sz="1600" b="1" dirty="0"/>
              <a:t>Maximum utilization of Govt.</a:t>
            </a:r>
          </a:p>
          <a:p>
            <a:pPr algn="ctr" eaLnBrk="0" hangingPunct="0"/>
            <a:r>
              <a:rPr lang="en-US" sz="1600" b="1" dirty="0"/>
              <a:t>resources with </a:t>
            </a:r>
          </a:p>
          <a:p>
            <a:pPr algn="ctr" eaLnBrk="0" hangingPunct="0"/>
            <a:r>
              <a:rPr lang="en-US" sz="1600" b="1" dirty="0"/>
              <a:t>honesty and sincerity</a:t>
            </a:r>
          </a:p>
          <a:p>
            <a:pPr algn="ctr" eaLnBrk="0" hangingPunct="0"/>
            <a:endParaRPr lang="en-US" sz="1600" b="1" dirty="0"/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4281487" y="5105400"/>
            <a:ext cx="3200400" cy="1219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/>
              <a:t>Providing Effective and </a:t>
            </a:r>
          </a:p>
          <a:p>
            <a:pPr algn="ctr" eaLnBrk="0" hangingPunct="0"/>
            <a:r>
              <a:rPr lang="en-US" sz="1600" b="1" dirty="0"/>
              <a:t>prompt services </a:t>
            </a:r>
          </a:p>
          <a:p>
            <a:pPr algn="ctr" eaLnBrk="0" hangingPunct="0"/>
            <a:r>
              <a:rPr lang="en-US" sz="1600" b="1" dirty="0"/>
              <a:t>through improved </a:t>
            </a:r>
          </a:p>
          <a:p>
            <a:pPr algn="ctr" eaLnBrk="0" hangingPunct="0"/>
            <a:r>
              <a:rPr lang="en-US" sz="1600" b="1" dirty="0"/>
              <a:t>management system</a:t>
            </a: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1447800" y="2438400"/>
            <a:ext cx="2514600" cy="457200"/>
          </a:xfrm>
          <a:prstGeom prst="notchedRightArrow">
            <a:avLst>
              <a:gd name="adj1" fmla="val 50000"/>
              <a:gd name="adj2" fmla="val 137500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1343025" y="5486400"/>
            <a:ext cx="24384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1" name="Oval 9"/>
          <p:cNvSpPr>
            <a:spLocks noChangeArrowheads="1"/>
          </p:cNvSpPr>
          <p:nvPr/>
        </p:nvSpPr>
        <p:spPr bwMode="auto">
          <a:xfrm>
            <a:off x="4281487" y="3619500"/>
            <a:ext cx="3200400" cy="1219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/>
              <a:t>Integrated approach of </a:t>
            </a:r>
          </a:p>
          <a:p>
            <a:pPr algn="ctr" eaLnBrk="0" hangingPunct="0"/>
            <a:r>
              <a:rPr lang="en-US" sz="1600" b="1" dirty="0"/>
              <a:t>Administration, Community</a:t>
            </a:r>
          </a:p>
          <a:p>
            <a:pPr algn="ctr" eaLnBrk="0" hangingPunct="0"/>
            <a:r>
              <a:rPr lang="en-US" sz="1600" b="1" dirty="0"/>
              <a:t>Leaders &amp; Health </a:t>
            </a:r>
          </a:p>
          <a:p>
            <a:pPr algn="ctr" eaLnBrk="0" hangingPunct="0"/>
            <a:r>
              <a:rPr lang="en-US" sz="1600" b="1" dirty="0"/>
              <a:t>Management</a:t>
            </a:r>
          </a:p>
        </p:txBody>
      </p:sp>
      <p:sp>
        <p:nvSpPr>
          <p:cNvPr id="12" name="AutoShape 10"/>
          <p:cNvSpPr>
            <a:spLocks noChangeArrowheads="1"/>
          </p:cNvSpPr>
          <p:nvPr/>
        </p:nvSpPr>
        <p:spPr bwMode="auto">
          <a:xfrm>
            <a:off x="1328737" y="4000500"/>
            <a:ext cx="24384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19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>
                <a:solidFill>
                  <a:srgbClr val="FF0000"/>
                </a:solidFill>
              </a:rPr>
              <a:t>Hospital activities done by Following committees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>
                <a:solidFill>
                  <a:srgbClr val="33CC33"/>
                </a:solidFill>
              </a:rPr>
              <a:t>  </a:t>
            </a:r>
            <a:r>
              <a:rPr lang="en-US" dirty="0">
                <a:solidFill>
                  <a:srgbClr val="33CC33"/>
                </a:solidFill>
              </a:rPr>
              <a:t>O</a:t>
            </a:r>
            <a:r>
              <a:rPr lang="en-US" dirty="0" smtClean="0">
                <a:solidFill>
                  <a:srgbClr val="33CC33"/>
                </a:solidFill>
              </a:rPr>
              <a:t>ur every activity done by team building.</a:t>
            </a:r>
            <a:endParaRPr lang="en-US" dirty="0" smtClean="0">
              <a:solidFill>
                <a:srgbClr val="33CC33"/>
              </a:solidFill>
            </a:endParaRP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1. Hospital Management committee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2.Committee for Monthly </a:t>
            </a:r>
            <a:r>
              <a:rPr lang="en-US" sz="2000" dirty="0" err="1" smtClean="0"/>
              <a:t>co-ordinating</a:t>
            </a:r>
            <a:r>
              <a:rPr lang="en-US" sz="2000" dirty="0" smtClean="0"/>
              <a:t> meeting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3. committee for weekly meeting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4.Diet </a:t>
            </a:r>
            <a:r>
              <a:rPr lang="en-US" sz="2000" dirty="0" err="1" smtClean="0"/>
              <a:t>monitoing</a:t>
            </a:r>
            <a:r>
              <a:rPr lang="en-US" sz="2000" dirty="0" smtClean="0"/>
              <a:t> committee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5.Waste management committee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6. House rent and residential committee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7.Financial committee for MSR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8. Committee for health education and awareness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9. Store management committee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10. Fire fighting, rescue and </a:t>
            </a:r>
            <a:r>
              <a:rPr lang="en-US" sz="2000" dirty="0" err="1" smtClean="0"/>
              <a:t>safty</a:t>
            </a:r>
            <a:r>
              <a:rPr lang="en-US" sz="2000" dirty="0" smtClean="0"/>
              <a:t> committee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11.Anti-sexual </a:t>
            </a:r>
            <a:r>
              <a:rPr lang="en-US" sz="2000" dirty="0" err="1" smtClean="0"/>
              <a:t>harasement</a:t>
            </a:r>
            <a:r>
              <a:rPr lang="en-US" sz="2000" dirty="0" smtClean="0"/>
              <a:t> </a:t>
            </a:r>
            <a:r>
              <a:rPr lang="en-US" sz="2000" dirty="0" smtClean="0"/>
              <a:t>committee.</a:t>
            </a:r>
            <a:endParaRPr lang="en-US" sz="2000" dirty="0" smtClean="0"/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12. Social and cultural activities celebration committee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13. Audit </a:t>
            </a:r>
            <a:r>
              <a:rPr lang="en-US" sz="2000" dirty="0" smtClean="0"/>
              <a:t>committee.</a:t>
            </a:r>
            <a:endParaRPr lang="en-US" sz="2000" dirty="0" smtClean="0"/>
          </a:p>
          <a:p>
            <a:pPr marL="0" indent="0">
              <a:buNone/>
            </a:pP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8683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Our Co-</a:t>
            </a:r>
            <a:r>
              <a:rPr lang="en-US" dirty="0" err="1" smtClean="0">
                <a:solidFill>
                  <a:srgbClr val="FF0000"/>
                </a:solidFill>
              </a:rPr>
              <a:t>ordinating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function done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/>
          <a:lstStyle/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/>
              <a:t> </a:t>
            </a:r>
            <a:r>
              <a:rPr lang="en-US" sz="2400" dirty="0" smtClean="0"/>
              <a:t> 1. By regular physical monitoring and supervision</a:t>
            </a:r>
          </a:p>
          <a:p>
            <a:pPr marL="0" indent="0">
              <a:buNone/>
            </a:pPr>
            <a:r>
              <a:rPr lang="en-US" sz="2400" dirty="0"/>
              <a:t> </a:t>
            </a:r>
            <a:r>
              <a:rPr lang="en-US" sz="2400" dirty="0" smtClean="0"/>
              <a:t> 2. By using </a:t>
            </a:r>
            <a:r>
              <a:rPr lang="en-US" sz="2400" dirty="0" err="1" smtClean="0"/>
              <a:t>Technolgy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dirty="0"/>
              <a:t> </a:t>
            </a:r>
            <a:r>
              <a:rPr lang="en-US" sz="2400" dirty="0" smtClean="0"/>
              <a:t>                                 a. Messenger group</a:t>
            </a:r>
          </a:p>
          <a:p>
            <a:pPr marL="0" indent="0" algn="just">
              <a:buNone/>
            </a:pPr>
            <a:r>
              <a:rPr lang="en-US" sz="2400" dirty="0"/>
              <a:t> </a:t>
            </a:r>
            <a:r>
              <a:rPr lang="en-US" sz="2400" dirty="0" smtClean="0"/>
              <a:t>                                      </a:t>
            </a:r>
            <a:r>
              <a:rPr lang="en-US" sz="1800" dirty="0" smtClean="0"/>
              <a:t>-Doctor messenger group</a:t>
            </a:r>
          </a:p>
          <a:p>
            <a:pPr marL="0" indent="0" algn="just">
              <a:buNone/>
            </a:pPr>
            <a:r>
              <a:rPr lang="en-US" sz="1800" dirty="0"/>
              <a:t> </a:t>
            </a:r>
            <a:r>
              <a:rPr lang="en-US" sz="1800" dirty="0" smtClean="0"/>
              <a:t>                                                 - EMO messenger group</a:t>
            </a:r>
          </a:p>
          <a:p>
            <a:pPr marL="0" indent="0" algn="just">
              <a:buNone/>
            </a:pPr>
            <a:r>
              <a:rPr lang="en-US" sz="1800" dirty="0" smtClean="0"/>
              <a:t>                                                  -Nursing messenger group</a:t>
            </a:r>
          </a:p>
          <a:p>
            <a:pPr marL="0" indent="0" algn="just">
              <a:buNone/>
            </a:pPr>
            <a:r>
              <a:rPr lang="en-US" sz="1800" dirty="0" smtClean="0"/>
              <a:t>                                                 - CHCP messenger group</a:t>
            </a:r>
          </a:p>
          <a:p>
            <a:pPr marL="0" indent="0" algn="just">
              <a:buNone/>
            </a:pPr>
            <a:r>
              <a:rPr lang="en-US" sz="1800" dirty="0" smtClean="0"/>
              <a:t>                                                 - SACMO messenger group</a:t>
            </a:r>
          </a:p>
          <a:p>
            <a:pPr marL="0" indent="0" algn="just">
              <a:buNone/>
            </a:pPr>
            <a:r>
              <a:rPr lang="en-US" sz="1800" dirty="0" smtClean="0"/>
              <a:t>                                                - HI,AHI,HI messenger group</a:t>
            </a:r>
          </a:p>
          <a:p>
            <a:pPr marL="0" indent="0" algn="just">
              <a:buNone/>
            </a:pPr>
            <a:r>
              <a:rPr lang="en-US" sz="2400" dirty="0"/>
              <a:t> </a:t>
            </a:r>
            <a:r>
              <a:rPr lang="en-US" sz="2400" dirty="0" smtClean="0"/>
              <a:t>                                 b. Mobile tracking system</a:t>
            </a:r>
          </a:p>
          <a:p>
            <a:pPr marL="0" indent="0" algn="just">
              <a:buNone/>
            </a:pPr>
            <a:r>
              <a:rPr lang="en-US" sz="2400" dirty="0"/>
              <a:t> </a:t>
            </a:r>
            <a:r>
              <a:rPr lang="en-US" sz="2400" dirty="0" smtClean="0"/>
              <a:t> 3. By doing  regular schedule meeting 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70209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914400"/>
          </a:xfrm>
          <a:solidFill>
            <a:schemeClr val="accent1"/>
          </a:solidFill>
        </p:spPr>
        <p:txBody>
          <a:bodyPr/>
          <a:lstStyle/>
          <a:p>
            <a:pPr eaLnBrk="1" hangingPunct="1"/>
            <a:r>
              <a:rPr lang="en-US" sz="2800" b="1" dirty="0">
                <a:solidFill>
                  <a:srgbClr val="FF0000"/>
                </a:solidFill>
              </a:rPr>
              <a:t>Background History of MCH services of </a:t>
            </a:r>
            <a:r>
              <a:rPr lang="en-US" sz="2800" b="1" dirty="0" err="1" smtClean="0">
                <a:solidFill>
                  <a:srgbClr val="FF0000"/>
                </a:solidFill>
              </a:rPr>
              <a:t>kamalnagar</a:t>
            </a:r>
            <a:r>
              <a:rPr lang="en-US" sz="2800" b="1" dirty="0" smtClean="0">
                <a:solidFill>
                  <a:srgbClr val="FF0000"/>
                </a:solidFill>
              </a:rPr>
              <a:t> health </a:t>
            </a:r>
            <a:r>
              <a:rPr lang="en-US" sz="2800" b="1" dirty="0">
                <a:solidFill>
                  <a:srgbClr val="FF0000"/>
                </a:solidFill>
              </a:rPr>
              <a:t>Complex, </a:t>
            </a:r>
            <a:r>
              <a:rPr lang="en-US" sz="2800" b="1" dirty="0" err="1" smtClean="0">
                <a:solidFill>
                  <a:srgbClr val="FF0000"/>
                </a:solidFill>
              </a:rPr>
              <a:t>Lakshmipur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382000" cy="5943600"/>
          </a:xfrm>
        </p:spPr>
        <p:txBody>
          <a:bodyPr/>
          <a:lstStyle/>
          <a:p>
            <a:pPr marL="0" indent="0" algn="just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Tx/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Maternal and Child Mortality and Mobility and to ensure the quality services to the mother and child, UHFPO opened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 delivery </a:t>
            </a: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centre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 9 union with the help of JICA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March 2021.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from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March 2021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june-2022 </a:t>
            </a:r>
            <a:r>
              <a:rPr 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JICA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helped by Frontline MCH Program. </a:t>
            </a:r>
          </a:p>
          <a:p>
            <a:pPr marL="0" indent="0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Tx/>
              <a:buNone/>
            </a:pPr>
            <a:r>
              <a:rPr 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Special activities:</a:t>
            </a: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ANC-Corner </a:t>
            </a:r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NCD corner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EOC service </a:t>
            </a: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5 corner for under 5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children(IMCI)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birth and death record</a:t>
            </a:r>
          </a:p>
          <a:p>
            <a:pPr marL="0" indent="0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38555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66775"/>
          </a:xfrm>
          <a:solidFill>
            <a:schemeClr val="accent1"/>
          </a:solidFill>
        </p:spPr>
        <p:txBody>
          <a:bodyPr/>
          <a:lstStyle/>
          <a:p>
            <a:pPr eaLnBrk="1" hangingPunct="1"/>
            <a:r>
              <a:rPr lang="en-US" sz="3200" b="1"/>
              <a:t>Contd.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77807"/>
            <a:ext cx="8229600" cy="48006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Dec. 1999 Reproductive Health Department of DGHS and UNICEF gave logistic supports and human resources development </a:t>
            </a: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endParaRPr lang="en-US" sz="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 November 2000 started Comprehensive EOC program</a:t>
            </a: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endParaRPr lang="en-US" sz="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2022 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 Blood Transfusion unit </a:t>
            </a: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established after establishing the pathology department.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endParaRPr lang="en-US" sz="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Essential packages(one month) for ANC patient started from august 2021.   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endParaRPr lang="en-US" sz="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Women </a:t>
            </a: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child friendly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 declared in </a:t>
            </a: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2021.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Killer Disease (diabetes, </a:t>
            </a: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hypertension (NCD Corner),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RTA &amp; poisoning)  prevention program starts in  1</a:t>
            </a:r>
            <a:r>
              <a:rPr lang="en-US" sz="1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January-2021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KMC and SAM corner started from January 2021.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VIA corner for screening of cervical cancer will be started very soon.</a:t>
            </a:r>
          </a:p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None/>
            </a:pP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418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Our </a:t>
            </a:r>
            <a:r>
              <a:rPr lang="en-US" dirty="0" smtClean="0">
                <a:solidFill>
                  <a:srgbClr val="FF0000"/>
                </a:solidFill>
              </a:rPr>
              <a:t>different Services </a:t>
            </a:r>
            <a:r>
              <a:rPr lang="en-US" dirty="0" smtClean="0">
                <a:solidFill>
                  <a:srgbClr val="FF0000"/>
                </a:solidFill>
              </a:rPr>
              <a:t>and developments :</a:t>
            </a:r>
            <a:endParaRPr lang="en-US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                </a:t>
            </a:r>
            <a:r>
              <a:rPr lang="en-US" dirty="0" smtClean="0">
                <a:solidFill>
                  <a:srgbClr val="002060"/>
                </a:solidFill>
              </a:rPr>
              <a:t>  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endParaRPr lang="en-US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0847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77" name="Rectangle 57"/>
          <p:cNvSpPr>
            <a:spLocks noChangeArrowheads="1"/>
          </p:cNvSpPr>
          <p:nvPr/>
        </p:nvSpPr>
        <p:spPr bwMode="auto">
          <a:xfrm>
            <a:off x="462176" y="983206"/>
            <a:ext cx="8229600" cy="609601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charset="0"/>
                <a:ea typeface="+mn-ea"/>
                <a:cs typeface="Arial" charset="0"/>
              </a:rPr>
              <a:t>Bed Occupancy Rate from </a:t>
            </a: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charset="0"/>
                <a:ea typeface="+mn-ea"/>
                <a:cs typeface="Arial" charset="0"/>
              </a:rPr>
              <a:t> 2017 to 2022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pic>
        <p:nvPicPr>
          <p:cNvPr id="42015" name="Title 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5" y="-28032"/>
            <a:ext cx="8339138" cy="131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44" name="Text Box 32"/>
          <p:cNvSpPr txBox="1">
            <a:spLocks noChangeArrowheads="1"/>
          </p:cNvSpPr>
          <p:nvPr/>
        </p:nvSpPr>
        <p:spPr bwMode="auto">
          <a:xfrm>
            <a:off x="462176" y="236831"/>
            <a:ext cx="8229600" cy="71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itchFamily="34" charset="0"/>
                <a:ea typeface="+mn-ea"/>
                <a:cs typeface="Arial" charset="0"/>
              </a:rPr>
              <a:t>UHC</a:t>
            </a:r>
          </a:p>
        </p:txBody>
      </p:sp>
      <p:graphicFrame>
        <p:nvGraphicFramePr>
          <p:cNvPr id="3" name="Chart 2"/>
          <p:cNvGraphicFramePr/>
          <p:nvPr/>
        </p:nvGraphicFramePr>
        <p:xfrm>
          <a:off x="1251744" y="1981200"/>
          <a:ext cx="5834856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480508716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7"/>
          <p:cNvSpPr>
            <a:spLocks noGrp="1" noChangeArrowheads="1"/>
          </p:cNvSpPr>
          <p:nvPr>
            <p:ph type="title"/>
          </p:nvPr>
        </p:nvSpPr>
        <p:spPr>
          <a:xfrm>
            <a:off x="228600" y="1143000"/>
            <a:ext cx="8534400" cy="503238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Emergency &amp; Out Door, Indoor  Service </a:t>
            </a:r>
            <a:r>
              <a:rPr lang="en-US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2017 </a:t>
            </a: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to </a:t>
            </a:r>
            <a:r>
              <a:rPr lang="en-US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2022</a:t>
            </a:r>
            <a:endParaRPr 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0" name="Title 1"/>
          <p:cNvSpPr txBox="1">
            <a:spLocks/>
          </p:cNvSpPr>
          <p:nvPr/>
        </p:nvSpPr>
        <p:spPr bwMode="auto">
          <a:xfrm>
            <a:off x="228600" y="228600"/>
            <a:ext cx="85344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itchFamily="34" charset="0"/>
                <a:ea typeface="+mn-ea"/>
                <a:cs typeface="+mn-cs"/>
              </a:rPr>
              <a:t>UHC</a:t>
            </a:r>
          </a:p>
        </p:txBody>
      </p:sp>
      <p:graphicFrame>
        <p:nvGraphicFramePr>
          <p:cNvPr id="3" name="Chart 2"/>
          <p:cNvGraphicFramePr/>
          <p:nvPr/>
        </p:nvGraphicFramePr>
        <p:xfrm>
          <a:off x="609600" y="1981200"/>
          <a:ext cx="81534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554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>
        <p:pull/>
      </p:transition>
    </mc:Choice>
    <mc:Fallback xmlns="">
      <p:transition spd="slow">
        <p:pull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2651" y="792754"/>
            <a:ext cx="8310349" cy="808038"/>
          </a:xfr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2400" b="1" dirty="0">
                <a:solidFill>
                  <a:schemeClr val="bg1"/>
                </a:solidFill>
              </a:rPr>
              <a:t/>
            </a: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bg1"/>
                </a:solidFill>
              </a:rPr>
              <a:t/>
            </a: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2800" b="1" dirty="0">
                <a:solidFill>
                  <a:schemeClr val="bg1"/>
                </a:solidFill>
              </a:rPr>
              <a:t>Comparative data of revenue income (in Taka) from </a:t>
            </a:r>
            <a:r>
              <a:rPr lang="en-US" sz="2800" b="1" dirty="0" smtClean="0">
                <a:solidFill>
                  <a:schemeClr val="bg1"/>
                </a:solidFill>
              </a:rPr>
              <a:t>2017 </a:t>
            </a:r>
            <a:r>
              <a:rPr lang="en-US" sz="2800" b="1" dirty="0">
                <a:solidFill>
                  <a:schemeClr val="bg1"/>
                </a:solidFill>
              </a:rPr>
              <a:t>to </a:t>
            </a:r>
            <a:r>
              <a:rPr lang="en-US" sz="2800" b="1" dirty="0" smtClean="0">
                <a:solidFill>
                  <a:schemeClr val="bg1"/>
                </a:solidFill>
              </a:rPr>
              <a:t>2022</a:t>
            </a:r>
            <a:r>
              <a:rPr lang="en-US" sz="4800" b="1" dirty="0"/>
              <a:t/>
            </a:r>
            <a:br>
              <a:rPr lang="en-US" sz="4800" b="1" dirty="0"/>
            </a:br>
            <a:endParaRPr lang="en-US" sz="5400" b="1" dirty="0"/>
          </a:p>
        </p:txBody>
      </p:sp>
      <p:graphicFrame>
        <p:nvGraphicFramePr>
          <p:cNvPr id="2" name="Content Placeholder 8"/>
          <p:cNvGraphicFramePr>
            <a:graphicFrameLocks noGrp="1"/>
          </p:cNvGraphicFramePr>
          <p:nvPr>
            <p:ph idx="1"/>
          </p:nvPr>
        </p:nvGraphicFramePr>
        <p:xfrm>
          <a:off x="1676400" y="2133600"/>
          <a:ext cx="556260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itle 1"/>
          <p:cNvSpPr txBox="1">
            <a:spLocks/>
          </p:cNvSpPr>
          <p:nvPr/>
        </p:nvSpPr>
        <p:spPr bwMode="auto">
          <a:xfrm>
            <a:off x="452651" y="762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itchFamily="34" charset="0"/>
                <a:ea typeface="+mn-ea"/>
                <a:cs typeface="+mn-cs"/>
              </a:rPr>
              <a:t>UHC</a:t>
            </a:r>
          </a:p>
        </p:txBody>
      </p:sp>
    </p:spTree>
    <p:extLst>
      <p:ext uri="{BB962C8B-B14F-4D97-AF65-F5344CB8AC3E}">
        <p14:creationId xmlns:p14="http://schemas.microsoft.com/office/powerpoint/2010/main" val="3018268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 Health  Complex</a:t>
            </a:r>
            <a:br>
              <a:rPr lang="en-US" sz="40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4000" b="1" dirty="0" err="1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kamalnagar</a:t>
            </a:r>
            <a: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, </a:t>
            </a:r>
            <a:r>
              <a:rPr lang="en-US" sz="4000" b="1" dirty="0" err="1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Lakshmipur</a:t>
            </a:r>
            <a:r>
              <a:rPr lang="en-US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.</a:t>
            </a:r>
            <a:endParaRPr lang="en-US" sz="2800" b="1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2800" dirty="0"/>
          </a:p>
          <a:p>
            <a:pPr algn="ctr" eaLnBrk="1" hangingPunct="1">
              <a:buFontTx/>
              <a:buNone/>
            </a:pPr>
            <a:endParaRPr lang="en-US" sz="2800" dirty="0"/>
          </a:p>
        </p:txBody>
      </p:sp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</a:t>
            </a:r>
            <a:r>
              <a:rPr lang="en-US" sz="2400" dirty="0" smtClean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2017 to 2022 </a:t>
            </a: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(Hospital Delivery )</a:t>
            </a:r>
          </a:p>
        </p:txBody>
      </p:sp>
      <p:graphicFrame>
        <p:nvGraphicFramePr>
          <p:cNvPr id="31748" name="Object 29"/>
          <p:cNvGraphicFramePr>
            <a:graphicFrameLocks noGrp="1" noChangeAspect="1"/>
          </p:cNvGraphicFramePr>
          <p:nvPr>
            <p:ph sz="half" idx="2"/>
          </p:nvPr>
        </p:nvGraphicFramePr>
        <p:xfrm>
          <a:off x="1219200" y="2286001"/>
          <a:ext cx="7467599" cy="297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82" name="Worksheet" r:id="rId4" imgW="6562833" imgH="3571875" progId="Excel.Sheet.8">
                  <p:embed/>
                </p:oleObj>
              </mc:Choice>
              <mc:Fallback>
                <p:oleObj name="Worksheet" r:id="rId4" imgW="6562833" imgH="3571875" progId="Excel.Sheet.8">
                  <p:embed/>
                  <p:pic>
                    <p:nvPicPr>
                      <p:cNvPr id="0" name="Picture 29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2286001"/>
                        <a:ext cx="7467599" cy="297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Well-decorated conference </a:t>
            </a:r>
            <a:r>
              <a:rPr lang="en-US" dirty="0" err="1" smtClean="0">
                <a:solidFill>
                  <a:srgbClr val="FF0000"/>
                </a:solidFill>
              </a:rPr>
              <a:t>room.july</a:t>
            </a:r>
            <a:r>
              <a:rPr lang="en-US" dirty="0" smtClean="0">
                <a:solidFill>
                  <a:srgbClr val="FF0000"/>
                </a:solidFill>
              </a:rPr>
              <a:t> 2020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4191000" cy="4237038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648200" y="1600200"/>
            <a:ext cx="4038600" cy="4237038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304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Establishment of Central Oxygen </a:t>
            </a:r>
            <a:r>
              <a:rPr lang="en-US" dirty="0" err="1" smtClean="0">
                <a:solidFill>
                  <a:srgbClr val="FF0000"/>
                </a:solidFill>
              </a:rPr>
              <a:t>system,july</a:t>
            </a:r>
            <a:r>
              <a:rPr lang="en-US" dirty="0" smtClean="0">
                <a:solidFill>
                  <a:srgbClr val="FF0000"/>
                </a:solidFill>
              </a:rPr>
              <a:t> 2020.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33400" y="1417639"/>
            <a:ext cx="8153400" cy="4708524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37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Receiving of Ambulance and Jeep keys from CS Sir ,august 2020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09600" y="1676400"/>
            <a:ext cx="5562600" cy="28194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276600" y="4495800"/>
            <a:ext cx="5410200" cy="2133600"/>
          </a:xfrm>
          <a:prstGeom prst="ellipse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038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err="1" smtClean="0">
                <a:solidFill>
                  <a:srgbClr val="FF0000"/>
                </a:solidFill>
              </a:rPr>
              <a:t>Muktijudda</a:t>
            </a:r>
            <a:r>
              <a:rPr lang="en-US" sz="2800" dirty="0" smtClean="0">
                <a:solidFill>
                  <a:srgbClr val="FF0000"/>
                </a:solidFill>
              </a:rPr>
              <a:t> </a:t>
            </a:r>
            <a:r>
              <a:rPr lang="en-US" sz="2800" dirty="0" err="1" smtClean="0">
                <a:solidFill>
                  <a:srgbClr val="FF0000"/>
                </a:solidFill>
              </a:rPr>
              <a:t>Shapla</a:t>
            </a:r>
            <a:r>
              <a:rPr lang="en-US" sz="2800" dirty="0" smtClean="0">
                <a:solidFill>
                  <a:srgbClr val="FF0000"/>
                </a:solidFill>
              </a:rPr>
              <a:t> </a:t>
            </a:r>
            <a:r>
              <a:rPr lang="en-US" sz="2800" dirty="0" err="1" smtClean="0">
                <a:solidFill>
                  <a:srgbClr val="FF0000"/>
                </a:solidFill>
              </a:rPr>
              <a:t>Chattor</a:t>
            </a:r>
            <a:r>
              <a:rPr lang="en-US" sz="2800" dirty="0" smtClean="0">
                <a:solidFill>
                  <a:srgbClr val="FF0000"/>
                </a:solidFill>
              </a:rPr>
              <a:t/>
            </a:r>
            <a:br>
              <a:rPr lang="en-US" sz="2800" dirty="0" smtClean="0">
                <a:solidFill>
                  <a:srgbClr val="FF0000"/>
                </a:solidFill>
              </a:rPr>
            </a:br>
            <a:r>
              <a:rPr lang="en-US" sz="2800" dirty="0" smtClean="0">
                <a:solidFill>
                  <a:srgbClr val="FF0000"/>
                </a:solidFill>
              </a:rPr>
              <a:t>inaugurated by CS Sir and </a:t>
            </a:r>
            <a:r>
              <a:rPr lang="en-US" sz="2800" dirty="0" err="1" smtClean="0">
                <a:solidFill>
                  <a:srgbClr val="FF0000"/>
                </a:solidFill>
              </a:rPr>
              <a:t>Muktijudda</a:t>
            </a:r>
            <a:r>
              <a:rPr lang="en-US" sz="2800" dirty="0" smtClean="0">
                <a:solidFill>
                  <a:srgbClr val="FF0000"/>
                </a:solidFill>
              </a:rPr>
              <a:t> commander,sep,2021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85800" y="1600199"/>
            <a:ext cx="7543800" cy="4525963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883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C</a:t>
            </a:r>
            <a:r>
              <a:rPr lang="en-US" dirty="0" smtClean="0">
                <a:solidFill>
                  <a:srgbClr val="FF0000"/>
                </a:solidFill>
              </a:rPr>
              <a:t>itizen charter, value and medicine list added 2021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33400" y="1828800"/>
            <a:ext cx="3962400" cy="21336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495800" y="1828800"/>
            <a:ext cx="3962400" cy="213360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33400" y="3962400"/>
            <a:ext cx="3962400" cy="2590800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495800" y="3962400"/>
            <a:ext cx="3962400" cy="2590800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749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Intercom added march 2022.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87680" y="4160839"/>
            <a:ext cx="4191000" cy="3001961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678680" y="1219201"/>
            <a:ext cx="3970020" cy="2941638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72440" y="1219201"/>
            <a:ext cx="4191000" cy="2941638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663440" y="4160839"/>
            <a:ext cx="3909060" cy="3001961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957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/>
          <a:lstStyle/>
          <a:p>
            <a:r>
              <a:rPr lang="en-US" sz="3600" dirty="0" smtClean="0">
                <a:solidFill>
                  <a:srgbClr val="FF0000"/>
                </a:solidFill>
              </a:rPr>
              <a:t>Safe </a:t>
            </a:r>
            <a:r>
              <a:rPr lang="en-US" sz="3600" dirty="0" smtClean="0">
                <a:solidFill>
                  <a:srgbClr val="FF0000"/>
                </a:solidFill>
              </a:rPr>
              <a:t>drinking water system added in </a:t>
            </a:r>
            <a:r>
              <a:rPr lang="en-US" sz="3600" dirty="0" err="1" smtClean="0">
                <a:solidFill>
                  <a:srgbClr val="FF0000"/>
                </a:solidFill>
              </a:rPr>
              <a:t>july</a:t>
            </a:r>
            <a:r>
              <a:rPr lang="en-US" sz="3600" dirty="0" smtClean="0">
                <a:solidFill>
                  <a:srgbClr val="FF0000"/>
                </a:solidFill>
              </a:rPr>
              <a:t> </a:t>
            </a:r>
            <a:r>
              <a:rPr lang="en-US" sz="3600" dirty="0" smtClean="0">
                <a:solidFill>
                  <a:srgbClr val="FF0000"/>
                </a:solidFill>
              </a:rPr>
              <a:t>2021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4640" y="1066800"/>
            <a:ext cx="8849360" cy="553497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76200" y="1066800"/>
            <a:ext cx="4338320" cy="31242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419600" y="4155440"/>
            <a:ext cx="4262120" cy="262636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414520" y="1066800"/>
            <a:ext cx="4267200" cy="3048000"/>
          </a:xfrm>
          <a:prstGeom prst="rect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6200" y="4257040"/>
            <a:ext cx="4343400" cy="2600960"/>
          </a:xfrm>
          <a:prstGeom prst="rect">
            <a:avLst/>
          </a:prstGeom>
          <a:blipFill dpi="0"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138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wipe/>
      </p:transition>
    </mc:Choice>
    <mc:Fallback xmlns="">
      <p:transition spd="slow">
        <p:wip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296863"/>
            <a:ext cx="8229600" cy="1143000"/>
          </a:xfrm>
        </p:spPr>
        <p:txBody>
          <a:bodyPr/>
          <a:lstStyle/>
          <a:p>
            <a:r>
              <a:rPr lang="en-US" sz="3600" dirty="0" smtClean="0">
                <a:solidFill>
                  <a:srgbClr val="FF0000"/>
                </a:solidFill>
              </a:rPr>
              <a:t>Inauguration of Pathology department, NCD Corner and </a:t>
            </a:r>
            <a:r>
              <a:rPr lang="en-US" sz="3600" dirty="0" err="1" smtClean="0">
                <a:solidFill>
                  <a:srgbClr val="FF0000"/>
                </a:solidFill>
              </a:rPr>
              <a:t>Banghobondhu</a:t>
            </a:r>
            <a:r>
              <a:rPr lang="en-US" sz="3600" dirty="0" smtClean="0">
                <a:solidFill>
                  <a:srgbClr val="FF0000"/>
                </a:solidFill>
              </a:rPr>
              <a:t> Corner 2022,july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4572000" cy="28956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029200" y="1600200"/>
            <a:ext cx="3581400" cy="289560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209800" y="4495799"/>
            <a:ext cx="5029200" cy="2362201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094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New Generator added </a:t>
            </a:r>
            <a:r>
              <a:rPr lang="en-US" dirty="0" err="1" smtClean="0">
                <a:solidFill>
                  <a:srgbClr val="FF0000"/>
                </a:solidFill>
              </a:rPr>
              <a:t>june</a:t>
            </a:r>
            <a:r>
              <a:rPr lang="en-US" dirty="0" smtClean="0">
                <a:solidFill>
                  <a:srgbClr val="FF0000"/>
                </a:solidFill>
              </a:rPr>
              <a:t> 2022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67360" y="1295400"/>
            <a:ext cx="8229600" cy="55626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000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>
                <a:solidFill>
                  <a:srgbClr val="FF0000"/>
                </a:solidFill>
              </a:rPr>
              <a:t>Whole hospital is controlled by CC </a:t>
            </a:r>
            <a:r>
              <a:rPr lang="en-US" sz="4000" dirty="0" err="1" smtClean="0">
                <a:solidFill>
                  <a:srgbClr val="FF0000"/>
                </a:solidFill>
              </a:rPr>
              <a:t>Cemera</a:t>
            </a:r>
            <a:r>
              <a:rPr lang="en-US" sz="4000" dirty="0" smtClean="0">
                <a:solidFill>
                  <a:srgbClr val="FF0000"/>
                </a:solidFill>
              </a:rPr>
              <a:t> added in September </a:t>
            </a:r>
            <a:r>
              <a:rPr lang="en-US" sz="4000" dirty="0" smtClean="0">
                <a:solidFill>
                  <a:srgbClr val="FF0000"/>
                </a:solidFill>
              </a:rPr>
              <a:t>2021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57200" y="1417638"/>
            <a:ext cx="8305800" cy="4602162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629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>
                <a:solidFill>
                  <a:srgbClr val="FF0000"/>
                </a:solidFill>
              </a:rPr>
              <a:t>Gene X-pert and Dots </a:t>
            </a:r>
            <a:r>
              <a:rPr lang="en-US" sz="4000" dirty="0" smtClean="0">
                <a:solidFill>
                  <a:srgbClr val="FF0000"/>
                </a:solidFill>
              </a:rPr>
              <a:t>corner added December </a:t>
            </a:r>
            <a:r>
              <a:rPr lang="en-US" sz="4000" dirty="0" smtClean="0">
                <a:solidFill>
                  <a:srgbClr val="FF0000"/>
                </a:solidFill>
              </a:rPr>
              <a:t>2021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42240" y="1549083"/>
            <a:ext cx="4419600" cy="5308917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561840" y="1549083"/>
            <a:ext cx="4582160" cy="5308917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054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sz="3600" dirty="0" smtClean="0">
                <a:solidFill>
                  <a:srgbClr val="FF0000"/>
                </a:solidFill>
              </a:rPr>
              <a:t>Well furnished UHFPO room(2020),RMO room(2021),EMO room(2022)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6720" y="1737519"/>
            <a:ext cx="8229600" cy="45259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57200" y="1219200"/>
            <a:ext cx="4648200" cy="28956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514600" y="4114800"/>
            <a:ext cx="4648200" cy="274320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105400" y="1219200"/>
            <a:ext cx="3505200" cy="2895600"/>
          </a:xfrm>
          <a:prstGeom prst="rect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172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dirty="0" smtClean="0"/>
              <a:t>                      </a:t>
            </a:r>
            <a:r>
              <a:rPr lang="en-US" dirty="0" smtClean="0">
                <a:solidFill>
                  <a:srgbClr val="FF0000"/>
                </a:solidFill>
              </a:rPr>
              <a:t>2022,july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2760" y="1448118"/>
            <a:ext cx="8229600" cy="45259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85800" y="1463358"/>
            <a:ext cx="7429500" cy="5714682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143000" y="274638"/>
            <a:ext cx="3352800" cy="1143000"/>
          </a:xfrm>
          <a:prstGeom prst="rect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6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X-ray department added November 2020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57200" y="1600199"/>
            <a:ext cx="3810000" cy="4525963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267200" y="1600199"/>
            <a:ext cx="4419600" cy="4525964"/>
          </a:xfrm>
          <a:prstGeom prst="rect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636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Hospital boundary wall and residential gate construction 2021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4104641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76200" y="1828800"/>
            <a:ext cx="5029200" cy="46482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105400" y="1828800"/>
            <a:ext cx="4038600" cy="464820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8626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 smtClean="0">
                <a:solidFill>
                  <a:srgbClr val="FF0000"/>
                </a:solidFill>
              </a:rPr>
              <a:t> Gardening &amp; Cleaning day,</a:t>
            </a:r>
            <a:br>
              <a:rPr lang="en-US" sz="3600" b="1" dirty="0" smtClean="0">
                <a:solidFill>
                  <a:srgbClr val="FF0000"/>
                </a:solidFill>
              </a:rPr>
            </a:br>
            <a:r>
              <a:rPr lang="en-US" sz="3600" b="1" dirty="0" smtClean="0">
                <a:solidFill>
                  <a:srgbClr val="FF0000"/>
                </a:solidFill>
              </a:rPr>
              <a:t>Every Thursday.</a:t>
            </a:r>
            <a:endParaRPr lang="en-US" sz="3600" dirty="0">
              <a:solidFill>
                <a:srgbClr val="FF0000"/>
              </a:solidFill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280" y="1905000"/>
            <a:ext cx="4109720" cy="4343400"/>
          </a:xfr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1828800"/>
            <a:ext cx="4038600" cy="4343400"/>
          </a:xfrm>
        </p:spPr>
      </p:pic>
    </p:spTree>
    <p:extLst>
      <p:ext uri="{BB962C8B-B14F-4D97-AF65-F5344CB8AC3E}">
        <p14:creationId xmlns:p14="http://schemas.microsoft.com/office/powerpoint/2010/main" val="2709921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FF0000"/>
                </a:solidFill>
              </a:rPr>
              <a:t>Upazila</a:t>
            </a:r>
            <a:r>
              <a:rPr lang="en-US" b="1" dirty="0">
                <a:solidFill>
                  <a:srgbClr val="FF0000"/>
                </a:solidFill>
              </a:rPr>
              <a:t> Health  Complex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kamalnagar</a:t>
            </a:r>
            <a:r>
              <a:rPr lang="en-US" b="1" dirty="0">
                <a:solidFill>
                  <a:srgbClr val="FF0000"/>
                </a:solidFill>
              </a:rPr>
              <a:t>, </a:t>
            </a:r>
            <a:r>
              <a:rPr lang="en-US" b="1" dirty="0" smtClean="0">
                <a:solidFill>
                  <a:srgbClr val="FF0000"/>
                </a:solidFill>
              </a:rPr>
              <a:t> C section 2021 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1600200"/>
            <a:ext cx="4610100" cy="4525963"/>
          </a:xfrm>
        </p:spPr>
      </p:pic>
      <p:sp>
        <p:nvSpPr>
          <p:cNvPr id="3" name="Rectangle 2"/>
          <p:cNvSpPr/>
          <p:nvPr/>
        </p:nvSpPr>
        <p:spPr>
          <a:xfrm>
            <a:off x="5029200" y="1600201"/>
            <a:ext cx="4038600" cy="4525962"/>
          </a:xfrm>
          <a:prstGeom prst="rect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944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Inspection by </a:t>
            </a:r>
            <a:r>
              <a:rPr lang="en-US" dirty="0" err="1" smtClean="0">
                <a:solidFill>
                  <a:srgbClr val="FF0000"/>
                </a:solidFill>
              </a:rPr>
              <a:t>MP,Major</a:t>
            </a:r>
            <a:r>
              <a:rPr lang="en-US" dirty="0" smtClean="0">
                <a:solidFill>
                  <a:srgbClr val="FF0000"/>
                </a:solidFill>
              </a:rPr>
              <a:t>(</a:t>
            </a:r>
            <a:r>
              <a:rPr lang="en-US" dirty="0" err="1" smtClean="0">
                <a:solidFill>
                  <a:srgbClr val="FF0000"/>
                </a:solidFill>
              </a:rPr>
              <a:t>Rtd</a:t>
            </a:r>
            <a:r>
              <a:rPr lang="en-US" dirty="0" smtClean="0">
                <a:solidFill>
                  <a:srgbClr val="FF0000"/>
                </a:solidFill>
              </a:rPr>
              <a:t>) Abdul </a:t>
            </a:r>
            <a:r>
              <a:rPr lang="en-US" dirty="0" err="1" smtClean="0">
                <a:solidFill>
                  <a:srgbClr val="FF0000"/>
                </a:solidFill>
              </a:rPr>
              <a:t>Mannan</a:t>
            </a:r>
            <a:r>
              <a:rPr lang="en-US" dirty="0" smtClean="0">
                <a:solidFill>
                  <a:srgbClr val="FF0000"/>
                </a:solidFill>
              </a:rPr>
              <a:t>, 11 </a:t>
            </a:r>
            <a:r>
              <a:rPr lang="en-US" dirty="0" err="1" smtClean="0">
                <a:solidFill>
                  <a:srgbClr val="FF0000"/>
                </a:solidFill>
              </a:rPr>
              <a:t>feb</a:t>
            </a:r>
            <a:r>
              <a:rPr lang="en-US" dirty="0" smtClean="0">
                <a:solidFill>
                  <a:srgbClr val="FF0000"/>
                </a:solidFill>
              </a:rPr>
              <a:t> 2021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4114800" cy="2484438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572000" y="1600200"/>
            <a:ext cx="4114800" cy="2484438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57200" y="4084637"/>
            <a:ext cx="4114800" cy="2041525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572000" y="4084636"/>
            <a:ext cx="4114800" cy="2041526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364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:wipe/>
      </p:transition>
    </mc:Choice>
    <mc:Fallback xmlns="">
      <p:transition spd="slow">
        <p:wip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FF0000"/>
                </a:solidFill>
              </a:rPr>
              <a:t>Upazila</a:t>
            </a:r>
            <a:r>
              <a:rPr lang="en-US" b="1" dirty="0">
                <a:solidFill>
                  <a:srgbClr val="FF0000"/>
                </a:solidFill>
              </a:rPr>
              <a:t> Health  Complex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kamalnagar</a:t>
            </a:r>
            <a:r>
              <a:rPr lang="en-US" b="1" dirty="0">
                <a:solidFill>
                  <a:srgbClr val="FF0000"/>
                </a:solidFill>
              </a:rPr>
              <a:t>, </a:t>
            </a:r>
            <a:r>
              <a:rPr lang="en-US" b="1" dirty="0" err="1" smtClean="0">
                <a:solidFill>
                  <a:srgbClr val="FF0000"/>
                </a:solidFill>
              </a:rPr>
              <a:t>pathlogy</a:t>
            </a:r>
            <a:r>
              <a:rPr lang="en-US" b="1" dirty="0" smtClean="0">
                <a:solidFill>
                  <a:srgbClr val="FF0000"/>
                </a:solidFill>
              </a:rPr>
              <a:t> visit CS Sir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600200"/>
            <a:ext cx="8381999" cy="4525963"/>
          </a:xfrm>
        </p:spPr>
      </p:pic>
    </p:spTree>
    <p:extLst>
      <p:ext uri="{BB962C8B-B14F-4D97-AF65-F5344CB8AC3E}">
        <p14:creationId xmlns:p14="http://schemas.microsoft.com/office/powerpoint/2010/main" val="124270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FF0000"/>
                </a:solidFill>
              </a:rPr>
              <a:t>Upazila</a:t>
            </a:r>
            <a:r>
              <a:rPr lang="en-US" b="1" dirty="0">
                <a:solidFill>
                  <a:srgbClr val="FF0000"/>
                </a:solidFill>
              </a:rPr>
              <a:t> Health  Complex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kamalnagar</a:t>
            </a:r>
            <a:r>
              <a:rPr lang="en-US" b="1" dirty="0">
                <a:solidFill>
                  <a:srgbClr val="FF0000"/>
                </a:solidFill>
              </a:rPr>
              <a:t>, </a:t>
            </a:r>
            <a:r>
              <a:rPr lang="en-US" b="1" dirty="0" smtClean="0">
                <a:solidFill>
                  <a:srgbClr val="FF0000"/>
                </a:solidFill>
              </a:rPr>
              <a:t>EPI Centre Risk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1" y="1600200"/>
            <a:ext cx="8153400" cy="4525963"/>
          </a:xfrm>
        </p:spPr>
      </p:pic>
    </p:spTree>
    <p:extLst>
      <p:ext uri="{BB962C8B-B14F-4D97-AF65-F5344CB8AC3E}">
        <p14:creationId xmlns:p14="http://schemas.microsoft.com/office/powerpoint/2010/main" val="305829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News paper coverage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57200" y="1417638"/>
            <a:ext cx="3962400" cy="4708524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450080" y="1417637"/>
            <a:ext cx="4236720" cy="4708525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870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BA17ED29-B1C5-44A0-B7B2-8E405DCB32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65162"/>
          </a:xfrm>
          <a:solidFill>
            <a:schemeClr val="accent1"/>
          </a:solidFill>
        </p:spPr>
        <p:txBody>
          <a:bodyPr/>
          <a:lstStyle/>
          <a:p>
            <a:pPr eaLnBrk="1" hangingPunct="1"/>
            <a:r>
              <a:rPr lang="en-US" altLang="en-US" sz="3200" b="1" dirty="0" err="1"/>
              <a:t>Upazila</a:t>
            </a:r>
            <a:r>
              <a:rPr lang="en-US" altLang="en-US" sz="3200" b="1" dirty="0"/>
              <a:t> Health  Complex</a:t>
            </a:r>
            <a:br>
              <a:rPr lang="en-US" altLang="en-US" sz="3200" b="1" dirty="0"/>
            </a:br>
            <a:r>
              <a:rPr lang="en-US" sz="2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2000" b="1" dirty="0" err="1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kamalnagar</a:t>
            </a:r>
            <a:r>
              <a:rPr lang="en-US" sz="2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, </a:t>
            </a:r>
            <a:r>
              <a:rPr lang="en-US" sz="2000" b="1" dirty="0" err="1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Lakshmipur</a:t>
            </a:r>
            <a:r>
              <a:rPr lang="en-US" altLang="en-US" sz="2000" b="1" dirty="0" smtClean="0"/>
              <a:t>.</a:t>
            </a:r>
            <a:endParaRPr lang="en-US" altLang="en-US" sz="2000" b="1" dirty="0"/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D935C444-89D8-44E5-B127-72803971B5B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altLang="en-US" sz="2800"/>
          </a:p>
          <a:p>
            <a:pPr algn="ctr" eaLnBrk="1" hangingPunct="1">
              <a:buFontTx/>
              <a:buNone/>
            </a:pPr>
            <a:endParaRPr lang="en-US" altLang="en-US" sz="2800"/>
          </a:p>
        </p:txBody>
      </p:sp>
      <p:sp>
        <p:nvSpPr>
          <p:cNvPr id="218116" name="Rectangle 4">
            <a:extLst>
              <a:ext uri="{FF2B5EF4-FFF2-40B4-BE49-F238E27FC236}">
                <a16:creationId xmlns:a16="http://schemas.microsoft.com/office/drawing/2014/main" id="{7DCD4D61-0048-4A50-A148-F5E3D58F6A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270000"/>
            <a:ext cx="8153400" cy="4699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b"/>
          <a:lstStyle/>
          <a:p>
            <a:pPr algn="ctr" eaLnBrk="1" hangingPunct="1">
              <a:defRPr/>
            </a:pP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Community Support</a:t>
            </a:r>
            <a:r>
              <a:rPr lang="en-US" sz="4400">
                <a:solidFill>
                  <a:schemeClr val="tx2"/>
                </a:solidFill>
                <a:latin typeface="Arial" charset="0"/>
                <a:cs typeface="Arial" charset="0"/>
              </a:rPr>
              <a:t> </a:t>
            </a:r>
          </a:p>
        </p:txBody>
      </p:sp>
      <p:sp>
        <p:nvSpPr>
          <p:cNvPr id="218117" name="Text Box 5">
            <a:extLst>
              <a:ext uri="{FF2B5EF4-FFF2-40B4-BE49-F238E27FC236}">
                <a16:creationId xmlns:a16="http://schemas.microsoft.com/office/drawing/2014/main" id="{7E84A1FE-1CF1-44D6-BEC9-A0C9A7A790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915367"/>
            <a:ext cx="853440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74320"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One IPS &amp; 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delivery </a:t>
            </a:r>
            <a:r>
              <a:rPr lang="en-US" alt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instruements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financed by JICA for 10 delivery </a:t>
            </a:r>
            <a:r>
              <a:rPr lang="en-US" alt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centres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 each union.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74320"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Central oxygen system  financed and </a:t>
            </a:r>
            <a:r>
              <a:rPr lang="en-US" alt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organiged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Upazila Parishad. 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74320"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Blood donated by about 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100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enlisted blood donors in emergency need (Transfusion of 165</a:t>
            </a:r>
          </a:p>
          <a:p>
            <a:pPr indent="274320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bag F/blood are given in 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2021,2022)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74320"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Fuel of Generator donated by 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MP and </a:t>
            </a:r>
            <a:r>
              <a:rPr lang="en-US" alt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Upazilla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Parishad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350" name="Text Box 6">
            <a:extLst>
              <a:ext uri="{FF2B5EF4-FFF2-40B4-BE49-F238E27FC236}">
                <a16:creationId xmlns:a16="http://schemas.microsoft.com/office/drawing/2014/main" id="{444A9FB5-73F8-496D-817C-AAFDD09BF3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725" y="2170113"/>
            <a:ext cx="184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11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Our achievements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 </a:t>
            </a:r>
            <a:r>
              <a:rPr lang="en-US" dirty="0" smtClean="0"/>
              <a:t>Our </a:t>
            </a:r>
            <a:r>
              <a:rPr lang="en-US" dirty="0" err="1" smtClean="0"/>
              <a:t>upazila</a:t>
            </a:r>
            <a:r>
              <a:rPr lang="en-US" dirty="0" smtClean="0"/>
              <a:t> is near </a:t>
            </a:r>
            <a:r>
              <a:rPr lang="en-US" dirty="0" err="1" smtClean="0"/>
              <a:t>Meghna</a:t>
            </a:r>
            <a:r>
              <a:rPr lang="en-US" dirty="0" smtClean="0"/>
              <a:t> river and it is continuous flooded and eroded and very hard to risk </a:t>
            </a:r>
            <a:r>
              <a:rPr lang="en-US" dirty="0" err="1" smtClean="0"/>
              <a:t>area.Moreover</a:t>
            </a:r>
            <a:r>
              <a:rPr lang="en-US" dirty="0" smtClean="0"/>
              <a:t>-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#Our corona vaccine coverage-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                       </a:t>
            </a:r>
            <a:r>
              <a:rPr lang="en-US" dirty="0"/>
              <a:t>&gt;</a:t>
            </a:r>
            <a:r>
              <a:rPr lang="en-US" dirty="0" smtClean="0"/>
              <a:t> 1</a:t>
            </a:r>
            <a:r>
              <a:rPr lang="en-US" baseline="30000" dirty="0" smtClean="0"/>
              <a:t>st</a:t>
            </a:r>
            <a:r>
              <a:rPr lang="en-US" dirty="0" smtClean="0"/>
              <a:t> dose-86.25%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                       </a:t>
            </a:r>
            <a:r>
              <a:rPr lang="en-US" dirty="0"/>
              <a:t>&gt;</a:t>
            </a:r>
            <a:r>
              <a:rPr lang="en-US" dirty="0" smtClean="0"/>
              <a:t>2</a:t>
            </a:r>
            <a:r>
              <a:rPr lang="en-US" baseline="30000" dirty="0" smtClean="0"/>
              <a:t>nd</a:t>
            </a:r>
            <a:r>
              <a:rPr lang="en-US" dirty="0" smtClean="0"/>
              <a:t> dose-81.3%</a:t>
            </a:r>
          </a:p>
          <a:p>
            <a:pPr marL="0" indent="0">
              <a:buNone/>
            </a:pPr>
            <a:r>
              <a:rPr lang="en-US" dirty="0" smtClean="0"/>
              <a:t> # EPI </a:t>
            </a:r>
            <a:r>
              <a:rPr lang="en-US" dirty="0" smtClean="0"/>
              <a:t>coverage-99.99%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# Our hospital activity will be controlled by automation system very soon.</a:t>
            </a:r>
          </a:p>
          <a:p>
            <a:pPr marL="0" indent="0">
              <a:buNone/>
            </a:pPr>
            <a:r>
              <a:rPr lang="en-US" dirty="0"/>
              <a:t> 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354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Challenges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sz="2400" dirty="0"/>
              <a:t> </a:t>
            </a:r>
            <a:r>
              <a:rPr lang="en-US" sz="2400" dirty="0" smtClean="0"/>
              <a:t> 1. Change the attitude.</a:t>
            </a:r>
          </a:p>
          <a:p>
            <a:pPr marL="0" indent="0">
              <a:buNone/>
            </a:pPr>
            <a:r>
              <a:rPr lang="en-US" sz="2400" dirty="0"/>
              <a:t> </a:t>
            </a:r>
            <a:r>
              <a:rPr lang="en-US" sz="2400" dirty="0" smtClean="0"/>
              <a:t> 2. Fill up remaining 45% human </a:t>
            </a:r>
            <a:r>
              <a:rPr lang="en-US" sz="2400" dirty="0" err="1" smtClean="0"/>
              <a:t>resouces.and</a:t>
            </a:r>
            <a:r>
              <a:rPr lang="en-US" sz="2400" dirty="0" smtClean="0"/>
              <a:t> </a:t>
            </a:r>
            <a:r>
              <a:rPr lang="en-US" sz="2400" dirty="0" err="1" smtClean="0"/>
              <a:t>cancelletion</a:t>
            </a:r>
            <a:r>
              <a:rPr lang="en-US" sz="2400" dirty="0" smtClean="0"/>
              <a:t> of attachment post.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dirty="0"/>
              <a:t> </a:t>
            </a:r>
            <a:r>
              <a:rPr lang="en-US" sz="2400" dirty="0" smtClean="0"/>
              <a:t> 3. Construction and reconstruction of infrastructures specially</a:t>
            </a:r>
          </a:p>
          <a:p>
            <a:pPr marL="0" indent="0">
              <a:buNone/>
            </a:pPr>
            <a:r>
              <a:rPr lang="en-US" sz="2400" dirty="0"/>
              <a:t> </a:t>
            </a:r>
            <a:r>
              <a:rPr lang="en-US" sz="2400" dirty="0" smtClean="0"/>
              <a:t>                              - Store building</a:t>
            </a:r>
          </a:p>
          <a:p>
            <a:pPr marL="0" indent="0">
              <a:buNone/>
            </a:pPr>
            <a:r>
              <a:rPr lang="en-US" sz="2400" dirty="0"/>
              <a:t> </a:t>
            </a:r>
            <a:r>
              <a:rPr lang="en-US" sz="2400" dirty="0" smtClean="0"/>
              <a:t>                              -repair old building and new building</a:t>
            </a:r>
          </a:p>
          <a:p>
            <a:pPr marL="0" indent="0">
              <a:buNone/>
            </a:pPr>
            <a:r>
              <a:rPr lang="en-US" sz="2400" dirty="0"/>
              <a:t> </a:t>
            </a:r>
            <a:r>
              <a:rPr lang="en-US" sz="2400" dirty="0" smtClean="0"/>
              <a:t>4. UHFPO residence, Quarter and Dormitory construction.</a:t>
            </a:r>
          </a:p>
          <a:p>
            <a:pPr marL="0" indent="0">
              <a:buNone/>
            </a:pPr>
            <a:r>
              <a:rPr lang="en-US" sz="2400" dirty="0"/>
              <a:t> </a:t>
            </a:r>
            <a:r>
              <a:rPr lang="en-US" sz="2400" dirty="0" smtClean="0"/>
              <a:t>5. Construction of River broken 4 CC.</a:t>
            </a:r>
          </a:p>
          <a:p>
            <a:pPr marL="0" indent="0">
              <a:buNone/>
            </a:pPr>
            <a:r>
              <a:rPr lang="en-US" sz="2400" dirty="0"/>
              <a:t> </a:t>
            </a:r>
            <a:r>
              <a:rPr lang="en-US" sz="2400" dirty="0" smtClean="0"/>
              <a:t>6. Creation of post in </a:t>
            </a:r>
            <a:r>
              <a:rPr lang="en-US" sz="2400" dirty="0" err="1" smtClean="0"/>
              <a:t>favour</a:t>
            </a:r>
            <a:r>
              <a:rPr lang="en-US" sz="2400" dirty="0" smtClean="0"/>
              <a:t> of 50 bed.</a:t>
            </a:r>
          </a:p>
          <a:p>
            <a:pPr marL="0" indent="0">
              <a:buNone/>
            </a:pPr>
            <a:r>
              <a:rPr lang="en-US" sz="2400" dirty="0"/>
              <a:t> </a:t>
            </a:r>
            <a:r>
              <a:rPr lang="en-US" sz="2400" dirty="0" smtClean="0"/>
              <a:t>7. SSK establishment is a challenge.</a:t>
            </a:r>
          </a:p>
          <a:p>
            <a:pPr marL="0" indent="0">
              <a:buNone/>
            </a:pPr>
            <a:r>
              <a:rPr lang="en-US" dirty="0"/>
              <a:t>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              -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574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8153400" cy="43434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23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Couture</Template>
  <TotalTime>5057</TotalTime>
  <Words>815</Words>
  <Application>Microsoft Office PowerPoint</Application>
  <PresentationFormat>On-screen Show (4:3)</PresentationFormat>
  <Paragraphs>165</Paragraphs>
  <Slides>38</Slides>
  <Notes>8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7" baseType="lpstr">
      <vt:lpstr>ＭＳ Ｐゴシック</vt:lpstr>
      <vt:lpstr>Arial</vt:lpstr>
      <vt:lpstr>Calibri</vt:lpstr>
      <vt:lpstr>Times New Roman</vt:lpstr>
      <vt:lpstr>Wingdings</vt:lpstr>
      <vt:lpstr>Office Theme</vt:lpstr>
      <vt:lpstr>Default Design</vt:lpstr>
      <vt:lpstr>1_Default Design</vt:lpstr>
      <vt:lpstr>Worksheet</vt:lpstr>
      <vt:lpstr>PowerPoint Presentation</vt:lpstr>
      <vt:lpstr>Health Profile of kamalnagar Upazila- 2022</vt:lpstr>
      <vt:lpstr>PowerPoint Presentation</vt:lpstr>
      <vt:lpstr>A Sub-district level Hospital with a Vision</vt:lpstr>
      <vt:lpstr>Hospital activities done by Following committees</vt:lpstr>
      <vt:lpstr>Our Co-ordinating function done </vt:lpstr>
      <vt:lpstr>Background History of MCH services of kamalnagar health Complex, Lakshmipur</vt:lpstr>
      <vt:lpstr>Contd.</vt:lpstr>
      <vt:lpstr>PowerPoint Presentation</vt:lpstr>
      <vt:lpstr>PowerPoint Presentation</vt:lpstr>
      <vt:lpstr>Emergency &amp; Out Door, Indoor  Service 2017 to 2022</vt:lpstr>
      <vt:lpstr>  Comparative data of revenue income (in Taka) from 2017 to 2022 </vt:lpstr>
      <vt:lpstr>Upazila Health  Complex kamalnagar, Lakshmipur.</vt:lpstr>
      <vt:lpstr>Well-decorated conference room.july 2020</vt:lpstr>
      <vt:lpstr>Establishment of Central Oxygen system,july 2020.</vt:lpstr>
      <vt:lpstr>Receiving of Ambulance and Jeep keys from CS Sir ,august 2020.</vt:lpstr>
      <vt:lpstr>Muktijudda Shapla Chattor inaugurated by CS Sir and Muktijudda commander,sep,2021</vt:lpstr>
      <vt:lpstr>Citizen charter, value and medicine list added 2021</vt:lpstr>
      <vt:lpstr>Intercom added march 2022.</vt:lpstr>
      <vt:lpstr>Safe drinking water system added in july 2021</vt:lpstr>
      <vt:lpstr>Inauguration of Pathology department, NCD Corner and Banghobondhu Corner 2022,july</vt:lpstr>
      <vt:lpstr>New Generator added june 2022</vt:lpstr>
      <vt:lpstr>Whole hospital is controlled by CC Cemera added in September 2021.</vt:lpstr>
      <vt:lpstr>Gene X-pert and Dots corner added December 2021</vt:lpstr>
      <vt:lpstr>Well furnished UHFPO room(2020),RMO room(2021),EMO room(2022)</vt:lpstr>
      <vt:lpstr>                       2022,july</vt:lpstr>
      <vt:lpstr>X-ray department added November 2020</vt:lpstr>
      <vt:lpstr>Hospital boundary wall and residential gate construction 2021</vt:lpstr>
      <vt:lpstr> Gardening &amp; Cleaning day, Every Thursday.</vt:lpstr>
      <vt:lpstr>Upazila Health  Complex  kamalnagar,  C section 2021 </vt:lpstr>
      <vt:lpstr>Inspection by MP,Major(Rtd) Abdul Mannan, 11 feb 2021</vt:lpstr>
      <vt:lpstr>Upazila Health  Complex  kamalnagar, pathlogy visit CS Sir</vt:lpstr>
      <vt:lpstr>Upazila Health  Complex  kamalnagar, EPI Centre Risk</vt:lpstr>
      <vt:lpstr>News paper coverage</vt:lpstr>
      <vt:lpstr>Upazila Health  Complex  kamalnagar, Lakshmipur.</vt:lpstr>
      <vt:lpstr>Our achievements</vt:lpstr>
      <vt:lpstr>Challenges</vt:lpstr>
      <vt:lpstr>PowerPoint Presentation</vt:lpstr>
    </vt:vector>
  </TitlesOfParts>
  <Company>UNICEF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and good practice of Quality Improvement through 5S-CQI-TQM approach</dc:title>
  <dc:creator>Emdad</dc:creator>
  <cp:lastModifiedBy>pc</cp:lastModifiedBy>
  <cp:revision>667</cp:revision>
  <cp:lastPrinted>2017-03-18T23:47:54Z</cp:lastPrinted>
  <dcterms:created xsi:type="dcterms:W3CDTF">2013-05-05T09:56:19Z</dcterms:created>
  <dcterms:modified xsi:type="dcterms:W3CDTF">2022-09-11T05:27:04Z</dcterms:modified>
</cp:coreProperties>
</file>