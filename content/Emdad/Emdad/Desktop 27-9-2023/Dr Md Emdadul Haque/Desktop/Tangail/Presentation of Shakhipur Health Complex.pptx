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</p:sldMasterIdLst>
  <p:notesMasterIdLst>
    <p:notesMasterId r:id="rId31"/>
  </p:notesMasterIdLst>
  <p:sldIdLst>
    <p:sldId id="332" r:id="rId3"/>
    <p:sldId id="532" r:id="rId4"/>
    <p:sldId id="416" r:id="rId5"/>
    <p:sldId id="403" r:id="rId6"/>
    <p:sldId id="309" r:id="rId7"/>
    <p:sldId id="326" r:id="rId8"/>
    <p:sldId id="327" r:id="rId9"/>
    <p:sldId id="337" r:id="rId10"/>
    <p:sldId id="536" r:id="rId11"/>
    <p:sldId id="346" r:id="rId12"/>
    <p:sldId id="404" r:id="rId13"/>
    <p:sldId id="413" r:id="rId14"/>
    <p:sldId id="287" r:id="rId15"/>
    <p:sldId id="407" r:id="rId16"/>
    <p:sldId id="406" r:id="rId17"/>
    <p:sldId id="537" r:id="rId18"/>
    <p:sldId id="308" r:id="rId19"/>
    <p:sldId id="417" r:id="rId20"/>
    <p:sldId id="288" r:id="rId21"/>
    <p:sldId id="290" r:id="rId22"/>
    <p:sldId id="420" r:id="rId23"/>
    <p:sldId id="410" r:id="rId24"/>
    <p:sldId id="412" r:id="rId25"/>
    <p:sldId id="348" r:id="rId26"/>
    <p:sldId id="334" r:id="rId27"/>
    <p:sldId id="418" r:id="rId28"/>
    <p:sldId id="419" r:id="rId29"/>
    <p:sldId id="344" r:id="rId30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87290" autoAdjust="0"/>
  </p:normalViewPr>
  <p:slideViewPr>
    <p:cSldViewPr>
      <p:cViewPr varScale="1">
        <p:scale>
          <a:sx n="59" d="100"/>
          <a:sy n="59" d="100"/>
        </p:scale>
        <p:origin x="186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0.88000000000000056</c:v>
                </c:pt>
                <c:pt idx="1">
                  <c:v>0.78</c:v>
                </c:pt>
                <c:pt idx="2">
                  <c:v>1.04</c:v>
                </c:pt>
                <c:pt idx="3">
                  <c:v>0.76000000000000056</c:v>
                </c:pt>
                <c:pt idx="4">
                  <c:v>1</c:v>
                </c:pt>
                <c:pt idx="5">
                  <c:v>0.89000000000000068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0-4EC3-8B7B-D897AC087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1076736"/>
        <c:axId val="161078272"/>
      </c:barChart>
      <c:catAx>
        <c:axId val="161076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1078272"/>
        <c:crosses val="autoZero"/>
        <c:auto val="1"/>
        <c:lblAlgn val="ctr"/>
        <c:lblOffset val="100"/>
        <c:noMultiLvlLbl val="0"/>
      </c:catAx>
      <c:valAx>
        <c:axId val="16107827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610767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34E-2"/>
          <c:w val="0.7377821522309711"/>
          <c:h val="0.855863517060367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 Upto Sept 2022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59324</c:v>
                </c:pt>
                <c:pt idx="1">
                  <c:v>77877</c:v>
                </c:pt>
                <c:pt idx="2">
                  <c:v>120670</c:v>
                </c:pt>
                <c:pt idx="3">
                  <c:v>79054</c:v>
                </c:pt>
                <c:pt idx="4">
                  <c:v>136922</c:v>
                </c:pt>
                <c:pt idx="5">
                  <c:v>103178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C-45CC-8C31-9F6FA0932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8691588785046728E-2"/>
                  <c:y val="-2.500000000000010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99376947040492E-2"/>
                      <c:h val="7.770844269466316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CC4-42BC-BD88-B8AA7A7B9806}"/>
                </c:ext>
              </c:extLst>
            </c:dLbl>
            <c:dLbl>
              <c:idx val="1"/>
              <c:layout>
                <c:manualLayout>
                  <c:x val="1.7133956386292833E-2"/>
                  <c:y val="-2.77777777777777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CC4-42BC-BD88-B8AA7A7B9806}"/>
                </c:ext>
              </c:extLst>
            </c:dLbl>
            <c:dLbl>
              <c:idx val="2"/>
              <c:layout>
                <c:manualLayout>
                  <c:x val="2.9595015576323987E-2"/>
                  <c:y val="-1.94444444444445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CC4-42BC-BD88-B8AA7A7B9806}"/>
                </c:ext>
              </c:extLst>
            </c:dLbl>
            <c:dLbl>
              <c:idx val="3"/>
              <c:layout>
                <c:manualLayout>
                  <c:x val="1.4018691588785047E-2"/>
                  <c:y val="-3.8888888888888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CC4-42BC-BD88-B8AA7A7B9806}"/>
                </c:ext>
              </c:extLst>
            </c:dLbl>
            <c:dLbl>
              <c:idx val="4"/>
              <c:layout>
                <c:manualLayout>
                  <c:x val="1.2461059190031152E-2"/>
                  <c:y val="-3.05555555555555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CC4-42BC-BD88-B8AA7A7B9806}"/>
                </c:ext>
              </c:extLst>
            </c:dLbl>
            <c:dLbl>
              <c:idx val="5"/>
              <c:layout>
                <c:manualLayout>
                  <c:x val="2.0249221183800622E-2"/>
                  <c:y val="-3.33333333333334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CC4-42BC-BD88-B8AA7A7B980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 Upto Sept 2022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8954</c:v>
                </c:pt>
                <c:pt idx="1">
                  <c:v>8542</c:v>
                </c:pt>
                <c:pt idx="2">
                  <c:v>10099</c:v>
                </c:pt>
                <c:pt idx="3">
                  <c:v>6735</c:v>
                </c:pt>
                <c:pt idx="4">
                  <c:v>8336</c:v>
                </c:pt>
                <c:pt idx="5">
                  <c:v>6547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EC-45CC-8C31-9F6FA09327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3968"/>
        <c:axId val="163125504"/>
      </c:barChart>
      <c:catAx>
        <c:axId val="163123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3125504"/>
        <c:crosses val="autoZero"/>
        <c:auto val="1"/>
        <c:lblAlgn val="ctr"/>
        <c:lblOffset val="100"/>
        <c:noMultiLvlLbl val="0"/>
      </c:catAx>
      <c:valAx>
        <c:axId val="1631255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312396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5920119214070212"/>
          <c:y val="0.42290223097112861"/>
          <c:w val="0.14079880785929796"/>
          <c:h val="0.22641776027996502"/>
        </c:manualLayout>
      </c:layout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34E-2"/>
          <c:w val="0.7377821522309711"/>
          <c:h val="0.855863517060367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Hospital Delivery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 Upto Sept 2022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1035</c:v>
                </c:pt>
                <c:pt idx="1">
                  <c:v>554</c:v>
                </c:pt>
                <c:pt idx="2">
                  <c:v>645</c:v>
                </c:pt>
                <c:pt idx="3">
                  <c:v>458</c:v>
                </c:pt>
                <c:pt idx="4">
                  <c:v>459</c:v>
                </c:pt>
                <c:pt idx="5">
                  <c:v>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BF-444C-A6EF-750018292A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C-Section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8691588785046728E-2"/>
                  <c:y val="-2.500000000000010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99376947040492E-2"/>
                      <c:h val="7.770844269466316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ABF-444C-A6EF-750018292A54}"/>
                </c:ext>
              </c:extLst>
            </c:dLbl>
            <c:dLbl>
              <c:idx val="1"/>
              <c:layout>
                <c:manualLayout>
                  <c:x val="1.7133956386292833E-2"/>
                  <c:y val="-2.77777777777777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ABF-444C-A6EF-750018292A54}"/>
                </c:ext>
              </c:extLst>
            </c:dLbl>
            <c:dLbl>
              <c:idx val="2"/>
              <c:layout>
                <c:manualLayout>
                  <c:x val="2.9595015576323987E-2"/>
                  <c:y val="-1.94444444444445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ABF-444C-A6EF-750018292A54}"/>
                </c:ext>
              </c:extLst>
            </c:dLbl>
            <c:dLbl>
              <c:idx val="3"/>
              <c:layout>
                <c:manualLayout>
                  <c:x val="1.4018691588785047E-2"/>
                  <c:y val="-3.8888888888888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ABF-444C-A6EF-750018292A54}"/>
                </c:ext>
              </c:extLst>
            </c:dLbl>
            <c:dLbl>
              <c:idx val="4"/>
              <c:layout>
                <c:manualLayout>
                  <c:x val="1.2461059190031152E-2"/>
                  <c:y val="-3.05555555555555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ABF-444C-A6EF-750018292A54}"/>
                </c:ext>
              </c:extLst>
            </c:dLbl>
            <c:dLbl>
              <c:idx val="5"/>
              <c:layout>
                <c:manualLayout>
                  <c:x val="2.0249221183800622E-2"/>
                  <c:y val="-3.33333333333334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ABF-444C-A6EF-750018292A5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 Upto Sept 2022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369</c:v>
                </c:pt>
                <c:pt idx="1">
                  <c:v>83</c:v>
                </c:pt>
                <c:pt idx="2">
                  <c:v>155</c:v>
                </c:pt>
                <c:pt idx="3">
                  <c:v>88</c:v>
                </c:pt>
                <c:pt idx="4">
                  <c:v>98</c:v>
                </c:pt>
                <c:pt idx="5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ABF-444C-A6EF-750018292A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3968"/>
        <c:axId val="163125504"/>
      </c:barChart>
      <c:catAx>
        <c:axId val="163123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3125504"/>
        <c:crosses val="autoZero"/>
        <c:auto val="1"/>
        <c:lblAlgn val="ctr"/>
        <c:lblOffset val="100"/>
        <c:noMultiLvlLbl val="0"/>
      </c:catAx>
      <c:valAx>
        <c:axId val="1631255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312396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5920119214070212"/>
          <c:y val="0.42290223097112861"/>
          <c:w val="0.14079880785929796"/>
          <c:h val="0.22641776027996502"/>
        </c:manualLayout>
      </c:layout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863745292707976E-2"/>
          <c:y val="4.0840585716259148E-2"/>
          <c:w val="0.79408341702183116"/>
          <c:h val="0.83681539807524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1st visit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</c:v>
                </c:pt>
                <c:pt idx="1">
                  <c:v>283</c:v>
                </c:pt>
                <c:pt idx="2">
                  <c:v>306</c:v>
                </c:pt>
                <c:pt idx="3">
                  <c:v>506</c:v>
                </c:pt>
                <c:pt idx="4">
                  <c:v>578</c:v>
                </c:pt>
                <c:pt idx="5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EF-4A19-95F2-F422EC5BFB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ANC 4th Visit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123</c:v>
                </c:pt>
                <c:pt idx="1">
                  <c:v>112</c:v>
                </c:pt>
                <c:pt idx="2">
                  <c:v>143</c:v>
                </c:pt>
                <c:pt idx="3">
                  <c:v>195</c:v>
                </c:pt>
                <c:pt idx="4">
                  <c:v>222</c:v>
                </c:pt>
                <c:pt idx="5">
                  <c:v>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B3-44AF-85C1-79899E8BD0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7"/>
        <c:overlap val="7"/>
        <c:axId val="163961088"/>
        <c:axId val="163811328"/>
      </c:barChart>
      <c:catAx>
        <c:axId val="16396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811328"/>
        <c:crosses val="autoZero"/>
        <c:auto val="1"/>
        <c:lblAlgn val="ctr"/>
        <c:lblOffset val="100"/>
        <c:noMultiLvlLbl val="0"/>
      </c:catAx>
      <c:valAx>
        <c:axId val="163811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39610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519585187721101"/>
          <c:y val="0.33374913662108024"/>
          <c:w val="0.17480414812278899"/>
          <c:h val="0.3141262605332228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1835035</c:v>
                </c:pt>
                <c:pt idx="1">
                  <c:v>869300</c:v>
                </c:pt>
                <c:pt idx="2">
                  <c:v>7059560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9-46BF-9D79-F0F8DA2C8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63078144"/>
        <c:axId val="163079680"/>
        <c:axId val="0"/>
      </c:bar3DChart>
      <c:catAx>
        <c:axId val="1630781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079680"/>
        <c:crosses val="autoZero"/>
        <c:auto val="1"/>
        <c:lblAlgn val="ctr"/>
        <c:lblOffset val="100"/>
        <c:noMultiLvlLbl val="0"/>
      </c:catAx>
      <c:valAx>
        <c:axId val="16307968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307814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10/13/2022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1B3019F-5BA1-41E7-AF51-142D8FD0DD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091965-B0C9-4A35-945D-E643E804FE38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DC19C7-0E6A-4DD2-83B5-D89E4186E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0C15B1F-55B7-4F2F-8316-A64215E64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96EEC61-29BA-4FA5-AC3F-CCFC8F9FC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CE0D24-27B3-4CEF-8609-6AB964DD7BA1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8D9B9F2-E75D-4851-A2B5-DE5305936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7C6E471-2F57-4C7E-9BD7-82B8F19E5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56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84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11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6EABAFB-2B28-4D74-9B46-453841E93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FCFF2C-9AA9-4FA8-B407-804E6459DEE5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A2A4B5E-0B63-4A7D-B6A0-703D2F4BF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A8673A9-ED9E-4870-822F-B17B3A5B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25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006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26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172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27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066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28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2022/10/13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2022/10/13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2022/10/13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2022/10/13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2022/10/13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2022/10/13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2022/10/13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2022/10/13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2022/10/13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2022/10/13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2022/10/13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10/13/2022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10/13/2022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10/13/2022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10/13/2022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10/13/2022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10/13/2022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10/13/2022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10/13/2022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10/13/2022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10/13/2022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10/13/2022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2022/10/13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2022/10/13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.jp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2.png"/><Relationship Id="rId7" Type="http://schemas.openxmlformats.org/officeDocument/2006/relationships/image" Target="../media/image25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3.jpg"/><Relationship Id="rId4" Type="http://schemas.openxmlformats.org/officeDocument/2006/relationships/image" Target="../media/image3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7.jpg"/><Relationship Id="rId4" Type="http://schemas.openxmlformats.org/officeDocument/2006/relationships/image" Target="../media/image3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0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55600" y="3810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SAKHIPUR, TANGAIL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4" name="Picture 3" descr="fro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00200"/>
            <a:ext cx="8446074" cy="502920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876915" y="631071"/>
            <a:ext cx="7390170" cy="942975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Hospital with a Vision </a:t>
            </a:r>
            <a:r>
              <a:rPr lang="en-US" sz="28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3754744" y="1981200"/>
            <a:ext cx="4017656" cy="137279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05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b="1" dirty="0"/>
              <a:t>Maximum utilization of Govt.</a:t>
            </a:r>
          </a:p>
          <a:p>
            <a:pPr algn="ctr" eaLnBrk="0" hangingPunct="0"/>
            <a:r>
              <a:rPr lang="en-US" b="1" dirty="0"/>
              <a:t>resources with </a:t>
            </a:r>
          </a:p>
          <a:p>
            <a:pPr algn="ctr" eaLnBrk="0" hangingPunct="0"/>
            <a:r>
              <a:rPr lang="en-US" b="1" dirty="0"/>
              <a:t>honesty and sincerity.</a:t>
            </a:r>
          </a:p>
          <a:p>
            <a:pPr algn="ctr" eaLnBrk="0" hangingPunct="0"/>
            <a:endParaRPr lang="en-US" sz="105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3733800" y="4488928"/>
            <a:ext cx="4191000" cy="145467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b="1" dirty="0"/>
              <a:t>Providing Effective  services </a:t>
            </a:r>
          </a:p>
          <a:p>
            <a:pPr algn="ctr" eaLnBrk="0" hangingPunct="0"/>
            <a:r>
              <a:rPr lang="en-US" b="1" dirty="0"/>
              <a:t>through improved </a:t>
            </a:r>
          </a:p>
          <a:p>
            <a:pPr algn="ctr" eaLnBrk="0" hangingPunct="0"/>
            <a:r>
              <a:rPr lang="en-US" b="1" dirty="0"/>
              <a:t>management system</a:t>
            </a:r>
            <a:r>
              <a:rPr lang="en-US" sz="105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271855" y="2358747"/>
            <a:ext cx="2322447" cy="500063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013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197984" y="4953000"/>
            <a:ext cx="2404356" cy="603709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013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754742" y="3342646"/>
            <a:ext cx="4017656" cy="11462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b="1" dirty="0"/>
              <a:t>Integrated approach of </a:t>
            </a:r>
          </a:p>
          <a:p>
            <a:pPr algn="ctr" eaLnBrk="0" hangingPunct="0"/>
            <a:r>
              <a:rPr lang="en-US" b="1" dirty="0"/>
              <a:t>Administration, Community</a:t>
            </a:r>
          </a:p>
          <a:p>
            <a:pPr algn="ctr" eaLnBrk="0" hangingPunct="0"/>
            <a:r>
              <a:rPr lang="en-US" b="1" dirty="0"/>
              <a:t>Leaders </a:t>
            </a:r>
            <a:r>
              <a:rPr lang="en-US" sz="105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200280" y="3643511"/>
            <a:ext cx="2394022" cy="500063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013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b="1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Shakhipur health complex established in 1982.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New building established in 2004.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C-section started in …….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NCD corner started in ……..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SSK started in 2022.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21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1E3BD5C-418E-4E6F-8442-8A2EE3710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65200"/>
            <a:ext cx="8229600" cy="57404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population		: 281720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Fertile Couples 	                  : 7050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Pregnant		: 7250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Delivery		: 6112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Live birth		: 5822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death 		: 1026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Maternal death	: 06                              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Health Man power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a. Doctor			: 19 ( 11 + 8)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b. Nurse                  		: 32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c. HA                   		: 35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d. SBA                   		: 32( 10HA+  16 FWA 6 CHCP 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          e. Volunteer, Security guard &amp; cleaner: 20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9.     Health Institutions			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a. Health Complex        	: 01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b. H &amp; FWC                   	: 9 (RD- 4 + FWC– 5 )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c. Community clinic	: 37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d. Non- Govt. Clinic  	: 8</a:t>
            </a:r>
          </a:p>
          <a:p>
            <a:pPr marL="609600" indent="-609600" eaLnBrk="1" hangingPunct="1">
              <a:buFontTx/>
              <a:buNone/>
            </a:pPr>
            <a:endParaRPr lang="en-US" altLang="en-US" sz="1800" b="1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2BFF30-49BB-420B-B0B5-C33538161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128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eaLnBrk="1" hangingPunct="1"/>
            <a:r>
              <a:rPr lang="en-US" altLang="en-US" sz="3600" b="1" dirty="0"/>
              <a:t>Health Profile of Sakhipur Upazila- 2021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00D9D7C-63B0-4885-9C97-EF9BFDCA4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62000"/>
            <a:ext cx="8229600" cy="50593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10. Mother Taken-ANC		: 85% ( 1st Visit)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11. Hospital Delivery Rate	             : 60%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12. Total C. Section rate		: 35%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13. No. of Hospital bed		: 50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14. CPR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15. TFR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16. Immunization coverage Rate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17. Bed Occupancy Rate 		: 100%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18. Maternal Mortality Ratio	: 42 / 100000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19. Neonatal Mortality Rate	: 16.7 / 1000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20. Infant Mortality Rate   	: 20.6 /1000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21. Under-5 Mortality Rate   	: 22.7 /1000 live birth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Bed Occupancy Rate from 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 to 2022</a:t>
            </a: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289925" cy="101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62176" y="194301"/>
            <a:ext cx="8148424" cy="491499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Arial" charset="0"/>
              </a:rPr>
              <a:t>Shakhipur UHC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050871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114300" y="1139588"/>
            <a:ext cx="8915400" cy="838200"/>
          </a:xfr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No. of patient in Emergency + Out Door and Indoor Service </a:t>
            </a:r>
            <a:b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2017 to September 2022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  <a:cs typeface="Arial" charset="0"/>
              </a:rPr>
              <a:t>Shakhipur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UHC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870362956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54572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300472"/>
            <a:ext cx="8229600" cy="90932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2017- 2022 </a:t>
            </a:r>
          </a:p>
          <a:p>
            <a:pPr algn="ctr">
              <a:defRPr/>
            </a:pPr>
            <a:r>
              <a:rPr 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(Hospital Delivery and C-Section)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0BCB186-FF73-4030-8A2D-D2CB5F6B4B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79732"/>
              </p:ext>
            </p:extLst>
          </p:nvPr>
        </p:nvGraphicFramePr>
        <p:xfrm>
          <a:off x="228600" y="2359698"/>
          <a:ext cx="8724900" cy="4193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CB11D9E3-DF9B-44C8-BEC2-9504F055AFEA}"/>
              </a:ext>
            </a:extLst>
          </p:cNvPr>
          <p:cNvSpPr txBox="1">
            <a:spLocks/>
          </p:cNvSpPr>
          <p:nvPr/>
        </p:nvSpPr>
        <p:spPr bwMode="auto">
          <a:xfrm>
            <a:off x="419100" y="403085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  <a:cs typeface="Arial" charset="0"/>
              </a:rPr>
              <a:t>Shakhipur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UHC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dirty="0"/>
          </a:p>
          <a:p>
            <a:pPr algn="ctr" eaLnBrk="1" hangingPunct="1">
              <a:buFontTx/>
              <a:buNone/>
            </a:pPr>
            <a:endParaRPr lang="en-US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685800" y="1275346"/>
            <a:ext cx="7467600" cy="8498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ANC Care: 2017 to July 2022 </a:t>
            </a:r>
          </a:p>
          <a:p>
            <a:pPr algn="ctr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(ANC 1</a:t>
            </a:r>
            <a:r>
              <a:rPr lang="en-US" sz="280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st</a:t>
            </a: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and 4</a:t>
            </a:r>
            <a:r>
              <a:rPr lang="en-US" sz="280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th</a:t>
            </a: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Visit)</a:t>
            </a:r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FDB99ED0-C427-4FFB-8D9C-17357E6A79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1806781"/>
              </p:ext>
            </p:extLst>
          </p:nvPr>
        </p:nvGraphicFramePr>
        <p:xfrm>
          <a:off x="457200" y="2194320"/>
          <a:ext cx="7924799" cy="3998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B3C2B4-886A-4D42-95DF-24E3D9F22572}"/>
              </a:ext>
            </a:extLst>
          </p:cNvPr>
          <p:cNvSpPr txBox="1"/>
          <p:nvPr/>
        </p:nvSpPr>
        <p:spPr>
          <a:xfrm flipH="1">
            <a:off x="7245181" y="2228671"/>
            <a:ext cx="17083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Please add</a:t>
            </a:r>
          </a:p>
          <a:p>
            <a:r>
              <a:rPr lang="en-US" b="1" dirty="0"/>
              <a:t>data of Shakhipur UHC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53932AF-5255-4FD7-A20D-3C94A72C6131}"/>
              </a:ext>
            </a:extLst>
          </p:cNvPr>
          <p:cNvSpPr txBox="1">
            <a:spLocks/>
          </p:cNvSpPr>
          <p:nvPr/>
        </p:nvSpPr>
        <p:spPr bwMode="auto">
          <a:xfrm>
            <a:off x="419100" y="403085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  <a:cs typeface="Arial" charset="0"/>
              </a:rPr>
              <a:t>Shakhipur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UHC</a:t>
            </a:r>
          </a:p>
        </p:txBody>
      </p:sp>
    </p:spTree>
    <p:extLst>
      <p:ext uri="{BB962C8B-B14F-4D97-AF65-F5344CB8AC3E}">
        <p14:creationId xmlns:p14="http://schemas.microsoft.com/office/powerpoint/2010/main" val="3432846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2" y="838200"/>
            <a:ext cx="8305799" cy="990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US" sz="2800" b="1" dirty="0">
                <a:solidFill>
                  <a:schemeClr val="bg1"/>
                </a:solidFill>
              </a:rPr>
            </a:b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rgbClr val="C00000"/>
                </a:solidFill>
              </a:rPr>
              <a:t>Comparative data of revenue income (in Taka) from 2015 to 2017 </a:t>
            </a:r>
            <a:r>
              <a:rPr lang="en-US" sz="3200" b="1" dirty="0">
                <a:solidFill>
                  <a:srgbClr val="FF0000"/>
                </a:solidFill>
              </a:rPr>
              <a:t>(????)</a:t>
            </a:r>
            <a:br>
              <a:rPr lang="en-US" sz="5400" b="1" dirty="0">
                <a:solidFill>
                  <a:srgbClr val="FF0000"/>
                </a:solidFill>
              </a:rPr>
            </a:br>
            <a:endParaRPr lang="en-US" sz="60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  <a:cs typeface="Arial" charset="0"/>
              </a:rPr>
              <a:t>Shakhipur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UHC</a:t>
            </a:r>
          </a:p>
        </p:txBody>
      </p:sp>
    </p:spTree>
    <p:extLst>
      <p:ext uri="{BB962C8B-B14F-4D97-AF65-F5344CB8AC3E}">
        <p14:creationId xmlns:p14="http://schemas.microsoft.com/office/powerpoint/2010/main" val="3018268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58" y="152400"/>
            <a:ext cx="8945382" cy="71596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600" dirty="0"/>
              <a:t>Attractive Front Gate and Administrative Wing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507"/>
          <a:stretch/>
        </p:blipFill>
        <p:spPr>
          <a:xfrm>
            <a:off x="228600" y="1066800"/>
            <a:ext cx="4201841" cy="3352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2D9322-51F7-4D9D-B4FB-4DBF9428B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657600"/>
            <a:ext cx="4216400" cy="3048000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956D9B26-499B-42AC-8EAC-9BAE3C0C09AC}"/>
              </a:ext>
            </a:extLst>
          </p:cNvPr>
          <p:cNvSpPr/>
          <p:nvPr/>
        </p:nvSpPr>
        <p:spPr>
          <a:xfrm flipV="1">
            <a:off x="3954218" y="4899414"/>
            <a:ext cx="525781" cy="2694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8DF0FC3-E6BC-4132-B391-EA4411D7971D}"/>
              </a:ext>
            </a:extLst>
          </p:cNvPr>
          <p:cNvSpPr txBox="1">
            <a:spLocks/>
          </p:cNvSpPr>
          <p:nvPr/>
        </p:nvSpPr>
        <p:spPr>
          <a:xfrm>
            <a:off x="4817781" y="2133600"/>
            <a:ext cx="3970619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Front Gate of the hospital</a:t>
            </a:r>
            <a:endParaRPr lang="as-IN" dirty="0">
              <a:latin typeface="+mn-lt"/>
              <a:ea typeface="Tahoma" panose="020B0604030504040204" pitchFamily="34" charset="0"/>
              <a:cs typeface="Kalpurush" panose="02000600000000000000" pitchFamily="2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6E859D4-03F4-4F3B-8EC5-604B497CFFD9}"/>
              </a:ext>
            </a:extLst>
          </p:cNvPr>
          <p:cNvSpPr/>
          <p:nvPr/>
        </p:nvSpPr>
        <p:spPr>
          <a:xfrm rot="10800000" flipV="1">
            <a:off x="4554892" y="2237594"/>
            <a:ext cx="525781" cy="2694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D51CC3-3135-4299-9357-D0DC78552C62}"/>
              </a:ext>
            </a:extLst>
          </p:cNvPr>
          <p:cNvSpPr txBox="1">
            <a:spLocks/>
          </p:cNvSpPr>
          <p:nvPr/>
        </p:nvSpPr>
        <p:spPr>
          <a:xfrm>
            <a:off x="406400" y="4768315"/>
            <a:ext cx="3970619" cy="53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Administrative wing</a:t>
            </a:r>
            <a:endParaRPr lang="as-IN" dirty="0">
              <a:latin typeface="+mn-lt"/>
              <a:ea typeface="Tahoma" panose="020B0604030504040204" pitchFamily="34" charset="0"/>
              <a:cs typeface="Kalpurush" panose="020006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715962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600" dirty="0"/>
              <a:t>UH&amp;FPO Room and Conference Room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52" y="1143000"/>
            <a:ext cx="4031548" cy="3048000"/>
          </a:xfrm>
          <a:prstGeom prst="rect">
            <a:avLst/>
          </a:prstGeom>
        </p:spPr>
      </p:pic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7A572D93-EF09-4A81-BDCD-AB1788E7D66C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657600"/>
            <a:ext cx="4248775" cy="2925762"/>
          </a:xfr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FF886F2C-B75A-4A16-9287-2737048A0B4E}"/>
              </a:ext>
            </a:extLst>
          </p:cNvPr>
          <p:cNvSpPr/>
          <p:nvPr/>
        </p:nvSpPr>
        <p:spPr>
          <a:xfrm flipV="1">
            <a:off x="3954218" y="4899414"/>
            <a:ext cx="525781" cy="2694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1E1A4AF-3598-4A6A-85CD-2B093B8EE593}"/>
              </a:ext>
            </a:extLst>
          </p:cNvPr>
          <p:cNvSpPr txBox="1">
            <a:spLocks/>
          </p:cNvSpPr>
          <p:nvPr/>
        </p:nvSpPr>
        <p:spPr>
          <a:xfrm>
            <a:off x="4817781" y="2133600"/>
            <a:ext cx="3970619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UH&amp;FPO Room</a:t>
            </a:r>
            <a:endParaRPr lang="as-IN" dirty="0">
              <a:latin typeface="+mn-lt"/>
              <a:ea typeface="Tahoma" panose="020B0604030504040204" pitchFamily="34" charset="0"/>
              <a:cs typeface="Kalpurush" panose="02000600000000000000" pitchFamily="2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74B6ABF-96E5-4201-B997-25D0176BE94F}"/>
              </a:ext>
            </a:extLst>
          </p:cNvPr>
          <p:cNvSpPr/>
          <p:nvPr/>
        </p:nvSpPr>
        <p:spPr>
          <a:xfrm rot="10800000" flipV="1">
            <a:off x="4554892" y="2237594"/>
            <a:ext cx="525781" cy="2694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DD40F92-7224-4920-BB6E-3E45C34484C7}"/>
              </a:ext>
            </a:extLst>
          </p:cNvPr>
          <p:cNvSpPr txBox="1">
            <a:spLocks/>
          </p:cNvSpPr>
          <p:nvPr/>
        </p:nvSpPr>
        <p:spPr>
          <a:xfrm>
            <a:off x="406400" y="4768315"/>
            <a:ext cx="3970619" cy="53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Conference Room</a:t>
            </a:r>
            <a:endParaRPr lang="as-IN" dirty="0">
              <a:latin typeface="+mn-lt"/>
              <a:ea typeface="Tahoma" panose="020B0604030504040204" pitchFamily="34" charset="0"/>
              <a:cs typeface="Kalpurush" panose="02000600000000000000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09870"/>
            <a:ext cx="86868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 Different corner</a:t>
            </a:r>
          </a:p>
        </p:txBody>
      </p:sp>
      <p:pic>
        <p:nvPicPr>
          <p:cNvPr id="4" name="Picture 3" descr="IMG-20220926-WA0029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0" y="952976"/>
            <a:ext cx="3962400" cy="2437447"/>
          </a:xfrm>
          <a:prstGeom prst="rect">
            <a:avLst/>
          </a:prstGeom>
        </p:spPr>
      </p:pic>
      <p:pic>
        <p:nvPicPr>
          <p:cNvPr id="5" name="Picture 4" descr="IMG-20220926-WA003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733800"/>
            <a:ext cx="3962400" cy="2857119"/>
          </a:xfrm>
          <a:prstGeom prst="rect">
            <a:avLst/>
          </a:prstGeom>
        </p:spPr>
      </p:pic>
      <p:pic>
        <p:nvPicPr>
          <p:cNvPr id="6" name="Picture 5" descr="IMG-20220926-WA003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3733800"/>
            <a:ext cx="4101636" cy="285711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813" y="952976"/>
            <a:ext cx="4101636" cy="24374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08515" y="3045956"/>
            <a:ext cx="256993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Breast feeding corner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43FD3-E531-4452-A10C-5E17F422743D}"/>
              </a:ext>
            </a:extLst>
          </p:cNvPr>
          <p:cNvSpPr/>
          <p:nvPr/>
        </p:nvSpPr>
        <p:spPr>
          <a:xfrm>
            <a:off x="2133600" y="3008114"/>
            <a:ext cx="21336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ANC-PNC corner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C87134-9454-47E7-8E77-809CE05BC0B1}"/>
              </a:ext>
            </a:extLst>
          </p:cNvPr>
          <p:cNvSpPr/>
          <p:nvPr/>
        </p:nvSpPr>
        <p:spPr>
          <a:xfrm>
            <a:off x="6300523" y="6221587"/>
            <a:ext cx="243004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Adolescence corner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04F96C-F744-408B-BFE5-5A8BF4DC1A94}"/>
              </a:ext>
            </a:extLst>
          </p:cNvPr>
          <p:cNvSpPr/>
          <p:nvPr/>
        </p:nvSpPr>
        <p:spPr>
          <a:xfrm>
            <a:off x="2743199" y="6215836"/>
            <a:ext cx="152835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IMCI corner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32108"/>
            <a:ext cx="8229600" cy="639762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600" dirty="0"/>
              <a:t>Diagnostic Services</a:t>
            </a:r>
          </a:p>
        </p:txBody>
      </p:sp>
      <p:pic>
        <p:nvPicPr>
          <p:cNvPr id="3" name="Picture 2" descr="IMG-20220928-WA0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875494"/>
            <a:ext cx="4038600" cy="2590800"/>
          </a:xfrm>
          <a:prstGeom prst="rect">
            <a:avLst/>
          </a:prstGeom>
        </p:spPr>
      </p:pic>
      <p:pic>
        <p:nvPicPr>
          <p:cNvPr id="5" name="Picture 4" descr="IMG-20220928-WA00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06" y="1225649"/>
            <a:ext cx="4003343" cy="2590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2" y="1219200"/>
            <a:ext cx="4038600" cy="2590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C56228-4332-4106-A307-B3BA44CAD2A6}"/>
              </a:ext>
            </a:extLst>
          </p:cNvPr>
          <p:cNvSpPr txBox="1"/>
          <p:nvPr/>
        </p:nvSpPr>
        <p:spPr>
          <a:xfrm>
            <a:off x="6172200" y="480060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Please add photo of ECG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9F1FFB-F0E7-4C1A-BFF7-F09DB7D223C6}"/>
              </a:ext>
            </a:extLst>
          </p:cNvPr>
          <p:cNvSpPr/>
          <p:nvPr/>
        </p:nvSpPr>
        <p:spPr>
          <a:xfrm>
            <a:off x="3810000" y="3447117"/>
            <a:ext cx="7620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USG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39776F-F0F4-4273-B9F9-4F0BC2BAE5C9}"/>
              </a:ext>
            </a:extLst>
          </p:cNvPr>
          <p:cNvSpPr/>
          <p:nvPr/>
        </p:nvSpPr>
        <p:spPr>
          <a:xfrm>
            <a:off x="3276600" y="6096962"/>
            <a:ext cx="12954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Pathology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C15891-2986-4756-83D3-67AFA712FACC}"/>
              </a:ext>
            </a:extLst>
          </p:cNvPr>
          <p:cNvSpPr/>
          <p:nvPr/>
        </p:nvSpPr>
        <p:spPr>
          <a:xfrm>
            <a:off x="7924800" y="3447117"/>
            <a:ext cx="7620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X-ray 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758384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NCD corner</a:t>
            </a:r>
          </a:p>
        </p:txBody>
      </p:sp>
      <p:pic>
        <p:nvPicPr>
          <p:cNvPr id="5" name="Picture 4" descr="IMG-20220926-WA0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810000"/>
            <a:ext cx="3733800" cy="2628900"/>
          </a:xfrm>
          <a:prstGeom prst="rect">
            <a:avLst/>
          </a:prstGeom>
        </p:spPr>
      </p:pic>
      <p:pic>
        <p:nvPicPr>
          <p:cNvPr id="7" name="Picture 6" descr="IMG-20220928-WA0005.jpg">
            <a:extLst>
              <a:ext uri="{FF2B5EF4-FFF2-40B4-BE49-F238E27FC236}">
                <a16:creationId xmlns:a16="http://schemas.microsoft.com/office/drawing/2014/main" id="{248795CD-2510-4FEB-95C5-6F89B354B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3962400" cy="2667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03F3AA6-1194-40F7-BF3E-A2EB56422CEF}"/>
              </a:ext>
            </a:extLst>
          </p:cNvPr>
          <p:cNvSpPr txBox="1">
            <a:spLocks/>
          </p:cNvSpPr>
          <p:nvPr/>
        </p:nvSpPr>
        <p:spPr>
          <a:xfrm>
            <a:off x="1600200" y="4719220"/>
            <a:ext cx="2557217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dirty="0">
                <a:latin typeface="+mn-lt"/>
                <a:ea typeface="Tahoma" panose="020B0604030504040204" pitchFamily="34" charset="0"/>
                <a:cs typeface="Kalpurush" panose="02000600000000000000" pitchFamily="2" charset="0"/>
              </a:rPr>
              <a:t>NCD Corner</a:t>
            </a:r>
            <a:endParaRPr lang="as-IN" dirty="0">
              <a:latin typeface="+mn-lt"/>
              <a:ea typeface="Tahoma" panose="020B0604030504040204" pitchFamily="34" charset="0"/>
              <a:cs typeface="Kalpurush" panose="02000600000000000000" pitchFamily="2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C5ABDAC-50DB-4AF8-98D4-078F89B8153E}"/>
              </a:ext>
            </a:extLst>
          </p:cNvPr>
          <p:cNvSpPr/>
          <p:nvPr/>
        </p:nvSpPr>
        <p:spPr>
          <a:xfrm flipV="1">
            <a:off x="4157417" y="4824350"/>
            <a:ext cx="525781" cy="2694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E64B01-DD0C-4119-A1DC-6C9DE90409E2}"/>
              </a:ext>
            </a:extLst>
          </p:cNvPr>
          <p:cNvSpPr txBox="1">
            <a:spLocks/>
          </p:cNvSpPr>
          <p:nvPr/>
        </p:nvSpPr>
        <p:spPr>
          <a:xfrm>
            <a:off x="5020981" y="2058536"/>
            <a:ext cx="2813866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Direction Sign</a:t>
            </a:r>
            <a:endParaRPr lang="as-IN" dirty="0">
              <a:latin typeface="+mn-lt"/>
              <a:ea typeface="Tahoma" panose="020B0604030504040204" pitchFamily="34" charset="0"/>
              <a:cs typeface="Kalpurush" panose="02000600000000000000" pitchFamily="2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B062903-8F1B-4887-93AA-7DDBFF3668A1}"/>
              </a:ext>
            </a:extLst>
          </p:cNvPr>
          <p:cNvSpPr/>
          <p:nvPr/>
        </p:nvSpPr>
        <p:spPr>
          <a:xfrm rot="10800000" flipV="1">
            <a:off x="4758091" y="2162530"/>
            <a:ext cx="525781" cy="2694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758384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NCD corner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3F3AA6-1194-40F7-BF3E-A2EB56422CEF}"/>
              </a:ext>
            </a:extLst>
          </p:cNvPr>
          <p:cNvSpPr txBox="1">
            <a:spLocks/>
          </p:cNvSpPr>
          <p:nvPr/>
        </p:nvSpPr>
        <p:spPr>
          <a:xfrm>
            <a:off x="1600200" y="4719220"/>
            <a:ext cx="2557217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dirty="0">
                <a:latin typeface="+mn-lt"/>
                <a:ea typeface="Tahoma" panose="020B0604030504040204" pitchFamily="34" charset="0"/>
                <a:cs typeface="Kalpurush" panose="02000600000000000000" pitchFamily="2" charset="0"/>
              </a:rPr>
              <a:t>SSK Pharmacy</a:t>
            </a:r>
            <a:endParaRPr lang="as-IN" dirty="0">
              <a:latin typeface="+mn-lt"/>
              <a:ea typeface="Tahoma" panose="020B0604030504040204" pitchFamily="34" charset="0"/>
              <a:cs typeface="Kalpurush" panose="02000600000000000000" pitchFamily="2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C5ABDAC-50DB-4AF8-98D4-078F89B8153E}"/>
              </a:ext>
            </a:extLst>
          </p:cNvPr>
          <p:cNvSpPr/>
          <p:nvPr/>
        </p:nvSpPr>
        <p:spPr>
          <a:xfrm flipV="1">
            <a:off x="4157417" y="4824350"/>
            <a:ext cx="525781" cy="2694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E64B01-DD0C-4119-A1DC-6C9DE90409E2}"/>
              </a:ext>
            </a:extLst>
          </p:cNvPr>
          <p:cNvSpPr txBox="1">
            <a:spLocks/>
          </p:cNvSpPr>
          <p:nvPr/>
        </p:nvSpPr>
        <p:spPr>
          <a:xfrm>
            <a:off x="5020981" y="2058536"/>
            <a:ext cx="2813866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SSK Booth</a:t>
            </a:r>
            <a:endParaRPr lang="as-IN" dirty="0">
              <a:latin typeface="+mn-lt"/>
              <a:ea typeface="Tahoma" panose="020B0604030504040204" pitchFamily="34" charset="0"/>
              <a:cs typeface="Kalpurush" panose="02000600000000000000" pitchFamily="2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B062903-8F1B-4887-93AA-7DDBFF3668A1}"/>
              </a:ext>
            </a:extLst>
          </p:cNvPr>
          <p:cNvSpPr/>
          <p:nvPr/>
        </p:nvSpPr>
        <p:spPr>
          <a:xfrm rot="10800000" flipV="1">
            <a:off x="4758091" y="2162530"/>
            <a:ext cx="525781" cy="2694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0C501-0220-4876-BE05-77A0AE844637}"/>
              </a:ext>
            </a:extLst>
          </p:cNvPr>
          <p:cNvSpPr txBox="1"/>
          <p:nvPr/>
        </p:nvSpPr>
        <p:spPr>
          <a:xfrm>
            <a:off x="6475585" y="4632126"/>
            <a:ext cx="10682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Please add photo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125DEE-7C90-4672-BBA5-2CCAFB538D40}"/>
              </a:ext>
            </a:extLst>
          </p:cNvPr>
          <p:cNvSpPr txBox="1"/>
          <p:nvPr/>
        </p:nvSpPr>
        <p:spPr>
          <a:xfrm>
            <a:off x="1586739" y="1835586"/>
            <a:ext cx="1240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Please add photo </a:t>
            </a:r>
          </a:p>
        </p:txBody>
      </p:sp>
    </p:spTree>
    <p:extLst>
      <p:ext uri="{BB962C8B-B14F-4D97-AF65-F5344CB8AC3E}">
        <p14:creationId xmlns:p14="http://schemas.microsoft.com/office/powerpoint/2010/main" val="111174041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7463" y="112514"/>
            <a:ext cx="8534400" cy="838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rgbClr val="FFFFFF"/>
                </a:solidFill>
                <a:cs typeface="Arial" charset="0"/>
              </a:rPr>
              <a:t>Cleanliness of Washroom and Use of Bin for Waste management </a:t>
            </a:r>
          </a:p>
        </p:txBody>
      </p:sp>
      <p:pic>
        <p:nvPicPr>
          <p:cNvPr id="7" name="Picture 6" descr="IMG-20220926-WA0017.jpg">
            <a:extLst>
              <a:ext uri="{FF2B5EF4-FFF2-40B4-BE49-F238E27FC236}">
                <a16:creationId xmlns:a16="http://schemas.microsoft.com/office/drawing/2014/main" id="{4AA6CAF8-7C06-4E81-83B9-17D47375A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29000"/>
            <a:ext cx="3975408" cy="315436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F817426-0E16-4C4E-B14A-DDB686EF5ADA}"/>
              </a:ext>
            </a:extLst>
          </p:cNvPr>
          <p:cNvSpPr txBox="1">
            <a:spLocks/>
          </p:cNvSpPr>
          <p:nvPr/>
        </p:nvSpPr>
        <p:spPr>
          <a:xfrm>
            <a:off x="1600200" y="4719220"/>
            <a:ext cx="2557217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dirty="0">
                <a:latin typeface="+mn-lt"/>
                <a:ea typeface="Tahoma" panose="020B0604030504040204" pitchFamily="34" charset="0"/>
                <a:cs typeface="Kalpurush" panose="02000600000000000000" pitchFamily="2" charset="0"/>
              </a:rPr>
              <a:t>Clean Washroom</a:t>
            </a:r>
            <a:endParaRPr lang="as-IN" dirty="0">
              <a:latin typeface="+mn-lt"/>
              <a:ea typeface="Tahoma" panose="020B0604030504040204" pitchFamily="34" charset="0"/>
              <a:cs typeface="Kalpurush" panose="02000600000000000000" pitchFamily="2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9F58B2C-E189-4756-89DD-9CAFE2192EAB}"/>
              </a:ext>
            </a:extLst>
          </p:cNvPr>
          <p:cNvSpPr/>
          <p:nvPr/>
        </p:nvSpPr>
        <p:spPr>
          <a:xfrm flipV="1">
            <a:off x="4157417" y="4824350"/>
            <a:ext cx="525781" cy="2694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AEC2B75-1830-4C29-834E-1FD31F394C6D}"/>
              </a:ext>
            </a:extLst>
          </p:cNvPr>
          <p:cNvSpPr txBox="1">
            <a:spLocks/>
          </p:cNvSpPr>
          <p:nvPr/>
        </p:nvSpPr>
        <p:spPr>
          <a:xfrm>
            <a:off x="5283872" y="2068772"/>
            <a:ext cx="3477991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Using Colored Bin for Waste management</a:t>
            </a:r>
            <a:endParaRPr lang="as-IN" dirty="0">
              <a:latin typeface="+mn-lt"/>
              <a:ea typeface="Tahoma" panose="020B0604030504040204" pitchFamily="34" charset="0"/>
              <a:cs typeface="Kalpurush" panose="02000600000000000000" pitchFamily="2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162DC33-C67B-4928-B661-0700026EB714}"/>
              </a:ext>
            </a:extLst>
          </p:cNvPr>
          <p:cNvSpPr/>
          <p:nvPr/>
        </p:nvSpPr>
        <p:spPr>
          <a:xfrm rot="10800000" flipV="1">
            <a:off x="4758091" y="2162530"/>
            <a:ext cx="525781" cy="2694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IMG-20220928-WA0024.jpg">
            <a:extLst>
              <a:ext uri="{FF2B5EF4-FFF2-40B4-BE49-F238E27FC236}">
                <a16:creationId xmlns:a16="http://schemas.microsoft.com/office/drawing/2014/main" id="{609B3B68-5494-4EAC-92BE-676657E03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82" y="1044958"/>
            <a:ext cx="4170318" cy="3352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020762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600" b="1" dirty="0"/>
              <a:t>Cleanliness Activities of </a:t>
            </a:r>
            <a:br>
              <a:rPr lang="en-US" sz="3600" b="1" dirty="0"/>
            </a:br>
            <a:r>
              <a:rPr lang="en-US" sz="3600" b="1" dirty="0"/>
              <a:t>UHC Corridor and Campus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672" y="1479834"/>
            <a:ext cx="3789528" cy="3581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2" y="3429000"/>
            <a:ext cx="3962399" cy="322580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8C81DEE7-905F-4C73-9852-C13D6F5966A2}"/>
              </a:ext>
            </a:extLst>
          </p:cNvPr>
          <p:cNvSpPr/>
          <p:nvPr/>
        </p:nvSpPr>
        <p:spPr>
          <a:xfrm flipV="1">
            <a:off x="3852617" y="5350798"/>
            <a:ext cx="525781" cy="2694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40E6381-FCAC-4E86-9C90-9744B85BC979}"/>
              </a:ext>
            </a:extLst>
          </p:cNvPr>
          <p:cNvSpPr txBox="1">
            <a:spLocks/>
          </p:cNvSpPr>
          <p:nvPr/>
        </p:nvSpPr>
        <p:spPr>
          <a:xfrm>
            <a:off x="4716180" y="2584984"/>
            <a:ext cx="3970619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Cleanliness activity of hospital corridor</a:t>
            </a:r>
            <a:endParaRPr lang="as-IN" dirty="0">
              <a:latin typeface="+mn-lt"/>
              <a:ea typeface="Tahoma" panose="020B0604030504040204" pitchFamily="34" charset="0"/>
              <a:cs typeface="Kalpurush" panose="02000600000000000000" pitchFamily="2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852B932-9D03-4F1E-AE48-BB5F4EC64D7E}"/>
              </a:ext>
            </a:extLst>
          </p:cNvPr>
          <p:cNvSpPr/>
          <p:nvPr/>
        </p:nvSpPr>
        <p:spPr>
          <a:xfrm rot="10800000" flipV="1">
            <a:off x="4453291" y="2688978"/>
            <a:ext cx="525781" cy="2694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E5A4001-44A1-4EF8-8213-BCFC46DC41BB}"/>
              </a:ext>
            </a:extLst>
          </p:cNvPr>
          <p:cNvSpPr txBox="1">
            <a:spLocks/>
          </p:cNvSpPr>
          <p:nvPr/>
        </p:nvSpPr>
        <p:spPr>
          <a:xfrm>
            <a:off x="304799" y="5219699"/>
            <a:ext cx="3970619" cy="53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Cleanliness activity of hospital campus</a:t>
            </a:r>
            <a:endParaRPr lang="as-IN" dirty="0">
              <a:latin typeface="+mn-lt"/>
              <a:ea typeface="Tahoma" panose="020B0604030504040204" pitchFamily="34" charset="0"/>
              <a:cs typeface="Kalpurush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39694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efor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762000"/>
            <a:ext cx="4046305" cy="2743200"/>
          </a:xfrm>
          <a:prstGeom prst="rect">
            <a:avLst/>
          </a:prstGeom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599" y="180856"/>
            <a:ext cx="8756937" cy="556537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</a:rPr>
              <a:t>Changes in the hospital building and indoor</a:t>
            </a:r>
          </a:p>
        </p:txBody>
      </p:sp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495" y="492068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 descr="fron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762000"/>
            <a:ext cx="4108737" cy="2813962"/>
          </a:xfrm>
          <a:prstGeom prst="rect">
            <a:avLst/>
          </a:prstGeom>
        </p:spPr>
      </p:pic>
      <p:pic>
        <p:nvPicPr>
          <p:cNvPr id="16" name="Picture 15" descr="IMG-20220926-WA00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6800" y="3733800"/>
            <a:ext cx="4038600" cy="294334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31"/>
          <a:stretch/>
        </p:blipFill>
        <p:spPr>
          <a:xfrm>
            <a:off x="152400" y="3733800"/>
            <a:ext cx="4038600" cy="29025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C0DD69-4360-4C68-AEB5-6C9CD63CFD52}"/>
              </a:ext>
            </a:extLst>
          </p:cNvPr>
          <p:cNvSpPr txBox="1"/>
          <p:nvPr/>
        </p:nvSpPr>
        <p:spPr>
          <a:xfrm flipH="1">
            <a:off x="228599" y="856277"/>
            <a:ext cx="9812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BEFORE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3C2CD2-03A5-40EC-A0A3-67BED7DCFBB2}"/>
              </a:ext>
            </a:extLst>
          </p:cNvPr>
          <p:cNvSpPr txBox="1"/>
          <p:nvPr/>
        </p:nvSpPr>
        <p:spPr>
          <a:xfrm flipH="1">
            <a:off x="4876800" y="771962"/>
            <a:ext cx="8162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AFTER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7603A9-91EC-49BA-8EA1-58E82DDB0FB3}"/>
              </a:ext>
            </a:extLst>
          </p:cNvPr>
          <p:cNvSpPr txBox="1"/>
          <p:nvPr/>
        </p:nvSpPr>
        <p:spPr>
          <a:xfrm flipH="1">
            <a:off x="152400" y="3724553"/>
            <a:ext cx="10461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BEFORE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F5657B-0A7F-4677-9352-C244A9CBBA59}"/>
              </a:ext>
            </a:extLst>
          </p:cNvPr>
          <p:cNvSpPr txBox="1"/>
          <p:nvPr/>
        </p:nvSpPr>
        <p:spPr>
          <a:xfrm flipH="1">
            <a:off x="4876800" y="3704892"/>
            <a:ext cx="8162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285886776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399"/>
            <a:ext cx="8763000" cy="54451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000" b="1" dirty="0">
                <a:solidFill>
                  <a:schemeClr val="bg1"/>
                </a:solidFill>
              </a:rPr>
              <a:t>Changes in Garden and Waste management system</a:t>
            </a:r>
          </a:p>
        </p:txBody>
      </p:sp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343400" y="2200275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7" name="Picture 16" descr="before garde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838200"/>
            <a:ext cx="4038600" cy="2876550"/>
          </a:xfrm>
          <a:prstGeom prst="rect">
            <a:avLst/>
          </a:prstGeom>
        </p:spPr>
      </p:pic>
      <p:pic>
        <p:nvPicPr>
          <p:cNvPr id="13" name="Picture 12" descr="IMG-20220926-WA000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76800" y="838200"/>
            <a:ext cx="4038600" cy="2876550"/>
          </a:xfrm>
          <a:prstGeom prst="rect">
            <a:avLst/>
          </a:prstGeom>
        </p:spPr>
      </p:pic>
      <p:pic>
        <p:nvPicPr>
          <p:cNvPr id="18" name="Picture 17" descr="IMG-20220926-WA0014.jpg">
            <a:extLst>
              <a:ext uri="{FF2B5EF4-FFF2-40B4-BE49-F238E27FC236}">
                <a16:creationId xmlns:a16="http://schemas.microsoft.com/office/drawing/2014/main" id="{70EC4247-09C5-49A2-A064-C05B6103C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9" y="3834028"/>
            <a:ext cx="4038601" cy="2876550"/>
          </a:xfrm>
          <a:prstGeom prst="rect">
            <a:avLst/>
          </a:prstGeom>
        </p:spPr>
      </p:pic>
      <p:pic>
        <p:nvPicPr>
          <p:cNvPr id="19" name="Picture 18" descr="IMG-20220926-WA0013.jpg">
            <a:extLst>
              <a:ext uri="{FF2B5EF4-FFF2-40B4-BE49-F238E27FC236}">
                <a16:creationId xmlns:a16="http://schemas.microsoft.com/office/drawing/2014/main" id="{C8FFFA5D-D33A-42FC-8DC3-0D001E8EB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3856038"/>
            <a:ext cx="4038600" cy="2893578"/>
          </a:xfrm>
          <a:prstGeom prst="rect">
            <a:avLst/>
          </a:prstGeom>
        </p:spPr>
      </p:pic>
      <p:sp>
        <p:nvSpPr>
          <p:cNvPr id="22" name="Right Arrow 9">
            <a:extLst>
              <a:ext uri="{FF2B5EF4-FFF2-40B4-BE49-F238E27FC236}">
                <a16:creationId xmlns:a16="http://schemas.microsoft.com/office/drawing/2014/main" id="{1F8C6D67-0B6C-496A-8780-BB2CC0718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9530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3BDA3F-EAFF-49B0-AD2B-01B056F5EBE4}"/>
              </a:ext>
            </a:extLst>
          </p:cNvPr>
          <p:cNvSpPr txBox="1"/>
          <p:nvPr/>
        </p:nvSpPr>
        <p:spPr>
          <a:xfrm flipH="1">
            <a:off x="228599" y="856277"/>
            <a:ext cx="9812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BEFORE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85D158-0A44-42E5-AD34-26656C7316A3}"/>
              </a:ext>
            </a:extLst>
          </p:cNvPr>
          <p:cNvSpPr txBox="1"/>
          <p:nvPr/>
        </p:nvSpPr>
        <p:spPr>
          <a:xfrm flipH="1">
            <a:off x="4876800" y="771962"/>
            <a:ext cx="8162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AFTER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60E141-9C5C-416D-AD92-87A16E1FB830}"/>
              </a:ext>
            </a:extLst>
          </p:cNvPr>
          <p:cNvSpPr txBox="1"/>
          <p:nvPr/>
        </p:nvSpPr>
        <p:spPr>
          <a:xfrm flipH="1">
            <a:off x="228599" y="3834028"/>
            <a:ext cx="9812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BEFORE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AB6205-6EB9-425C-BD10-5B4F3616DCF4}"/>
              </a:ext>
            </a:extLst>
          </p:cNvPr>
          <p:cNvSpPr txBox="1"/>
          <p:nvPr/>
        </p:nvSpPr>
        <p:spPr>
          <a:xfrm flipH="1">
            <a:off x="4876800" y="3856038"/>
            <a:ext cx="8162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207496096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IMG-20220926-WA0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3829048"/>
            <a:ext cx="4321175" cy="2914652"/>
          </a:xfrm>
          <a:prstGeom prst="rect">
            <a:avLst/>
          </a:prstGeom>
        </p:spPr>
      </p:pic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399"/>
            <a:ext cx="8763000" cy="54451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</a:rPr>
              <a:t>Beautiful Hospital Environment</a:t>
            </a:r>
          </a:p>
        </p:txBody>
      </p:sp>
      <p:pic>
        <p:nvPicPr>
          <p:cNvPr id="13" name="Picture 12" descr="IMG-20220926-WA000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24400" y="898552"/>
            <a:ext cx="4168774" cy="2728856"/>
          </a:xfrm>
          <a:prstGeom prst="rect">
            <a:avLst/>
          </a:prstGeom>
        </p:spPr>
      </p:pic>
      <p:pic>
        <p:nvPicPr>
          <p:cNvPr id="23" name="Picture 22" descr="IMG-20220926-WA00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399" y="3829048"/>
            <a:ext cx="4168775" cy="29146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83AFAE7-170E-4BE6-AF32-6E16465667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" y="909651"/>
            <a:ext cx="4321175" cy="271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0157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66700" y="137025"/>
            <a:ext cx="8610600" cy="1173162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600" b="1" dirty="0"/>
              <a:t>VISIT (select two photos according to importance and mention details)</a:t>
            </a:r>
          </a:p>
        </p:txBody>
      </p:sp>
      <p:pic>
        <p:nvPicPr>
          <p:cNvPr id="7" name="Content Placeholder 6" descr="IMG-20220926-WA0033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3886200" cy="2048375"/>
          </a:xfrm>
        </p:spPr>
      </p:pic>
      <p:pic>
        <p:nvPicPr>
          <p:cNvPr id="8" name="Content Placeholder 7" descr="IMG-20220928-WA0014.jpg"/>
          <p:cNvPicPr>
            <a:picLocks noGrp="1" noChangeAspect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>
          <a:xfrm>
            <a:off x="5210174" y="1600200"/>
            <a:ext cx="2914651" cy="2185988"/>
          </a:xfrm>
        </p:spPr>
      </p:pic>
      <p:pic>
        <p:nvPicPr>
          <p:cNvPr id="9" name="Content Placeholder 8" descr="IMG-20220815-WA0037 - Copy.jpg"/>
          <p:cNvPicPr>
            <a:picLocks noGrp="1" noChangeAspect="1"/>
          </p:cNvPicPr>
          <p:nvPr>
            <p:ph sz="quarter" idx="3"/>
          </p:nvPr>
        </p:nvPicPr>
        <p:blipFill>
          <a:blip r:embed="rId4" cstate="print"/>
          <a:stretch>
            <a:fillRect/>
          </a:stretch>
        </p:blipFill>
        <p:spPr>
          <a:xfrm>
            <a:off x="457200" y="3938588"/>
            <a:ext cx="3810000" cy="2401296"/>
          </a:xfrm>
        </p:spPr>
      </p:pic>
      <p:pic>
        <p:nvPicPr>
          <p:cNvPr id="3" name="Content Placeholder 2"/>
          <p:cNvPicPr>
            <a:picLocks noGrp="1" noChangeAspect="1"/>
          </p:cNvPicPr>
          <p:nvPr>
            <p:ph sz="quarter" idx="4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241" y="3938588"/>
            <a:ext cx="3890518" cy="2401296"/>
          </a:xfr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381000"/>
            <a:ext cx="8229600" cy="792162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Newspaper Publication</a:t>
            </a:r>
          </a:p>
        </p:txBody>
      </p:sp>
      <p:pic>
        <p:nvPicPr>
          <p:cNvPr id="8" name="Content Placeholder 7" descr="IMG-20220928-WA0003.jpg"/>
          <p:cNvPicPr>
            <a:picLocks noGrp="1" noChangeAspect="1"/>
          </p:cNvPicPr>
          <p:nvPr>
            <p:ph sz="quarter" idx="2"/>
          </p:nvPr>
        </p:nvPicPr>
        <p:blipFill rotWithShape="1">
          <a:blip r:embed="rId2" cstate="print"/>
          <a:srcRect l="16000" r="18000"/>
          <a:stretch/>
        </p:blipFill>
        <p:spPr>
          <a:xfrm>
            <a:off x="485633" y="1524000"/>
            <a:ext cx="2514600" cy="4648200"/>
          </a:xfrm>
        </p:spPr>
      </p:pic>
      <p:pic>
        <p:nvPicPr>
          <p:cNvPr id="10" name="Content Placeholder 9" descr="IMG-20220928-WA0000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5786651" y="1524000"/>
            <a:ext cx="2974848" cy="4648200"/>
          </a:xfrm>
        </p:spPr>
      </p:pic>
      <p:pic>
        <p:nvPicPr>
          <p:cNvPr id="7" name="Content Placeholder 10" descr="IMG-20220928-WA0001.jpg"/>
          <p:cNvPicPr>
            <a:picLocks noGrp="1" noChangeAspect="1"/>
          </p:cNvPicPr>
          <p:nvPr>
            <p:ph sz="quarter" idx="1"/>
          </p:nvPr>
        </p:nvPicPr>
        <p:blipFill>
          <a:blip r:embed="rId4" cstate="print"/>
          <a:stretch>
            <a:fillRect/>
          </a:stretch>
        </p:blipFill>
        <p:spPr>
          <a:xfrm>
            <a:off x="3124200" y="1524000"/>
            <a:ext cx="2514600" cy="4648200"/>
          </a:xfrm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A17ED29-B1C5-44A0-B7B2-8E405DC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8002" y="491913"/>
            <a:ext cx="8305800" cy="842027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eaLnBrk="1" hangingPunct="1"/>
            <a:r>
              <a:rPr lang="en-US" altLang="en-US" sz="3200" b="1" dirty="0"/>
              <a:t>Upazila Health  Complex</a:t>
            </a:r>
            <a:br>
              <a:rPr lang="en-US" altLang="en-US" sz="3200" b="1" dirty="0"/>
            </a:br>
            <a:r>
              <a:rPr lang="en-US" altLang="en-US" sz="3200" b="1" dirty="0" err="1"/>
              <a:t>Shakhipur,Tangail</a:t>
            </a:r>
            <a:endParaRPr lang="en-US" altLang="en-US" sz="2000" b="1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935C444-89D8-44E5-B127-72803971B5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7DCD4D61-0048-4A50-A148-F5E3D58F6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14079"/>
            <a:ext cx="8305800" cy="54773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b"/>
          <a:lstStyle/>
          <a:p>
            <a:pPr algn="ctr" eaLnBrk="1" hangingPunct="1"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7E84A1FE-1CF1-44D6-BEC9-A0C9A7A7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492963"/>
            <a:ext cx="81534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Breast feeding corner donated by JICA , Upazila  Parishad.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Waiting chair for Patients, Wheel chair donated from Upazila  Parishad.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44A9FB5-73F8-496D-817C-AAFDD09B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Shakhipur Health Complex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endParaRPr lang="en-US" sz="2400" dirty="0"/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/>
              <a:t>Shakhipur Health Complex became first In HSS Scoring in 2019 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/>
              <a:t>Shakhipur Health Complex is awarded for best performance in VIA test in 2021.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/>
              <a:t>Beautiful Hospital campus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87237505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endParaRPr lang="en-US" sz="2400" dirty="0"/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/>
              <a:t>Limited human resource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/>
              <a:t>No cycle stand close to the main gate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/>
              <a:t>Weak birth and death recording system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/>
              <a:t>Weak health education system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/>
              <a:t>Lack of safe drinking water supply for the patients.	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6203838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Way Forward…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endParaRPr lang="en-US" sz="2400" dirty="0"/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sz="2400" dirty="0"/>
              <a:t>Successful Implementation of SSK program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sz="2400" dirty="0"/>
              <a:t>24/7 C-section services.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sz="2400" dirty="0"/>
              <a:t>Maintain 500 Blood donor list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sz="2400" dirty="0"/>
              <a:t>HSS position below 100 within 3 months. </a:t>
            </a:r>
          </a:p>
        </p:txBody>
      </p:sp>
    </p:spTree>
    <p:extLst>
      <p:ext uri="{BB962C8B-B14F-4D97-AF65-F5344CB8AC3E}">
        <p14:creationId xmlns:p14="http://schemas.microsoft.com/office/powerpoint/2010/main" val="1443212285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475809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4284</TotalTime>
  <Words>395</Words>
  <Application>Microsoft Office PowerPoint</Application>
  <PresentationFormat>On-screen Show (4:3)</PresentationFormat>
  <Paragraphs>153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Calibri</vt:lpstr>
      <vt:lpstr>Oswald</vt:lpstr>
      <vt:lpstr>Symbol</vt:lpstr>
      <vt:lpstr>Times New Roman</vt:lpstr>
      <vt:lpstr>Verdana</vt:lpstr>
      <vt:lpstr>Wingdings</vt:lpstr>
      <vt:lpstr>Wingdings 2</vt:lpstr>
      <vt:lpstr>5_シック</vt:lpstr>
      <vt:lpstr>Office Theme</vt:lpstr>
      <vt:lpstr>PowerPoint Presentation</vt:lpstr>
      <vt:lpstr>A Hospital with a Vision …</vt:lpstr>
      <vt:lpstr>Background</vt:lpstr>
      <vt:lpstr>Health Profile of Sakhipur Upazila- 2021</vt:lpstr>
      <vt:lpstr>PowerPoint Presentation</vt:lpstr>
      <vt:lpstr>PowerPoint Presentation</vt:lpstr>
      <vt:lpstr>No. of patient in Emergency + Out Door and Indoor Service  2017 to September 2022</vt:lpstr>
      <vt:lpstr>PowerPoint Presentation</vt:lpstr>
      <vt:lpstr>PowerPoint Presentation</vt:lpstr>
      <vt:lpstr>  Comparative data of revenue income (in Taka) from 2015 to 2017 (????) </vt:lpstr>
      <vt:lpstr>Attractive Front Gate and Administrative Wing</vt:lpstr>
      <vt:lpstr>UH&amp;FPO Room and Conference Room</vt:lpstr>
      <vt:lpstr> Different corner</vt:lpstr>
      <vt:lpstr>Diagnostic Services</vt:lpstr>
      <vt:lpstr>NCD corner</vt:lpstr>
      <vt:lpstr>NCD corner</vt:lpstr>
      <vt:lpstr>Cleanliness of Washroom and Use of Bin for Waste management </vt:lpstr>
      <vt:lpstr>Cleanliness Activities of  UHC Corridor and Campus</vt:lpstr>
      <vt:lpstr>PowerPoint Presentation</vt:lpstr>
      <vt:lpstr>Changes in Garden and Waste management system</vt:lpstr>
      <vt:lpstr>Beautiful Hospital Environment</vt:lpstr>
      <vt:lpstr>VISIT (select two photos according to importance and mention details)</vt:lpstr>
      <vt:lpstr>Newspaper Publication</vt:lpstr>
      <vt:lpstr>Upazila Health  Complex Shakhipur,Tangail</vt:lpstr>
      <vt:lpstr>Achievement of Shakhipur Health Complex</vt:lpstr>
      <vt:lpstr>Challenges</vt:lpstr>
      <vt:lpstr>Way Forward…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580</cp:revision>
  <cp:lastPrinted>2017-03-18T23:47:54Z</cp:lastPrinted>
  <dcterms:created xsi:type="dcterms:W3CDTF">2013-05-05T09:56:19Z</dcterms:created>
  <dcterms:modified xsi:type="dcterms:W3CDTF">2022-10-13T08:14:49Z</dcterms:modified>
</cp:coreProperties>
</file>