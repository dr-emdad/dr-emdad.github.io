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8" r:id="rId1"/>
  </p:sldMasterIdLst>
  <p:notesMasterIdLst>
    <p:notesMasterId r:id="rId43"/>
  </p:notesMasterIdLst>
  <p:sldIdLst>
    <p:sldId id="256" r:id="rId2"/>
    <p:sldId id="294" r:id="rId3"/>
    <p:sldId id="257" r:id="rId4"/>
    <p:sldId id="298" r:id="rId5"/>
    <p:sldId id="259" r:id="rId6"/>
    <p:sldId id="260" r:id="rId7"/>
    <p:sldId id="261" r:id="rId8"/>
    <p:sldId id="279" r:id="rId9"/>
    <p:sldId id="262" r:id="rId10"/>
    <p:sldId id="281" r:id="rId11"/>
    <p:sldId id="263" r:id="rId12"/>
    <p:sldId id="264" r:id="rId13"/>
    <p:sldId id="265" r:id="rId14"/>
    <p:sldId id="282" r:id="rId15"/>
    <p:sldId id="277" r:id="rId16"/>
    <p:sldId id="266" r:id="rId17"/>
    <p:sldId id="288" r:id="rId18"/>
    <p:sldId id="267" r:id="rId19"/>
    <p:sldId id="289" r:id="rId20"/>
    <p:sldId id="290" r:id="rId21"/>
    <p:sldId id="268" r:id="rId22"/>
    <p:sldId id="275" r:id="rId23"/>
    <p:sldId id="270" r:id="rId24"/>
    <p:sldId id="271" r:id="rId25"/>
    <p:sldId id="285" r:id="rId26"/>
    <p:sldId id="269" r:id="rId27"/>
    <p:sldId id="272" r:id="rId28"/>
    <p:sldId id="297" r:id="rId29"/>
    <p:sldId id="292" r:id="rId30"/>
    <p:sldId id="293" r:id="rId31"/>
    <p:sldId id="296" r:id="rId32"/>
    <p:sldId id="286" r:id="rId33"/>
    <p:sldId id="295" r:id="rId34"/>
    <p:sldId id="287" r:id="rId35"/>
    <p:sldId id="273" r:id="rId36"/>
    <p:sldId id="274" r:id="rId37"/>
    <p:sldId id="280" r:id="rId38"/>
    <p:sldId id="283" r:id="rId39"/>
    <p:sldId id="284" r:id="rId40"/>
    <p:sldId id="291" r:id="rId41"/>
    <p:sldId id="276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DA8858DF-FD9E-4D9C-B61F-C65F82E75BFF}">
          <p14:sldIdLst>
            <p14:sldId id="256"/>
            <p14:sldId id="294"/>
            <p14:sldId id="257"/>
            <p14:sldId id="298"/>
            <p14:sldId id="259"/>
            <p14:sldId id="260"/>
            <p14:sldId id="261"/>
            <p14:sldId id="279"/>
            <p14:sldId id="262"/>
            <p14:sldId id="281"/>
            <p14:sldId id="263"/>
            <p14:sldId id="264"/>
            <p14:sldId id="265"/>
            <p14:sldId id="282"/>
            <p14:sldId id="277"/>
            <p14:sldId id="266"/>
            <p14:sldId id="288"/>
            <p14:sldId id="267"/>
            <p14:sldId id="289"/>
            <p14:sldId id="290"/>
            <p14:sldId id="268"/>
            <p14:sldId id="275"/>
            <p14:sldId id="270"/>
            <p14:sldId id="271"/>
            <p14:sldId id="285"/>
            <p14:sldId id="269"/>
            <p14:sldId id="272"/>
            <p14:sldId id="297"/>
            <p14:sldId id="292"/>
            <p14:sldId id="293"/>
            <p14:sldId id="296"/>
            <p14:sldId id="286"/>
            <p14:sldId id="295"/>
            <p14:sldId id="287"/>
            <p14:sldId id="273"/>
            <p14:sldId id="274"/>
            <p14:sldId id="280"/>
            <p14:sldId id="283"/>
            <p14:sldId id="284"/>
            <p14:sldId id="291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WD" initials="P" lastIdx="2" clrIdx="0">
    <p:extLst>
      <p:ext uri="{19B8F6BF-5375-455C-9EA6-DF929625EA0E}">
        <p15:presenceInfo xmlns:p15="http://schemas.microsoft.com/office/powerpoint/2012/main" userId="PWD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407" autoAdjust="0"/>
  </p:normalViewPr>
  <p:slideViewPr>
    <p:cSldViewPr snapToGrid="0">
      <p:cViewPr varScale="1">
        <p:scale>
          <a:sx n="76" d="100"/>
          <a:sy n="76" d="100"/>
        </p:scale>
        <p:origin x="43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09-09T15:29:40.684" idx="1">
    <p:pos x="10" y="10"/>
    <p:text/>
    <p:extLst>
      <p:ext uri="{C676402C-5697-4E1C-873F-D02D1690AC5C}">
        <p15:threadingInfo xmlns:p15="http://schemas.microsoft.com/office/powerpoint/2012/main" timeZoneBias="-36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09-11T00:57:48.308" idx="2">
    <p:pos x="6933" y="2294"/>
    <p:text/>
    <p:extLst>
      <p:ext uri="{C676402C-5697-4E1C-873F-D02D1690AC5C}">
        <p15:threadingInfo xmlns:p15="http://schemas.microsoft.com/office/powerpoint/2012/main" timeZoneBias="-36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064760-7176-47F8-8471-A68F347C0CC8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7F5F55-F297-4558-B9CB-F6C5296B94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895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7F5F55-F297-4558-B9CB-F6C5296B942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029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7F5F55-F297-4558-B9CB-F6C5296B942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428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022DC-51D7-4B0E-9FAB-65317DB95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4C4E5A-5300-4644-9E58-9DC012EBB6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5622D-3C99-4C1B-8105-04B39DB06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4903-494B-47C5-9C56-5F8AB786FD66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66E4A-8BE6-4D5C-ACB5-BF904D15A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8EF5D-B0C8-48C6-B3D9-B0CF0BF36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2FC4-23D2-4CCB-BA89-5A85557A7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16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224FB-3903-4769-A3CF-FED0E870F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2494A-055C-418D-B927-660A21276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070CA-70FC-4DE3-8941-43C3F61FC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4903-494B-47C5-9C56-5F8AB786FD66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5B14C-0761-4B0A-84CA-8217A25C5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806F6-E2B3-43CE-BEAA-51137262B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2FC4-23D2-4CCB-BA89-5A85557A7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72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27146-C917-4EC9-BBD8-693F5302A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C73DAF-CE59-49D9-B511-0BAEA6ECB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2848F-D636-4662-B15F-4547D850C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4903-494B-47C5-9C56-5F8AB786FD66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B7AC0-17DB-4B78-A10A-96A19904B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DDEB3-49B0-4F15-A1F0-D1FD3800A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2FC4-23D2-4CCB-BA89-5A85557A7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793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A6C4E-8945-45CB-89AE-8FCC1F838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46D5E-91E5-4ED0-8B89-A1E37825CE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F58C5-BB9B-4C6E-AADE-EECA870206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138892-5247-49F4-AF42-16E1E52D0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4903-494B-47C5-9C56-5F8AB786FD66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55801-1959-4D2B-A681-64AB98544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FA8DCE-1DC4-4A94-8ECE-47C17E2A3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2FC4-23D2-4CCB-BA89-5A85557A7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80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134C9-284C-42E8-A05E-2CAFE8B60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66B69-7FEF-4C46-A8D0-F071ECC3E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BC561-7E18-4514-B3E6-152052EDF7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223DB5-B57C-42DE-BD62-ADF593DC09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2A7EB6-BD53-478B-A5DB-37377F4CFF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F6A359-7CF4-4EA0-8DC4-C84F63284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4903-494B-47C5-9C56-5F8AB786FD66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246C5B-C505-4438-B8D2-106C4AA31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4AE2FE-1D80-44A4-B96C-A4BA2B8F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2FC4-23D2-4CCB-BA89-5A85557A7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017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DC74B-76AB-4DA5-8D2D-B84DE1C4D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3DDBED-775A-4F7B-8F59-B8EF6C0B2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4903-494B-47C5-9C56-5F8AB786FD66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8D6C67-BB02-4841-AC20-A7BAD293E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3E3029-773C-4E09-8BEB-9C571641B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2FC4-23D2-4CCB-BA89-5A85557A7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732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60EDB1-F735-4954-9E33-C5504858D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4903-494B-47C5-9C56-5F8AB786FD66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7FD687-2C60-49CA-82D5-162198BD0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2A702-D38A-4E4B-BBBF-423FAFEE0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2FC4-23D2-4CCB-BA89-5A85557A7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051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AC6E6-52CC-49DD-AB35-5F7935ECA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C0AA7-2020-4B87-81FF-5E132A503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6CBC31-A66F-4DAA-8D80-2726FE1B7C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67CA7D-5AD9-4DBF-B814-735406ACC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4903-494B-47C5-9C56-5F8AB786FD66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58C8F1-4339-4710-ABAA-924D0AD49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A5F93C-B3FB-4095-94E0-EA49A9D86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2FC4-23D2-4CCB-BA89-5A85557A7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953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E8B49-192D-414A-8DFA-06ED3C6FF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F9C646-6FBC-46B9-9851-CC2A99C402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E68E70-B1D1-4436-B556-34A306A7A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FDEBF2-E782-4168-8FD0-C7832D227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4903-494B-47C5-9C56-5F8AB786FD66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EEF372-C750-49EB-A9FA-39414BA02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BDC06-34DA-4738-A249-389B75A91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2FC4-23D2-4CCB-BA89-5A85557A7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585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F53F2-09F8-4729-925A-5EBB48385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BC35EB-30A9-469A-806D-70E86F19CC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7F139-24D7-40E5-B62C-97EC71680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4903-494B-47C5-9C56-5F8AB786FD66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F3333-9F7C-4FB0-ACDE-D41ABCFAA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FAC9F-660F-4C69-BB2E-5A50407C2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2FC4-23D2-4CCB-BA89-5A85557A7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040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296AB9-23E7-468C-AD1A-82538A364B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A5C07F-41BA-49F7-AE5C-70F6531AD5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3EC9A-01DF-484D-B049-654E56CAE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4903-494B-47C5-9C56-5F8AB786FD66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529E1-A483-4824-9793-ED30B5B2E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E9BF2-9D60-4DCB-8C13-E769D7468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2FC4-23D2-4CCB-BA89-5A85557A7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841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C855F5-E722-4D16-8441-8834BEEEF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B7555-64CF-4757-BFBA-8478C7E78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BE4CF-BA95-4810-935E-7EA17D8992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874903-494B-47C5-9C56-5F8AB786FD66}" type="datetimeFigureOut">
              <a:rPr lang="en-US" smtClean="0"/>
              <a:t>9/22/2022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17D10-F4A2-4E8B-8565-95705C0991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62E55-F23A-4840-8C46-1663D0705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DE2FC4-23D2-4CCB-BA89-5A85557A7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746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comments" Target="../comments/comment1.xml"/><Relationship Id="rId5" Type="http://schemas.openxmlformats.org/officeDocument/2006/relationships/image" Target="../media/image8.jp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3.jpg"/><Relationship Id="rId4" Type="http://schemas.openxmlformats.org/officeDocument/2006/relationships/image" Target="../media/image32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jpe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7.xml"/><Relationship Id="rId6" Type="http://schemas.openxmlformats.org/officeDocument/2006/relationships/comments" Target="../comments/comment2.xml"/><Relationship Id="rId5" Type="http://schemas.openxmlformats.org/officeDocument/2006/relationships/image" Target="../media/image61.jfif"/><Relationship Id="rId4" Type="http://schemas.openxmlformats.org/officeDocument/2006/relationships/image" Target="../media/image60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.jpeg"/><Relationship Id="rId4" Type="http://schemas.openxmlformats.org/officeDocument/2006/relationships/image" Target="../media/image64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7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1.jpg"/><Relationship Id="rId4" Type="http://schemas.openxmlformats.org/officeDocument/2006/relationships/image" Target="../media/image70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89BE3-1FC9-3988-F786-C009256CF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10933"/>
            <a:ext cx="4718756" cy="1478844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err="1">
                <a:latin typeface="Aparajita" panose="020B0604020202020204" pitchFamily="34" charset="0"/>
                <a:cs typeface="Aparajita" panose="020B0604020202020204" pitchFamily="34" charset="0"/>
              </a:rPr>
              <a:t>Upazila</a:t>
            </a:r>
            <a:r>
              <a:rPr lang="en-US" dirty="0">
                <a:latin typeface="Aparajita" panose="020B0604020202020204" pitchFamily="34" charset="0"/>
                <a:cs typeface="Aparajita" panose="020B0604020202020204" pitchFamily="34" charset="0"/>
              </a:rPr>
              <a:t> Health Complex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AA99E1-5155-EE71-F59E-17275B48DE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68800"/>
            <a:ext cx="4425244" cy="117404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4400" dirty="0" err="1"/>
              <a:t>Ramgati</a:t>
            </a:r>
            <a:r>
              <a:rPr lang="en-US" sz="4400" dirty="0"/>
              <a:t> </a:t>
            </a:r>
            <a:r>
              <a:rPr lang="en-US" sz="4400" dirty="0" err="1"/>
              <a:t>Lakshmipur</a:t>
            </a:r>
            <a:r>
              <a:rPr lang="en-US" sz="4400" dirty="0"/>
              <a:t> </a:t>
            </a:r>
          </a:p>
          <a:p>
            <a:endParaRPr lang="en-US" sz="4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009E967-C62A-B6D9-99F7-101F59E0AE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948" y="1607255"/>
            <a:ext cx="5181600" cy="3886200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4A1C09C8-1CDE-A80C-E912-F93EC027A658}"/>
              </a:ext>
            </a:extLst>
          </p:cNvPr>
          <p:cNvSpPr txBox="1">
            <a:spLocks/>
          </p:cNvSpPr>
          <p:nvPr/>
        </p:nvSpPr>
        <p:spPr>
          <a:xfrm>
            <a:off x="332611" y="1924756"/>
            <a:ext cx="3838222" cy="56444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/>
              <a:t>Welcome To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CD164E-23F0-AEC1-4C6D-D5B8EDD0199B}"/>
              </a:ext>
            </a:extLst>
          </p:cNvPr>
          <p:cNvSpPr txBox="1"/>
          <p:nvPr/>
        </p:nvSpPr>
        <p:spPr>
          <a:xfrm>
            <a:off x="6096000" y="5706085"/>
            <a:ext cx="3936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31 Bed Hospital, Char </a:t>
            </a:r>
            <a:r>
              <a:rPr lang="en-US" dirty="0" err="1"/>
              <a:t>Alexandar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887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C736B9-EB37-D243-3382-A583BF09D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51" y="305553"/>
            <a:ext cx="5999355" cy="62468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AC80BE-ED8F-E537-1139-0FE282A29DE5}"/>
              </a:ext>
            </a:extLst>
          </p:cNvPr>
          <p:cNvSpPr txBox="1"/>
          <p:nvPr/>
        </p:nvSpPr>
        <p:spPr>
          <a:xfrm>
            <a:off x="6701883" y="2007220"/>
            <a:ext cx="284356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Organogram of </a:t>
            </a:r>
            <a:r>
              <a:rPr lang="en-US" sz="3200" dirty="0" err="1"/>
              <a:t>upazila</a:t>
            </a:r>
            <a:r>
              <a:rPr lang="en-US" sz="3200" dirty="0"/>
              <a:t> health complex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DAB24BF-B66C-BA7C-3D0C-3A77D36B9686}"/>
              </a:ext>
            </a:extLst>
          </p:cNvPr>
          <p:cNvSpPr/>
          <p:nvPr/>
        </p:nvSpPr>
        <p:spPr>
          <a:xfrm>
            <a:off x="6096000" y="2698595"/>
            <a:ext cx="605883" cy="3456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172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D4D7C-96C2-E237-C8BA-0B0CF5C9E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247782"/>
            <a:ext cx="8901565" cy="914974"/>
          </a:xfrm>
        </p:spPr>
        <p:txBody>
          <a:bodyPr>
            <a:noAutofit/>
          </a:bodyPr>
          <a:lstStyle/>
          <a:p>
            <a:r>
              <a:rPr lang="en-US" sz="2800" dirty="0"/>
              <a:t>Health workforce of </a:t>
            </a:r>
            <a:r>
              <a:rPr lang="en-US" sz="2800" dirty="0" err="1"/>
              <a:t>Ramgati</a:t>
            </a:r>
            <a:r>
              <a:rPr lang="en-US" sz="2800" dirty="0"/>
              <a:t> </a:t>
            </a:r>
            <a:r>
              <a:rPr lang="en-US" sz="2800" dirty="0" err="1"/>
              <a:t>upazila</a:t>
            </a:r>
            <a:r>
              <a:rPr lang="en-US" sz="2800" dirty="0"/>
              <a:t> Health complex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DBF56-5A9D-8DD2-9054-3DFE96C64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62757"/>
            <a:ext cx="8596668" cy="5331544"/>
          </a:xfrm>
        </p:spPr>
        <p:txBody>
          <a:bodyPr>
            <a:normAutofit lnSpcReduction="10000"/>
          </a:bodyPr>
          <a:lstStyle/>
          <a:p>
            <a:r>
              <a:rPr lang="en-US" sz="1900" dirty="0"/>
              <a:t>Doctor – 15 ( one in CMC deputation , one in </a:t>
            </a:r>
            <a:r>
              <a:rPr lang="en-US" sz="1900" dirty="0" err="1"/>
              <a:t>Sadar</a:t>
            </a:r>
            <a:r>
              <a:rPr lang="en-US" sz="1900" dirty="0"/>
              <a:t> hospital) </a:t>
            </a:r>
          </a:p>
          <a:p>
            <a:r>
              <a:rPr lang="en-US" sz="1900" dirty="0"/>
              <a:t>Nurse  10 (one in </a:t>
            </a:r>
            <a:r>
              <a:rPr lang="en-US" sz="1900" dirty="0" err="1"/>
              <a:t>Sadar</a:t>
            </a:r>
            <a:r>
              <a:rPr lang="en-US" sz="1900" dirty="0"/>
              <a:t> hospital)</a:t>
            </a:r>
          </a:p>
          <a:p>
            <a:r>
              <a:rPr lang="en-US" sz="1900" dirty="0"/>
              <a:t>Midwife – 0 ( 2 posted as attachment at UHC </a:t>
            </a:r>
            <a:r>
              <a:rPr lang="en-US" sz="1900" dirty="0" err="1"/>
              <a:t>Ramgati</a:t>
            </a:r>
            <a:r>
              <a:rPr lang="en-US" sz="1900" dirty="0"/>
              <a:t>)</a:t>
            </a:r>
          </a:p>
          <a:p>
            <a:r>
              <a:rPr lang="en-US" sz="1900" dirty="0"/>
              <a:t>SACMO 8</a:t>
            </a:r>
          </a:p>
          <a:p>
            <a:r>
              <a:rPr lang="en-US" sz="1900" dirty="0"/>
              <a:t>Head Assistant-1</a:t>
            </a:r>
          </a:p>
          <a:p>
            <a:r>
              <a:rPr lang="en-US" sz="1900" dirty="0"/>
              <a:t>HI-1</a:t>
            </a:r>
          </a:p>
          <a:p>
            <a:r>
              <a:rPr lang="en-US" sz="1900" dirty="0"/>
              <a:t>EPI-1</a:t>
            </a:r>
          </a:p>
          <a:p>
            <a:r>
              <a:rPr lang="en-US" sz="1900" dirty="0"/>
              <a:t>AHI-5</a:t>
            </a:r>
          </a:p>
          <a:p>
            <a:r>
              <a:rPr lang="en-US" sz="1900" dirty="0"/>
              <a:t>HA -23</a:t>
            </a:r>
          </a:p>
          <a:p>
            <a:r>
              <a:rPr lang="en-US" sz="1900" dirty="0"/>
              <a:t>SBA-4(HA)</a:t>
            </a:r>
          </a:p>
          <a:p>
            <a:r>
              <a:rPr lang="en-US" sz="1900" dirty="0"/>
              <a:t>CHCP 18 ( SBA -2 )</a:t>
            </a:r>
          </a:p>
          <a:p>
            <a:r>
              <a:rPr lang="en-US" sz="1900" dirty="0"/>
              <a:t>MLSS-0</a:t>
            </a:r>
          </a:p>
          <a:p>
            <a:r>
              <a:rPr lang="en-US" sz="1900" dirty="0"/>
              <a:t>Cleaner-2</a:t>
            </a:r>
          </a:p>
          <a:p>
            <a:r>
              <a:rPr lang="en-US" sz="1900" dirty="0"/>
              <a:t>Outsourcing-5</a:t>
            </a:r>
          </a:p>
          <a:p>
            <a:pPr marL="57150" indent="0">
              <a:buNone/>
            </a:pPr>
            <a:endParaRPr lang="en-US" sz="2400" dirty="0"/>
          </a:p>
          <a:p>
            <a:pPr algn="r">
              <a:buFont typeface="+mj-lt"/>
              <a:buAutoNum type="alphaU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302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25CF3-CA94-2EB2-EC51-622B6A2AD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520" y="531542"/>
            <a:ext cx="8596668" cy="13208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800" dirty="0"/>
              <a:t>Health institutions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71FA5-F8AE-8557-1146-6765D093D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Health complex :  1 </a:t>
            </a:r>
          </a:p>
          <a:p>
            <a:r>
              <a:rPr lang="en-US" dirty="0"/>
              <a:t>H&amp;FWC -5</a:t>
            </a:r>
          </a:p>
          <a:p>
            <a:r>
              <a:rPr lang="en-US" dirty="0"/>
              <a:t>Community clinic-20</a:t>
            </a:r>
          </a:p>
          <a:p>
            <a:r>
              <a:rPr lang="en-US" dirty="0"/>
              <a:t>Union SUB CENTRE-2</a:t>
            </a:r>
          </a:p>
          <a:p>
            <a:r>
              <a:rPr lang="en-US" dirty="0"/>
              <a:t>NON GOVT CLINIC-0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BC9909-B4C8-2CDF-7B93-1203240EB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324" y="1683832"/>
            <a:ext cx="8044447" cy="444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98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A2BD0-477E-F157-4BD6-E42984848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59556"/>
          </a:xfrm>
        </p:spPr>
        <p:txBody>
          <a:bodyPr/>
          <a:lstStyle/>
          <a:p>
            <a:r>
              <a:rPr lang="en-US" dirty="0"/>
              <a:t>OUR AIM AND VISION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73912A-1A64-C584-0185-3CC30B9B5D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2098" y="1825625"/>
            <a:ext cx="7367803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DECD12-3797-2BD5-D72F-DE49F898ACD4}"/>
              </a:ext>
            </a:extLst>
          </p:cNvPr>
          <p:cNvSpPr txBox="1"/>
          <p:nvPr/>
        </p:nvSpPr>
        <p:spPr>
          <a:xfrm>
            <a:off x="6385518" y="688160"/>
            <a:ext cx="41262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ensure primary health care at root level and maintain the referral system</a:t>
            </a:r>
          </a:p>
        </p:txBody>
      </p:sp>
    </p:spTree>
    <p:extLst>
      <p:ext uri="{BB962C8B-B14F-4D97-AF65-F5344CB8AC3E}">
        <p14:creationId xmlns:p14="http://schemas.microsoft.com/office/powerpoint/2010/main" val="1913606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62E02-24E6-6A88-A982-192BA36A7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54756"/>
          </a:xfrm>
        </p:spPr>
        <p:txBody>
          <a:bodyPr>
            <a:normAutofit fontScale="90000"/>
          </a:bodyPr>
          <a:lstStyle/>
          <a:p>
            <a:r>
              <a:rPr lang="en-US" dirty="0"/>
              <a:t>Our services at a glance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9818C21-10C8-FE5F-81E2-702A5A3C9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895" y="1173465"/>
            <a:ext cx="8596668" cy="498404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24 hour emergency department</a:t>
            </a:r>
          </a:p>
          <a:p>
            <a:r>
              <a:rPr lang="en-US" dirty="0"/>
              <a:t>Indoor </a:t>
            </a:r>
          </a:p>
          <a:p>
            <a:r>
              <a:rPr lang="en-US" dirty="0"/>
              <a:t>Outdoor </a:t>
            </a:r>
          </a:p>
          <a:p>
            <a:r>
              <a:rPr lang="en-US" dirty="0"/>
              <a:t>Dental OPD</a:t>
            </a:r>
          </a:p>
          <a:p>
            <a:r>
              <a:rPr lang="en-US" dirty="0"/>
              <a:t>Pharmacy</a:t>
            </a:r>
          </a:p>
          <a:p>
            <a:r>
              <a:rPr lang="en-US" dirty="0"/>
              <a:t>EPI</a:t>
            </a:r>
          </a:p>
          <a:p>
            <a:r>
              <a:rPr lang="en-US" dirty="0"/>
              <a:t>Diagnostic facility</a:t>
            </a:r>
          </a:p>
          <a:p>
            <a:pPr lvl="3"/>
            <a:r>
              <a:rPr lang="en-US" sz="1600" dirty="0"/>
              <a:t>Pathology</a:t>
            </a:r>
          </a:p>
          <a:p>
            <a:pPr lvl="3"/>
            <a:r>
              <a:rPr lang="en-US" sz="1600" dirty="0"/>
              <a:t>Radiology</a:t>
            </a:r>
          </a:p>
          <a:p>
            <a:pPr lvl="3"/>
            <a:r>
              <a:rPr lang="en-US" sz="1600" dirty="0"/>
              <a:t>ECG</a:t>
            </a:r>
          </a:p>
          <a:p>
            <a:pPr lvl="3"/>
            <a:r>
              <a:rPr lang="en-US" sz="1600" dirty="0"/>
              <a:t>Ultrasonography</a:t>
            </a:r>
            <a:endParaRPr lang="en-US" sz="2200" dirty="0"/>
          </a:p>
          <a:p>
            <a:r>
              <a:rPr lang="en-US" sz="2200" dirty="0"/>
              <a:t>Emergency Ambulance</a:t>
            </a:r>
          </a:p>
          <a:p>
            <a:endParaRPr lang="en-US" sz="2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447AB0F-8C26-8F36-4828-C1CF7CAF1A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3919" y="479391"/>
            <a:ext cx="2332007" cy="17490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DB7B901-9637-6FDA-A7BC-623E8AF669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1229" y="2046305"/>
            <a:ext cx="2549228" cy="19119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974E9D6-F452-C782-809A-88547D4AE6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2359" y="2006600"/>
            <a:ext cx="2359378" cy="176953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2854F4A-4A04-1357-03C6-410E56CD00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1376" y="3812243"/>
            <a:ext cx="3200064" cy="240004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947EE1D-4695-2857-15B0-E0C6FC57B42E}"/>
              </a:ext>
            </a:extLst>
          </p:cNvPr>
          <p:cNvSpPr txBox="1"/>
          <p:nvPr/>
        </p:nvSpPr>
        <p:spPr>
          <a:xfrm>
            <a:off x="8884356" y="970844"/>
            <a:ext cx="1664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Pathology Lab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C4AF5C-A81E-3242-4220-558AF09AD5CD}"/>
              </a:ext>
            </a:extLst>
          </p:cNvPr>
          <p:cNvSpPr txBox="1"/>
          <p:nvPr/>
        </p:nvSpPr>
        <p:spPr>
          <a:xfrm>
            <a:off x="6515390" y="6329465"/>
            <a:ext cx="1986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Dental Unit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1A7702-D6C8-06FA-F52F-163A74120547}"/>
              </a:ext>
            </a:extLst>
          </p:cNvPr>
          <p:cNvSpPr txBox="1"/>
          <p:nvPr/>
        </p:nvSpPr>
        <p:spPr>
          <a:xfrm>
            <a:off x="3556000" y="2777067"/>
            <a:ext cx="1155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 ray Machine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A593D2-096E-4412-5289-EF60B3102AF2}"/>
              </a:ext>
            </a:extLst>
          </p:cNvPr>
          <p:cNvSpPr txBox="1"/>
          <p:nvPr/>
        </p:nvSpPr>
        <p:spPr>
          <a:xfrm>
            <a:off x="10126133" y="2404533"/>
            <a:ext cx="1652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 performing USG</a:t>
            </a:r>
          </a:p>
        </p:txBody>
      </p:sp>
    </p:spTree>
    <p:extLst>
      <p:ext uri="{BB962C8B-B14F-4D97-AF65-F5344CB8AC3E}">
        <p14:creationId xmlns:p14="http://schemas.microsoft.com/office/powerpoint/2010/main" val="1868806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2ED1C-0DF1-59EC-6897-34DC2D371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846" y="304183"/>
            <a:ext cx="8596668" cy="598311"/>
          </a:xfrm>
        </p:spPr>
        <p:txBody>
          <a:bodyPr>
            <a:normAutofit fontScale="90000"/>
          </a:bodyPr>
          <a:lstStyle/>
          <a:p>
            <a:r>
              <a:rPr lang="en-US" dirty="0"/>
              <a:t>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F35DB-9ACA-6725-DD52-089466836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23611"/>
            <a:ext cx="8495068" cy="510945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MATERNAL AND CHILD HEALTH MANAGEMENT</a:t>
            </a:r>
          </a:p>
          <a:p>
            <a:pPr lvl="5"/>
            <a:r>
              <a:rPr lang="en-US" sz="1800" dirty="0"/>
              <a:t>Normal vaginal delivery by skilled birth attendant</a:t>
            </a:r>
          </a:p>
          <a:p>
            <a:pPr lvl="5"/>
            <a:r>
              <a:rPr lang="en-US" sz="1800" dirty="0"/>
              <a:t>Elective cesarian section</a:t>
            </a:r>
          </a:p>
          <a:p>
            <a:pPr lvl="5"/>
            <a:r>
              <a:rPr lang="en-US" sz="1800" dirty="0"/>
              <a:t>Cervical cancer screening</a:t>
            </a:r>
          </a:p>
          <a:p>
            <a:pPr lvl="5"/>
            <a:r>
              <a:rPr lang="en-US" sz="1800" dirty="0"/>
              <a:t>ANC and PNC</a:t>
            </a:r>
          </a:p>
          <a:p>
            <a:r>
              <a:rPr lang="en-US" dirty="0"/>
              <a:t>Telemedicine </a:t>
            </a:r>
          </a:p>
          <a:p>
            <a:r>
              <a:rPr lang="en-US" dirty="0"/>
              <a:t>Non Communicable Disease Control Corner</a:t>
            </a:r>
          </a:p>
          <a:p>
            <a:r>
              <a:rPr lang="en-US" dirty="0"/>
              <a:t>Integrated Management on Child Health (IMCI ) Corner</a:t>
            </a:r>
          </a:p>
          <a:p>
            <a:r>
              <a:rPr lang="en-US" dirty="0"/>
              <a:t>Tuberculosis screening </a:t>
            </a:r>
            <a:r>
              <a:rPr lang="en-US" dirty="0" err="1"/>
              <a:t>programme</a:t>
            </a:r>
            <a:r>
              <a:rPr lang="en-US" dirty="0"/>
              <a:t> ( Screening via Gene expert machine)</a:t>
            </a:r>
          </a:p>
          <a:p>
            <a:r>
              <a:rPr lang="en-US" dirty="0"/>
              <a:t>One Stop Crisis Centre</a:t>
            </a:r>
          </a:p>
          <a:p>
            <a:r>
              <a:rPr lang="en-US" dirty="0"/>
              <a:t>Covid Screening via Rapid antigen test</a:t>
            </a:r>
          </a:p>
          <a:p>
            <a:r>
              <a:rPr lang="en-US" dirty="0"/>
              <a:t>Rabies immunization</a:t>
            </a:r>
          </a:p>
          <a:p>
            <a:pPr lvl="5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7C7961-6D59-5421-22F0-CC520664FD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1155" y="3778339"/>
            <a:ext cx="3397955" cy="25484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F66821D-D3EF-0C98-FA74-5E320738CD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1155" y="609600"/>
            <a:ext cx="2893303" cy="268111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DF8912F-3C8F-4B3A-D7C2-0E44BD2240AC}"/>
              </a:ext>
            </a:extLst>
          </p:cNvPr>
          <p:cNvSpPr txBox="1"/>
          <p:nvPr/>
        </p:nvSpPr>
        <p:spPr>
          <a:xfrm flipH="1">
            <a:off x="9554874" y="4075289"/>
            <a:ext cx="2019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 EXPERT TB SCREENING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7C15AACA-2991-CEC8-9F9F-D785898D979E}"/>
              </a:ext>
            </a:extLst>
          </p:cNvPr>
          <p:cNvSpPr/>
          <p:nvPr/>
        </p:nvSpPr>
        <p:spPr>
          <a:xfrm>
            <a:off x="7809180" y="1950155"/>
            <a:ext cx="962287" cy="2511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725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333B1-3274-47F2-719B-541442215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8622"/>
          </a:xfrm>
        </p:spPr>
        <p:txBody>
          <a:bodyPr>
            <a:normAutofit fontScale="90000"/>
          </a:bodyPr>
          <a:lstStyle/>
          <a:p>
            <a:r>
              <a:rPr lang="en-US" dirty="0"/>
              <a:t> Successful C section at UHC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E57C35-EA38-35F3-D07B-45D10E2B30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844" y="1930400"/>
            <a:ext cx="5113867" cy="41486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50AC64-165D-0C13-8F57-942428C268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533" y="2353732"/>
            <a:ext cx="5232311" cy="32963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33F68F-8ABE-E05E-22B5-D8793DE2B10A}"/>
              </a:ext>
            </a:extLst>
          </p:cNvPr>
          <p:cNvSpPr txBox="1"/>
          <p:nvPr/>
        </p:nvSpPr>
        <p:spPr>
          <a:xfrm>
            <a:off x="6739467" y="801511"/>
            <a:ext cx="375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challenge but we dream</a:t>
            </a:r>
          </a:p>
        </p:txBody>
      </p:sp>
    </p:spTree>
    <p:extLst>
      <p:ext uri="{BB962C8B-B14F-4D97-AF65-F5344CB8AC3E}">
        <p14:creationId xmlns:p14="http://schemas.microsoft.com/office/powerpoint/2010/main" val="1392737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C2466-F9DE-17AA-1688-40D4624C9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12800"/>
          </a:xfrm>
        </p:spPr>
        <p:txBody>
          <a:bodyPr/>
          <a:lstStyle/>
          <a:p>
            <a:r>
              <a:rPr lang="en-US" dirty="0"/>
              <a:t>NVD At UHC (July 21-June 22)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49B44BA-297D-60B0-6374-8A4FD3D8B4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788" y="1516775"/>
            <a:ext cx="9296190" cy="4790080"/>
          </a:xfrm>
        </p:spPr>
      </p:pic>
    </p:spTree>
    <p:extLst>
      <p:ext uri="{BB962C8B-B14F-4D97-AF65-F5344CB8AC3E}">
        <p14:creationId xmlns:p14="http://schemas.microsoft.com/office/powerpoint/2010/main" val="1955696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BD42FDC4-E00F-B713-3513-D9F28E664C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1939557"/>
              </p:ext>
            </p:extLst>
          </p:nvPr>
        </p:nvGraphicFramePr>
        <p:xfrm>
          <a:off x="691376" y="502920"/>
          <a:ext cx="8571475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9505">
                  <a:extLst>
                    <a:ext uri="{9D8B030D-6E8A-4147-A177-3AD203B41FA5}">
                      <a16:colId xmlns:a16="http://schemas.microsoft.com/office/drawing/2014/main" val="3307020604"/>
                    </a:ext>
                  </a:extLst>
                </a:gridCol>
                <a:gridCol w="4331970">
                  <a:extLst>
                    <a:ext uri="{9D8B030D-6E8A-4147-A177-3AD203B41FA5}">
                      <a16:colId xmlns:a16="http://schemas.microsoft.com/office/drawing/2014/main" val="867826877"/>
                    </a:ext>
                  </a:extLst>
                </a:gridCol>
              </a:tblGrid>
              <a:tr h="357466">
                <a:tc>
                  <a:txBody>
                    <a:bodyPr/>
                    <a:lstStyle/>
                    <a:p>
                      <a:r>
                        <a:rPr lang="en-US" dirty="0"/>
                        <a:t>MONTH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 of NVD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369691"/>
                  </a:ext>
                </a:extLst>
              </a:tr>
              <a:tr h="357466">
                <a:tc>
                  <a:txBody>
                    <a:bodyPr/>
                    <a:lstStyle/>
                    <a:p>
                      <a:r>
                        <a:rPr lang="en-US" dirty="0"/>
                        <a:t>July 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5891832"/>
                  </a:ext>
                </a:extLst>
              </a:tr>
              <a:tr h="357466">
                <a:tc>
                  <a:txBody>
                    <a:bodyPr/>
                    <a:lstStyle/>
                    <a:p>
                      <a:r>
                        <a:rPr lang="en-US" dirty="0"/>
                        <a:t>August 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0908001"/>
                  </a:ext>
                </a:extLst>
              </a:tr>
              <a:tr h="357466">
                <a:tc>
                  <a:txBody>
                    <a:bodyPr/>
                    <a:lstStyle/>
                    <a:p>
                      <a:r>
                        <a:rPr lang="en-US" dirty="0"/>
                        <a:t>September 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859861"/>
                  </a:ext>
                </a:extLst>
              </a:tr>
              <a:tr h="357466">
                <a:tc>
                  <a:txBody>
                    <a:bodyPr/>
                    <a:lstStyle/>
                    <a:p>
                      <a:r>
                        <a:rPr lang="en-US" dirty="0"/>
                        <a:t>October 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5084754"/>
                  </a:ext>
                </a:extLst>
              </a:tr>
              <a:tr h="35746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November 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242980"/>
                  </a:ext>
                </a:extLst>
              </a:tr>
              <a:tr h="357466">
                <a:tc>
                  <a:txBody>
                    <a:bodyPr/>
                    <a:lstStyle/>
                    <a:p>
                      <a:r>
                        <a:rPr lang="en-US" dirty="0"/>
                        <a:t>December 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1988470"/>
                  </a:ext>
                </a:extLst>
              </a:tr>
              <a:tr h="357466">
                <a:tc>
                  <a:txBody>
                    <a:bodyPr/>
                    <a:lstStyle/>
                    <a:p>
                      <a:r>
                        <a:rPr lang="en-US" dirty="0"/>
                        <a:t>January 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697323"/>
                  </a:ext>
                </a:extLst>
              </a:tr>
              <a:tr h="357466">
                <a:tc>
                  <a:txBody>
                    <a:bodyPr/>
                    <a:lstStyle/>
                    <a:p>
                      <a:r>
                        <a:rPr lang="en-US" dirty="0"/>
                        <a:t>February 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9280636"/>
                  </a:ext>
                </a:extLst>
              </a:tr>
              <a:tr h="357466">
                <a:tc>
                  <a:txBody>
                    <a:bodyPr/>
                    <a:lstStyle/>
                    <a:p>
                      <a:r>
                        <a:rPr lang="en-US" dirty="0"/>
                        <a:t>March 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973924"/>
                  </a:ext>
                </a:extLst>
              </a:tr>
              <a:tr h="357466">
                <a:tc>
                  <a:txBody>
                    <a:bodyPr/>
                    <a:lstStyle/>
                    <a:p>
                      <a:r>
                        <a:rPr lang="en-US" dirty="0"/>
                        <a:t>April 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893662"/>
                  </a:ext>
                </a:extLst>
              </a:tr>
              <a:tr h="357466">
                <a:tc>
                  <a:txBody>
                    <a:bodyPr/>
                    <a:lstStyle/>
                    <a:p>
                      <a:r>
                        <a:rPr lang="en-US" dirty="0"/>
                        <a:t> May 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635459"/>
                  </a:ext>
                </a:extLst>
              </a:tr>
              <a:tr h="357466">
                <a:tc>
                  <a:txBody>
                    <a:bodyPr/>
                    <a:lstStyle/>
                    <a:p>
                      <a:r>
                        <a:rPr lang="en-US" dirty="0"/>
                        <a:t>June 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971436"/>
                  </a:ext>
                </a:extLst>
              </a:tr>
              <a:tr h="357466">
                <a:tc>
                  <a:txBody>
                    <a:bodyPr/>
                    <a:lstStyle/>
                    <a:p>
                      <a:r>
                        <a:rPr lang="en-US" dirty="0"/>
                        <a:t>July 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0882317"/>
                  </a:ext>
                </a:extLst>
              </a:tr>
              <a:tr h="357466">
                <a:tc>
                  <a:txBody>
                    <a:bodyPr/>
                    <a:lstStyle/>
                    <a:p>
                      <a:r>
                        <a:rPr lang="en-US" dirty="0"/>
                        <a:t>August 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125262"/>
                  </a:ext>
                </a:extLst>
              </a:tr>
              <a:tr h="357466">
                <a:tc>
                  <a:txBody>
                    <a:bodyPr/>
                    <a:lstStyle/>
                    <a:p>
                      <a:r>
                        <a:rPr lang="en-US" dirty="0"/>
                        <a:t>Total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645210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E5BC8B9-AA66-A09B-230F-E1C43EDDCBE4}"/>
              </a:ext>
            </a:extLst>
          </p:cNvPr>
          <p:cNvSpPr txBox="1"/>
          <p:nvPr/>
        </p:nvSpPr>
        <p:spPr>
          <a:xfrm>
            <a:off x="1170878" y="122663"/>
            <a:ext cx="6701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TOTAL NUMBER OF HOSPITAL NVD (JULY 21 to August 22)</a:t>
            </a:r>
          </a:p>
        </p:txBody>
      </p:sp>
    </p:spTree>
    <p:extLst>
      <p:ext uri="{BB962C8B-B14F-4D97-AF65-F5344CB8AC3E}">
        <p14:creationId xmlns:p14="http://schemas.microsoft.com/office/powerpoint/2010/main" val="3430879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6E298-9395-2DDD-7AAD-1B1816219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Covid vaccination at UHC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E56197-791E-3982-8015-8FE2288B2E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614178"/>
            <a:ext cx="8901564" cy="3881437"/>
          </a:xfrm>
        </p:spPr>
      </p:pic>
    </p:spTree>
    <p:extLst>
      <p:ext uri="{BB962C8B-B14F-4D97-AF65-F5344CB8AC3E}">
        <p14:creationId xmlns:p14="http://schemas.microsoft.com/office/powerpoint/2010/main" val="3710317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B15C7-A3A9-EAB3-2832-B7C618587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Bed Occupancy Rate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1DCB42-DC00-2871-DC5E-339266A9E4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576" y="1580725"/>
            <a:ext cx="7883913" cy="3881437"/>
          </a:xfrm>
        </p:spPr>
      </p:pic>
    </p:spTree>
    <p:extLst>
      <p:ext uri="{BB962C8B-B14F-4D97-AF65-F5344CB8AC3E}">
        <p14:creationId xmlns:p14="http://schemas.microsoft.com/office/powerpoint/2010/main" val="3524727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9D702-AFD4-A8E9-9A92-B6939BCE6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80533"/>
          </a:xfrm>
        </p:spPr>
        <p:txBody>
          <a:bodyPr>
            <a:normAutofit/>
          </a:bodyPr>
          <a:lstStyle/>
          <a:p>
            <a:r>
              <a:rPr lang="en-US" dirty="0"/>
              <a:t>Emergency and Outdoor Service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E6E2D5-5185-11CA-F0AD-7A3FB39DF3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028" y="1591876"/>
            <a:ext cx="8865219" cy="3881437"/>
          </a:xfrm>
        </p:spPr>
      </p:pic>
    </p:spTree>
    <p:extLst>
      <p:ext uri="{BB962C8B-B14F-4D97-AF65-F5344CB8AC3E}">
        <p14:creationId xmlns:p14="http://schemas.microsoft.com/office/powerpoint/2010/main" val="1080526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4DECBC-FC3B-B248-D049-688841615D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982" y="1137424"/>
            <a:ext cx="8251901" cy="48396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C794FE-731D-3B25-6073-2A08B1A89152}"/>
              </a:ext>
            </a:extLst>
          </p:cNvPr>
          <p:cNvSpPr txBox="1"/>
          <p:nvPr/>
        </p:nvSpPr>
        <p:spPr>
          <a:xfrm>
            <a:off x="959005" y="228599"/>
            <a:ext cx="79062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Statistics On OUTDOOR, Emergency And Indoor Patients (Jan to August 2022)</a:t>
            </a:r>
          </a:p>
        </p:txBody>
      </p:sp>
    </p:spTree>
    <p:extLst>
      <p:ext uri="{BB962C8B-B14F-4D97-AF65-F5344CB8AC3E}">
        <p14:creationId xmlns:p14="http://schemas.microsoft.com/office/powerpoint/2010/main" val="2391783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7F67F-788D-0D59-A6C0-DAA99C3B6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66044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Upazila</a:t>
            </a:r>
            <a:r>
              <a:rPr lang="en-US" dirty="0"/>
              <a:t> Health Complex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1B974C-B2BF-5B77-2B07-A99E7D319E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57" y="2250898"/>
            <a:ext cx="5175249" cy="388143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A6B528-1C0F-1474-E4CA-0FFFAD0809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663" y="2250898"/>
            <a:ext cx="4572000" cy="3653190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63C2149D-AE3C-784B-2AE0-936A36B64C14}"/>
              </a:ext>
            </a:extLst>
          </p:cNvPr>
          <p:cNvSpPr/>
          <p:nvPr/>
        </p:nvSpPr>
        <p:spPr>
          <a:xfrm>
            <a:off x="5181600" y="3770489"/>
            <a:ext cx="1196622" cy="49671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0D1AF6-1C7E-D7DC-054B-E0F806CEFA4A}"/>
              </a:ext>
            </a:extLst>
          </p:cNvPr>
          <p:cNvSpPr txBox="1"/>
          <p:nvPr/>
        </p:nvSpPr>
        <p:spPr>
          <a:xfrm>
            <a:off x="2223911" y="1736021"/>
            <a:ext cx="2528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A57052-AA2F-5EF6-11FA-00903A4F3E57}"/>
              </a:ext>
            </a:extLst>
          </p:cNvPr>
          <p:cNvSpPr txBox="1"/>
          <p:nvPr/>
        </p:nvSpPr>
        <p:spPr>
          <a:xfrm>
            <a:off x="7224889" y="1736021"/>
            <a:ext cx="2528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 PRESENT</a:t>
            </a:r>
          </a:p>
        </p:txBody>
      </p:sp>
    </p:spTree>
    <p:extLst>
      <p:ext uri="{BB962C8B-B14F-4D97-AF65-F5344CB8AC3E}">
        <p14:creationId xmlns:p14="http://schemas.microsoft.com/office/powerpoint/2010/main" val="788970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53890D-BBDA-A593-F263-34776C1D2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changes at a glance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E8D465F-63DA-005A-5483-EE45258EC1D2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73275"/>
            <a:ext cx="4184650" cy="3781425"/>
          </a:xfr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E3E5C77E-5B51-AC57-4D61-EEE0354A6D70}"/>
              </a:ext>
            </a:extLst>
          </p:cNvPr>
          <p:cNvPicPr>
            <a:picLocks noGrp="1" noChangeAspect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5763" y="2073275"/>
            <a:ext cx="4186237" cy="3798888"/>
          </a:xfr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CC5E5F6-AE1D-22BB-20B6-DA1866B97E57}"/>
              </a:ext>
            </a:extLst>
          </p:cNvPr>
          <p:cNvSpPr txBox="1"/>
          <p:nvPr/>
        </p:nvSpPr>
        <p:spPr>
          <a:xfrm>
            <a:off x="553156" y="1580444"/>
            <a:ext cx="4307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Hospital garden before..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B330D7-2EC0-0CB6-619D-9BE1B67FE8BC}"/>
              </a:ext>
            </a:extLst>
          </p:cNvPr>
          <p:cNvSpPr txBox="1"/>
          <p:nvPr/>
        </p:nvSpPr>
        <p:spPr>
          <a:xfrm>
            <a:off x="5170311" y="1704622"/>
            <a:ext cx="4227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Garden at present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A37CB708-F9BA-740B-21CF-718B43447461}"/>
              </a:ext>
            </a:extLst>
          </p:cNvPr>
          <p:cNvSpPr/>
          <p:nvPr/>
        </p:nvSpPr>
        <p:spPr>
          <a:xfrm>
            <a:off x="4775200" y="3429000"/>
            <a:ext cx="684828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6957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E59F6-A0F0-8BD2-84A2-AC74129C5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512957"/>
            <a:ext cx="8596668" cy="1040780"/>
          </a:xfrm>
        </p:spPr>
        <p:txBody>
          <a:bodyPr/>
          <a:lstStyle/>
          <a:p>
            <a:r>
              <a:rPr lang="en-US" dirty="0"/>
              <a:t>Night View of Health Complex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442855-7AA0-C5BD-2E76-4DD08DBEEF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953" y="1553737"/>
            <a:ext cx="6836569" cy="4371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090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43FB2-3E08-13EF-3B37-DED100A2D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022" y="609600"/>
            <a:ext cx="8686980" cy="474133"/>
          </a:xfrm>
        </p:spPr>
        <p:txBody>
          <a:bodyPr>
            <a:normAutofit fontScale="90000"/>
          </a:bodyPr>
          <a:lstStyle/>
          <a:p>
            <a:r>
              <a:rPr lang="en-US" dirty="0"/>
              <a:t>Changes in Indoor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A5F50-B786-BF10-87BC-963D35F81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744" y="1361610"/>
            <a:ext cx="4185623" cy="576262"/>
          </a:xfrm>
        </p:spPr>
        <p:txBody>
          <a:bodyPr/>
          <a:lstStyle/>
          <a:p>
            <a:r>
              <a:rPr lang="en-US" dirty="0"/>
              <a:t>Indoor before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5CF6BC0-0436-F7EC-C2B0-AD53F8AB6DA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022" y="2215749"/>
            <a:ext cx="4184650" cy="3567005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C15053-D1E2-84A6-A189-0808713EBC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979813" y="1361610"/>
            <a:ext cx="4185618" cy="576262"/>
          </a:xfrm>
        </p:spPr>
        <p:txBody>
          <a:bodyPr/>
          <a:lstStyle/>
          <a:p>
            <a:r>
              <a:rPr lang="en-US" dirty="0"/>
              <a:t>after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E7E7F6A-8941-B0B5-BB36-B3D138F5BF9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5360" y="2215749"/>
            <a:ext cx="4496329" cy="3783172"/>
          </a:xfr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8A945A06-A22A-4557-8DB7-F45ABC78D42B}"/>
              </a:ext>
            </a:extLst>
          </p:cNvPr>
          <p:cNvSpPr/>
          <p:nvPr/>
        </p:nvSpPr>
        <p:spPr>
          <a:xfrm>
            <a:off x="4334933" y="3429000"/>
            <a:ext cx="1106311" cy="4741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243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06C6F-4DAA-C4D5-5E1A-8B552AF24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8925"/>
            <a:ext cx="10515600" cy="1325563"/>
          </a:xfrm>
        </p:spPr>
        <p:txBody>
          <a:bodyPr/>
          <a:lstStyle/>
          <a:p>
            <a:r>
              <a:rPr lang="en-US" dirty="0"/>
              <a:t>Outdoor Room Changes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EC38AA-4542-B9F6-908C-2A130019B9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2070100"/>
            <a:ext cx="4216400" cy="37211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E3FEDF-16AE-4CCF-C253-07097753F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382475" y="1631225"/>
            <a:ext cx="3813099" cy="4690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B96D43-C5FB-6793-F7F5-BDC745585883}"/>
              </a:ext>
            </a:extLst>
          </p:cNvPr>
          <p:cNvSpPr txBox="1"/>
          <p:nvPr/>
        </p:nvSpPr>
        <p:spPr>
          <a:xfrm>
            <a:off x="1839951" y="1538868"/>
            <a:ext cx="1851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D93933-3A18-96AD-513C-CF90389EF4E1}"/>
              </a:ext>
            </a:extLst>
          </p:cNvPr>
          <p:cNvSpPr txBox="1"/>
          <p:nvPr/>
        </p:nvSpPr>
        <p:spPr>
          <a:xfrm>
            <a:off x="7772399" y="1467729"/>
            <a:ext cx="2862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D715B14C-693D-6813-B97A-15AE238722BA}"/>
              </a:ext>
            </a:extLst>
          </p:cNvPr>
          <p:cNvSpPr/>
          <p:nvPr/>
        </p:nvSpPr>
        <p:spPr>
          <a:xfrm>
            <a:off x="4853671" y="2988009"/>
            <a:ext cx="1242329" cy="4409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580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7B82C-7492-0924-1D29-7F9C2BBFF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7646" y="88511"/>
            <a:ext cx="8596668" cy="795454"/>
          </a:xfrm>
        </p:spPr>
        <p:txBody>
          <a:bodyPr/>
          <a:lstStyle/>
          <a:p>
            <a:r>
              <a:rPr lang="en-US" dirty="0"/>
              <a:t>Inner View of Outdoor Rooms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6C64FA-F21F-5DC0-D7E7-C443649F1D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86" y="960862"/>
            <a:ext cx="3330498" cy="24978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3C3F66-7F5F-7CD7-BF2B-CF1A10A710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5767" y="960862"/>
            <a:ext cx="3330497" cy="24978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70A9BF-0463-6700-F697-18175E9C93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4312" y="3474763"/>
            <a:ext cx="3609278" cy="27069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BD08624-4A76-E98B-1036-1D1A7CAD6AB4}"/>
              </a:ext>
            </a:extLst>
          </p:cNvPr>
          <p:cNvSpPr txBox="1"/>
          <p:nvPr/>
        </p:nvSpPr>
        <p:spPr>
          <a:xfrm>
            <a:off x="691376" y="3535632"/>
            <a:ext cx="2096429" cy="378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RMO ROOM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53BE95-B205-66CD-B6C9-B6567B6C1C8E}"/>
              </a:ext>
            </a:extLst>
          </p:cNvPr>
          <p:cNvSpPr txBox="1"/>
          <p:nvPr/>
        </p:nvSpPr>
        <p:spPr>
          <a:xfrm>
            <a:off x="7750098" y="3535632"/>
            <a:ext cx="1873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NCDC CORNER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8F1157-E57A-B7DF-72E9-8F973052BB08}"/>
              </a:ext>
            </a:extLst>
          </p:cNvPr>
          <p:cNvSpPr txBox="1"/>
          <p:nvPr/>
        </p:nvSpPr>
        <p:spPr>
          <a:xfrm>
            <a:off x="3925228" y="6211669"/>
            <a:ext cx="28792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MALE AND FEMALE OUTDOOR ROOM</a:t>
            </a:r>
          </a:p>
        </p:txBody>
      </p:sp>
    </p:spTree>
    <p:extLst>
      <p:ext uri="{BB962C8B-B14F-4D97-AF65-F5344CB8AC3E}">
        <p14:creationId xmlns:p14="http://schemas.microsoft.com/office/powerpoint/2010/main" val="3924514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9D37AF7F-7933-9B5C-F11C-155B5213C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06251"/>
            <a:ext cx="8596668" cy="837265"/>
          </a:xfrm>
        </p:spPr>
        <p:txBody>
          <a:bodyPr>
            <a:normAutofit/>
          </a:bodyPr>
          <a:lstStyle/>
          <a:p>
            <a:r>
              <a:rPr lang="en-US" dirty="0"/>
              <a:t>Changes at UHFPO Office</a:t>
            </a: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04C08ED6-6D28-1950-2DBD-3DBCB213F633}"/>
              </a:ext>
            </a:extLst>
          </p:cNvPr>
          <p:cNvPicPr>
            <a:picLocks noGrp="1" noChangeAspect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9672638" y="3070225"/>
            <a:ext cx="2519362" cy="4291013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59903F-C8BF-535B-1CCF-DF80E2BFC3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45" y="4122696"/>
            <a:ext cx="4478867" cy="251936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49FAC5A-3028-DCFA-DA22-187F797A17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702" y="1314986"/>
            <a:ext cx="4410192" cy="2256435"/>
          </a:xfrm>
          <a:prstGeom prst="rect">
            <a:avLst/>
          </a:prstGeom>
        </p:spPr>
      </p:pic>
      <p:sp>
        <p:nvSpPr>
          <p:cNvPr id="22" name="Arrow: Right 21">
            <a:extLst>
              <a:ext uri="{FF2B5EF4-FFF2-40B4-BE49-F238E27FC236}">
                <a16:creationId xmlns:a16="http://schemas.microsoft.com/office/drawing/2014/main" id="{6DDFBB26-0173-40AC-85D2-41FFC0C1ACF9}"/>
              </a:ext>
            </a:extLst>
          </p:cNvPr>
          <p:cNvSpPr/>
          <p:nvPr/>
        </p:nvSpPr>
        <p:spPr>
          <a:xfrm>
            <a:off x="4773704" y="2133600"/>
            <a:ext cx="690118" cy="5192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3C4C59A5-43A6-B6B1-E23B-10A48D101E6C}"/>
              </a:ext>
            </a:extLst>
          </p:cNvPr>
          <p:cNvSpPr/>
          <p:nvPr/>
        </p:nvSpPr>
        <p:spPr>
          <a:xfrm>
            <a:off x="4436533" y="4955822"/>
            <a:ext cx="1399823" cy="5192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AAC2BC-4284-8523-3429-61EE3D9AB9A7}"/>
              </a:ext>
            </a:extLst>
          </p:cNvPr>
          <p:cNvSpPr txBox="1"/>
          <p:nvPr/>
        </p:nvSpPr>
        <p:spPr>
          <a:xfrm>
            <a:off x="2088887" y="899416"/>
            <a:ext cx="3522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Before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2AA215-BB0C-5E3B-91DA-A7C4F275BFF9}"/>
              </a:ext>
            </a:extLst>
          </p:cNvPr>
          <p:cNvSpPr txBox="1"/>
          <p:nvPr/>
        </p:nvSpPr>
        <p:spPr>
          <a:xfrm>
            <a:off x="6954249" y="853671"/>
            <a:ext cx="3714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After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1D31E5-BA7C-C0A1-52B5-1D8564F699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46" y="1391044"/>
            <a:ext cx="4163508" cy="2266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293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9A673-B9B0-67C2-DAAE-2C3873B77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77333"/>
          </a:xfrm>
        </p:spPr>
        <p:txBody>
          <a:bodyPr>
            <a:normAutofit fontScale="90000"/>
          </a:bodyPr>
          <a:lstStyle/>
          <a:p>
            <a:r>
              <a:rPr lang="en-US" dirty="0"/>
              <a:t>Renovated Doctors Rest Room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536A5C-0769-FE78-FAD4-F0F8892C4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12" y="1941689"/>
            <a:ext cx="9098844" cy="4041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479358"/>
      </p:ext>
    </p:extLst>
  </p:cSld>
  <p:clrMapOvr>
    <a:masterClrMapping/>
  </p:clrMapOvr>
  <p:transition spd="slow">
    <p:randomBar dir="vert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0326B-4674-20BC-1184-A75E6C34C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58044"/>
            <a:ext cx="8596668" cy="564445"/>
          </a:xfrm>
        </p:spPr>
        <p:txBody>
          <a:bodyPr>
            <a:normAutofit fontScale="90000"/>
          </a:bodyPr>
          <a:lstStyle/>
          <a:p>
            <a:r>
              <a:rPr lang="en-US" dirty="0"/>
              <a:t>Ensuring clean sanitation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B83782-93EA-E3B2-5EF6-5EFC6DDD13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089" y="1377244"/>
            <a:ext cx="4763911" cy="50179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17981E-BD6D-B834-7AF6-F3DB7049E3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577416" y="1310828"/>
            <a:ext cx="4871155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951598-ADEA-3FBA-85CE-6E04C9305F1A}"/>
              </a:ext>
            </a:extLst>
          </p:cNvPr>
          <p:cNvSpPr txBox="1"/>
          <p:nvPr/>
        </p:nvSpPr>
        <p:spPr>
          <a:xfrm>
            <a:off x="2032000" y="1008754"/>
            <a:ext cx="3781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71AA21-025A-E74E-21AA-5D6E0E6E7EE7}"/>
              </a:ext>
            </a:extLst>
          </p:cNvPr>
          <p:cNvSpPr txBox="1"/>
          <p:nvPr/>
        </p:nvSpPr>
        <p:spPr>
          <a:xfrm>
            <a:off x="5655733" y="304800"/>
            <a:ext cx="4425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Newly built washroom for patients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3E2BEF-2B6C-65B4-AAB5-DB20DF5B5C93}"/>
              </a:ext>
            </a:extLst>
          </p:cNvPr>
          <p:cNvSpPr txBox="1"/>
          <p:nvPr/>
        </p:nvSpPr>
        <p:spPr>
          <a:xfrm>
            <a:off x="7480303" y="1004711"/>
            <a:ext cx="3194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0D040C2-50D4-4052-755D-3E18DBEB17CD}"/>
              </a:ext>
            </a:extLst>
          </p:cNvPr>
          <p:cNvSpPr/>
          <p:nvPr/>
        </p:nvSpPr>
        <p:spPr>
          <a:xfrm>
            <a:off x="4967111" y="3429000"/>
            <a:ext cx="1027289" cy="533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432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251F3-9AD3-D748-525E-FB415F877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53156"/>
          </a:xfrm>
        </p:spPr>
        <p:txBody>
          <a:bodyPr>
            <a:normAutofit fontScale="90000"/>
          </a:bodyPr>
          <a:lstStyle/>
          <a:p>
            <a:r>
              <a:rPr lang="en-US" dirty="0"/>
              <a:t>Newly built washroom for patients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32F8E4-4474-43B0-FC4C-570D433B84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772355"/>
            <a:ext cx="5136444" cy="45663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7BC82E-95E8-43B8-C7BC-FD364C4CFE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239933" y="1628423"/>
            <a:ext cx="4487334" cy="47751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AE4B2A-CA32-1185-11FB-BFD5DC2C2BD4}"/>
              </a:ext>
            </a:extLst>
          </p:cNvPr>
          <p:cNvSpPr txBox="1"/>
          <p:nvPr/>
        </p:nvSpPr>
        <p:spPr>
          <a:xfrm>
            <a:off x="4975668" y="1222401"/>
            <a:ext cx="3939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INTERNAL VIEW</a:t>
            </a:r>
          </a:p>
        </p:txBody>
      </p:sp>
    </p:spTree>
    <p:extLst>
      <p:ext uri="{BB962C8B-B14F-4D97-AF65-F5344CB8AC3E}">
        <p14:creationId xmlns:p14="http://schemas.microsoft.com/office/powerpoint/2010/main" val="41306613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F41BE-5E0F-347B-4C6D-EA6A0476D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4553" y="252761"/>
            <a:ext cx="8596668" cy="1320800"/>
          </a:xfrm>
        </p:spPr>
        <p:txBody>
          <a:bodyPr/>
          <a:lstStyle/>
          <a:p>
            <a:r>
              <a:rPr lang="en-US" dirty="0"/>
              <a:t>Waste Management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4F7DD9-FD6E-E661-C7F5-F6FB1F010C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127" y="1356267"/>
            <a:ext cx="5527288" cy="41454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B5C6F8-3937-5A15-3250-C323DA476278}"/>
              </a:ext>
            </a:extLst>
          </p:cNvPr>
          <p:cNvSpPr txBox="1"/>
          <p:nvPr/>
        </p:nvSpPr>
        <p:spPr>
          <a:xfrm>
            <a:off x="3681761" y="5754029"/>
            <a:ext cx="4828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COLORED WASTE BIN</a:t>
            </a:r>
          </a:p>
        </p:txBody>
      </p:sp>
    </p:spTree>
    <p:extLst>
      <p:ext uri="{BB962C8B-B14F-4D97-AF65-F5344CB8AC3E}">
        <p14:creationId xmlns:p14="http://schemas.microsoft.com/office/powerpoint/2010/main" val="3782117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228DE-1672-9AD5-3657-FCB475EE0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290" y="237068"/>
            <a:ext cx="8596668" cy="598310"/>
          </a:xfrm>
        </p:spPr>
        <p:txBody>
          <a:bodyPr>
            <a:normAutofit fontScale="90000"/>
          </a:bodyPr>
          <a:lstStyle/>
          <a:p>
            <a:r>
              <a:rPr lang="en-US" dirty="0"/>
              <a:t>One step = One health message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844739-C4DE-6199-1729-B52D71FC56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248" y="1478843"/>
            <a:ext cx="5143500" cy="51420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368F65-7C47-704A-6497-111444136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240" y="1478843"/>
            <a:ext cx="5143500" cy="514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231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A42C3-A571-A647-724D-2FB8CE701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28978"/>
            <a:ext cx="8596668" cy="632178"/>
          </a:xfrm>
        </p:spPr>
        <p:txBody>
          <a:bodyPr>
            <a:normAutofit fontScale="90000"/>
          </a:bodyPr>
          <a:lstStyle/>
          <a:p>
            <a:r>
              <a:rPr lang="en-US" dirty="0"/>
              <a:t>Drug list Display Board (Outdoor And Indoor)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D14041-0E6C-0375-16CA-7D232C9B63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64789" y="1250021"/>
            <a:ext cx="4679244" cy="5143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0095FDC-55BA-3A00-0A1A-E107A04D38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9883" y="1482148"/>
            <a:ext cx="5138142" cy="4543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5507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8CF1A-08CD-5223-8411-8FE03960C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50849"/>
          </a:xfrm>
        </p:spPr>
        <p:txBody>
          <a:bodyPr/>
          <a:lstStyle/>
          <a:p>
            <a:r>
              <a:rPr lang="en-US" dirty="0"/>
              <a:t>Pathology Test Display Board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591DCB-596B-1B56-323A-06EE18DA9E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122" y="1360449"/>
            <a:ext cx="4254674" cy="53210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3A62FA-6C1D-194D-30AB-BBA194F43488}"/>
              </a:ext>
            </a:extLst>
          </p:cNvPr>
          <p:cNvSpPr txBox="1"/>
          <p:nvPr/>
        </p:nvSpPr>
        <p:spPr>
          <a:xfrm>
            <a:off x="6266985" y="2207941"/>
            <a:ext cx="3007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24 type of test are carried out at or pathology Lab</a:t>
            </a:r>
          </a:p>
        </p:txBody>
      </p:sp>
    </p:spTree>
    <p:extLst>
      <p:ext uri="{BB962C8B-B14F-4D97-AF65-F5344CB8AC3E}">
        <p14:creationId xmlns:p14="http://schemas.microsoft.com/office/powerpoint/2010/main" val="27977843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9AAEA-7226-44CC-0173-D0056767C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55" y="795454"/>
            <a:ext cx="8596668" cy="371708"/>
          </a:xfrm>
        </p:spPr>
        <p:txBody>
          <a:bodyPr>
            <a:normAutofit fontScale="90000"/>
          </a:bodyPr>
          <a:lstStyle/>
          <a:p>
            <a:r>
              <a:rPr lang="en-US" dirty="0"/>
              <a:t>CITIZEN CHARTER AND INFORMATION CENTRE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36B039-69A8-7A5C-7411-1477FD860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083" y="1770256"/>
            <a:ext cx="5103541" cy="38276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887D60-5B13-ADB6-D820-23F72F5DD9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70256"/>
            <a:ext cx="48768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8023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880767-71B6-0C86-36D6-3F7BA9323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410" y="456425"/>
            <a:ext cx="3777372" cy="25267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BD4524-7240-A7BF-3236-4F891691FD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334" y="3553365"/>
            <a:ext cx="3711706" cy="27837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B2192B-5187-664A-F2FC-E5FC78B97731}"/>
              </a:ext>
            </a:extLst>
          </p:cNvPr>
          <p:cNvSpPr txBox="1"/>
          <p:nvPr/>
        </p:nvSpPr>
        <p:spPr>
          <a:xfrm>
            <a:off x="5319132" y="925551"/>
            <a:ext cx="43126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deeply condemn any violence</a:t>
            </a:r>
          </a:p>
          <a:p>
            <a:r>
              <a:rPr lang="en-US" dirty="0"/>
              <a:t>One stop crisis cell helps women suffering from any violence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E16347-8C9A-BB63-8A18-26BDDC50630C}"/>
              </a:ext>
            </a:extLst>
          </p:cNvPr>
          <p:cNvSpPr txBox="1"/>
          <p:nvPr/>
        </p:nvSpPr>
        <p:spPr>
          <a:xfrm>
            <a:off x="5664820" y="4114800"/>
            <a:ext cx="37117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Display board showing number of indoor patients .Which helps to provide information to people taking hospital treatment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0582C3D-8297-CCAE-36BF-46135FFCBB7B}"/>
              </a:ext>
            </a:extLst>
          </p:cNvPr>
          <p:cNvSpPr/>
          <p:nvPr/>
        </p:nvSpPr>
        <p:spPr>
          <a:xfrm>
            <a:off x="4137102" y="1393902"/>
            <a:ext cx="1282391" cy="4549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D3C8C99-2D2C-7DC3-E7F9-F3A818E3B5FF}"/>
              </a:ext>
            </a:extLst>
          </p:cNvPr>
          <p:cNvSpPr/>
          <p:nvPr/>
        </p:nvSpPr>
        <p:spPr>
          <a:xfrm>
            <a:off x="4232713" y="4414881"/>
            <a:ext cx="1186780" cy="600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0858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142E85-C2F0-9E78-42D6-519F33A6C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76" y="1817154"/>
            <a:ext cx="2162477" cy="20862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1577B6-184F-E145-F23F-01C11E80B6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236" y="1817154"/>
            <a:ext cx="1476581" cy="895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EC5C9F-BDA6-F224-CA52-D849290E79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4556" y="2202970"/>
            <a:ext cx="2076740" cy="10193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614F6F9-A40F-BDE1-C2CC-5EF8876324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236" y="2986025"/>
            <a:ext cx="1533739" cy="8859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2CA63BC-F0CD-6825-8D24-47833E2320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240541" y="2579778"/>
            <a:ext cx="1918010" cy="51435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A4ED9EE-B6F4-3A0A-3C66-6B27F72E580B}"/>
              </a:ext>
            </a:extLst>
          </p:cNvPr>
          <p:cNvSpPr txBox="1"/>
          <p:nvPr/>
        </p:nvSpPr>
        <p:spPr>
          <a:xfrm>
            <a:off x="2627796" y="477042"/>
            <a:ext cx="53860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Nameplate For easy Identification</a:t>
            </a:r>
          </a:p>
        </p:txBody>
      </p:sp>
    </p:spTree>
    <p:extLst>
      <p:ext uri="{BB962C8B-B14F-4D97-AF65-F5344CB8AC3E}">
        <p14:creationId xmlns:p14="http://schemas.microsoft.com/office/powerpoint/2010/main" val="41782919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25CBE-63A7-2DF6-5EFE-358F6C32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8301" y="197005"/>
            <a:ext cx="6519651" cy="840059"/>
          </a:xfrm>
        </p:spPr>
        <p:txBody>
          <a:bodyPr/>
          <a:lstStyle/>
          <a:p>
            <a:r>
              <a:rPr lang="en-US" dirty="0"/>
              <a:t>Ensuring Good Governance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A6AE08-D399-D081-AEA0-9401DBA15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00254" y="1007792"/>
            <a:ext cx="4259766" cy="5143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BEF7B9-A6A6-8C0E-4964-3CBBE30E6F23}"/>
              </a:ext>
            </a:extLst>
          </p:cNvPr>
          <p:cNvSpPr txBox="1"/>
          <p:nvPr/>
        </p:nvSpPr>
        <p:spPr>
          <a:xfrm>
            <a:off x="6991815" y="2096429"/>
            <a:ext cx="29439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Biometric Attendance Machine</a:t>
            </a:r>
          </a:p>
          <a:p>
            <a:r>
              <a:rPr lang="en-US" dirty="0"/>
              <a:t>-Every day the data is updated</a:t>
            </a:r>
          </a:p>
          <a:p>
            <a:r>
              <a:rPr lang="en-US" dirty="0"/>
              <a:t>-Necessary to overview and ensure accountability</a:t>
            </a:r>
          </a:p>
        </p:txBody>
      </p:sp>
    </p:spTree>
    <p:extLst>
      <p:ext uri="{BB962C8B-B14F-4D97-AF65-F5344CB8AC3E}">
        <p14:creationId xmlns:p14="http://schemas.microsoft.com/office/powerpoint/2010/main" val="1415468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EFAAA-5DC9-0F90-F76D-ACE629545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Ensuring Proper Communication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4B7A97-61E6-9B83-C7C0-B3202B3309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699" y="2587083"/>
            <a:ext cx="5077045" cy="23405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12326B-887E-A864-58AD-07046A746889}"/>
              </a:ext>
            </a:extLst>
          </p:cNvPr>
          <p:cNvSpPr txBox="1"/>
          <p:nvPr/>
        </p:nvSpPr>
        <p:spPr>
          <a:xfrm>
            <a:off x="5988205" y="2308302"/>
            <a:ext cx="39698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ensuring proper communication between health work force UHC </a:t>
            </a:r>
            <a:r>
              <a:rPr lang="en-US" dirty="0" err="1"/>
              <a:t>Ramgati</a:t>
            </a:r>
            <a:r>
              <a:rPr lang="en-US" dirty="0"/>
              <a:t> has own intercom system.</a:t>
            </a:r>
          </a:p>
        </p:txBody>
      </p:sp>
    </p:spTree>
    <p:extLst>
      <p:ext uri="{BB962C8B-B14F-4D97-AF65-F5344CB8AC3E}">
        <p14:creationId xmlns:p14="http://schemas.microsoft.com/office/powerpoint/2010/main" val="31012067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A371F-2FBD-1D5B-0A90-91A29E90B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Maintaining Hospital Security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A69708-95C0-9CED-263F-D4709B900C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190" y="2012795"/>
            <a:ext cx="5270810" cy="39531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4B28CD-A90D-7A7E-74EA-F3A02437FC67}"/>
              </a:ext>
            </a:extLst>
          </p:cNvPr>
          <p:cNvSpPr txBox="1"/>
          <p:nvPr/>
        </p:nvSpPr>
        <p:spPr>
          <a:xfrm>
            <a:off x="6902605" y="2631688"/>
            <a:ext cx="2843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CCTV camera is installed in the hospital premises</a:t>
            </a:r>
          </a:p>
        </p:txBody>
      </p:sp>
    </p:spTree>
    <p:extLst>
      <p:ext uri="{BB962C8B-B14F-4D97-AF65-F5344CB8AC3E}">
        <p14:creationId xmlns:p14="http://schemas.microsoft.com/office/powerpoint/2010/main" val="21901082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E3A39-F060-1FEC-D018-32E8E140F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32178"/>
          </a:xfrm>
        </p:spPr>
        <p:txBody>
          <a:bodyPr>
            <a:normAutofit fontScale="90000"/>
          </a:bodyPr>
          <a:lstStyle/>
          <a:p>
            <a:r>
              <a:rPr lang="en-US" dirty="0"/>
              <a:t>A tribute to Father of the Nation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FEC2B6-AE84-07CB-4D07-C8125EA52C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1" y="1343375"/>
            <a:ext cx="9144000" cy="45099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3A4D03-A411-2B1D-87B6-D3EF497586F3}"/>
              </a:ext>
            </a:extLst>
          </p:cNvPr>
          <p:cNvSpPr txBox="1"/>
          <p:nvPr/>
        </p:nvSpPr>
        <p:spPr>
          <a:xfrm>
            <a:off x="3646311" y="6254044"/>
            <a:ext cx="3894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BANGABANDHU CORNER</a:t>
            </a:r>
          </a:p>
        </p:txBody>
      </p:sp>
    </p:spTree>
    <p:extLst>
      <p:ext uri="{BB962C8B-B14F-4D97-AF65-F5344CB8AC3E}">
        <p14:creationId xmlns:p14="http://schemas.microsoft.com/office/powerpoint/2010/main" val="38045622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E2A3A3-24F5-9BC5-6231-9A0C1BC462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80824"/>
            <a:ext cx="5069734" cy="25846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A67217-8D9B-3B2F-624D-A13209A5ED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48354"/>
            <a:ext cx="5715000" cy="26894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85C237-C093-4156-BB94-D35362BFD3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45" y="3429000"/>
            <a:ext cx="5715000" cy="30481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4ADC76-CF6D-93DA-FE53-B44713E60C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9317" y="3641199"/>
            <a:ext cx="4556810" cy="313777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3B9E26E-42C8-6E7F-7FCD-3746365C4CDE}"/>
              </a:ext>
            </a:extLst>
          </p:cNvPr>
          <p:cNvSpPr txBox="1"/>
          <p:nvPr/>
        </p:nvSpPr>
        <p:spPr>
          <a:xfrm>
            <a:off x="970844" y="79022"/>
            <a:ext cx="4188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MONTHLY MEETING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4DC515-531D-98A1-BAD0-5DB93F6209FA}"/>
              </a:ext>
            </a:extLst>
          </p:cNvPr>
          <p:cNvSpPr txBox="1"/>
          <p:nvPr/>
        </p:nvSpPr>
        <p:spPr>
          <a:xfrm>
            <a:off x="6741266" y="79022"/>
            <a:ext cx="3689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APA AGREEMENT AT CS OFFICE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95AEC3-8062-F02C-6F61-E94173AB7E87}"/>
              </a:ext>
            </a:extLst>
          </p:cNvPr>
          <p:cNvSpPr txBox="1"/>
          <p:nvPr/>
        </p:nvSpPr>
        <p:spPr>
          <a:xfrm>
            <a:off x="722489" y="3048000"/>
            <a:ext cx="4436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NATIONAL VIT A PLUS CAMPAIGN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959F18-6063-6C51-CAF1-025498906E54}"/>
              </a:ext>
            </a:extLst>
          </p:cNvPr>
          <p:cNvSpPr txBox="1"/>
          <p:nvPr/>
        </p:nvSpPr>
        <p:spPr>
          <a:xfrm>
            <a:off x="7021689" y="3216801"/>
            <a:ext cx="3567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 AUGUST PROGRAMME</a:t>
            </a:r>
          </a:p>
        </p:txBody>
      </p:sp>
    </p:spTree>
    <p:extLst>
      <p:ext uri="{BB962C8B-B14F-4D97-AF65-F5344CB8AC3E}">
        <p14:creationId xmlns:p14="http://schemas.microsoft.com/office/powerpoint/2010/main" val="5790694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78B0ED-64AD-7703-07FE-92FB660FE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15" y="192088"/>
            <a:ext cx="3712985" cy="29857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4D5206-6876-950E-D2B0-05F997A0BB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2089" y="192088"/>
            <a:ext cx="3927376" cy="28220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942026-8FAD-7427-7BF4-92798B2865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147" y="3429000"/>
            <a:ext cx="3069520" cy="30873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1C9EC74-4A9E-59BE-1AAA-910092771833}"/>
              </a:ext>
            </a:extLst>
          </p:cNvPr>
          <p:cNvSpPr txBox="1"/>
          <p:nvPr/>
        </p:nvSpPr>
        <p:spPr>
          <a:xfrm>
            <a:off x="1411640" y="192173"/>
            <a:ext cx="2404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COMPLAIN BOX FOR SUGESTION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ABF060-4A14-4B45-B550-C2FD83F353DD}"/>
              </a:ext>
            </a:extLst>
          </p:cNvPr>
          <p:cNvSpPr txBox="1"/>
          <p:nvPr/>
        </p:nvSpPr>
        <p:spPr>
          <a:xfrm>
            <a:off x="9256889" y="1230489"/>
            <a:ext cx="22577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RABIES IMMUNIZATION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E82ED4-77B4-E063-4F92-0E58C47CBCBD}"/>
              </a:ext>
            </a:extLst>
          </p:cNvPr>
          <p:cNvSpPr txBox="1"/>
          <p:nvPr/>
        </p:nvSpPr>
        <p:spPr>
          <a:xfrm>
            <a:off x="9440216" y="3755999"/>
            <a:ext cx="1862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Digital Display 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22DE82-03C9-6EA9-F6C3-2D3066ED94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263" y="3177821"/>
            <a:ext cx="4039220" cy="3177821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48471021-AF6B-B982-695D-8D6DA5F27B52}"/>
              </a:ext>
            </a:extLst>
          </p:cNvPr>
          <p:cNvSpPr/>
          <p:nvPr/>
        </p:nvSpPr>
        <p:spPr>
          <a:xfrm>
            <a:off x="8820615" y="1460810"/>
            <a:ext cx="436274" cy="3122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AD2E22C-8E4E-DF44-7EA6-F2DB2376355F}"/>
              </a:ext>
            </a:extLst>
          </p:cNvPr>
          <p:cNvSpPr/>
          <p:nvPr/>
        </p:nvSpPr>
        <p:spPr>
          <a:xfrm>
            <a:off x="8761733" y="4011076"/>
            <a:ext cx="554037" cy="3122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3545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35FAB0-7B60-33B3-47C4-476C1888D6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82391"/>
            <a:ext cx="3661318" cy="45601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74C413-1E2A-A00B-FAA7-B4010A91A11C}"/>
              </a:ext>
            </a:extLst>
          </p:cNvPr>
          <p:cNvSpPr txBox="1"/>
          <p:nvPr/>
        </p:nvSpPr>
        <p:spPr>
          <a:xfrm>
            <a:off x="4360127" y="312901"/>
            <a:ext cx="6701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CONFERENCE ROOM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F88EF5-B35A-40C4-6377-D3CE36BA3E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746" y="1282391"/>
            <a:ext cx="3661319" cy="49381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12EBDB-BE1A-4583-C6F6-42418FFEDCAD}"/>
              </a:ext>
            </a:extLst>
          </p:cNvPr>
          <p:cNvSpPr txBox="1"/>
          <p:nvPr/>
        </p:nvSpPr>
        <p:spPr>
          <a:xfrm>
            <a:off x="1750741" y="936702"/>
            <a:ext cx="2230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B969D9-BB8D-EDB7-174B-CF98E8377F28}"/>
              </a:ext>
            </a:extLst>
          </p:cNvPr>
          <p:cNvSpPr txBox="1"/>
          <p:nvPr/>
        </p:nvSpPr>
        <p:spPr>
          <a:xfrm>
            <a:off x="6713034" y="902574"/>
            <a:ext cx="2776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82E69634-7BFE-629F-A87F-6784BCBFAC5C}"/>
              </a:ext>
            </a:extLst>
          </p:cNvPr>
          <p:cNvSpPr/>
          <p:nvPr/>
        </p:nvSpPr>
        <p:spPr>
          <a:xfrm>
            <a:off x="4237463" y="2977376"/>
            <a:ext cx="1984917" cy="6133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4659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05FB08-7355-EBA7-65BF-A838CBCCCE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013367"/>
            <a:ext cx="2784458" cy="18636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1B73C4-69CE-BD42-60C6-77BA625673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8915" y="3646762"/>
            <a:ext cx="2930495" cy="2197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FBA1DA-775C-DA71-756B-FFBDFA3526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564" y="1013367"/>
            <a:ext cx="3527228" cy="19840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2E8BF4-F538-1573-197B-080A51C6C9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73874" y="3754756"/>
            <a:ext cx="2930495" cy="21978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AF7043-FA2D-5DD0-D766-53C9F81E1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810" y="152400"/>
            <a:ext cx="8596668" cy="1320800"/>
          </a:xfrm>
        </p:spPr>
        <p:txBody>
          <a:bodyPr/>
          <a:lstStyle/>
          <a:p>
            <a:r>
              <a:rPr lang="en-US" dirty="0"/>
              <a:t>Training For Health Workers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C56BC6-5C47-BA9C-C3F2-C4B6A3DD06E6}"/>
              </a:ext>
            </a:extLst>
          </p:cNvPr>
          <p:cNvSpPr txBox="1"/>
          <p:nvPr/>
        </p:nvSpPr>
        <p:spPr>
          <a:xfrm>
            <a:off x="4599877" y="1945191"/>
            <a:ext cx="13790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Capacity</a:t>
            </a:r>
          </a:p>
          <a:p>
            <a:r>
              <a:rPr lang="en-US" dirty="0"/>
              <a:t>Building </a:t>
            </a:r>
          </a:p>
          <a:p>
            <a:r>
              <a:rPr lang="en-US" dirty="0"/>
              <a:t>Training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F02A2B-8C30-C521-CB3F-B155D5CF9DA5}"/>
              </a:ext>
            </a:extLst>
          </p:cNvPr>
          <p:cNvSpPr txBox="1"/>
          <p:nvPr/>
        </p:nvSpPr>
        <p:spPr>
          <a:xfrm>
            <a:off x="4482792" y="4438185"/>
            <a:ext cx="1379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SB3 Training</a:t>
            </a:r>
          </a:p>
        </p:txBody>
      </p:sp>
    </p:spTree>
    <p:extLst>
      <p:ext uri="{BB962C8B-B14F-4D97-AF65-F5344CB8AC3E}">
        <p14:creationId xmlns:p14="http://schemas.microsoft.com/office/powerpoint/2010/main" val="26003503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AE390-4427-22BA-0881-601364EC9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4507" y="284975"/>
            <a:ext cx="8314997" cy="561278"/>
          </a:xfrm>
        </p:spPr>
        <p:txBody>
          <a:bodyPr>
            <a:normAutofit fontScale="90000"/>
          </a:bodyPr>
          <a:lstStyle/>
          <a:p>
            <a:r>
              <a:rPr lang="en-US" dirty="0"/>
              <a:t>TEAM RAMGATI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3D0F8D-E87B-AB22-52A7-D6521D8975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688" y="2142273"/>
            <a:ext cx="5159298" cy="38694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0FD5BC-6010-9FE3-0A23-0D291AF2C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035" y="2142273"/>
            <a:ext cx="5025483" cy="37691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8D1A5B-F80B-7FD6-3E4D-2CC973A41747}"/>
              </a:ext>
            </a:extLst>
          </p:cNvPr>
          <p:cNvSpPr txBox="1"/>
          <p:nvPr/>
        </p:nvSpPr>
        <p:spPr>
          <a:xfrm>
            <a:off x="3367668" y="901958"/>
            <a:ext cx="7248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UNITED WE STAND ,DIVIDE WE FALL</a:t>
            </a:r>
          </a:p>
        </p:txBody>
      </p:sp>
    </p:spTree>
    <p:extLst>
      <p:ext uri="{BB962C8B-B14F-4D97-AF65-F5344CB8AC3E}">
        <p14:creationId xmlns:p14="http://schemas.microsoft.com/office/powerpoint/2010/main" val="24762490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A42947-1897-B2EB-2168-DDA88818B4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378" y="242039"/>
            <a:ext cx="9144000" cy="5892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EF51B6-6BAA-AD97-85E0-7C275B8584D3}"/>
              </a:ext>
            </a:extLst>
          </p:cNvPr>
          <p:cNvSpPr txBox="1"/>
          <p:nvPr/>
        </p:nvSpPr>
        <p:spPr>
          <a:xfrm>
            <a:off x="3906368" y="880137"/>
            <a:ext cx="59266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56653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609</TotalTime>
  <Words>581</Words>
  <Application>Microsoft Office PowerPoint</Application>
  <PresentationFormat>Widescreen</PresentationFormat>
  <Paragraphs>167</Paragraphs>
  <Slides>41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Aparajita</vt:lpstr>
      <vt:lpstr>Arial</vt:lpstr>
      <vt:lpstr>Calibri</vt:lpstr>
      <vt:lpstr>Calibri Light</vt:lpstr>
      <vt:lpstr>Wingdings 3</vt:lpstr>
      <vt:lpstr>Office Theme</vt:lpstr>
      <vt:lpstr>Upazila Health Complex </vt:lpstr>
      <vt:lpstr>PowerPoint Presentation</vt:lpstr>
      <vt:lpstr>Health workforce of Ramgati upazila Health complex</vt:lpstr>
      <vt:lpstr>Health institutions </vt:lpstr>
      <vt:lpstr>OUR AIM AND VISION</vt:lpstr>
      <vt:lpstr>Our services at a glance</vt:lpstr>
      <vt:lpstr>continued</vt:lpstr>
      <vt:lpstr> Successful C section at UHC</vt:lpstr>
      <vt:lpstr>NVD At UHC (July 21-June 22)</vt:lpstr>
      <vt:lpstr>PowerPoint Presentation</vt:lpstr>
      <vt:lpstr>Covid vaccination at UHC</vt:lpstr>
      <vt:lpstr>Bed Occupancy Rate </vt:lpstr>
      <vt:lpstr>Emergency and Outdoor Service</vt:lpstr>
      <vt:lpstr>PowerPoint Presentation</vt:lpstr>
      <vt:lpstr>Upazila Health Complex</vt:lpstr>
      <vt:lpstr>Some changes at a glance</vt:lpstr>
      <vt:lpstr>Night View of Health Complex</vt:lpstr>
      <vt:lpstr>Changes in Indoor</vt:lpstr>
      <vt:lpstr>Outdoor Room Changes</vt:lpstr>
      <vt:lpstr>Inner View of Outdoor Rooms</vt:lpstr>
      <vt:lpstr>Changes at UHFPO Office</vt:lpstr>
      <vt:lpstr>Renovated Doctors Rest Room</vt:lpstr>
      <vt:lpstr>Ensuring clean sanitation</vt:lpstr>
      <vt:lpstr>Newly built washroom for patients</vt:lpstr>
      <vt:lpstr>Waste Management</vt:lpstr>
      <vt:lpstr>One step = One health message</vt:lpstr>
      <vt:lpstr>Drug list Display Board (Outdoor And Indoor)</vt:lpstr>
      <vt:lpstr>Pathology Test Display Board </vt:lpstr>
      <vt:lpstr>CITIZEN CHARTER AND INFORMATION CENTRE</vt:lpstr>
      <vt:lpstr>PowerPoint Presentation</vt:lpstr>
      <vt:lpstr>PowerPoint Presentation</vt:lpstr>
      <vt:lpstr>Ensuring Good Governance</vt:lpstr>
      <vt:lpstr>Ensuring Proper Communication</vt:lpstr>
      <vt:lpstr>Maintaining Hospital Security</vt:lpstr>
      <vt:lpstr>A tribute to Father of the Nation</vt:lpstr>
      <vt:lpstr>PowerPoint Presentation</vt:lpstr>
      <vt:lpstr>PowerPoint Presentation</vt:lpstr>
      <vt:lpstr>PowerPoint Presentation</vt:lpstr>
      <vt:lpstr>Training For Health Workers</vt:lpstr>
      <vt:lpstr>TEAM RAMGATI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</dc:title>
  <dc:creator>PWD</dc:creator>
  <cp:lastModifiedBy>Dell</cp:lastModifiedBy>
  <cp:revision>60</cp:revision>
  <dcterms:created xsi:type="dcterms:W3CDTF">2022-09-08T16:19:03Z</dcterms:created>
  <dcterms:modified xsi:type="dcterms:W3CDTF">2022-09-22T05:23:59Z</dcterms:modified>
</cp:coreProperties>
</file>