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39"/>
  </p:notesMasterIdLst>
  <p:sldIdLst>
    <p:sldId id="332" r:id="rId2"/>
    <p:sldId id="376" r:id="rId3"/>
    <p:sldId id="401" r:id="rId4"/>
    <p:sldId id="402" r:id="rId5"/>
    <p:sldId id="403" r:id="rId6"/>
    <p:sldId id="309" r:id="rId7"/>
    <p:sldId id="326" r:id="rId8"/>
    <p:sldId id="327" r:id="rId9"/>
    <p:sldId id="337" r:id="rId10"/>
    <p:sldId id="433" r:id="rId11"/>
    <p:sldId id="439" r:id="rId12"/>
    <p:sldId id="427" r:id="rId13"/>
    <p:sldId id="426" r:id="rId14"/>
    <p:sldId id="429" r:id="rId15"/>
    <p:sldId id="430" r:id="rId16"/>
    <p:sldId id="431" r:id="rId17"/>
    <p:sldId id="428" r:id="rId18"/>
    <p:sldId id="432" r:id="rId19"/>
    <p:sldId id="434" r:id="rId20"/>
    <p:sldId id="435" r:id="rId21"/>
    <p:sldId id="436" r:id="rId22"/>
    <p:sldId id="437" r:id="rId23"/>
    <p:sldId id="444" r:id="rId24"/>
    <p:sldId id="438" r:id="rId25"/>
    <p:sldId id="417" r:id="rId26"/>
    <p:sldId id="412" r:id="rId27"/>
    <p:sldId id="441" r:id="rId28"/>
    <p:sldId id="415" r:id="rId29"/>
    <p:sldId id="421" r:id="rId30"/>
    <p:sldId id="440" r:id="rId31"/>
    <p:sldId id="348" r:id="rId32"/>
    <p:sldId id="443" r:id="rId33"/>
    <p:sldId id="449" r:id="rId34"/>
    <p:sldId id="450" r:id="rId35"/>
    <p:sldId id="446" r:id="rId36"/>
    <p:sldId id="447" r:id="rId37"/>
    <p:sldId id="445" r:id="rId38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029" autoAdjust="0"/>
    <p:restoredTop sz="96248" autoAdjust="0"/>
  </p:normalViewPr>
  <p:slideViewPr>
    <p:cSldViewPr>
      <p:cViewPr varScale="1">
        <p:scale>
          <a:sx n="64" d="100"/>
          <a:sy n="64" d="100"/>
        </p:scale>
        <p:origin x="171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1.1479999999999997</c:v>
                </c:pt>
                <c:pt idx="1">
                  <c:v>1.008</c:v>
                </c:pt>
                <c:pt idx="2">
                  <c:v>1.0109999999999997</c:v>
                </c:pt>
                <c:pt idx="3">
                  <c:v>0.97199999999999998</c:v>
                </c:pt>
                <c:pt idx="4">
                  <c:v>1.1459999999999997</c:v>
                </c:pt>
                <c:pt idx="5">
                  <c:v>1.08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F0-4EC3-8B7B-D897AC0875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9329664"/>
        <c:axId val="159339648"/>
      </c:barChart>
      <c:catAx>
        <c:axId val="1593296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59339648"/>
        <c:crosses val="autoZero"/>
        <c:auto val="1"/>
        <c:lblAlgn val="ctr"/>
        <c:lblOffset val="100"/>
        <c:noMultiLvlLbl val="0"/>
      </c:catAx>
      <c:valAx>
        <c:axId val="159339648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1593296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141903990973091"/>
          <c:y val="4.4409667541557334E-2"/>
          <c:w val="0.6583428998945231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 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67965</c:v>
                </c:pt>
                <c:pt idx="1">
                  <c:v>59094</c:v>
                </c:pt>
                <c:pt idx="2">
                  <c:v>81101</c:v>
                </c:pt>
                <c:pt idx="3">
                  <c:v>72470</c:v>
                </c:pt>
                <c:pt idx="4">
                  <c:v>87774</c:v>
                </c:pt>
                <c:pt idx="5">
                  <c:v>67556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EC-45CC-8C31-9F6FA09327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-1.557632398753894E-3"/>
                  <c:y val="-5.277777777777788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4C10-4437-A8B1-1261B7E0F717}"/>
                </c:ext>
              </c:extLst>
            </c:dLbl>
            <c:dLbl>
              <c:idx val="1"/>
              <c:layout>
                <c:manualLayout>
                  <c:x val="-2.8556264092755124E-17"/>
                  <c:y val="-8.333333333333344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C10-4437-A8B1-1261B7E0F717}"/>
                </c:ext>
              </c:extLst>
            </c:dLbl>
            <c:dLbl>
              <c:idx val="2"/>
              <c:layout>
                <c:manualLayout>
                  <c:x val="-6.2305295950156334E-3"/>
                  <c:y val="-7.222222222222232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C10-4437-A8B1-1261B7E0F717}"/>
                </c:ext>
              </c:extLst>
            </c:dLbl>
            <c:dLbl>
              <c:idx val="3"/>
              <c:layout>
                <c:manualLayout>
                  <c:x val="-1.8691588785046728E-2"/>
                  <c:y val="-8.33333333333334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no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99376947040492E-2"/>
                      <c:h val="8.048622047244094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C10-4437-A8B1-1261B7E0F717}"/>
                </c:ext>
              </c:extLst>
            </c:dLbl>
            <c:dLbl>
              <c:idx val="4"/>
              <c:layout>
                <c:manualLayout>
                  <c:x val="-2.0249221183800622E-2"/>
                  <c:y val="-6.111111111111121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C10-4437-A8B1-1261B7E0F717}"/>
                </c:ext>
              </c:extLst>
            </c:dLbl>
            <c:dLbl>
              <c:idx val="5"/>
              <c:layout>
                <c:manualLayout>
                  <c:x val="-9.3457943925233638E-3"/>
                  <c:y val="-6.6666666666666666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C10-4437-A8B1-1261B7E0F71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  <c:pt idx="0">
                  <c:v>6718</c:v>
                </c:pt>
                <c:pt idx="1">
                  <c:v>7099</c:v>
                </c:pt>
                <c:pt idx="2">
                  <c:v>8531</c:v>
                </c:pt>
                <c:pt idx="3">
                  <c:v>6338</c:v>
                </c:pt>
                <c:pt idx="4">
                  <c:v>7652</c:v>
                </c:pt>
                <c:pt idx="5">
                  <c:v>5275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2EC-45CC-8C31-9F6FA09327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Emergency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2017</c:v>
                </c:pt>
                <c:pt idx="1">
                  <c:v>2018</c:v>
                </c:pt>
                <c:pt idx="2">
                  <c:v>2019</c:v>
                </c:pt>
                <c:pt idx="3">
                  <c:v>2020</c:v>
                </c:pt>
                <c:pt idx="4">
                  <c:v>2021</c:v>
                </c:pt>
                <c:pt idx="5">
                  <c:v>2022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  <c:pt idx="0">
                  <c:v>2506</c:v>
                </c:pt>
                <c:pt idx="1">
                  <c:v>3743</c:v>
                </c:pt>
                <c:pt idx="2">
                  <c:v>4099</c:v>
                </c:pt>
                <c:pt idx="3">
                  <c:v>4081</c:v>
                </c:pt>
                <c:pt idx="4">
                  <c:v>5921</c:v>
                </c:pt>
                <c:pt idx="5">
                  <c:v>4028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E3-4EF3-AFFF-6058E285CA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63944704"/>
        <c:axId val="163954688"/>
      </c:barChart>
      <c:catAx>
        <c:axId val="1639447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3954688"/>
        <c:crosses val="autoZero"/>
        <c:auto val="1"/>
        <c:lblAlgn val="ctr"/>
        <c:lblOffset val="100"/>
        <c:noMultiLvlLbl val="0"/>
      </c:catAx>
      <c:valAx>
        <c:axId val="163954688"/>
        <c:scaling>
          <c:orientation val="minMax"/>
        </c:scaling>
        <c:delete val="1"/>
        <c:axPos val="l"/>
        <c:majorGridlines/>
        <c:numFmt formatCode="General" sourceLinked="1"/>
        <c:majorTickMark val="out"/>
        <c:minorTickMark val="none"/>
        <c:tickLblPos val="nextTo"/>
        <c:crossAx val="16394470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64"/>
          <c:y val="0.42290223097112861"/>
          <c:w val="0.16755059239090442"/>
          <c:h val="0.2312933070866141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9/22/2022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E1CFFC81-D30A-48BE-844E-591ABC2E2AC9}" type="slidenum">
              <a:rPr lang="en-US" smtClean="0">
                <a:solidFill>
                  <a:srgbClr val="000000"/>
                </a:solidFill>
              </a:rPr>
              <a:pPr/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F6B1B4C-4C59-4A03-B638-CFBAD9815A28}" type="slidenum">
              <a:rPr lang="en-US">
                <a:solidFill>
                  <a:prstClr val="black"/>
                </a:solidFill>
              </a:rPr>
              <a:pPr eaLnBrk="1" hangingPunct="1"/>
              <a:t>3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323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57066" indent="-291179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64717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30604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96491" indent="-232943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62377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3028264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94151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960038" indent="-23294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fld id="{D368612D-96C9-46AB-852D-A011AE381F4F}" type="slidenum">
              <a:rPr lang="en-US">
                <a:solidFill>
                  <a:prstClr val="black"/>
                </a:solidFill>
              </a:rPr>
              <a:pPr eaLnBrk="1" hangingPunct="1"/>
              <a:t>4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2688" y="696913"/>
            <a:ext cx="4645025" cy="3484562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2664" y="4415790"/>
            <a:ext cx="5605074" cy="418338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357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E1B3019F-5BA1-41E7-AF51-142D8FD0DD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091965-B0C9-4A35-945D-E643E804FE38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CDC19C7-0E6A-4DD2-83B5-D89E4186E1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0C15B1F-55B7-4F2F-8316-A64215E64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E96EEC61-29BA-4FA5-AC3F-CCFC8F9FC9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0CE0D24-27B3-4CEF-8609-6AB964DD7BA1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8D9B9F2-E75D-4851-A2B5-DE53059362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17C6E471-2F57-4C7E-9BD7-82B8F19E5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32560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700088"/>
            <a:ext cx="4645025" cy="34829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03263" y="4416425"/>
            <a:ext cx="5603875" cy="4181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C6EABAFB-2B28-4D74-9B46-453841E933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CFCFF2C-9AA9-4FA8-B407-804E6459DEE5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A2A4B5E-0B63-4A7D-B6A0-703D2F4BF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8825" cy="3427413"/>
          </a:xfrm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A8673A9-ED9E-4870-822F-B17B3A5B3C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7388" y="4343400"/>
            <a:ext cx="5483225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9/22/2022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12BA31-4ADC-4EA2-9C08-0E0505B50D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795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2022/9/22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Rectangle 13"/>
          <p:cNvSpPr>
            <a:spLocks noChangeArrowheads="1"/>
          </p:cNvSpPr>
          <p:nvPr/>
        </p:nvSpPr>
        <p:spPr bwMode="auto">
          <a:xfrm>
            <a:off x="382588" y="228600"/>
            <a:ext cx="8609012" cy="1077218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>
                <a:solidFill>
                  <a:schemeClr val="bg1"/>
                </a:solidFill>
              </a:rPr>
              <a:t>50 BEDED UPAZILA  HEALTH  COMPLEX </a:t>
            </a:r>
            <a:br>
              <a:rPr lang="en-US" sz="3200" b="1" dirty="0">
                <a:solidFill>
                  <a:schemeClr val="bg1"/>
                </a:solidFill>
              </a:rPr>
            </a:br>
            <a:r>
              <a:rPr lang="en-US" sz="3200" b="1" dirty="0" err="1">
                <a:solidFill>
                  <a:schemeClr val="bg1"/>
                </a:solidFill>
              </a:rPr>
              <a:t>Kamalnagar</a:t>
            </a:r>
            <a:r>
              <a:rPr lang="en-US" sz="3200" b="1" dirty="0">
                <a:solidFill>
                  <a:schemeClr val="bg1"/>
                </a:solidFill>
              </a:rPr>
              <a:t>, </a:t>
            </a:r>
            <a:r>
              <a:rPr lang="en-US" sz="3200" b="1" dirty="0" err="1">
                <a:solidFill>
                  <a:schemeClr val="bg1"/>
                </a:solidFill>
              </a:rPr>
              <a:t>Lakshmipur</a:t>
            </a: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1"/>
            <a:ext cx="6248400" cy="5257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248400" y="1447801"/>
            <a:ext cx="2895600" cy="52578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Upazilla Health Complex  with a Vision…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and </a:t>
            </a:r>
          </a:p>
          <a:p>
            <a:pPr algn="ctr" eaLnBrk="0" hangingPunct="0"/>
            <a:r>
              <a:rPr lang="en-US" sz="1600" b="1" dirty="0"/>
              <a:t>prompt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&amp; Health </a:t>
            </a:r>
          </a:p>
          <a:p>
            <a:pPr algn="ctr" eaLnBrk="0" hangingPunct="0"/>
            <a:r>
              <a:rPr lang="en-US" sz="1600" b="1" dirty="0"/>
              <a:t>Management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927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9144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2800" b="1" dirty="0">
                <a:solidFill>
                  <a:srgbClr val="FF0000"/>
                </a:solidFill>
              </a:rPr>
              <a:t>Background History of Kamalnagar Upazilla Health Complex, Lakshmipur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82000" cy="5943600"/>
          </a:xfrm>
        </p:spPr>
        <p:txBody>
          <a:bodyPr/>
          <a:lstStyle/>
          <a:p>
            <a:pPr marL="0" indent="0" algn="just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Maternal and Child Mortality and Mobility and to ensure the quality MCH service, UH&amp;FPO opened 9 delivery centre in 9 union with the help of JICA in March 2021 to June-2022. </a:t>
            </a:r>
            <a:r>
              <a:rPr 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JICA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by Frontline MCH Program. 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Special activities: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ANC-Corner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EOC service </a:t>
            </a:r>
          </a:p>
          <a:p>
            <a:pPr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5 corner for under 5 children(IMCI)</a:t>
            </a:r>
          </a:p>
          <a:p>
            <a:pPr marL="0" indent="0" eaLnBrk="1" hangingPunct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Tx/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459774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866775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sz="3200" b="1"/>
              <a:t>Contd.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77807"/>
            <a:ext cx="8229600" cy="48006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2022  Safe Blood Transfusion unit established.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packages for ANC patient started from August 2021.   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Women and Child Friendly Hospital declared in 2021.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KMC and SAM corner started from January 2021.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NCD Corner started in …. 2022.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80000"/>
              </a:lnSpc>
              <a:buClr>
                <a:schemeClr val="tx1"/>
              </a:buClr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SSK Program started in July 2022.</a:t>
            </a:r>
          </a:p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68792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1E3BD5C-418E-4E6F-8442-8A2EE37100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965200"/>
            <a:ext cx="8229600" cy="5549900"/>
          </a:xfrm>
          <a:ln>
            <a:solidFill>
              <a:schemeClr val="tx1">
                <a:lumMod val="85000"/>
                <a:lumOff val="15000"/>
              </a:schemeClr>
            </a:solidFill>
          </a:ln>
        </p:spPr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>
                <a:solidFill>
                  <a:srgbClr val="CC0000"/>
                </a:solidFill>
              </a:rPr>
              <a:t>Total population		: 217391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>
                <a:solidFill>
                  <a:srgbClr val="CC0000"/>
                </a:solidFill>
              </a:rPr>
              <a:t>Total Fertile Couples 		: 34576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>
                <a:solidFill>
                  <a:srgbClr val="CC0000"/>
                </a:solidFill>
              </a:rPr>
              <a:t>Total Pregnant		: 1518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>
                <a:solidFill>
                  <a:srgbClr val="CC0000"/>
                </a:solidFill>
              </a:rPr>
              <a:t>Total Delivery		                    : 1737  ?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>
                <a:solidFill>
                  <a:srgbClr val="CC0000"/>
                </a:solidFill>
              </a:rPr>
              <a:t>Total Live birth		: 1724  ?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dirty="0"/>
              <a:t>Total death 			: 13      ?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/>
              <a:t>Total Maternal death		: 02        ?                           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en-US" altLang="en-US" sz="1600" b="1" dirty="0"/>
              <a:t>Health Man power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a. Doctor			: 19 ( 11 + 8)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b. Nurse                  		: 15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c. HA                   		: 25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d. SBA                   		:  ( 2HA+4 FWA + 1CHCP)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          e. Volunteer, Security guard &amp; cleaner: 14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9.     Health Institutions			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a. Health Complex        	: 01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b. H &amp; FWC                   	: 4 (Sub-2 FWC– 2 )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</a:t>
            </a:r>
            <a:r>
              <a:rPr lang="en-US" altLang="en-US" sz="1600" b="1" dirty="0">
                <a:solidFill>
                  <a:srgbClr val="CC0000"/>
                </a:solidFill>
              </a:rPr>
              <a:t>c. Community clinic	: 22</a:t>
            </a:r>
          </a:p>
          <a:p>
            <a:pPr marL="609600" indent="-609600" eaLnBrk="1" hangingPunct="1">
              <a:buFontTx/>
              <a:buNone/>
            </a:pPr>
            <a:r>
              <a:rPr lang="en-US" altLang="en-US" sz="1600" b="1" dirty="0"/>
              <a:t>	d. Non- Govt. Clinic  	: 02</a:t>
            </a:r>
          </a:p>
          <a:p>
            <a:pPr marL="609600" indent="-609600" eaLnBrk="1" hangingPunct="1">
              <a:buFontTx/>
              <a:buNone/>
            </a:pPr>
            <a:endParaRPr lang="en-US" altLang="en-US" sz="1800" b="1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2BFF30-49BB-420B-B0B5-C335381613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06400"/>
            <a:ext cx="8229600" cy="508000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2800" b="1" dirty="0"/>
              <a:t>Health Profile of Kamalnagar UHC- 2022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00D9D7C-63B0-4885-9C97-EF9BFDCA4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84238"/>
            <a:ext cx="8229600" cy="5059362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10. Mother Taken-ANC		: 143% ( 1st Visit)?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11. Hospital Delivery Rate		: 84.8% (3755)?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12. No. of Hospital bed		: 50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13. Bed Occupancy Rate 		:108%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14. Maternal Mortality Ratio	: 42 / 100000 live Birth?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15. Neonatal Mortality Rate	: 16.7 / 1000 live birth?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16. Infant Mortality Rate   	: 20.6 /1000 live birth?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en-US" sz="2400" b="1" dirty="0">
                <a:solidFill>
                  <a:srgbClr val="CC0000"/>
                </a:solidFill>
              </a:rPr>
              <a:t>17. Under-5 Mortality Rate   	: 22.7 /1000 live birth?</a:t>
            </a: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Arial" charset="0"/>
                <a:ea typeface="+mn-ea"/>
                <a:cs typeface="Arial" charset="0"/>
              </a:rPr>
              <a:t>Bed Occupancy Rate from  2017 to 2022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62176" y="236831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Arial" charset="0"/>
              </a:rPr>
              <a:t>UHC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480508716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2017 to 2022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Calibri" pitchFamily="34" charset="0"/>
                <a:ea typeface="+mn-ea"/>
                <a:cs typeface="+mn-cs"/>
              </a:rPr>
              <a:t>UHC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2570746132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7554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Upazila Health  Complex</a:t>
            </a:r>
            <a:b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</a:br>
            <a:r>
              <a:rPr lang="en-US" sz="4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kamalnagar</a:t>
            </a:r>
            <a:r>
              <a:rPr lang="en-US" sz="4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</a:t>
            </a:r>
            <a:r>
              <a:rPr lang="en-US" sz="4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Lakshmipur</a:t>
            </a:r>
            <a:r>
              <a:rPr lang="en-US" sz="28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sz="2800" dirty="0"/>
          </a:p>
          <a:p>
            <a:pPr algn="ctr" eaLnBrk="1" hangingPunct="1">
              <a:buFontTx/>
              <a:buNone/>
            </a:pPr>
            <a:endParaRPr lang="en-US" sz="2800" dirty="0"/>
          </a:p>
        </p:txBody>
      </p:sp>
      <p:sp>
        <p:nvSpPr>
          <p:cNvPr id="82949" name="Rectangle 5"/>
          <p:cNvSpPr>
            <a:spLocks noChangeArrowheads="1"/>
          </p:cNvSpPr>
          <p:nvPr/>
        </p:nvSpPr>
        <p:spPr bwMode="auto">
          <a:xfrm>
            <a:off x="457200" y="1600200"/>
            <a:ext cx="8153400" cy="6096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en-US" sz="2400" dirty="0">
                <a:solidFill>
                  <a:srgbClr val="3333C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EOC Activities : 2017 to 2022 (Hospital Delivery )</a:t>
            </a:r>
          </a:p>
        </p:txBody>
      </p:sp>
      <p:graphicFrame>
        <p:nvGraphicFramePr>
          <p:cNvPr id="31748" name="Object 29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69164813"/>
              </p:ext>
            </p:extLst>
          </p:nvPr>
        </p:nvGraphicFramePr>
        <p:xfrm>
          <a:off x="553535" y="2614672"/>
          <a:ext cx="8189334" cy="32590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90" name="Worksheet" r:id="rId4" imgW="6562833" imgH="3571875" progId="Excel.Sheet.8">
                  <p:embed/>
                </p:oleObj>
              </mc:Choice>
              <mc:Fallback>
                <p:oleObj name="Worksheet" r:id="rId4" imgW="6562833" imgH="3571875" progId="Excel.Sheet.8">
                  <p:embed/>
                  <p:pic>
                    <p:nvPicPr>
                      <p:cNvPr id="0" name="Picture 29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535" y="2614672"/>
                        <a:ext cx="8189334" cy="32590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Well-decorated conference </a:t>
            </a:r>
            <a:r>
              <a:rPr lang="en-US" dirty="0" err="1">
                <a:solidFill>
                  <a:srgbClr val="FF0000"/>
                </a:solidFill>
              </a:rPr>
              <a:t>room.july</a:t>
            </a:r>
            <a:r>
              <a:rPr lang="en-US" dirty="0">
                <a:solidFill>
                  <a:srgbClr val="FF0000"/>
                </a:solidFill>
              </a:rPr>
              <a:t>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191000" cy="423703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48200" y="1600200"/>
            <a:ext cx="4038600" cy="42370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0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Establishment of Central Oxygen </a:t>
            </a:r>
            <a:r>
              <a:rPr lang="en-US" dirty="0" err="1">
                <a:solidFill>
                  <a:srgbClr val="FF0000"/>
                </a:solidFill>
              </a:rPr>
              <a:t>System,July</a:t>
            </a:r>
            <a:r>
              <a:rPr lang="en-US" dirty="0">
                <a:solidFill>
                  <a:srgbClr val="FF0000"/>
                </a:solidFill>
              </a:rPr>
              <a:t> 2020.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417639"/>
            <a:ext cx="8153400" cy="4708524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37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push dir="u"/>
      </p:transition>
    </mc:Choice>
    <mc:Fallback xmlns="">
      <p:transition spd="slow">
        <p:push dir="u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Receiving of Ambulance and Jeep keys from CS Sir ,August 2020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28600" y="1706380"/>
            <a:ext cx="5562600" cy="240842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276600" y="4495800"/>
            <a:ext cx="5410200" cy="213360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38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19804"/>
            <a:ext cx="8229600" cy="1143000"/>
          </a:xfrm>
        </p:spPr>
        <p:txBody>
          <a:bodyPr/>
          <a:lstStyle/>
          <a:p>
            <a:r>
              <a:rPr lang="en-US" sz="2800" dirty="0" err="1">
                <a:solidFill>
                  <a:srgbClr val="FF0000"/>
                </a:solidFill>
              </a:rPr>
              <a:t>Muktijudda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Shapla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ChattorInaugurated</a:t>
            </a:r>
            <a:r>
              <a:rPr lang="en-US" sz="2800" dirty="0">
                <a:solidFill>
                  <a:srgbClr val="FF0000"/>
                </a:solidFill>
              </a:rPr>
              <a:t> in2021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752600" y="989534"/>
            <a:ext cx="5362731" cy="5847596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752600" y="1010404"/>
            <a:ext cx="5334000" cy="5847596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8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Citizen charter, value and medicine list added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828800"/>
            <a:ext cx="3962400" cy="21336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1828800"/>
            <a:ext cx="3962400" cy="2133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33400" y="3962400"/>
            <a:ext cx="3962400" cy="25908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495800" y="3962400"/>
            <a:ext cx="3962400" cy="25908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9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Intercom added march 2022.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87680" y="4160839"/>
            <a:ext cx="4191000" cy="300196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78680" y="1219201"/>
            <a:ext cx="3970020" cy="2941638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72440" y="1219201"/>
            <a:ext cx="4191000" cy="2941638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663440" y="4160839"/>
            <a:ext cx="3909060" cy="3001961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95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Safe drinking water system added in </a:t>
            </a:r>
            <a:r>
              <a:rPr lang="en-US" sz="3600" dirty="0" err="1">
                <a:solidFill>
                  <a:srgbClr val="FF0000"/>
                </a:solidFill>
              </a:rPr>
              <a:t>july</a:t>
            </a:r>
            <a:r>
              <a:rPr lang="en-US" sz="3600" dirty="0">
                <a:solidFill>
                  <a:srgbClr val="FF0000"/>
                </a:solidFill>
              </a:rPr>
              <a:t>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640" y="1066800"/>
            <a:ext cx="8849360" cy="5534978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76200" y="1066800"/>
            <a:ext cx="4338320" cy="31242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19600" y="4155440"/>
            <a:ext cx="4262120" cy="262636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414520" y="1066800"/>
            <a:ext cx="4267200" cy="30480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6200" y="4257040"/>
            <a:ext cx="4343400" cy="2600960"/>
          </a:xfrm>
          <a:prstGeom prst="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38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wipe/>
      </p:transition>
    </mc:Choice>
    <mc:Fallback xmlns="">
      <p:transition spd="slow">
        <p:wip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390" y="160337"/>
            <a:ext cx="8229600" cy="1143000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 Pathology department, NCD Corner and </a:t>
            </a:r>
            <a:r>
              <a:rPr lang="en-US" sz="3600" dirty="0" err="1">
                <a:solidFill>
                  <a:srgbClr val="FF0000"/>
                </a:solidFill>
              </a:rPr>
              <a:t>Banghobondhu</a:t>
            </a:r>
            <a:r>
              <a:rPr lang="en-US" sz="3600" dirty="0">
                <a:solidFill>
                  <a:srgbClr val="FF0000"/>
                </a:solidFill>
              </a:rPr>
              <a:t> Corner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5720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029200" y="1600200"/>
            <a:ext cx="3581400" cy="28956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209800" y="4495799"/>
            <a:ext cx="5029200" cy="23622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094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New Generator added </a:t>
            </a:r>
            <a:r>
              <a:rPr lang="en-US" dirty="0" err="1">
                <a:solidFill>
                  <a:srgbClr val="FF0000"/>
                </a:solidFill>
              </a:rPr>
              <a:t>june</a:t>
            </a:r>
            <a:r>
              <a:rPr lang="en-US" dirty="0">
                <a:solidFill>
                  <a:srgbClr val="FF0000"/>
                </a:solidFill>
              </a:rPr>
              <a:t> 2022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7360" y="1295400"/>
            <a:ext cx="8229600" cy="5562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00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Whole hospital is controlled by CC </a:t>
            </a:r>
            <a:r>
              <a:rPr lang="en-US" sz="4000" dirty="0" err="1">
                <a:solidFill>
                  <a:srgbClr val="FF0000"/>
                </a:solidFill>
              </a:rPr>
              <a:t>Cemera</a:t>
            </a:r>
            <a:r>
              <a:rPr lang="en-US" sz="4000" dirty="0">
                <a:solidFill>
                  <a:srgbClr val="FF0000"/>
                </a:solidFill>
              </a:rPr>
              <a:t> added in September 2021</a:t>
            </a:r>
            <a:r>
              <a:rPr lang="en-US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8305800" cy="460216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62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Gene X-pert and Dots corner added December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2240" y="1549083"/>
            <a:ext cx="4419600" cy="5308917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61840" y="1549083"/>
            <a:ext cx="4582160" cy="5308917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5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reveal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Well furnished UHFPO room(2020),RMO room(2021),EMO room(2022)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737519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219200"/>
            <a:ext cx="4648200" cy="28956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514600" y="4114800"/>
            <a:ext cx="4648200" cy="2743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105400" y="1219200"/>
            <a:ext cx="3505200" cy="2895600"/>
          </a:xfrm>
          <a:prstGeom prst="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17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</a:t>
            </a:r>
            <a:r>
              <a:rPr lang="en-US" dirty="0">
                <a:solidFill>
                  <a:srgbClr val="FF0000"/>
                </a:solidFill>
              </a:rPr>
              <a:t>2022,july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2760" y="1448118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85800" y="1463358"/>
            <a:ext cx="7429500" cy="5714682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143000" y="274638"/>
            <a:ext cx="3352800" cy="1143000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ircle/>
      </p:transition>
    </mc:Choice>
    <mc:Fallback xmlns=""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X-ray department added November 2020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57200" y="1600199"/>
            <a:ext cx="3810000" cy="4525963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267200" y="1600199"/>
            <a:ext cx="4419600" cy="4525964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3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Hospital boundary wall and residential gate construction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10464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76200" y="1828800"/>
            <a:ext cx="5029200" cy="46482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05400" y="1828800"/>
            <a:ext cx="4038600" cy="46482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62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</a:rPr>
              <a:t> Gardening &amp; Cleaning day,</a:t>
            </a:r>
            <a:br>
              <a:rPr lang="en-US" sz="3600" b="1" dirty="0">
                <a:solidFill>
                  <a:srgbClr val="FF0000"/>
                </a:solidFill>
              </a:rPr>
            </a:br>
            <a:r>
              <a:rPr lang="en-US" sz="3600" b="1" dirty="0">
                <a:solidFill>
                  <a:srgbClr val="FF0000"/>
                </a:solidFill>
              </a:rPr>
              <a:t>Every Thursday.</a:t>
            </a:r>
            <a:endParaRPr lang="en-US" sz="3600" dirty="0">
              <a:solidFill>
                <a:srgbClr val="FF0000"/>
              </a:solidFill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280" y="1905000"/>
            <a:ext cx="4109720" cy="434340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1828800"/>
            <a:ext cx="4038600" cy="4343400"/>
          </a:xfrm>
        </p:spPr>
      </p:pic>
    </p:spTree>
    <p:extLst>
      <p:ext uri="{BB962C8B-B14F-4D97-AF65-F5344CB8AC3E}">
        <p14:creationId xmlns:p14="http://schemas.microsoft.com/office/powerpoint/2010/main" val="270992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/>
    </mc:Choice>
    <mc:Fallback xmlns="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 C section 2021 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600200"/>
            <a:ext cx="4610100" cy="4525963"/>
          </a:xfrm>
        </p:spPr>
      </p:pic>
      <p:sp>
        <p:nvSpPr>
          <p:cNvPr id="3" name="Rectangle 2"/>
          <p:cNvSpPr/>
          <p:nvPr/>
        </p:nvSpPr>
        <p:spPr>
          <a:xfrm>
            <a:off x="5029200" y="1600201"/>
            <a:ext cx="4038600" cy="4525962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44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Inspection by </a:t>
            </a:r>
            <a:r>
              <a:rPr lang="en-US" dirty="0" err="1">
                <a:solidFill>
                  <a:srgbClr val="FF0000"/>
                </a:solidFill>
              </a:rPr>
              <a:t>MP,Major</a:t>
            </a:r>
            <a:r>
              <a:rPr lang="en-US" dirty="0">
                <a:solidFill>
                  <a:srgbClr val="FF0000"/>
                </a:solidFill>
              </a:rPr>
              <a:t>(</a:t>
            </a:r>
            <a:r>
              <a:rPr lang="en-US" dirty="0" err="1">
                <a:solidFill>
                  <a:srgbClr val="FF0000"/>
                </a:solidFill>
              </a:rPr>
              <a:t>Rtd</a:t>
            </a:r>
            <a:r>
              <a:rPr lang="en-US" dirty="0">
                <a:solidFill>
                  <a:srgbClr val="FF0000"/>
                </a:solidFill>
              </a:rPr>
              <a:t>) Abdul </a:t>
            </a:r>
            <a:r>
              <a:rPr lang="en-US" dirty="0" err="1">
                <a:solidFill>
                  <a:srgbClr val="FF0000"/>
                </a:solidFill>
              </a:rPr>
              <a:t>Mannan</a:t>
            </a:r>
            <a:r>
              <a:rPr lang="en-US" dirty="0">
                <a:solidFill>
                  <a:srgbClr val="FF0000"/>
                </a:solidFill>
              </a:rPr>
              <a:t>, 11 </a:t>
            </a:r>
            <a:r>
              <a:rPr lang="en-US" dirty="0" err="1">
                <a:solidFill>
                  <a:srgbClr val="FF0000"/>
                </a:solidFill>
              </a:rPr>
              <a:t>feb</a:t>
            </a:r>
            <a:r>
              <a:rPr lang="en-US" dirty="0">
                <a:solidFill>
                  <a:srgbClr val="FF0000"/>
                </a:solidFill>
              </a:rPr>
              <a:t> 2021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4114800" cy="248443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0" y="1600200"/>
            <a:ext cx="4114800" cy="2484438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4084637"/>
            <a:ext cx="4114800" cy="2041525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572000" y="4084636"/>
            <a:ext cx="4114800" cy="2041526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64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wipe/>
      </p:transition>
    </mc:Choice>
    <mc:Fallback xmlns="">
      <p:transition spd="slow">
        <p:wip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err="1">
                <a:solidFill>
                  <a:srgbClr val="FF0000"/>
                </a:solidFill>
              </a:rPr>
              <a:t>pathlogy</a:t>
            </a:r>
            <a:r>
              <a:rPr lang="en-US" b="1" dirty="0">
                <a:solidFill>
                  <a:srgbClr val="FF0000"/>
                </a:solidFill>
              </a:rPr>
              <a:t> visit CS Sir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600200"/>
            <a:ext cx="8381999" cy="4525963"/>
          </a:xfrm>
        </p:spPr>
      </p:pic>
    </p:spTree>
    <p:extLst>
      <p:ext uri="{BB962C8B-B14F-4D97-AF65-F5344CB8AC3E}">
        <p14:creationId xmlns:p14="http://schemas.microsoft.com/office/powerpoint/2010/main" val="12427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Upazila</a:t>
            </a:r>
            <a:r>
              <a:rPr lang="en-US" b="1" dirty="0">
                <a:solidFill>
                  <a:srgbClr val="FF0000"/>
                </a:solidFill>
              </a:rPr>
              <a:t> Health  Complex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kamalnagar</a:t>
            </a:r>
            <a:r>
              <a:rPr lang="en-US" b="1" dirty="0">
                <a:solidFill>
                  <a:srgbClr val="FF0000"/>
                </a:solidFill>
              </a:rPr>
              <a:t>, EPI Centre Risk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600200"/>
            <a:ext cx="8153400" cy="4525963"/>
          </a:xfrm>
        </p:spPr>
      </p:pic>
    </p:spTree>
    <p:extLst>
      <p:ext uri="{BB962C8B-B14F-4D97-AF65-F5344CB8AC3E}">
        <p14:creationId xmlns:p14="http://schemas.microsoft.com/office/powerpoint/2010/main" val="30582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News paper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417638"/>
            <a:ext cx="3962400" cy="4708524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50080" y="1417637"/>
            <a:ext cx="4236720" cy="4708525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903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BA17ED29-B1C5-44A0-B7B2-8E405DCB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65162"/>
          </a:xfrm>
          <a:solidFill>
            <a:schemeClr val="accent1"/>
          </a:solidFill>
        </p:spPr>
        <p:txBody>
          <a:bodyPr/>
          <a:lstStyle/>
          <a:p>
            <a:pPr eaLnBrk="1" hangingPunct="1"/>
            <a:r>
              <a:rPr lang="en-US" altLang="en-US" sz="3200" b="1" dirty="0"/>
              <a:t>Upazilla Health  Complex</a:t>
            </a:r>
            <a:br>
              <a:rPr lang="en-US" altLang="en-US" sz="3200" b="1" dirty="0"/>
            </a:b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accent6">
                    <a:lumMod val="20000"/>
                    <a:lumOff val="80000"/>
                  </a:schemeClr>
                </a:solidFill>
              </a:rPr>
              <a:t>kamalnagar</a:t>
            </a:r>
            <a:r>
              <a:rPr lang="en-US" sz="2000" b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, Lakshmipur</a:t>
            </a:r>
            <a:r>
              <a:rPr lang="en-US" altLang="en-US" sz="2000" b="1" dirty="0"/>
              <a:t>.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D935C444-89D8-44E5-B127-72803971B5B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endParaRPr lang="en-US" altLang="en-US" sz="2800"/>
          </a:p>
          <a:p>
            <a:pPr algn="ctr" eaLnBrk="1" hangingPunct="1">
              <a:buFontTx/>
              <a:buNone/>
            </a:pPr>
            <a:endParaRPr lang="en-US" altLang="en-US" sz="2800"/>
          </a:p>
        </p:txBody>
      </p:sp>
      <p:sp>
        <p:nvSpPr>
          <p:cNvPr id="218116" name="Rectangle 4">
            <a:extLst>
              <a:ext uri="{FF2B5EF4-FFF2-40B4-BE49-F238E27FC236}">
                <a16:creationId xmlns:a16="http://schemas.microsoft.com/office/drawing/2014/main" id="{7DCD4D61-0048-4A50-A148-F5E3D58F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70000"/>
            <a:ext cx="8153400" cy="469900"/>
          </a:xfrm>
          <a:prstGeom prst="rect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b"/>
          <a:lstStyle/>
          <a:p>
            <a:pPr algn="ctr" eaLnBrk="1" hangingPunct="1">
              <a:defRPr/>
            </a:pPr>
            <a:r>
              <a:rPr lang="en-US" sz="2000" b="1">
                <a:solidFill>
                  <a:schemeClr val="tx2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charset="0"/>
                <a:cs typeface="Arial" charset="0"/>
              </a:rPr>
              <a:t>Community Support</a:t>
            </a:r>
            <a:r>
              <a:rPr lang="en-US" sz="4400">
                <a:solidFill>
                  <a:schemeClr val="tx2"/>
                </a:solidFill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218117" name="Text Box 5">
            <a:extLst>
              <a:ext uri="{FF2B5EF4-FFF2-40B4-BE49-F238E27FC236}">
                <a16:creationId xmlns:a16="http://schemas.microsoft.com/office/drawing/2014/main" id="{7E84A1FE-1CF1-44D6-BEC9-A0C9A7A79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915367"/>
            <a:ext cx="85344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IPS &amp; delivery instruments financed by JICA for 10 delivery centers in each union.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oxygen system  financed and organized  by Upazila Parishad.  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donated by about 100 enlisted blood donors in emergency need (Transfusion of 165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bag F/blood are given in 2021,2022)</a:t>
            </a:r>
          </a:p>
          <a:p>
            <a:pPr indent="274320"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Fuel of Generator donated by MP and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Upazilla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Parishad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57350" name="Text Box 6">
            <a:extLst>
              <a:ext uri="{FF2B5EF4-FFF2-40B4-BE49-F238E27FC236}">
                <a16:creationId xmlns:a16="http://schemas.microsoft.com/office/drawing/2014/main" id="{444A9FB5-73F8-496D-817C-AAFDD09BF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2170113"/>
            <a:ext cx="18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21811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1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Our achievements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Our </a:t>
            </a:r>
            <a:r>
              <a:rPr lang="en-US" dirty="0" err="1"/>
              <a:t>upazila</a:t>
            </a:r>
            <a:r>
              <a:rPr lang="en-US" dirty="0"/>
              <a:t> is near Meghna river and it is  very hard to risk area.</a:t>
            </a:r>
          </a:p>
          <a:p>
            <a:pPr marL="0" indent="0">
              <a:buNone/>
            </a:pPr>
            <a:r>
              <a:rPr lang="en-US" dirty="0"/>
              <a:t>#Our corona vaccine coverage- </a:t>
            </a:r>
          </a:p>
          <a:p>
            <a:pPr marL="0" indent="0">
              <a:buNone/>
            </a:pPr>
            <a:r>
              <a:rPr lang="en-US" dirty="0"/>
              <a:t>                                        &gt; 1</a:t>
            </a:r>
            <a:r>
              <a:rPr lang="en-US" baseline="30000" dirty="0"/>
              <a:t>st</a:t>
            </a:r>
            <a:r>
              <a:rPr lang="en-US" dirty="0"/>
              <a:t> dose-86.25%</a:t>
            </a:r>
          </a:p>
          <a:p>
            <a:pPr marL="0" indent="0">
              <a:buNone/>
            </a:pPr>
            <a:r>
              <a:rPr lang="en-US" dirty="0"/>
              <a:t>                                        &gt;2</a:t>
            </a:r>
            <a:r>
              <a:rPr lang="en-US" baseline="30000" dirty="0"/>
              <a:t>nd</a:t>
            </a:r>
            <a:r>
              <a:rPr lang="en-US" dirty="0"/>
              <a:t> dose-81.3%</a:t>
            </a:r>
          </a:p>
          <a:p>
            <a:pPr marL="0" indent="0">
              <a:buNone/>
            </a:pPr>
            <a:r>
              <a:rPr lang="en-US" dirty="0"/>
              <a:t> # EPI coverage-99.99%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354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 1.Positive Change of  the attitude of the service provider.</a:t>
            </a:r>
          </a:p>
          <a:p>
            <a:pPr marL="0" indent="0">
              <a:buNone/>
            </a:pPr>
            <a:r>
              <a:rPr lang="en-US" sz="2400" dirty="0"/>
              <a:t>  2. Fill up remaining 45% human </a:t>
            </a:r>
            <a:r>
              <a:rPr lang="en-US" sz="2400" dirty="0" err="1"/>
              <a:t>resouces.and</a:t>
            </a:r>
            <a:r>
              <a:rPr lang="en-US" sz="2400" dirty="0"/>
              <a:t> </a:t>
            </a:r>
            <a:r>
              <a:rPr lang="en-US" sz="2400" dirty="0" err="1"/>
              <a:t>cancelletion</a:t>
            </a:r>
            <a:r>
              <a:rPr lang="en-US" sz="2400" dirty="0"/>
              <a:t> of attachment post.</a:t>
            </a:r>
          </a:p>
          <a:p>
            <a:pPr marL="0" indent="0">
              <a:buNone/>
            </a:pPr>
            <a:r>
              <a:rPr lang="en-US" sz="2400" dirty="0"/>
              <a:t>  3. Construction and renovation of infrastructures specially</a:t>
            </a:r>
          </a:p>
          <a:p>
            <a:pPr marL="0" indent="0">
              <a:buNone/>
            </a:pPr>
            <a:r>
              <a:rPr lang="en-US" sz="2400" dirty="0"/>
              <a:t>    Store building &amp; old building </a:t>
            </a:r>
          </a:p>
          <a:p>
            <a:pPr marL="0" indent="0">
              <a:buNone/>
            </a:pPr>
            <a:r>
              <a:rPr lang="en-US" sz="2400" dirty="0"/>
              <a:t> 4. UHFPO residence, Quarter and Dormitory construction.</a:t>
            </a:r>
          </a:p>
          <a:p>
            <a:pPr marL="0" indent="0">
              <a:buNone/>
            </a:pPr>
            <a:r>
              <a:rPr lang="en-US" sz="2400" dirty="0"/>
              <a:t> 5. Construction of River broken 4 CC.</a:t>
            </a:r>
          </a:p>
          <a:p>
            <a:pPr marL="0" indent="0">
              <a:buNone/>
            </a:pPr>
            <a:r>
              <a:rPr lang="en-US" sz="2400" dirty="0"/>
              <a:t> 6. Creation of post in </a:t>
            </a:r>
            <a:r>
              <a:rPr lang="en-US" sz="2400" dirty="0" err="1"/>
              <a:t>favour</a:t>
            </a:r>
            <a:r>
              <a:rPr lang="en-US" sz="2400" dirty="0"/>
              <a:t> of 50 bed.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- </a:t>
            </a:r>
          </a:p>
        </p:txBody>
      </p:sp>
    </p:spTree>
    <p:extLst>
      <p:ext uri="{BB962C8B-B14F-4D97-AF65-F5344CB8AC3E}">
        <p14:creationId xmlns:p14="http://schemas.microsoft.com/office/powerpoint/2010/main" val="2956574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00"/>
                </a:solidFill>
              </a:rPr>
              <a:t>Way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/>
              <a:t>  </a:t>
            </a:r>
            <a:r>
              <a:rPr lang="en-US" dirty="0"/>
              <a:t> 1.Starting of VIA Corner.</a:t>
            </a:r>
          </a:p>
          <a:p>
            <a:pPr marL="0" indent="0">
              <a:buNone/>
            </a:pPr>
            <a:r>
              <a:rPr lang="en-US" dirty="0"/>
              <a:t>   2.Implementation of 5S KAIZEN-TQM.</a:t>
            </a:r>
          </a:p>
          <a:p>
            <a:pPr marL="0" indent="0">
              <a:buNone/>
            </a:pPr>
            <a:r>
              <a:rPr lang="en-US" dirty="0"/>
              <a:t>   3.Starting of Comprehensive EOC program.</a:t>
            </a:r>
          </a:p>
          <a:p>
            <a:pPr marL="0" indent="0">
              <a:buNone/>
            </a:pPr>
            <a:r>
              <a:rPr lang="en-US" dirty="0"/>
              <a:t>   4.Functioning  of radiological </a:t>
            </a:r>
            <a:r>
              <a:rPr lang="en-US" dirty="0" err="1"/>
              <a:t>activetes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- </a:t>
            </a:r>
          </a:p>
        </p:txBody>
      </p:sp>
    </p:spTree>
    <p:extLst>
      <p:ext uri="{BB962C8B-B14F-4D97-AF65-F5344CB8AC3E}">
        <p14:creationId xmlns:p14="http://schemas.microsoft.com/office/powerpoint/2010/main" val="181588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1600200"/>
            <a:ext cx="8153400" cy="43434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Our Co-</a:t>
            </a:r>
            <a:r>
              <a:rPr lang="en-US" dirty="0" err="1">
                <a:solidFill>
                  <a:srgbClr val="FF0000"/>
                </a:solidFill>
              </a:rPr>
              <a:t>ordinating</a:t>
            </a:r>
            <a:r>
              <a:rPr lang="en-US" dirty="0">
                <a:solidFill>
                  <a:srgbClr val="FF0000"/>
                </a:solidFill>
              </a:rPr>
              <a:t> function done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  1. By regular physical monitoring and supervision</a:t>
            </a:r>
          </a:p>
          <a:p>
            <a:pPr marL="0" indent="0">
              <a:buNone/>
            </a:pPr>
            <a:r>
              <a:rPr lang="en-US" sz="2400" dirty="0"/>
              <a:t>  2. By using </a:t>
            </a:r>
            <a:r>
              <a:rPr lang="en-US" sz="2400" dirty="0" err="1"/>
              <a:t>Technolgy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                                  a. Messenger group</a:t>
            </a:r>
          </a:p>
          <a:p>
            <a:pPr marL="0" indent="0" algn="just">
              <a:buNone/>
            </a:pPr>
            <a:r>
              <a:rPr lang="en-US" sz="2400" dirty="0"/>
              <a:t>                                       </a:t>
            </a:r>
            <a:r>
              <a:rPr lang="en-US" sz="1800" dirty="0"/>
              <a:t>-Doctor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 - EMO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 -Nursing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- CHCP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 - SACMO messenger group</a:t>
            </a:r>
          </a:p>
          <a:p>
            <a:pPr marL="0" indent="0" algn="just">
              <a:buNone/>
            </a:pPr>
            <a:r>
              <a:rPr lang="en-US" sz="1800" dirty="0"/>
              <a:t>                                                - HI,AHI,HI messenger group</a:t>
            </a:r>
          </a:p>
          <a:p>
            <a:pPr marL="0" indent="0" algn="just">
              <a:buNone/>
            </a:pPr>
            <a:r>
              <a:rPr lang="en-US" sz="2400" dirty="0"/>
              <a:t>                                  b. Mobile tracking system</a:t>
            </a:r>
          </a:p>
          <a:p>
            <a:pPr marL="0" indent="0" algn="just">
              <a:buNone/>
            </a:pPr>
            <a:r>
              <a:rPr lang="en-US" sz="2400" dirty="0"/>
              <a:t>  3. By doing  regular schedule meeting .</a:t>
            </a:r>
          </a:p>
        </p:txBody>
      </p:sp>
    </p:spTree>
    <p:extLst>
      <p:ext uri="{BB962C8B-B14F-4D97-AF65-F5344CB8AC3E}">
        <p14:creationId xmlns:p14="http://schemas.microsoft.com/office/powerpoint/2010/main" val="32669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rgbClr val="FF0000"/>
                </a:solidFill>
              </a:rPr>
              <a:t>Hospital activities done by Following committees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33CC33"/>
                </a:solidFill>
              </a:rPr>
              <a:t>  Our every activity done by team building.</a:t>
            </a:r>
          </a:p>
          <a:p>
            <a:pPr marL="0" indent="0">
              <a:buNone/>
            </a:pPr>
            <a:r>
              <a:rPr lang="en-US" sz="2000" dirty="0"/>
              <a:t>   1. Hospital Management committee</a:t>
            </a:r>
          </a:p>
          <a:p>
            <a:pPr marL="0" indent="0">
              <a:buNone/>
            </a:pPr>
            <a:r>
              <a:rPr lang="en-US" sz="2000" dirty="0"/>
              <a:t>   2.Committee for Monthly </a:t>
            </a:r>
            <a:r>
              <a:rPr lang="en-US" sz="2000" dirty="0" err="1"/>
              <a:t>co-ordinating</a:t>
            </a:r>
            <a:r>
              <a:rPr lang="en-US" sz="2000" dirty="0"/>
              <a:t> meeting</a:t>
            </a:r>
          </a:p>
          <a:p>
            <a:pPr marL="0" indent="0">
              <a:buNone/>
            </a:pPr>
            <a:r>
              <a:rPr lang="en-US" sz="2000" dirty="0"/>
              <a:t>   3. committee for weekly meeting</a:t>
            </a:r>
          </a:p>
          <a:p>
            <a:pPr marL="0" indent="0">
              <a:buNone/>
            </a:pPr>
            <a:r>
              <a:rPr lang="en-US" sz="2000" dirty="0"/>
              <a:t>   4.Diet </a:t>
            </a:r>
            <a:r>
              <a:rPr lang="en-US" sz="2000" dirty="0" err="1"/>
              <a:t>monitoing</a:t>
            </a:r>
            <a:r>
              <a:rPr lang="en-US" sz="2000" dirty="0"/>
              <a:t> committee</a:t>
            </a:r>
          </a:p>
          <a:p>
            <a:pPr marL="0" indent="0">
              <a:buNone/>
            </a:pPr>
            <a:r>
              <a:rPr lang="en-US" sz="2000" dirty="0"/>
              <a:t>   5.Waste management committee</a:t>
            </a:r>
          </a:p>
          <a:p>
            <a:pPr marL="0" indent="0">
              <a:buNone/>
            </a:pPr>
            <a:r>
              <a:rPr lang="en-US" sz="2000" dirty="0"/>
              <a:t>   6. House rent and residential committee</a:t>
            </a:r>
          </a:p>
          <a:p>
            <a:pPr marL="0" indent="0">
              <a:buNone/>
            </a:pPr>
            <a:r>
              <a:rPr lang="en-US" sz="2000" dirty="0"/>
              <a:t>   7.Financial committee for MSR</a:t>
            </a:r>
          </a:p>
          <a:p>
            <a:pPr marL="0" indent="0">
              <a:buNone/>
            </a:pPr>
            <a:r>
              <a:rPr lang="en-US" sz="2000" dirty="0"/>
              <a:t>   8. Committee for health education and awareness</a:t>
            </a:r>
          </a:p>
          <a:p>
            <a:pPr marL="0" indent="0">
              <a:buNone/>
            </a:pPr>
            <a:r>
              <a:rPr lang="en-US" sz="2000" dirty="0"/>
              <a:t>   9. Store management committee</a:t>
            </a:r>
          </a:p>
          <a:p>
            <a:pPr marL="0" indent="0">
              <a:buNone/>
            </a:pPr>
            <a:r>
              <a:rPr lang="en-US" sz="2000" dirty="0"/>
              <a:t>  10. Fire fighting, rescue and </a:t>
            </a:r>
            <a:r>
              <a:rPr lang="en-US" sz="2000" dirty="0" err="1"/>
              <a:t>safty</a:t>
            </a:r>
            <a:r>
              <a:rPr lang="en-US" sz="2000" dirty="0"/>
              <a:t> committee</a:t>
            </a:r>
          </a:p>
          <a:p>
            <a:pPr marL="0" indent="0">
              <a:buNone/>
            </a:pPr>
            <a:r>
              <a:rPr lang="en-US" sz="2000" dirty="0"/>
              <a:t>  11.Anti-sexual </a:t>
            </a:r>
            <a:r>
              <a:rPr lang="en-US" sz="2000" dirty="0" err="1"/>
              <a:t>harasement</a:t>
            </a:r>
            <a:r>
              <a:rPr lang="en-US" sz="2000" dirty="0"/>
              <a:t> committee.</a:t>
            </a:r>
          </a:p>
          <a:p>
            <a:pPr marL="0" indent="0">
              <a:buNone/>
            </a:pPr>
            <a:r>
              <a:rPr lang="en-US" sz="2000" dirty="0"/>
              <a:t>  12. Social and cultural activities celebration committee</a:t>
            </a:r>
          </a:p>
          <a:p>
            <a:pPr marL="0" indent="0">
              <a:buNone/>
            </a:pPr>
            <a:r>
              <a:rPr lang="en-US" sz="2000" dirty="0"/>
              <a:t>  13. Audit committee.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73648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5155</TotalTime>
  <Words>793</Words>
  <Application>Microsoft Office PowerPoint</Application>
  <PresentationFormat>On-screen Show (4:3)</PresentationFormat>
  <Paragraphs>174</Paragraphs>
  <Slides>37</Slides>
  <Notes>8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Times New Roman</vt:lpstr>
      <vt:lpstr>Wingdings</vt:lpstr>
      <vt:lpstr>Office Theme</vt:lpstr>
      <vt:lpstr>Worksheet</vt:lpstr>
      <vt:lpstr>PowerPoint Presentation</vt:lpstr>
      <vt:lpstr>A Upazilla Health Complex  with a Vision…</vt:lpstr>
      <vt:lpstr>Background History of Kamalnagar Upazilla Health Complex, Lakshmipur</vt:lpstr>
      <vt:lpstr>Contd.</vt:lpstr>
      <vt:lpstr>Health Profile of Kamalnagar UHC- 2022</vt:lpstr>
      <vt:lpstr>PowerPoint Presentation</vt:lpstr>
      <vt:lpstr>PowerPoint Presentation</vt:lpstr>
      <vt:lpstr>Emergency &amp; Out Door, Indoor  Service 2017 to 2022</vt:lpstr>
      <vt:lpstr>Upazila Health  Complex kamalnagar, Lakshmipur.</vt:lpstr>
      <vt:lpstr>Well-decorated conference room.july 2020</vt:lpstr>
      <vt:lpstr>Establishment of Central Oxygen System,July 2020.</vt:lpstr>
      <vt:lpstr>Receiving of Ambulance and Jeep keys from CS Sir ,August 2020.</vt:lpstr>
      <vt:lpstr>Muktijudda Shapla ChattorInaugurated in2021</vt:lpstr>
      <vt:lpstr>Citizen charter, value and medicine list added 2021</vt:lpstr>
      <vt:lpstr>Intercom added march 2022.</vt:lpstr>
      <vt:lpstr>Safe drinking water system added in july 2021</vt:lpstr>
      <vt:lpstr> Pathology department, NCD Corner and Banghobondhu Corner </vt:lpstr>
      <vt:lpstr>New Generator added june 2022</vt:lpstr>
      <vt:lpstr>Whole hospital is controlled by CC Cemera added in September 2021.</vt:lpstr>
      <vt:lpstr>Gene X-pert and Dots corner added December 2021</vt:lpstr>
      <vt:lpstr>Well furnished UHFPO room(2020),RMO room(2021),EMO room(2022)</vt:lpstr>
      <vt:lpstr>                       2022,july</vt:lpstr>
      <vt:lpstr>X-ray department added November 2020</vt:lpstr>
      <vt:lpstr>Hospital boundary wall and residential gate construction 2021</vt:lpstr>
      <vt:lpstr> Gardening &amp; Cleaning day, Every Thursday.</vt:lpstr>
      <vt:lpstr>Upazila Health  Complex  kamalnagar,  C section 2021 </vt:lpstr>
      <vt:lpstr>Inspection by MP,Major(Rtd) Abdul Mannan, 11 feb 2021</vt:lpstr>
      <vt:lpstr>Upazila Health  Complex  kamalnagar, pathlogy visit CS Sir</vt:lpstr>
      <vt:lpstr>Upazila Health  Complex  kamalnagar, EPI Centre Risk</vt:lpstr>
      <vt:lpstr>News paper coverage</vt:lpstr>
      <vt:lpstr>Upazilla Health  Complex  kamalnagar, Lakshmipur.</vt:lpstr>
      <vt:lpstr>Our achievements</vt:lpstr>
      <vt:lpstr>Challenges</vt:lpstr>
      <vt:lpstr>Way Forward</vt:lpstr>
      <vt:lpstr>PowerPoint Presentation</vt:lpstr>
      <vt:lpstr>Our Co-ordinating function done </vt:lpstr>
      <vt:lpstr>Hospital activities done by Following committees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Dell</cp:lastModifiedBy>
  <cp:revision>680</cp:revision>
  <cp:lastPrinted>2017-03-18T23:47:54Z</cp:lastPrinted>
  <dcterms:created xsi:type="dcterms:W3CDTF">2013-05-05T09:56:19Z</dcterms:created>
  <dcterms:modified xsi:type="dcterms:W3CDTF">2022-09-21T18:14:02Z</dcterms:modified>
</cp:coreProperties>
</file>