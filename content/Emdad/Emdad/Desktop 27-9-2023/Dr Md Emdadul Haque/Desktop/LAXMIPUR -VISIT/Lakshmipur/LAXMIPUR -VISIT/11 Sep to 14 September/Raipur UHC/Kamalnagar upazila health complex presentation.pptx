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  <p:sldMasterId id="2147484020" r:id="rId2"/>
    <p:sldMasterId id="2147484036" r:id="rId3"/>
  </p:sldMasterIdLst>
  <p:notesMasterIdLst>
    <p:notesMasterId r:id="rId42"/>
  </p:notesMasterIdLst>
  <p:sldIdLst>
    <p:sldId id="332" r:id="rId4"/>
    <p:sldId id="403" r:id="rId5"/>
    <p:sldId id="309" r:id="rId6"/>
    <p:sldId id="376" r:id="rId7"/>
    <p:sldId id="445" r:id="rId8"/>
    <p:sldId id="447" r:id="rId9"/>
    <p:sldId id="401" r:id="rId10"/>
    <p:sldId id="402" r:id="rId11"/>
    <p:sldId id="448" r:id="rId12"/>
    <p:sldId id="326" r:id="rId13"/>
    <p:sldId id="327" r:id="rId14"/>
    <p:sldId id="346" r:id="rId15"/>
    <p:sldId id="337" r:id="rId16"/>
    <p:sldId id="433" r:id="rId17"/>
    <p:sldId id="439" r:id="rId18"/>
    <p:sldId id="427" r:id="rId19"/>
    <p:sldId id="426" r:id="rId20"/>
    <p:sldId id="429" r:id="rId21"/>
    <p:sldId id="430" r:id="rId22"/>
    <p:sldId id="431" r:id="rId23"/>
    <p:sldId id="428" r:id="rId24"/>
    <p:sldId id="432" r:id="rId25"/>
    <p:sldId id="434" r:id="rId26"/>
    <p:sldId id="435" r:id="rId27"/>
    <p:sldId id="436" r:id="rId28"/>
    <p:sldId id="437" r:id="rId29"/>
    <p:sldId id="444" r:id="rId30"/>
    <p:sldId id="438" r:id="rId31"/>
    <p:sldId id="417" r:id="rId32"/>
    <p:sldId id="412" r:id="rId33"/>
    <p:sldId id="441" r:id="rId34"/>
    <p:sldId id="415" r:id="rId35"/>
    <p:sldId id="421" r:id="rId36"/>
    <p:sldId id="440" r:id="rId37"/>
    <p:sldId id="348" r:id="rId38"/>
    <p:sldId id="443" r:id="rId39"/>
    <p:sldId id="449" r:id="rId40"/>
    <p:sldId id="446" r:id="rId4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6248" autoAdjust="0"/>
  </p:normalViewPr>
  <p:slideViewPr>
    <p:cSldViewPr>
      <p:cViewPr varScale="1">
        <p:scale>
          <a:sx n="64" d="100"/>
          <a:sy n="64" d="100"/>
        </p:scale>
        <p:origin x="171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1.1479999999999997</c:v>
                </c:pt>
                <c:pt idx="1">
                  <c:v>1.008</c:v>
                </c:pt>
                <c:pt idx="2">
                  <c:v>1.0109999999999997</c:v>
                </c:pt>
                <c:pt idx="3">
                  <c:v>0.97199999999999998</c:v>
                </c:pt>
                <c:pt idx="4">
                  <c:v>1.1459999999999997</c:v>
                </c:pt>
                <c:pt idx="5">
                  <c:v>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329664"/>
        <c:axId val="159339648"/>
      </c:barChart>
      <c:catAx>
        <c:axId val="159329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339648"/>
        <c:crosses val="autoZero"/>
        <c:auto val="1"/>
        <c:lblAlgn val="ctr"/>
        <c:lblOffset val="100"/>
        <c:noMultiLvlLbl val="0"/>
      </c:catAx>
      <c:valAx>
        <c:axId val="1593396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93296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34E-2"/>
          <c:w val="0.6583428998945231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 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67965</c:v>
                </c:pt>
                <c:pt idx="1">
                  <c:v>59094</c:v>
                </c:pt>
                <c:pt idx="2">
                  <c:v>81101</c:v>
                </c:pt>
                <c:pt idx="3">
                  <c:v>72470</c:v>
                </c:pt>
                <c:pt idx="4">
                  <c:v>87774</c:v>
                </c:pt>
                <c:pt idx="5">
                  <c:v>67556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6718</c:v>
                </c:pt>
                <c:pt idx="1">
                  <c:v>7099</c:v>
                </c:pt>
                <c:pt idx="2">
                  <c:v>8531</c:v>
                </c:pt>
                <c:pt idx="3">
                  <c:v>6338</c:v>
                </c:pt>
                <c:pt idx="4">
                  <c:v>7652</c:v>
                </c:pt>
                <c:pt idx="5">
                  <c:v>5275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Emergency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2506</c:v>
                </c:pt>
                <c:pt idx="1">
                  <c:v>3743</c:v>
                </c:pt>
                <c:pt idx="2">
                  <c:v>4099</c:v>
                </c:pt>
                <c:pt idx="3">
                  <c:v>4081</c:v>
                </c:pt>
                <c:pt idx="4">
                  <c:v>5921</c:v>
                </c:pt>
                <c:pt idx="5">
                  <c:v>4028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E3-4EF3-AFFF-6058E285C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944704"/>
        <c:axId val="163954688"/>
      </c:barChart>
      <c:catAx>
        <c:axId val="163944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954688"/>
        <c:crosses val="autoZero"/>
        <c:auto val="1"/>
        <c:lblAlgn val="ctr"/>
        <c:lblOffset val="100"/>
        <c:noMultiLvlLbl val="0"/>
      </c:catAx>
      <c:valAx>
        <c:axId val="1639546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39447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64"/>
          <c:y val="0.42290223097112861"/>
          <c:w val="0.16755059239090442"/>
          <c:h val="0.2312933070866141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63961088"/>
        <c:axId val="163811328"/>
        <c:axId val="0"/>
      </c:bar3D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9/21/2022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2022/9/21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228600"/>
            <a:ext cx="8609012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 err="1">
                <a:solidFill>
                  <a:schemeClr val="bg1"/>
                </a:solidFill>
              </a:rPr>
              <a:t>Kamalnagar</a:t>
            </a:r>
            <a:r>
              <a:rPr lang="en-US" sz="3200" b="1" dirty="0">
                <a:solidFill>
                  <a:schemeClr val="bg1"/>
                </a:solidFill>
              </a:rPr>
              <a:t>, </a:t>
            </a:r>
            <a:r>
              <a:rPr lang="en-US" sz="3200" b="1" dirty="0" err="1">
                <a:solidFill>
                  <a:schemeClr val="bg1"/>
                </a:solidFill>
              </a:rPr>
              <a:t>Lakshmipur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6248400" cy="5257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48400" y="1447801"/>
            <a:ext cx="2895600" cy="52578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population		: 217391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Fertile Couples 		: 34576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Pregnant		: 1518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Delivery		: 1737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Live birth		: 1724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death 			: 13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Maternal death		: 02                           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Doctor			: 19 ( 11 + 8)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Nurse                  		: 15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c. HA                   		: 25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SBA                   		:  ( 2HA+4 FWA + 1CHCP)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          e. Volunteer, Security guard &amp; cleaner: 14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H &amp; FWC                   	: 4 (Sub-2 FWC– 2 )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CC0000"/>
                </a:solidFill>
              </a:rPr>
              <a:t>c. Community clinic	: 22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Non- Govt. Clinic  	: 02</a:t>
            </a:r>
          </a:p>
          <a:p>
            <a:pPr marL="609600" indent="-609600" eaLnBrk="1" hangingPunct="1">
              <a:buFontTx/>
              <a:buNone/>
            </a:pPr>
            <a:endParaRPr lang="en-US" altLang="en-US" sz="18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64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dirty="0"/>
              <a:t>Health Profile of </a:t>
            </a:r>
            <a:r>
              <a:rPr lang="en-US" altLang="en-US" sz="2800" b="1" dirty="0" err="1"/>
              <a:t>kamalnagar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Upazila</a:t>
            </a:r>
            <a:r>
              <a:rPr lang="en-US" altLang="en-US" sz="2800" b="1" dirty="0"/>
              <a:t>- 2022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10. Mother Taken-ANC		: 143% 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11. Hospital Delivery Rate		: 84.8% (3755)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12. 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13. Bed Occupancy Rate 		:108%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14. Maternal Mortality Ratio	: 42 / 100000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15. Neonatal Mortality Rate	: 16.7 / 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16. Infant Mortality Rate   	: 20.6 /1000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17. Under-5 Mortality Rate   	: 22.7 /1000 live birth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Hospital with a Vision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Hospital activities done by Following committees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33CC33"/>
                </a:solidFill>
              </a:rPr>
              <a:t>  Our every activity done by team building.</a:t>
            </a:r>
          </a:p>
          <a:p>
            <a:pPr marL="0" indent="0">
              <a:buNone/>
            </a:pPr>
            <a:r>
              <a:rPr lang="en-US" sz="2000" dirty="0"/>
              <a:t>   1. Hospital Management committee</a:t>
            </a:r>
          </a:p>
          <a:p>
            <a:pPr marL="0" indent="0">
              <a:buNone/>
            </a:pPr>
            <a:r>
              <a:rPr lang="en-US" sz="2000" dirty="0"/>
              <a:t>   2.Committee for Monthly </a:t>
            </a:r>
            <a:r>
              <a:rPr lang="en-US" sz="2000" dirty="0" err="1"/>
              <a:t>co-ordinating</a:t>
            </a:r>
            <a:r>
              <a:rPr lang="en-US" sz="2000" dirty="0"/>
              <a:t> meeting</a:t>
            </a:r>
          </a:p>
          <a:p>
            <a:pPr marL="0" indent="0">
              <a:buNone/>
            </a:pPr>
            <a:r>
              <a:rPr lang="en-US" sz="2000" dirty="0"/>
              <a:t>   3. committee for weekly meeting</a:t>
            </a:r>
          </a:p>
          <a:p>
            <a:pPr marL="0" indent="0">
              <a:buNone/>
            </a:pPr>
            <a:r>
              <a:rPr lang="en-US" sz="2000" dirty="0"/>
              <a:t>   4.Diet </a:t>
            </a:r>
            <a:r>
              <a:rPr lang="en-US" sz="2000" dirty="0" err="1"/>
              <a:t>monitoing</a:t>
            </a:r>
            <a:r>
              <a:rPr lang="en-US" sz="2000" dirty="0"/>
              <a:t> committee</a:t>
            </a:r>
          </a:p>
          <a:p>
            <a:pPr marL="0" indent="0">
              <a:buNone/>
            </a:pPr>
            <a:r>
              <a:rPr lang="en-US" sz="2000" dirty="0"/>
              <a:t>   5.Waste management committee</a:t>
            </a:r>
          </a:p>
          <a:p>
            <a:pPr marL="0" indent="0">
              <a:buNone/>
            </a:pPr>
            <a:r>
              <a:rPr lang="en-US" sz="2000" dirty="0"/>
              <a:t>   6. House rent and residential committee</a:t>
            </a:r>
          </a:p>
          <a:p>
            <a:pPr marL="0" indent="0">
              <a:buNone/>
            </a:pPr>
            <a:r>
              <a:rPr lang="en-US" sz="2000" dirty="0"/>
              <a:t>   7.Financial committee for MSR</a:t>
            </a:r>
          </a:p>
          <a:p>
            <a:pPr marL="0" indent="0">
              <a:buNone/>
            </a:pPr>
            <a:r>
              <a:rPr lang="en-US" sz="2000" dirty="0"/>
              <a:t>   8. Committee for health education and awareness</a:t>
            </a:r>
          </a:p>
          <a:p>
            <a:pPr marL="0" indent="0">
              <a:buNone/>
            </a:pPr>
            <a:r>
              <a:rPr lang="en-US" sz="2000" dirty="0"/>
              <a:t>   9. Store management committee</a:t>
            </a:r>
          </a:p>
          <a:p>
            <a:pPr marL="0" indent="0">
              <a:buNone/>
            </a:pPr>
            <a:r>
              <a:rPr lang="en-US" sz="2000" dirty="0"/>
              <a:t>  10. Fire fighting, rescue and </a:t>
            </a:r>
            <a:r>
              <a:rPr lang="en-US" sz="2000" dirty="0" err="1"/>
              <a:t>safty</a:t>
            </a:r>
            <a:r>
              <a:rPr lang="en-US" sz="2000" dirty="0"/>
              <a:t> committee</a:t>
            </a:r>
          </a:p>
          <a:p>
            <a:pPr marL="0" indent="0">
              <a:buNone/>
            </a:pPr>
            <a:r>
              <a:rPr lang="en-US" sz="2000" dirty="0"/>
              <a:t>  11.Anti-sexual </a:t>
            </a:r>
            <a:r>
              <a:rPr lang="en-US" sz="2000" dirty="0" err="1"/>
              <a:t>harasement</a:t>
            </a:r>
            <a:r>
              <a:rPr lang="en-US" sz="2000" dirty="0"/>
              <a:t> committee.</a:t>
            </a:r>
          </a:p>
          <a:p>
            <a:pPr marL="0" indent="0">
              <a:buNone/>
            </a:pPr>
            <a:r>
              <a:rPr lang="en-US" sz="2000" dirty="0"/>
              <a:t>  12. Social and cultural activities celebration committee</a:t>
            </a:r>
          </a:p>
          <a:p>
            <a:pPr marL="0" indent="0">
              <a:buNone/>
            </a:pPr>
            <a:r>
              <a:rPr lang="en-US" sz="2000" dirty="0"/>
              <a:t>  13. Audit committee.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868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Our Co-</a:t>
            </a:r>
            <a:r>
              <a:rPr lang="en-US" dirty="0" err="1">
                <a:solidFill>
                  <a:srgbClr val="FF0000"/>
                </a:solidFill>
              </a:rPr>
              <a:t>ordinating</a:t>
            </a:r>
            <a:r>
              <a:rPr lang="en-US" dirty="0">
                <a:solidFill>
                  <a:srgbClr val="FF0000"/>
                </a:solidFill>
              </a:rPr>
              <a:t> function done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1. By regular physical monitoring and supervision</a:t>
            </a:r>
          </a:p>
          <a:p>
            <a:pPr marL="0" indent="0">
              <a:buNone/>
            </a:pPr>
            <a:r>
              <a:rPr lang="en-US" sz="2400" dirty="0"/>
              <a:t>  2. By using </a:t>
            </a:r>
            <a:r>
              <a:rPr lang="en-US" sz="2400" dirty="0" err="1"/>
              <a:t>Technolgy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                      a. Messenger group</a:t>
            </a:r>
          </a:p>
          <a:p>
            <a:pPr marL="0" indent="0" algn="just">
              <a:buNone/>
            </a:pPr>
            <a:r>
              <a:rPr lang="en-US" sz="2400" dirty="0"/>
              <a:t>                                       </a:t>
            </a:r>
            <a:r>
              <a:rPr lang="en-US" sz="1800" dirty="0"/>
              <a:t>-Doctor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  - EMO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  -Nursing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 - CHCP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 - SACMO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- HI,AHI,HI messenger group</a:t>
            </a:r>
          </a:p>
          <a:p>
            <a:pPr marL="0" indent="0" algn="just">
              <a:buNone/>
            </a:pPr>
            <a:r>
              <a:rPr lang="en-US" sz="2400" dirty="0"/>
              <a:t>                                  b. Mobile tracking system</a:t>
            </a:r>
          </a:p>
          <a:p>
            <a:pPr marL="0" indent="0" algn="just">
              <a:buNone/>
            </a:pPr>
            <a:r>
              <a:rPr lang="en-US" sz="2400" dirty="0"/>
              <a:t>  3. By doing  regular schedule meeting .</a:t>
            </a:r>
          </a:p>
        </p:txBody>
      </p:sp>
    </p:spTree>
    <p:extLst>
      <p:ext uri="{BB962C8B-B14F-4D97-AF65-F5344CB8AC3E}">
        <p14:creationId xmlns:p14="http://schemas.microsoft.com/office/powerpoint/2010/main" val="367020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FF0000"/>
                </a:solidFill>
              </a:rPr>
              <a:t>Background History of MCH services of </a:t>
            </a:r>
            <a:r>
              <a:rPr lang="en-US" sz="2800" b="1" dirty="0" err="1">
                <a:solidFill>
                  <a:srgbClr val="FF0000"/>
                </a:solidFill>
              </a:rPr>
              <a:t>kamalnagar</a:t>
            </a:r>
            <a:r>
              <a:rPr lang="en-US" sz="2800" b="1" dirty="0">
                <a:solidFill>
                  <a:srgbClr val="FF0000"/>
                </a:solidFill>
              </a:rPr>
              <a:t> health Complex, </a:t>
            </a:r>
            <a:r>
              <a:rPr lang="en-US" sz="2800" b="1" dirty="0" err="1">
                <a:solidFill>
                  <a:srgbClr val="FF0000"/>
                </a:solidFill>
              </a:rPr>
              <a:t>Lakshmipur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9436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services to the mother and child, UHFPO opened 9 delivery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9 union with the help of JICA in March 2021. And from March 2021 to june-2022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JICA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by Frontline MCH Program. 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Special activities: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NCD corner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5 corner for under 5 children(IMCI)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birth and death record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7807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Dec. 1999 Reproductive Health Department of DGHS and UNICEF gave logistic supports and human resources development 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November 2000 started Comprehensive EOC program.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2022  Safe Blood Transfusion unit established after establishing the pathology department.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packages(one month) for ANC patient started from august 2021.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and child friendly Hospital declared in 2021.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Killer Disease (diabetes, hypertension (NCD Corner), RTA &amp; poisoning)  prevention program starts in  1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January-2021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KMC and SAM corner started from January 2021.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corner for screening of cervical cancer will be started very soon.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Our different Services and developments :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 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0847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 2017 to 2022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2017 to 2022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ll/>
      </p:transition>
    </mc:Choice>
    <mc:Fallback xmlns="">
      <p:transition spd="slow">
        <p:pull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2017 to 2022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</p:spTree>
    <p:extLst>
      <p:ext uri="{BB962C8B-B14F-4D97-AF65-F5344CB8AC3E}">
        <p14:creationId xmlns:p14="http://schemas.microsoft.com/office/powerpoint/2010/main" val="301826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4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kamalnagar</a:t>
            </a: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4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Lakshmipur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 to 2022 (Hospital Delivery )</a:t>
            </a:r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1219200" y="2286001"/>
          <a:ext cx="7467599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3" name="Worksheet" r:id="rId4" imgW="6562833" imgH="3571875" progId="Excel.Sheet.8">
                  <p:embed/>
                </p:oleObj>
              </mc:Choice>
              <mc:Fallback>
                <p:oleObj name="Worksheet" r:id="rId4" imgW="6562833" imgH="3571875" progId="Excel.Sheet.8">
                  <p:embed/>
                  <p:pic>
                    <p:nvPicPr>
                      <p:cNvPr id="0" name="Picture 29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86001"/>
                        <a:ext cx="7467599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Well-decorated conference </a:t>
            </a:r>
            <a:r>
              <a:rPr lang="en-US" dirty="0" err="1">
                <a:solidFill>
                  <a:srgbClr val="FF0000"/>
                </a:solidFill>
              </a:rPr>
              <a:t>room.july</a:t>
            </a:r>
            <a:r>
              <a:rPr lang="en-US" dirty="0">
                <a:solidFill>
                  <a:srgbClr val="FF0000"/>
                </a:solidFill>
              </a:rPr>
              <a:t> 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191000" cy="423703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48200" y="1600200"/>
            <a:ext cx="4038600" cy="423703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Establishment of Central Oxygen </a:t>
            </a:r>
            <a:r>
              <a:rPr lang="en-US" dirty="0" err="1">
                <a:solidFill>
                  <a:srgbClr val="FF0000"/>
                </a:solidFill>
              </a:rPr>
              <a:t>system,july</a:t>
            </a:r>
            <a:r>
              <a:rPr lang="en-US" dirty="0">
                <a:solidFill>
                  <a:srgbClr val="FF0000"/>
                </a:solidFill>
              </a:rPr>
              <a:t> 2020.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417639"/>
            <a:ext cx="8153400" cy="470852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Receiving of Ambulance and Jeep keys from CS Sir ,august 2020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676400"/>
            <a:ext cx="5562600" cy="2819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76600" y="4495800"/>
            <a:ext cx="5410200" cy="21336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3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>
                <a:solidFill>
                  <a:srgbClr val="FF0000"/>
                </a:solidFill>
              </a:rPr>
              <a:t>Muktijudda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Shapla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Chattor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inaugurated by CS Sir and </a:t>
            </a:r>
            <a:r>
              <a:rPr lang="en-US" sz="2800" dirty="0" err="1">
                <a:solidFill>
                  <a:srgbClr val="FF0000"/>
                </a:solidFill>
              </a:rPr>
              <a:t>Muktijudda</a:t>
            </a:r>
            <a:r>
              <a:rPr lang="en-US" sz="2800" dirty="0">
                <a:solidFill>
                  <a:srgbClr val="FF0000"/>
                </a:solidFill>
              </a:rPr>
              <a:t> commander,sep,2021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5800" y="1600199"/>
            <a:ext cx="7543800" cy="452596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8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Citizen charter, value and medicine list added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828800"/>
            <a:ext cx="3962400" cy="213360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1828800"/>
            <a:ext cx="3962400" cy="2133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3962400"/>
            <a:ext cx="3962400" cy="25908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95800" y="3962400"/>
            <a:ext cx="3962400" cy="25908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Intercom added march 2022.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7680" y="4160839"/>
            <a:ext cx="4191000" cy="300196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78680" y="1219201"/>
            <a:ext cx="3970020" cy="2941638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2440" y="1219201"/>
            <a:ext cx="4191000" cy="294163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63440" y="4160839"/>
            <a:ext cx="3909060" cy="3001961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5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Safe drinking water system added in </a:t>
            </a:r>
            <a:r>
              <a:rPr lang="en-US" sz="3600" dirty="0" err="1">
                <a:solidFill>
                  <a:srgbClr val="FF0000"/>
                </a:solidFill>
              </a:rPr>
              <a:t>july</a:t>
            </a:r>
            <a:r>
              <a:rPr lang="en-US" sz="3600" dirty="0">
                <a:solidFill>
                  <a:srgbClr val="FF0000"/>
                </a:solidFill>
              </a:rPr>
              <a:t>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640" y="1066800"/>
            <a:ext cx="8849360" cy="55349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" y="1066800"/>
            <a:ext cx="4338320" cy="312420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19600" y="4155440"/>
            <a:ext cx="4262120" cy="262636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14520" y="1066800"/>
            <a:ext cx="4267200" cy="30480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" y="4257040"/>
            <a:ext cx="4343400" cy="2600960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3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wipe/>
      </p:transition>
    </mc:Choice>
    <mc:Fallback xmlns="">
      <p:transition spd="slow">
        <p:wip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96863"/>
            <a:ext cx="8229600" cy="1143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Inauguration of Pathology department, NCD Corner and </a:t>
            </a:r>
            <a:r>
              <a:rPr lang="en-US" sz="3600" dirty="0" err="1">
                <a:solidFill>
                  <a:srgbClr val="FF0000"/>
                </a:solidFill>
              </a:rPr>
              <a:t>Banghobondhu</a:t>
            </a:r>
            <a:r>
              <a:rPr lang="en-US" sz="3600" dirty="0">
                <a:solidFill>
                  <a:srgbClr val="FF0000"/>
                </a:solidFill>
              </a:rPr>
              <a:t> Corner 2022,july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572000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29200" y="1600200"/>
            <a:ext cx="3581400" cy="2895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09800" y="4495799"/>
            <a:ext cx="5029200" cy="236220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94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New Generator added </a:t>
            </a:r>
            <a:r>
              <a:rPr lang="en-US" dirty="0" err="1">
                <a:solidFill>
                  <a:srgbClr val="FF0000"/>
                </a:solidFill>
              </a:rPr>
              <a:t>june</a:t>
            </a:r>
            <a:r>
              <a:rPr lang="en-US" dirty="0">
                <a:solidFill>
                  <a:srgbClr val="FF0000"/>
                </a:solidFill>
              </a:rPr>
              <a:t> 2022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7360" y="1295400"/>
            <a:ext cx="8229600" cy="5562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00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Whole hospital is controlled by CC </a:t>
            </a:r>
            <a:r>
              <a:rPr lang="en-US" sz="4000" dirty="0" err="1">
                <a:solidFill>
                  <a:srgbClr val="FF0000"/>
                </a:solidFill>
              </a:rPr>
              <a:t>Cemera</a:t>
            </a:r>
            <a:r>
              <a:rPr lang="en-US" sz="4000" dirty="0">
                <a:solidFill>
                  <a:srgbClr val="FF0000"/>
                </a:solidFill>
              </a:rPr>
              <a:t> added in September 2021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17638"/>
            <a:ext cx="8305800" cy="460216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29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Gene X-pert and Dots corner added December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2240" y="1549083"/>
            <a:ext cx="4419600" cy="53089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61840" y="1549083"/>
            <a:ext cx="4582160" cy="5308917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5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Well furnished UHFPO room(2020),RMO room(2021),EMO room(2022)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737519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219200"/>
            <a:ext cx="4648200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4600" y="4114800"/>
            <a:ext cx="4648200" cy="2743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05400" y="1219200"/>
            <a:ext cx="3505200" cy="28956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7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</a:t>
            </a:r>
            <a:r>
              <a:rPr lang="en-US" dirty="0">
                <a:solidFill>
                  <a:srgbClr val="FF0000"/>
                </a:solidFill>
              </a:rPr>
              <a:t>2022,july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760" y="1448118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" y="1463358"/>
            <a:ext cx="7429500" cy="571468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43000" y="274638"/>
            <a:ext cx="3352800" cy="11430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X-ray department added November 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600199"/>
            <a:ext cx="3810000" cy="4525963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67200" y="1600199"/>
            <a:ext cx="4419600" cy="4525964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3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Hospital boundary wall and residential gate construction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1046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1828800"/>
            <a:ext cx="5029200" cy="46482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05400" y="1828800"/>
            <a:ext cx="4038600" cy="4648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6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 Gardening &amp; Cleaning day,</a:t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US" sz="3600" b="1" dirty="0">
                <a:solidFill>
                  <a:srgbClr val="FF0000"/>
                </a:solidFill>
              </a:rPr>
              <a:t>Every Thursday.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" y="1905000"/>
            <a:ext cx="4109720" cy="43434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828800"/>
            <a:ext cx="4038600" cy="4343400"/>
          </a:xfrm>
        </p:spPr>
      </p:pic>
    </p:spTree>
    <p:extLst>
      <p:ext uri="{BB962C8B-B14F-4D97-AF65-F5344CB8AC3E}">
        <p14:creationId xmlns:p14="http://schemas.microsoft.com/office/powerpoint/2010/main" val="270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 C section 2021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600200"/>
            <a:ext cx="4610100" cy="4525963"/>
          </a:xfrm>
        </p:spPr>
      </p:pic>
      <p:sp>
        <p:nvSpPr>
          <p:cNvPr id="3" name="Rectangle 2"/>
          <p:cNvSpPr/>
          <p:nvPr/>
        </p:nvSpPr>
        <p:spPr>
          <a:xfrm>
            <a:off x="5029200" y="1600201"/>
            <a:ext cx="4038600" cy="4525962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Inspection by </a:t>
            </a:r>
            <a:r>
              <a:rPr lang="en-US" dirty="0" err="1">
                <a:solidFill>
                  <a:srgbClr val="FF0000"/>
                </a:solidFill>
              </a:rPr>
              <a:t>MP,Major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Rtd</a:t>
            </a:r>
            <a:r>
              <a:rPr lang="en-US" dirty="0">
                <a:solidFill>
                  <a:srgbClr val="FF0000"/>
                </a:solidFill>
              </a:rPr>
              <a:t>) Abdul </a:t>
            </a:r>
            <a:r>
              <a:rPr lang="en-US" dirty="0" err="1">
                <a:solidFill>
                  <a:srgbClr val="FF0000"/>
                </a:solidFill>
              </a:rPr>
              <a:t>Mannan</a:t>
            </a:r>
            <a:r>
              <a:rPr lang="en-US" dirty="0">
                <a:solidFill>
                  <a:srgbClr val="FF0000"/>
                </a:solidFill>
              </a:rPr>
              <a:t>, 11 </a:t>
            </a:r>
            <a:r>
              <a:rPr lang="en-US" dirty="0" err="1">
                <a:solidFill>
                  <a:srgbClr val="FF0000"/>
                </a:solidFill>
              </a:rPr>
              <a:t>feb</a:t>
            </a:r>
            <a:r>
              <a:rPr lang="en-US" dirty="0">
                <a:solidFill>
                  <a:srgbClr val="FF0000"/>
                </a:solidFill>
              </a:rPr>
              <a:t>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114800" cy="248443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1600200"/>
            <a:ext cx="4114800" cy="248443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4084637"/>
            <a:ext cx="4114800" cy="204152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0" y="4084636"/>
            <a:ext cx="4114800" cy="204152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6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wipe/>
      </p:transition>
    </mc:Choice>
    <mc:Fallback xmlns="">
      <p:transition spd="slow">
        <p:wip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pathlogy</a:t>
            </a:r>
            <a:r>
              <a:rPr lang="en-US" b="1" dirty="0">
                <a:solidFill>
                  <a:srgbClr val="FF0000"/>
                </a:solidFill>
              </a:rPr>
              <a:t> visit CS Sir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8381999" cy="4525963"/>
          </a:xfrm>
        </p:spPr>
      </p:pic>
    </p:spTree>
    <p:extLst>
      <p:ext uri="{BB962C8B-B14F-4D97-AF65-F5344CB8AC3E}">
        <p14:creationId xmlns:p14="http://schemas.microsoft.com/office/powerpoint/2010/main" val="12427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EPI Centre Risk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600200"/>
            <a:ext cx="8153400" cy="4525963"/>
          </a:xfrm>
        </p:spPr>
      </p:pic>
    </p:spTree>
    <p:extLst>
      <p:ext uri="{BB962C8B-B14F-4D97-AF65-F5344CB8AC3E}">
        <p14:creationId xmlns:p14="http://schemas.microsoft.com/office/powerpoint/2010/main" val="30582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News paper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17638"/>
            <a:ext cx="3962400" cy="470852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50080" y="1417637"/>
            <a:ext cx="4236720" cy="47085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702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dirty="0" err="1"/>
              <a:t>Upazila</a:t>
            </a:r>
            <a:r>
              <a:rPr lang="en-US" altLang="en-US" sz="3200" b="1" dirty="0"/>
              <a:t> Health  Complex</a:t>
            </a:r>
            <a:br>
              <a:rPr lang="en-US" altLang="en-US" sz="3200" b="1" dirty="0"/>
            </a:b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kamalnagar</a:t>
            </a: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Lakshmipur</a:t>
            </a:r>
            <a:r>
              <a:rPr lang="en-US" altLang="en-US" sz="2000" b="1" dirty="0"/>
              <a:t>.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15367"/>
            <a:ext cx="8534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IPS &amp; delivery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instruements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financed by JICA for 10 delivery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each union.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oxygen system  financed and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organiged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by Upazila Parishad. 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100 enlisted blood donors in emergency need (Transfusion of 165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 F/blood are given in 2021,2022)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MP and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Upazilla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Parishad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Our achievements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Our </a:t>
            </a:r>
            <a:r>
              <a:rPr lang="en-US" dirty="0" err="1"/>
              <a:t>upazila</a:t>
            </a:r>
            <a:r>
              <a:rPr lang="en-US" dirty="0"/>
              <a:t> is near </a:t>
            </a:r>
            <a:r>
              <a:rPr lang="en-US" dirty="0" err="1"/>
              <a:t>Meghna</a:t>
            </a:r>
            <a:r>
              <a:rPr lang="en-US" dirty="0"/>
              <a:t> river and it is continuous flooded and eroded and very hard to risk </a:t>
            </a:r>
            <a:r>
              <a:rPr lang="en-US" dirty="0" err="1"/>
              <a:t>area.Moreover</a:t>
            </a:r>
            <a:r>
              <a:rPr lang="en-US" dirty="0"/>
              <a:t>-</a:t>
            </a:r>
          </a:p>
          <a:p>
            <a:pPr marL="0" indent="0">
              <a:buNone/>
            </a:pPr>
            <a:r>
              <a:rPr lang="en-US" dirty="0"/>
              <a:t>#Our corona vaccine coverage- </a:t>
            </a:r>
          </a:p>
          <a:p>
            <a:pPr marL="0" indent="0">
              <a:buNone/>
            </a:pPr>
            <a:r>
              <a:rPr lang="en-US" dirty="0"/>
              <a:t>                                        &gt; 1</a:t>
            </a:r>
            <a:r>
              <a:rPr lang="en-US" baseline="30000" dirty="0"/>
              <a:t>st</a:t>
            </a:r>
            <a:r>
              <a:rPr lang="en-US" dirty="0"/>
              <a:t> dose-86.25%</a:t>
            </a:r>
          </a:p>
          <a:p>
            <a:pPr marL="0" indent="0">
              <a:buNone/>
            </a:pPr>
            <a:r>
              <a:rPr lang="en-US" dirty="0"/>
              <a:t>                                        &gt;2</a:t>
            </a:r>
            <a:r>
              <a:rPr lang="en-US" baseline="30000" dirty="0"/>
              <a:t>nd</a:t>
            </a:r>
            <a:r>
              <a:rPr lang="en-US" dirty="0"/>
              <a:t> dose-81.3%</a:t>
            </a:r>
          </a:p>
          <a:p>
            <a:pPr marL="0" indent="0">
              <a:buNone/>
            </a:pPr>
            <a:r>
              <a:rPr lang="en-US" dirty="0"/>
              <a:t> # EPI coverage-99.99%</a:t>
            </a:r>
          </a:p>
          <a:p>
            <a:pPr marL="0" indent="0">
              <a:buNone/>
            </a:pPr>
            <a:r>
              <a:rPr lang="en-US" dirty="0"/>
              <a:t> # Our hospital activity will be controlled by automation system very soon.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  1. Change the attitude.</a:t>
            </a:r>
          </a:p>
          <a:p>
            <a:pPr marL="0" indent="0">
              <a:buNone/>
            </a:pPr>
            <a:r>
              <a:rPr lang="en-US" sz="2400" dirty="0"/>
              <a:t>  2. Fill up remaining 45% human </a:t>
            </a:r>
            <a:r>
              <a:rPr lang="en-US" sz="2400" dirty="0" err="1"/>
              <a:t>resouces.and</a:t>
            </a:r>
            <a:r>
              <a:rPr lang="en-US" sz="2400" dirty="0"/>
              <a:t> </a:t>
            </a:r>
            <a:r>
              <a:rPr lang="en-US" sz="2400" dirty="0" err="1"/>
              <a:t>cancelletion</a:t>
            </a:r>
            <a:r>
              <a:rPr lang="en-US" sz="2400" dirty="0"/>
              <a:t> of attachment post.</a:t>
            </a:r>
          </a:p>
          <a:p>
            <a:pPr marL="0" indent="0">
              <a:buNone/>
            </a:pPr>
            <a:r>
              <a:rPr lang="en-US" sz="2400" dirty="0"/>
              <a:t>  3. Construction and reconstruction of infrastructures specially</a:t>
            </a:r>
          </a:p>
          <a:p>
            <a:pPr marL="0" indent="0">
              <a:buNone/>
            </a:pPr>
            <a:r>
              <a:rPr lang="en-US" sz="2400" dirty="0"/>
              <a:t>                               - Store building</a:t>
            </a:r>
          </a:p>
          <a:p>
            <a:pPr marL="0" indent="0">
              <a:buNone/>
            </a:pPr>
            <a:r>
              <a:rPr lang="en-US" sz="2400" dirty="0"/>
              <a:t>                               -repair old building and new building</a:t>
            </a:r>
          </a:p>
          <a:p>
            <a:pPr marL="0" indent="0">
              <a:buNone/>
            </a:pPr>
            <a:r>
              <a:rPr lang="en-US" sz="2400" dirty="0"/>
              <a:t> 4. UHFPO residence, Quarter and Dormitory construction.</a:t>
            </a:r>
          </a:p>
          <a:p>
            <a:pPr marL="0" indent="0">
              <a:buNone/>
            </a:pPr>
            <a:r>
              <a:rPr lang="en-US" sz="2400" dirty="0"/>
              <a:t> 5. Construction of River broken 4 CC.</a:t>
            </a:r>
          </a:p>
          <a:p>
            <a:pPr marL="0" indent="0">
              <a:buNone/>
            </a:pPr>
            <a:r>
              <a:rPr lang="en-US" sz="2400" dirty="0"/>
              <a:t> 6. Creation of post in </a:t>
            </a:r>
            <a:r>
              <a:rPr lang="en-US" sz="2400" dirty="0" err="1"/>
              <a:t>favour</a:t>
            </a:r>
            <a:r>
              <a:rPr lang="en-US" sz="2400" dirty="0"/>
              <a:t> of 50 bed.</a:t>
            </a:r>
          </a:p>
          <a:p>
            <a:pPr marL="0" indent="0">
              <a:buNone/>
            </a:pPr>
            <a:r>
              <a:rPr lang="en-US" sz="2400" dirty="0"/>
              <a:t> 7. SSK establishment is a challenge.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- </a:t>
            </a:r>
          </a:p>
        </p:txBody>
      </p:sp>
    </p:spTree>
    <p:extLst>
      <p:ext uri="{BB962C8B-B14F-4D97-AF65-F5344CB8AC3E}">
        <p14:creationId xmlns:p14="http://schemas.microsoft.com/office/powerpoint/2010/main" val="295657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153400" cy="4343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5062</TotalTime>
  <Words>857</Words>
  <Application>Microsoft Office PowerPoint</Application>
  <PresentationFormat>On-screen Show (4:3)</PresentationFormat>
  <Paragraphs>165</Paragraphs>
  <Slides>38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Times New Roman</vt:lpstr>
      <vt:lpstr>Wingdings</vt:lpstr>
      <vt:lpstr>Office Theme</vt:lpstr>
      <vt:lpstr>Default Design</vt:lpstr>
      <vt:lpstr>1_Default Design</vt:lpstr>
      <vt:lpstr>Worksheet</vt:lpstr>
      <vt:lpstr>PowerPoint Presentation</vt:lpstr>
      <vt:lpstr>Health Profile of kamalnagar Upazila- 2022</vt:lpstr>
      <vt:lpstr>PowerPoint Presentation</vt:lpstr>
      <vt:lpstr>A Sub-district level Hospital with a Vision</vt:lpstr>
      <vt:lpstr>Hospital activities done by Following committees</vt:lpstr>
      <vt:lpstr>Our Co-ordinating function done </vt:lpstr>
      <vt:lpstr>Background History of MCH services of kamalnagar health Complex, Lakshmipur</vt:lpstr>
      <vt:lpstr>Contd.</vt:lpstr>
      <vt:lpstr>PowerPoint Presentation</vt:lpstr>
      <vt:lpstr>PowerPoint Presentation</vt:lpstr>
      <vt:lpstr>Emergency &amp; Out Door, Indoor  Service 2017 to 2022</vt:lpstr>
      <vt:lpstr>  Comparative data of revenue income (in Taka) from 2017 to 2022 </vt:lpstr>
      <vt:lpstr>Upazila Health  Complex kamalnagar, Lakshmipur.</vt:lpstr>
      <vt:lpstr>Well-decorated conference room.july 2020</vt:lpstr>
      <vt:lpstr>Establishment of Central Oxygen system,july 2020.</vt:lpstr>
      <vt:lpstr>Receiving of Ambulance and Jeep keys from CS Sir ,august 2020.</vt:lpstr>
      <vt:lpstr>Muktijudda Shapla Chattor inaugurated by CS Sir and Muktijudda commander,sep,2021</vt:lpstr>
      <vt:lpstr>Citizen charter, value and medicine list added 2021</vt:lpstr>
      <vt:lpstr>Intercom added march 2022.</vt:lpstr>
      <vt:lpstr>Safe drinking water system added in july 2021</vt:lpstr>
      <vt:lpstr>Inauguration of Pathology department, NCD Corner and Banghobondhu Corner 2022,july</vt:lpstr>
      <vt:lpstr>New Generator added june 2022</vt:lpstr>
      <vt:lpstr>Whole hospital is controlled by CC Cemera added in September 2021.</vt:lpstr>
      <vt:lpstr>Gene X-pert and Dots corner added December 2021</vt:lpstr>
      <vt:lpstr>Well furnished UHFPO room(2020),RMO room(2021),EMO room(2022)</vt:lpstr>
      <vt:lpstr>                       2022,july</vt:lpstr>
      <vt:lpstr>X-ray department added November 2020</vt:lpstr>
      <vt:lpstr>Hospital boundary wall and residential gate construction 2021</vt:lpstr>
      <vt:lpstr> Gardening &amp; Cleaning day, Every Thursday.</vt:lpstr>
      <vt:lpstr>Upazila Health  Complex  kamalnagar,  C section 2021 </vt:lpstr>
      <vt:lpstr>Inspection by MP,Major(Rtd) Abdul Mannan, 11 feb 2021</vt:lpstr>
      <vt:lpstr>Upazila Health  Complex  kamalnagar, pathlogy visit CS Sir</vt:lpstr>
      <vt:lpstr>Upazila Health  Complex  kamalnagar, EPI Centre Risk</vt:lpstr>
      <vt:lpstr>News paper coverage</vt:lpstr>
      <vt:lpstr>Upazila Health  Complex  kamalnagar, Lakshmipur.</vt:lpstr>
      <vt:lpstr>Our achievements</vt:lpstr>
      <vt:lpstr>Challenges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668</cp:revision>
  <cp:lastPrinted>2017-03-18T23:47:54Z</cp:lastPrinted>
  <dcterms:created xsi:type="dcterms:W3CDTF">2013-05-05T09:56:19Z</dcterms:created>
  <dcterms:modified xsi:type="dcterms:W3CDTF">2022-09-21T09:17:03Z</dcterms:modified>
</cp:coreProperties>
</file>