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  <p:sldMasterId id="2147484020" r:id="rId2"/>
    <p:sldMasterId id="2147484036" r:id="rId3"/>
  </p:sldMasterIdLst>
  <p:notesMasterIdLst>
    <p:notesMasterId r:id="rId35"/>
  </p:notesMasterIdLst>
  <p:sldIdLst>
    <p:sldId id="332" r:id="rId4"/>
    <p:sldId id="376" r:id="rId5"/>
    <p:sldId id="453" r:id="rId6"/>
    <p:sldId id="309" r:id="rId7"/>
    <p:sldId id="401" r:id="rId8"/>
    <p:sldId id="402" r:id="rId9"/>
    <p:sldId id="326" r:id="rId10"/>
    <p:sldId id="451" r:id="rId11"/>
    <p:sldId id="337" r:id="rId12"/>
    <p:sldId id="433" r:id="rId13"/>
    <p:sldId id="439" r:id="rId14"/>
    <p:sldId id="427" r:id="rId15"/>
    <p:sldId id="426" r:id="rId16"/>
    <p:sldId id="429" r:id="rId17"/>
    <p:sldId id="430" r:id="rId18"/>
    <p:sldId id="428" r:id="rId19"/>
    <p:sldId id="434" r:id="rId20"/>
    <p:sldId id="438" r:id="rId21"/>
    <p:sldId id="417" r:id="rId22"/>
    <p:sldId id="421" r:id="rId23"/>
    <p:sldId id="298" r:id="rId24"/>
    <p:sldId id="294" r:id="rId25"/>
    <p:sldId id="296" r:id="rId26"/>
    <p:sldId id="299" r:id="rId27"/>
    <p:sldId id="285" r:id="rId28"/>
    <p:sldId id="440" r:id="rId29"/>
    <p:sldId id="348" r:id="rId30"/>
    <p:sldId id="443" r:id="rId31"/>
    <p:sldId id="449" r:id="rId32"/>
    <p:sldId id="452" r:id="rId33"/>
    <p:sldId id="446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3CC33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6248" autoAdjust="0"/>
  </p:normalViewPr>
  <p:slideViewPr>
    <p:cSldViewPr>
      <p:cViewPr varScale="1">
        <p:scale>
          <a:sx n="64" d="100"/>
          <a:sy n="64" d="100"/>
        </p:scale>
        <p:origin x="17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1.1479999999999997</c:v>
                </c:pt>
                <c:pt idx="1">
                  <c:v>1.008</c:v>
                </c:pt>
                <c:pt idx="2">
                  <c:v>1.0109999999999997</c:v>
                </c:pt>
                <c:pt idx="3">
                  <c:v>0.97199999999999998</c:v>
                </c:pt>
                <c:pt idx="4">
                  <c:v>1.1459999999999997</c:v>
                </c:pt>
                <c:pt idx="5">
                  <c:v>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329664"/>
        <c:axId val="159339648"/>
      </c:barChart>
      <c:catAx>
        <c:axId val="159329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339648"/>
        <c:crosses val="autoZero"/>
        <c:auto val="1"/>
        <c:lblAlgn val="ctr"/>
        <c:lblOffset val="100"/>
        <c:noMultiLvlLbl val="0"/>
      </c:catAx>
      <c:valAx>
        <c:axId val="159339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93296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34E-2"/>
          <c:w val="0.6583428998945231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Outdoor &amp; Emergency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70471</c:v>
                </c:pt>
                <c:pt idx="1">
                  <c:v>62837</c:v>
                </c:pt>
                <c:pt idx="2">
                  <c:v>85200</c:v>
                </c:pt>
                <c:pt idx="3">
                  <c:v>76551</c:v>
                </c:pt>
                <c:pt idx="4">
                  <c:v>93695</c:v>
                </c:pt>
                <c:pt idx="5">
                  <c:v>71584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543209876543207E-2"/>
                  <c:y val="-1.3888888888888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A0-44B9-A000-4259AFCC04E7}"/>
                </c:ext>
              </c:extLst>
            </c:dLbl>
            <c:dLbl>
              <c:idx val="1"/>
              <c:layout>
                <c:manualLayout>
                  <c:x val="1.6975308641975308E-2"/>
                  <c:y val="-1.66666666666667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BA0-44B9-A000-4259AFCC04E7}"/>
                </c:ext>
              </c:extLst>
            </c:dLbl>
            <c:dLbl>
              <c:idx val="2"/>
              <c:layout>
                <c:manualLayout>
                  <c:x val="2.7777777777777665E-2"/>
                  <c:y val="-2.22222222222223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BA0-44B9-A000-4259AFCC04E7}"/>
                </c:ext>
              </c:extLst>
            </c:dLbl>
            <c:dLbl>
              <c:idx val="3"/>
              <c:layout>
                <c:manualLayout>
                  <c:x val="2.0061728395061672E-2"/>
                  <c:y val="-1.11111111111112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BA0-44B9-A000-4259AFCC04E7}"/>
                </c:ext>
              </c:extLst>
            </c:dLbl>
            <c:dLbl>
              <c:idx val="4"/>
              <c:layout>
                <c:manualLayout>
                  <c:x val="2.1604938271604937E-2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BA0-44B9-A000-4259AFCC04E7}"/>
                </c:ext>
              </c:extLst>
            </c:dLbl>
            <c:dLbl>
              <c:idx val="5"/>
              <c:layout>
                <c:manualLayout>
                  <c:x val="2.3148148148148147E-2"/>
                  <c:y val="-2.5000000000000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BA0-44B9-A000-4259AFCC04E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6718</c:v>
                </c:pt>
                <c:pt idx="1">
                  <c:v>7099</c:v>
                </c:pt>
                <c:pt idx="2">
                  <c:v>8531</c:v>
                </c:pt>
                <c:pt idx="3">
                  <c:v>6338</c:v>
                </c:pt>
                <c:pt idx="4">
                  <c:v>7652</c:v>
                </c:pt>
                <c:pt idx="5">
                  <c:v>5275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944704"/>
        <c:axId val="163954688"/>
      </c:barChart>
      <c:catAx>
        <c:axId val="163944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3954688"/>
        <c:crosses val="autoZero"/>
        <c:auto val="1"/>
        <c:lblAlgn val="ctr"/>
        <c:lblOffset val="100"/>
        <c:noMultiLvlLbl val="0"/>
      </c:catAx>
      <c:valAx>
        <c:axId val="1639546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3944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947239233984636"/>
          <c:y val="0.35068000874890637"/>
          <c:w val="0.17818198542939145"/>
          <c:h val="0.2868488626421697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6.1308421973569109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639345829053977"/>
          <c:h val="0.20677073260579268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99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228600"/>
            <a:ext cx="8609012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Kamalnagar, Lakshmipur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1587500"/>
            <a:ext cx="8609012" cy="52578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200" b="1" dirty="0"/>
              <a:t>A Sub-district level Hospital with a Vision </a:t>
            </a:r>
            <a:r>
              <a:rPr lang="en-US" sz="36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3810000" cy="5185764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1. Total population : 2,63,545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2. Total Fertile Couples  : 34576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3. Total Pregnant : 1518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4. Total Delivery  : 1737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5. Total Live birth : 1724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6. Total death : </a:t>
            </a:r>
          </a:p>
          <a:p>
            <a:pPr marL="0" indent="0"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altLang="en-US" sz="2000" b="1" dirty="0"/>
              <a:t>7. Total Maternal death : 02                               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1800"/>
              </a:spcAft>
              <a:buFontTx/>
              <a:buNone/>
            </a:pPr>
            <a:endParaRPr lang="en-US" altLang="en-US" sz="20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b="1" dirty="0"/>
              <a:t>Health Profile of Kamalnagar UHC - 2022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FD25A2-7733-4FF1-B65C-1E28EBA0D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058056"/>
            <a:ext cx="4724400" cy="541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AutoNum type="arabicPeriod" startAt="8"/>
            </a:pPr>
            <a:r>
              <a:rPr lang="en-US" altLang="en-US" sz="2000" b="1" dirty="0"/>
              <a:t>Human Resource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b="1" dirty="0"/>
              <a:t>    a. Doctor     : 19 ( 11 + 8)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b. Nurse      : 15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c. HA            : 25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d. SBA          : 2HA +4 FWA + 1CHCP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e. CHCP      : 21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    f. Volunteer, Security guard &amp; cleaner: 14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b="1" dirty="0"/>
              <a:t>9.  Health Institutions		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b="1" dirty="0"/>
              <a:t>          a. Health Complex  : 01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	b. H &amp; FWC  : 4 (Sub-2 FWC– 2 )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	c. Community clinic : 22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/>
              <a:t>	d. Non- Govt. Clinic : 02</a:t>
            </a:r>
          </a:p>
          <a:p>
            <a:pPr marL="609600" indent="-609600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578065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10. Mother taken ANC 1</a:t>
            </a:r>
            <a:r>
              <a:rPr lang="en-US" altLang="en-US" sz="2400" b="1" baseline="30000" dirty="0"/>
              <a:t>st </a:t>
            </a:r>
            <a:r>
              <a:rPr lang="en-US" altLang="en-US" sz="2400" b="1" dirty="0"/>
              <a:t>visit     :  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11. Mother taken ANC 4</a:t>
            </a:r>
            <a:r>
              <a:rPr lang="en-US" altLang="en-US" sz="2400" b="1" baseline="30000" dirty="0"/>
              <a:t>th</a:t>
            </a:r>
            <a:r>
              <a:rPr lang="en-US" altLang="en-US" sz="2400" b="1" dirty="0"/>
              <a:t> visit     :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12. Hospital Delivery Rate	       :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/>
              <a:t>13. No. of Hospital bed	       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14. Bed Occupancy Rate 	       :108%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15. Contraceptive Prevalence Rate (CPR):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16. Total Fertility Rate (TFR) :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17. Maternal Mortality Ratio	: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18. Neonatal Mortality Rate	: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19. Infant Mortality Rate   	: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20. Under-5 Mortality Rate   	: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C2078A3-4AEE-4C34-90E2-488E2D178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866775"/>
          </a:xfrm>
          <a:prstGeom prst="rect">
            <a:avLst/>
          </a:prstGeom>
          <a:solidFill>
            <a:srgbClr val="BBE0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Contd.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200" b="1" dirty="0"/>
              <a:t>Background History of Kamalnagar UHC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4864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Kamalnagar UHC started as 31 bedded Hospital in 1981  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 complex upgraded to 50 bedded in.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2012 UH&amp;FPO started 3  special activates 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Special activities: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IMCI Corner for under 5 children</a:t>
            </a: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219200"/>
            <a:ext cx="75438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 started from 1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January-2021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KMC and SAM corner started from January 2021.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packages for ANC patient started from August 2021.   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and child friendly Hospital declared in 2021.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Blood Transfusion unit established in 2022.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SSK program starts in July 2022.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 2017 to 2022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Kamalnagar 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2017 to July-2022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4400">
                <a:latin typeface="Calibri" pitchFamily="34" charset="0"/>
              </a:defRPr>
            </a:lvl2pPr>
            <a:lvl3pPr algn="ctr">
              <a:defRPr sz="4400">
                <a:latin typeface="Calibri" pitchFamily="34" charset="0"/>
              </a:defRPr>
            </a:lvl3pPr>
            <a:lvl4pPr algn="ctr">
              <a:defRPr sz="4400">
                <a:latin typeface="Calibri" pitchFamily="34" charset="0"/>
              </a:defRPr>
            </a:lvl4pPr>
            <a:lvl5pPr algn="ctr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r>
              <a:rPr lang="en-US" dirty="0"/>
              <a:t>Kamalnagar 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703715403"/>
              </p:ext>
            </p:extLst>
          </p:nvPr>
        </p:nvGraphicFramePr>
        <p:xfrm>
          <a:off x="609600" y="19812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637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ll/>
      </p:transition>
    </mc:Choice>
    <mc:Fallback xmlns="">
      <p:transition spd="slow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153400" cy="71596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Kamalnagar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0033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July 2022 (Hospital Delivery 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195551"/>
              </p:ext>
            </p:extLst>
          </p:nvPr>
        </p:nvGraphicFramePr>
        <p:xfrm>
          <a:off x="1295400" y="1782763"/>
          <a:ext cx="70104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1"/>
            <a:ext cx="82296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Well-decorated UH&amp;FPO Room and Conference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400" y="3429000"/>
            <a:ext cx="3962400" cy="3154362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F9E950-4335-4E01-89EE-3B24CE3B0EF1}"/>
              </a:ext>
            </a:extLst>
          </p:cNvPr>
          <p:cNvSpPr/>
          <p:nvPr/>
        </p:nvSpPr>
        <p:spPr>
          <a:xfrm>
            <a:off x="228600" y="1417638"/>
            <a:ext cx="4343400" cy="2895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llout: Left Arrow 6">
            <a:extLst>
              <a:ext uri="{FF2B5EF4-FFF2-40B4-BE49-F238E27FC236}">
                <a16:creationId xmlns:a16="http://schemas.microsoft.com/office/drawing/2014/main" id="{F3F372AE-2D57-43D3-81F4-889F19C7E91E}"/>
              </a:ext>
            </a:extLst>
          </p:cNvPr>
          <p:cNvSpPr/>
          <p:nvPr/>
        </p:nvSpPr>
        <p:spPr>
          <a:xfrm>
            <a:off x="5029200" y="2209800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284A7-7F64-464D-B870-0E58581F1C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62600" y="2329785"/>
            <a:ext cx="1934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UH&amp;FPO Room</a:t>
            </a:r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47862FD1-4D02-4BE0-A359-86CC46C74429}"/>
              </a:ext>
            </a:extLst>
          </p:cNvPr>
          <p:cNvSpPr/>
          <p:nvPr/>
        </p:nvSpPr>
        <p:spPr>
          <a:xfrm rot="10800000">
            <a:off x="3810000" y="524255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EE75408-A4EA-4948-9AB4-546CF983A081}"/>
              </a:ext>
            </a:extLst>
          </p:cNvPr>
          <p:cNvSpPr txBox="1">
            <a:spLocks/>
          </p:cNvSpPr>
          <p:nvPr/>
        </p:nvSpPr>
        <p:spPr bwMode="auto">
          <a:xfrm>
            <a:off x="1875019" y="5174755"/>
            <a:ext cx="19349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16543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458200" cy="1249363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200" b="1" dirty="0"/>
              <a:t>Visit of Local MP and Establishment of Central Oxygen Supply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3886200" cy="295699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92AA8-90C3-44FF-9391-C26F83167DB3}"/>
              </a:ext>
            </a:extLst>
          </p:cNvPr>
          <p:cNvSpPr/>
          <p:nvPr/>
        </p:nvSpPr>
        <p:spPr>
          <a:xfrm>
            <a:off x="447206" y="1676400"/>
            <a:ext cx="4343399" cy="3124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85E58093-DD26-4A5D-A141-43422BB443B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01390" y="2269406"/>
            <a:ext cx="266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Visit of </a:t>
            </a:r>
            <a:r>
              <a:rPr lang="en-US" sz="2000" b="1" dirty="0"/>
              <a:t>Major (Rtd.) Abdul Mannan MP on 11 Feb 2021</a:t>
            </a:r>
            <a:endParaRPr lang="en-US" sz="2000" b="1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C10BE17-4AF6-4DA1-9C2F-9759D2CAE9D6}"/>
              </a:ext>
            </a:extLst>
          </p:cNvPr>
          <p:cNvSpPr txBox="1">
            <a:spLocks/>
          </p:cNvSpPr>
          <p:nvPr/>
        </p:nvSpPr>
        <p:spPr bwMode="auto">
          <a:xfrm>
            <a:off x="1383779" y="5136058"/>
            <a:ext cx="29012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Establishment of Central Oxygen System, July 2020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B66F010A-6D9E-4B73-85F8-7520B98892B1}"/>
              </a:ext>
            </a:extLst>
          </p:cNvPr>
          <p:cNvSpPr/>
          <p:nvPr/>
        </p:nvSpPr>
        <p:spPr>
          <a:xfrm>
            <a:off x="4967990" y="2430005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A5F9B2A4-0C1A-4078-9C39-05B2562039A7}"/>
              </a:ext>
            </a:extLst>
          </p:cNvPr>
          <p:cNvSpPr/>
          <p:nvPr/>
        </p:nvSpPr>
        <p:spPr>
          <a:xfrm rot="10800000">
            <a:off x="4344649" y="513605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200" b="1" dirty="0"/>
              <a:t>Receiving of Ambulance and Jeep from </a:t>
            </a:r>
            <a:br>
              <a:rPr lang="en-US" sz="3200" b="1" dirty="0"/>
            </a:br>
            <a:r>
              <a:rPr lang="en-US" sz="3200" b="1" dirty="0"/>
              <a:t>Civil Surgeon, Lakshmipur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6A899E-0D93-4B76-9368-EBCE83099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15383"/>
            <a:ext cx="3938357" cy="2847079"/>
          </a:xfrm>
        </p:spPr>
      </p:pic>
      <p:sp>
        <p:nvSpPr>
          <p:cNvPr id="6" name="Oval 5"/>
          <p:cNvSpPr/>
          <p:nvPr/>
        </p:nvSpPr>
        <p:spPr>
          <a:xfrm>
            <a:off x="4876800" y="4449762"/>
            <a:ext cx="3938358" cy="21336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51D8F-4D8F-47E0-8208-0BB4B2AFEAF5}"/>
              </a:ext>
            </a:extLst>
          </p:cNvPr>
          <p:cNvSpPr txBox="1"/>
          <p:nvPr/>
        </p:nvSpPr>
        <p:spPr>
          <a:xfrm>
            <a:off x="5462356" y="2598042"/>
            <a:ext cx="3352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  <a:ea typeface="+mj-ea"/>
                <a:cs typeface="+mj-cs"/>
              </a:rPr>
              <a:t>Ambulance receiving from Civil Surgeon on August 2020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3E5EE-61A5-46C4-9D00-F41D8346DEE8}"/>
              </a:ext>
            </a:extLst>
          </p:cNvPr>
          <p:cNvSpPr txBox="1"/>
          <p:nvPr/>
        </p:nvSpPr>
        <p:spPr>
          <a:xfrm>
            <a:off x="1435777" y="5162619"/>
            <a:ext cx="3352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  <a:ea typeface="+mj-ea"/>
                <a:cs typeface="+mj-cs"/>
              </a:rPr>
              <a:t>Jeep for UH&amp;FPO</a:t>
            </a:r>
          </a:p>
        </p:txBody>
      </p:sp>
    </p:spTree>
    <p:extLst>
      <p:ext uri="{BB962C8B-B14F-4D97-AF65-F5344CB8AC3E}">
        <p14:creationId xmlns:p14="http://schemas.microsoft.com/office/powerpoint/2010/main" val="198003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dirty="0"/>
              <a:t>Inauguration of Muktijudda Shapla Chattor by Civil Surgeon, Lakshmipur and Muktijudda commander, Sep-2021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600" y="1417639"/>
            <a:ext cx="7239000" cy="544036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766"/>
            <a:ext cx="9144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Citizen charter, Pathological Investigation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600199"/>
            <a:ext cx="3962400" cy="304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48200" y="3429000"/>
            <a:ext cx="3962400" cy="3276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F0CF06-F3ED-416F-A597-F3CB5ECE413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66610" y="2368446"/>
            <a:ext cx="1934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Citizen Charter of the UHC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60046DA-13EE-49D0-BD69-47C44C2D0821}"/>
              </a:ext>
            </a:extLst>
          </p:cNvPr>
          <p:cNvSpPr txBox="1">
            <a:spLocks/>
          </p:cNvSpPr>
          <p:nvPr/>
        </p:nvSpPr>
        <p:spPr bwMode="auto">
          <a:xfrm>
            <a:off x="1063989" y="5142304"/>
            <a:ext cx="29012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Pathological Investigation Fee Chart</a:t>
            </a:r>
          </a:p>
        </p:txBody>
      </p:sp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4780F58E-4C7F-42FA-9510-1B664F89992E}"/>
              </a:ext>
            </a:extLst>
          </p:cNvPr>
          <p:cNvSpPr/>
          <p:nvPr/>
        </p:nvSpPr>
        <p:spPr>
          <a:xfrm>
            <a:off x="4648200" y="2436251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8CF18B1D-81E1-45C7-BE8C-77ED07402881}"/>
              </a:ext>
            </a:extLst>
          </p:cNvPr>
          <p:cNvSpPr/>
          <p:nvPr/>
        </p:nvSpPr>
        <p:spPr>
          <a:xfrm rot="10800000">
            <a:off x="4024859" y="5142304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4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595" y="294443"/>
            <a:ext cx="78486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Intercom and Safe Drinking Water Facility in Kamalnagar UHC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" y="1600200"/>
            <a:ext cx="4191000" cy="294163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08DF41D3-74D8-4CA6-84E9-AADB40E5259F}"/>
              </a:ext>
            </a:extLst>
          </p:cNvPr>
          <p:cNvSpPr/>
          <p:nvPr/>
        </p:nvSpPr>
        <p:spPr>
          <a:xfrm>
            <a:off x="5029200" y="2209800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3C260380-41B6-4FF6-9607-80E525D74E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93402" y="2295493"/>
            <a:ext cx="1934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Intercom</a:t>
            </a:r>
          </a:p>
        </p:txBody>
      </p:sp>
      <p:sp>
        <p:nvSpPr>
          <p:cNvPr id="12" name="Callout: Left Arrow 11">
            <a:extLst>
              <a:ext uri="{FF2B5EF4-FFF2-40B4-BE49-F238E27FC236}">
                <a16:creationId xmlns:a16="http://schemas.microsoft.com/office/drawing/2014/main" id="{9EC13BC3-A8EF-45A8-B190-EB31C1AF7B6E}"/>
              </a:ext>
            </a:extLst>
          </p:cNvPr>
          <p:cNvSpPr/>
          <p:nvPr/>
        </p:nvSpPr>
        <p:spPr>
          <a:xfrm rot="10800000">
            <a:off x="3810000" y="524255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6C9240B5-D114-4586-81E8-4EB1ECC2588F}"/>
              </a:ext>
            </a:extLst>
          </p:cNvPr>
          <p:cNvSpPr txBox="1">
            <a:spLocks/>
          </p:cNvSpPr>
          <p:nvPr/>
        </p:nvSpPr>
        <p:spPr bwMode="auto">
          <a:xfrm>
            <a:off x="1875019" y="5174755"/>
            <a:ext cx="19349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000" b="1" dirty="0">
                <a:latin typeface="+mj-lt"/>
                <a:ea typeface="+mj-ea"/>
                <a:cs typeface="+mj-cs"/>
              </a:rPr>
              <a:t>Safe Drinking Water Supply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F956F4-E504-4CD5-83EF-28BED30D9D75}"/>
              </a:ext>
            </a:extLst>
          </p:cNvPr>
          <p:cNvSpPr/>
          <p:nvPr/>
        </p:nvSpPr>
        <p:spPr>
          <a:xfrm>
            <a:off x="4731895" y="3718559"/>
            <a:ext cx="4267200" cy="3048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5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6863"/>
            <a:ext cx="9144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Inauguration of Pathology department, NCD Corner and Bangabandhu Corner, July-2022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69692" y="1600200"/>
            <a:ext cx="4102308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0" y="3589336"/>
            <a:ext cx="4267200" cy="2971801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AD2F65DC-0DED-4143-A9A8-AD9052BF1D91}"/>
              </a:ext>
            </a:extLst>
          </p:cNvPr>
          <p:cNvSpPr/>
          <p:nvPr/>
        </p:nvSpPr>
        <p:spPr>
          <a:xfrm>
            <a:off x="5029200" y="2209800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0C8375C-D0EA-49CC-BC4C-64F8EB31BEC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62600" y="2160656"/>
            <a:ext cx="3380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NCD and Bangabandhu Corner</a:t>
            </a:r>
          </a:p>
        </p:txBody>
      </p:sp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9656EBB4-9245-4C4F-8819-46B3295DFF52}"/>
              </a:ext>
            </a:extLst>
          </p:cNvPr>
          <p:cNvSpPr/>
          <p:nvPr/>
        </p:nvSpPr>
        <p:spPr>
          <a:xfrm rot="10800000">
            <a:off x="3917429" y="520842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F8595C0-2F00-4FC7-B845-655D1BAB4A71}"/>
              </a:ext>
            </a:extLst>
          </p:cNvPr>
          <p:cNvSpPr txBox="1">
            <a:spLocks/>
          </p:cNvSpPr>
          <p:nvPr/>
        </p:nvSpPr>
        <p:spPr bwMode="auto">
          <a:xfrm>
            <a:off x="584304" y="5276538"/>
            <a:ext cx="3380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Pathology Department</a:t>
            </a:r>
          </a:p>
        </p:txBody>
      </p:sp>
    </p:spTree>
    <p:extLst>
      <p:ext uri="{BB962C8B-B14F-4D97-AF65-F5344CB8AC3E}">
        <p14:creationId xmlns:p14="http://schemas.microsoft.com/office/powerpoint/2010/main" val="376609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CCTV camera and Generator in Kamalnagar UHC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1436"/>
            <a:ext cx="41910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74A8DF-BF66-4D42-83B0-A95BD920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3581400"/>
            <a:ext cx="4191000" cy="2895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8432EEE6-6B0E-4F3D-ACA1-6F739784B481}"/>
              </a:ext>
            </a:extLst>
          </p:cNvPr>
          <p:cNvSpPr/>
          <p:nvPr/>
        </p:nvSpPr>
        <p:spPr>
          <a:xfrm>
            <a:off x="4772494" y="2335144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3C7A6FA-CDE2-4A04-8C2E-FB92A8DCE575}"/>
              </a:ext>
            </a:extLst>
          </p:cNvPr>
          <p:cNvSpPr txBox="1">
            <a:spLocks/>
          </p:cNvSpPr>
          <p:nvPr/>
        </p:nvSpPr>
        <p:spPr bwMode="auto">
          <a:xfrm>
            <a:off x="4800600" y="2234893"/>
            <a:ext cx="33809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Functioning CCTV Camera 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D2145931-20F2-4DFA-A87E-88F7A675B495}"/>
              </a:ext>
            </a:extLst>
          </p:cNvPr>
          <p:cNvSpPr/>
          <p:nvPr/>
        </p:nvSpPr>
        <p:spPr>
          <a:xfrm rot="10800000">
            <a:off x="3660723" y="5333772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A23F2CE-167A-4FE2-9F2D-4D935B8CC732}"/>
              </a:ext>
            </a:extLst>
          </p:cNvPr>
          <p:cNvSpPr txBox="1">
            <a:spLocks/>
          </p:cNvSpPr>
          <p:nvPr/>
        </p:nvSpPr>
        <p:spPr bwMode="auto">
          <a:xfrm>
            <a:off x="327598" y="5401882"/>
            <a:ext cx="3380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Functioning Generator</a:t>
            </a:r>
          </a:p>
        </p:txBody>
      </p:sp>
    </p:spTree>
    <p:extLst>
      <p:ext uri="{BB962C8B-B14F-4D97-AF65-F5344CB8AC3E}">
        <p14:creationId xmlns:p14="http://schemas.microsoft.com/office/powerpoint/2010/main" val="236362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3938"/>
            <a:ext cx="8534400" cy="11430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dirty="0"/>
              <a:t>Protection of the Hospital Campus and Residential Area by Boundary 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1046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538" y="1507579"/>
            <a:ext cx="4267200" cy="321682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24400" y="3230562"/>
            <a:ext cx="4267200" cy="33528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D9D4A9F-D68D-42D5-A00A-7DEE95E9979D}"/>
              </a:ext>
            </a:extLst>
          </p:cNvPr>
          <p:cNvSpPr txBox="1">
            <a:spLocks/>
          </p:cNvSpPr>
          <p:nvPr/>
        </p:nvSpPr>
        <p:spPr bwMode="auto">
          <a:xfrm>
            <a:off x="5324007" y="2007819"/>
            <a:ext cx="28931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Gate in front of Residential Area</a:t>
            </a:r>
          </a:p>
        </p:txBody>
      </p:sp>
      <p:sp>
        <p:nvSpPr>
          <p:cNvPr id="7" name="Callout: Left Arrow 6">
            <a:extLst>
              <a:ext uri="{FF2B5EF4-FFF2-40B4-BE49-F238E27FC236}">
                <a16:creationId xmlns:a16="http://schemas.microsoft.com/office/drawing/2014/main" id="{FC4F3D47-A3E3-4653-810A-32DDEE4B454E}"/>
              </a:ext>
            </a:extLst>
          </p:cNvPr>
          <p:cNvSpPr/>
          <p:nvPr/>
        </p:nvSpPr>
        <p:spPr>
          <a:xfrm rot="10800000">
            <a:off x="3660723" y="538487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6A4446-740F-41F5-9071-4F0641BB0875}"/>
              </a:ext>
            </a:extLst>
          </p:cNvPr>
          <p:cNvSpPr txBox="1">
            <a:spLocks/>
          </p:cNvSpPr>
          <p:nvPr/>
        </p:nvSpPr>
        <p:spPr bwMode="auto">
          <a:xfrm>
            <a:off x="602730" y="5474087"/>
            <a:ext cx="3380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Boundary Wall</a:t>
            </a:r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98EEAD5C-C875-463A-84EA-DC766D84443F}"/>
              </a:ext>
            </a:extLst>
          </p:cNvPr>
          <p:cNvSpPr/>
          <p:nvPr/>
        </p:nvSpPr>
        <p:spPr>
          <a:xfrm>
            <a:off x="4814341" y="210327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6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9427"/>
            <a:ext cx="8436964" cy="830997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 Beautification of the Hospital Campus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108" y="3345559"/>
            <a:ext cx="4106056" cy="3276601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043791-10BE-46F7-B839-5C2CAD8D5EE9}"/>
              </a:ext>
            </a:extLst>
          </p:cNvPr>
          <p:cNvSpPr/>
          <p:nvPr/>
        </p:nvSpPr>
        <p:spPr>
          <a:xfrm>
            <a:off x="249836" y="1390156"/>
            <a:ext cx="4343400" cy="3276601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40DBEB-FBDC-4E47-B50C-B792AD11EDF2}"/>
              </a:ext>
            </a:extLst>
          </p:cNvPr>
          <p:cNvSpPr txBox="1">
            <a:spLocks/>
          </p:cNvSpPr>
          <p:nvPr/>
        </p:nvSpPr>
        <p:spPr bwMode="auto">
          <a:xfrm>
            <a:off x="5324007" y="2007819"/>
            <a:ext cx="28931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Beautiful Garden in front of the Hospital</a:t>
            </a:r>
          </a:p>
        </p:txBody>
      </p:sp>
      <p:sp>
        <p:nvSpPr>
          <p:cNvPr id="9" name="Callout: Left Arrow 8">
            <a:extLst>
              <a:ext uri="{FF2B5EF4-FFF2-40B4-BE49-F238E27FC236}">
                <a16:creationId xmlns:a16="http://schemas.microsoft.com/office/drawing/2014/main" id="{8483C7F4-A974-4DB2-8925-49051D818D52}"/>
              </a:ext>
            </a:extLst>
          </p:cNvPr>
          <p:cNvSpPr/>
          <p:nvPr/>
        </p:nvSpPr>
        <p:spPr>
          <a:xfrm rot="10800000">
            <a:off x="3660723" y="538487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859129-B101-46B6-9D48-AD38EB0C3FC7}"/>
              </a:ext>
            </a:extLst>
          </p:cNvPr>
          <p:cNvSpPr txBox="1">
            <a:spLocks/>
          </p:cNvSpPr>
          <p:nvPr/>
        </p:nvSpPr>
        <p:spPr bwMode="auto">
          <a:xfrm>
            <a:off x="682053" y="5252488"/>
            <a:ext cx="297867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Cleaning Day,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every Thursday</a:t>
            </a:r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313BB8AF-6B3E-4D88-8907-FE4D06716BF8}"/>
              </a:ext>
            </a:extLst>
          </p:cNvPr>
          <p:cNvSpPr/>
          <p:nvPr/>
        </p:nvSpPr>
        <p:spPr>
          <a:xfrm>
            <a:off x="4814341" y="2103278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EPI activities in a Risk EPI Centre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600200"/>
            <a:ext cx="8153400" cy="4525963"/>
          </a:xfrm>
        </p:spPr>
      </p:pic>
    </p:spTree>
    <p:extLst>
      <p:ext uri="{BB962C8B-B14F-4D97-AF65-F5344CB8AC3E}">
        <p14:creationId xmlns:p14="http://schemas.microsoft.com/office/powerpoint/2010/main" val="30582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90903FE5-3FBC-429F-ADBD-3114447E8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661" y="3416448"/>
            <a:ext cx="3421418" cy="23412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7FCE77-84B5-4C13-BE7D-B049619B6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60" y="3416448"/>
            <a:ext cx="3210009" cy="2341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BBD1B7-C142-4F87-AEA9-56F175775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302" y="1296063"/>
            <a:ext cx="3387777" cy="2051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4D2A2-B951-496B-865C-664423578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62" y="1296064"/>
            <a:ext cx="3210009" cy="2002478"/>
          </a:xfrm>
          <a:prstGeom prst="rect">
            <a:avLst/>
          </a:prstGeom>
        </p:spPr>
      </p:pic>
      <p:sp>
        <p:nvSpPr>
          <p:cNvPr id="12" name="Text Box 9">
            <a:extLst>
              <a:ext uri="{FF2B5EF4-FFF2-40B4-BE49-F238E27FC236}">
                <a16:creationId xmlns:a16="http://schemas.microsoft.com/office/drawing/2014/main" id="{D597990E-353B-4580-9D2B-4D27E1BF1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978" y="1308221"/>
            <a:ext cx="2361308" cy="35602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Female Prayer Room</a:t>
            </a:r>
            <a:endParaRPr lang="en-US" altLang="en-US" sz="2000" dirty="0"/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1B596F22-2A24-4646-8556-1B1CB477C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652" y="3416447"/>
            <a:ext cx="2596663" cy="39355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New Paediatrics Ward</a:t>
            </a:r>
            <a:endParaRPr lang="en-US" altLang="en-US" sz="2000" dirty="0"/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06703AAF-4EB1-4355-8360-2DC67AC10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451" y="3429000"/>
            <a:ext cx="3297837" cy="38100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Decoration by Medical Officer</a:t>
            </a:r>
            <a:endParaRPr lang="en-US" altLang="en-US" sz="2000" dirty="0"/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82BBA974-BEE8-497F-A075-F4C660303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1" y="1296064"/>
            <a:ext cx="2840636" cy="380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Phone Booth free of cost</a:t>
            </a:r>
            <a:endParaRPr lang="en-US" altLang="en-US" sz="20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8F0D02-4E05-4FEF-9ECE-49ECB6E5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79" y="381000"/>
            <a:ext cx="7555979" cy="609600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New Innovation</a:t>
            </a:r>
          </a:p>
        </p:txBody>
      </p:sp>
    </p:spTree>
    <p:extLst>
      <p:ext uri="{BB962C8B-B14F-4D97-AF65-F5344CB8AC3E}">
        <p14:creationId xmlns:p14="http://schemas.microsoft.com/office/powerpoint/2010/main" val="2459367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4F3714-8BF6-4793-A3AE-0238B5677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116" y="1234740"/>
            <a:ext cx="3539546" cy="26531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8BEB04-DB46-4F10-A91F-42DDDEDB3B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9200"/>
            <a:ext cx="3537550" cy="26531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16" y="141525"/>
            <a:ext cx="8229600" cy="84907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Removal of unwanted items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34740"/>
            <a:ext cx="1003483" cy="4908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114" y="1234740"/>
            <a:ext cx="1003483" cy="4908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438401-5433-4F9A-AFE6-AF544162E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17" y="3928700"/>
            <a:ext cx="3541546" cy="2654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F3EF6D-9CB4-446A-A264-508244B8CA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03" y="3928702"/>
            <a:ext cx="3539547" cy="2654660"/>
          </a:xfrm>
          <a:prstGeom prst="rect">
            <a:avLst/>
          </a:prstGeom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9662B2-5088-4F48-B593-7A7E55110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234" y="3944967"/>
            <a:ext cx="1003483" cy="3725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76962D95-3440-4CE8-AE06-2C1717C1F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8148" y="3962793"/>
            <a:ext cx="1003483" cy="3384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54601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F4D234-0EE2-4CAB-9B08-3A3F942E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372" y="1447800"/>
            <a:ext cx="3541544" cy="2654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E87E8-535A-4770-9BA9-E1C8072B19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58" y="1447800"/>
            <a:ext cx="3539546" cy="2654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9941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Removal of unwanted items from OT and Corridor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458" y="1447800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372" y="1447800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1D9D81-FCE5-4213-85E3-8BB587523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373" y="4155622"/>
            <a:ext cx="3541543" cy="26561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586404-D2EF-43C6-8E8C-8E90C95CF3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58" y="4155623"/>
            <a:ext cx="3541543" cy="2656157"/>
          </a:xfrm>
          <a:prstGeom prst="rect">
            <a:avLst/>
          </a:prstGeom>
        </p:spPr>
      </p:pic>
      <p:sp>
        <p:nvSpPr>
          <p:cNvPr id="11" name="Text Box 9">
            <a:extLst>
              <a:ext uri="{FF2B5EF4-FFF2-40B4-BE49-F238E27FC236}">
                <a16:creationId xmlns:a16="http://schemas.microsoft.com/office/drawing/2014/main" id="{644B7EA0-D60C-4B19-AE44-4A3CDDD91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459" y="4155623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1435E1EB-58FF-4C3B-9A2E-14B998126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373" y="4155623"/>
            <a:ext cx="10269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728049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C1AD155-F271-4DCA-8AAF-153EC43695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144386" y="2239402"/>
            <a:ext cx="3208011" cy="374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445D5B-AD2C-4256-8D5F-791DE5504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99514" y="2156561"/>
            <a:ext cx="3208010" cy="39088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13570"/>
            <a:ext cx="7886700" cy="9941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Cleanliness of Toilet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2506991"/>
            <a:ext cx="1055914" cy="3886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 dirty="0">
                <a:latin typeface="Calibri" panose="020F0502020204030204" pitchFamily="34" charset="0"/>
              </a:rPr>
              <a:t>BEFORE</a:t>
            </a:r>
            <a:endParaRPr lang="en-US" altLang="en-US" sz="2000" dirty="0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799" y="2506991"/>
            <a:ext cx="1219200" cy="3886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>
              <a:spcAft>
                <a:spcPts val="600"/>
              </a:spcAft>
            </a:pPr>
            <a:r>
              <a:rPr lang="en-US" altLang="en-US" sz="2000" b="1">
                <a:latin typeface="Calibri" panose="020F0502020204030204" pitchFamily="34" charset="0"/>
              </a:rPr>
              <a:t>AFTER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711470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022F-7401-4405-8AFC-F981768E4A4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Training on Quality of Health Care and Renovation of OT Room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25A0631-0992-48A7-A9A0-6CE736744E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312889" y="2897510"/>
            <a:ext cx="3001964" cy="4309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9A007B-86A8-4B76-9E0B-0EC15E2301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99" y="1600200"/>
            <a:ext cx="4286401" cy="3001962"/>
          </a:xfrm>
          <a:prstGeom prst="rect">
            <a:avLst/>
          </a:prstGeom>
        </p:spPr>
      </p:pic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DFB56CD-96A4-49FB-AB58-DC5B7D662189}"/>
              </a:ext>
            </a:extLst>
          </p:cNvPr>
          <p:cNvSpPr txBox="1">
            <a:spLocks/>
          </p:cNvSpPr>
          <p:nvPr/>
        </p:nvSpPr>
        <p:spPr bwMode="auto">
          <a:xfrm>
            <a:off x="5324007" y="2007819"/>
            <a:ext cx="28931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Training on Quality of Health Care</a:t>
            </a:r>
          </a:p>
        </p:txBody>
      </p:sp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6EB7777F-7C78-41AC-B7DD-F65E1989FCD5}"/>
              </a:ext>
            </a:extLst>
          </p:cNvPr>
          <p:cNvSpPr/>
          <p:nvPr/>
        </p:nvSpPr>
        <p:spPr>
          <a:xfrm rot="10800000">
            <a:off x="3660723" y="538487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06AA3ABC-A12A-4470-8F36-8C0805081873}"/>
              </a:ext>
            </a:extLst>
          </p:cNvPr>
          <p:cNvSpPr txBox="1">
            <a:spLocks/>
          </p:cNvSpPr>
          <p:nvPr/>
        </p:nvSpPr>
        <p:spPr bwMode="auto">
          <a:xfrm>
            <a:off x="682053" y="5252488"/>
            <a:ext cx="29786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Renovation of new OT room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ABA539E1-CDC0-4203-8622-6F370F64B3CF}"/>
              </a:ext>
            </a:extLst>
          </p:cNvPr>
          <p:cNvSpPr/>
          <p:nvPr/>
        </p:nvSpPr>
        <p:spPr>
          <a:xfrm>
            <a:off x="4790607" y="2162509"/>
            <a:ext cx="533400" cy="64008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294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News paper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3962400" cy="470852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50080" y="1417637"/>
            <a:ext cx="4236720" cy="47085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70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954" y="682286"/>
            <a:ext cx="8229600" cy="665162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US" altLang="en-US" sz="3600" b="1" dirty="0"/>
              <a:t>Community Support in Kamalnagar UHC</a:t>
            </a:r>
            <a:endParaRPr lang="en-US" altLang="en-US" sz="24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915367"/>
            <a:ext cx="7956549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IPS &amp; delivery instruments financed by JICA for 10 delivery centres in each union.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oxygen system  financed and organized  by Upazila Parishad.  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100 enlisted blood donors in emergency need (Transfusion of 165 bag F/blood are given in 2021, 2022)</a:t>
            </a:r>
          </a:p>
          <a:p>
            <a:pPr indent="-18288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MP and Upazilla Parishad 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Achievements of the UHC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28796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3600" dirty="0"/>
              <a:t>A Jeep was allocated for UH&amp;FPO by Govt.</a:t>
            </a:r>
          </a:p>
          <a:p>
            <a:r>
              <a:rPr lang="en-US" sz="3600" dirty="0"/>
              <a:t>Corona vaccine coverage- </a:t>
            </a:r>
          </a:p>
          <a:p>
            <a:pPr marL="0" indent="0">
              <a:buNone/>
            </a:pPr>
            <a:r>
              <a:rPr lang="en-US" sz="3600" dirty="0"/>
              <a:t>    1</a:t>
            </a:r>
            <a:r>
              <a:rPr lang="en-US" sz="3600" baseline="30000" dirty="0"/>
              <a:t>st</a:t>
            </a:r>
            <a:r>
              <a:rPr lang="en-US" sz="3600" dirty="0"/>
              <a:t> dose-86.25% and 2</a:t>
            </a:r>
            <a:r>
              <a:rPr lang="en-US" sz="3600" baseline="30000" dirty="0"/>
              <a:t>nd</a:t>
            </a:r>
            <a:r>
              <a:rPr lang="en-US" sz="3600" dirty="0"/>
              <a:t> dose-81.3%</a:t>
            </a:r>
          </a:p>
          <a:p>
            <a:r>
              <a:rPr lang="en-US" sz="3600" dirty="0"/>
              <a:t>EPI coverage-99.99% in 2021.</a:t>
            </a:r>
          </a:p>
          <a:p>
            <a:r>
              <a:rPr lang="en-US" sz="3600" dirty="0"/>
              <a:t>Establishment of Paediatrics ward August 2021.</a:t>
            </a:r>
          </a:p>
          <a:p>
            <a:r>
              <a:rPr lang="en-US" sz="3600" dirty="0"/>
              <a:t>Establishment of NCD corner.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/>
              <a:t>Many of the post of human resource are vacant or in deputation.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 No store room in the Hospital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Main building of the Hospital is old and reconstruction is necessary.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The quarter of  officers quarter and dormitory needs urgently reconstruction.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Reconstruction of the new building for 4 community clinic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 Post creation of human resources of  50 bedded Hospital.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5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b="1" dirty="0"/>
              <a:t>Way Forward….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Starting of VIA activities to prevent cervical and breast cancer of female.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Starting of C-section for delivery mother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Functioning of X-ray facility.   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Establishment of USG service.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Functioning of ECG service.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Implementation of effective SSK program.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Establish a cycle stand close to the main gate.</a:t>
            </a:r>
          </a:p>
        </p:txBody>
      </p:sp>
    </p:spTree>
    <p:extLst>
      <p:ext uri="{BB962C8B-B14F-4D97-AF65-F5344CB8AC3E}">
        <p14:creationId xmlns:p14="http://schemas.microsoft.com/office/powerpoint/2010/main" val="343836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153400" cy="4343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5344</TotalTime>
  <Words>801</Words>
  <Application>Microsoft Office PowerPoint</Application>
  <PresentationFormat>On-screen Show (4:3)</PresentationFormat>
  <Paragraphs>165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Office Theme</vt:lpstr>
      <vt:lpstr>Default Design</vt:lpstr>
      <vt:lpstr>1_Default Design</vt:lpstr>
      <vt:lpstr>PowerPoint Presentation</vt:lpstr>
      <vt:lpstr>A Sub-district level Hospital with a Vision …</vt:lpstr>
      <vt:lpstr>Health Profile of Kamalnagar UHC - 2022</vt:lpstr>
      <vt:lpstr>PowerPoint Presentation</vt:lpstr>
      <vt:lpstr>Background History of Kamalnagar UHC</vt:lpstr>
      <vt:lpstr>Contd.</vt:lpstr>
      <vt:lpstr>PowerPoint Presentation</vt:lpstr>
      <vt:lpstr>Emergency &amp; Out Door, Indoor  Service 2017 to July-2022</vt:lpstr>
      <vt:lpstr>Kamalnagar UHC</vt:lpstr>
      <vt:lpstr>Well-decorated UH&amp;FPO Room and Conference Room</vt:lpstr>
      <vt:lpstr>Visit of Local MP and Establishment of Central Oxygen Supply System</vt:lpstr>
      <vt:lpstr>Receiving of Ambulance and Jeep from  Civil Surgeon, Lakshmipur</vt:lpstr>
      <vt:lpstr>Inauguration of Muktijudda Shapla Chattor by Civil Surgeon, Lakshmipur and Muktijudda commander, Sep-2021</vt:lpstr>
      <vt:lpstr>Citizen charter, Pathological Investigation Chart</vt:lpstr>
      <vt:lpstr>Intercom and Safe Drinking Water Facility in Kamalnagar UHC</vt:lpstr>
      <vt:lpstr>Inauguration of Pathology department, NCD Corner and Bangabandhu Corner, July-2022</vt:lpstr>
      <vt:lpstr>CCTV camera and Generator in Kamalnagar UHC </vt:lpstr>
      <vt:lpstr>Protection of the Hospital Campus and Residential Area by Boundary Wall</vt:lpstr>
      <vt:lpstr> Beautification of the Hospital Campus</vt:lpstr>
      <vt:lpstr>EPI activities in a Risk EPI Centre</vt:lpstr>
      <vt:lpstr>New Innovation</vt:lpstr>
      <vt:lpstr>Removal of unwanted items</vt:lpstr>
      <vt:lpstr>Removal of unwanted items from OT and Corridor</vt:lpstr>
      <vt:lpstr>Cleanliness of Toilet</vt:lpstr>
      <vt:lpstr>Training on Quality of Health Care and Renovation of OT Room</vt:lpstr>
      <vt:lpstr>News paper coverage</vt:lpstr>
      <vt:lpstr>Community Support in Kamalnagar UHC</vt:lpstr>
      <vt:lpstr>Achievements of the UHC</vt:lpstr>
      <vt:lpstr>Challenges</vt:lpstr>
      <vt:lpstr>Way Forward….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718</cp:revision>
  <cp:lastPrinted>2017-03-18T23:47:54Z</cp:lastPrinted>
  <dcterms:created xsi:type="dcterms:W3CDTF">2013-05-05T09:56:19Z</dcterms:created>
  <dcterms:modified xsi:type="dcterms:W3CDTF">2022-09-27T07:05:23Z</dcterms:modified>
</cp:coreProperties>
</file>