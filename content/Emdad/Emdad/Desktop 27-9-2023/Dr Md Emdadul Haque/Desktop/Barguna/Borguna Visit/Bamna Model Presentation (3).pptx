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28"/>
  </p:notesMasterIdLst>
  <p:sldIdLst>
    <p:sldId id="332" r:id="rId3"/>
    <p:sldId id="376" r:id="rId4"/>
    <p:sldId id="401" r:id="rId5"/>
    <p:sldId id="402" r:id="rId6"/>
    <p:sldId id="403" r:id="rId7"/>
    <p:sldId id="309" r:id="rId8"/>
    <p:sldId id="326" r:id="rId9"/>
    <p:sldId id="327" r:id="rId10"/>
    <p:sldId id="538" r:id="rId11"/>
    <p:sldId id="539" r:id="rId12"/>
    <p:sldId id="337" r:id="rId13"/>
    <p:sldId id="346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2" r:id="rId22"/>
    <p:sldId id="411" r:id="rId23"/>
    <p:sldId id="348" r:id="rId24"/>
    <p:sldId id="334" r:id="rId25"/>
    <p:sldId id="413" r:id="rId26"/>
    <p:sldId id="344" r:id="rId2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87290" autoAdjust="0"/>
  </p:normalViewPr>
  <p:slideViewPr>
    <p:cSldViewPr>
      <p:cViewPr varScale="1">
        <p:scale>
          <a:sx n="59" d="100"/>
          <a:sy n="59" d="100"/>
        </p:scale>
        <p:origin x="18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0.55000000000000004</c:v>
                </c:pt>
                <c:pt idx="1">
                  <c:v>0.57999999999999996</c:v>
                </c:pt>
                <c:pt idx="2">
                  <c:v>0.69</c:v>
                </c:pt>
                <c:pt idx="3">
                  <c:v>0.78</c:v>
                </c:pt>
                <c:pt idx="4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081536"/>
        <c:axId val="132083072"/>
      </c:barChart>
      <c:catAx>
        <c:axId val="132081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2083072"/>
        <c:crosses val="autoZero"/>
        <c:auto val="1"/>
        <c:lblAlgn val="ctr"/>
        <c:lblOffset val="100"/>
        <c:noMultiLvlLbl val="0"/>
      </c:catAx>
      <c:valAx>
        <c:axId val="1320830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2081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18637</c:v>
                </c:pt>
                <c:pt idx="1">
                  <c:v>19621</c:v>
                </c:pt>
                <c:pt idx="2">
                  <c:v>28573</c:v>
                </c:pt>
                <c:pt idx="3">
                  <c:v>21874</c:v>
                </c:pt>
                <c:pt idx="4">
                  <c:v>29395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2.3364485981308383E-2"/>
                  <c:y val="-9.44444444444445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C3-4015-9E0A-EAFDE0E82AB7}"/>
                </c:ext>
              </c:extLst>
            </c:dLbl>
            <c:dLbl>
              <c:idx val="1"/>
              <c:layout>
                <c:manualLayout>
                  <c:x val="3.1152647975077882E-2"/>
                  <c:y val="-7.5000000000000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1C3-4015-9E0A-EAFDE0E82AB7}"/>
                </c:ext>
              </c:extLst>
            </c:dLbl>
            <c:dLbl>
              <c:idx val="2"/>
              <c:layout>
                <c:manualLayout>
                  <c:x val="1.246105919003121E-2"/>
                  <c:y val="-7.22222222222222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C3-4015-9E0A-EAFDE0E82AB7}"/>
                </c:ext>
              </c:extLst>
            </c:dLbl>
            <c:dLbl>
              <c:idx val="3"/>
              <c:layout>
                <c:manualLayout>
                  <c:x val="1.0903426791277258E-2"/>
                  <c:y val="-7.77777777777777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1C3-4015-9E0A-EAFDE0E82AB7}"/>
                </c:ext>
              </c:extLst>
            </c:dLbl>
            <c:dLbl>
              <c:idx val="4"/>
              <c:layout>
                <c:manualLayout>
                  <c:x val="4.6728971962616821E-2"/>
                  <c:y val="-3.8888888888888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C3-4015-9E0A-EAFDE0E82A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1760</c:v>
                </c:pt>
                <c:pt idx="1">
                  <c:v>1881</c:v>
                </c:pt>
                <c:pt idx="2">
                  <c:v>1969</c:v>
                </c:pt>
                <c:pt idx="3">
                  <c:v>1757</c:v>
                </c:pt>
                <c:pt idx="4">
                  <c:v>2535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252224"/>
        <c:axId val="159080832"/>
      </c:barChart>
      <c:catAx>
        <c:axId val="15725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080832"/>
        <c:crosses val="autoZero"/>
        <c:auto val="1"/>
        <c:lblAlgn val="ctr"/>
        <c:lblOffset val="100"/>
        <c:noMultiLvlLbl val="0"/>
      </c:catAx>
      <c:valAx>
        <c:axId val="159080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7252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600597339125725"/>
          <c:y val="0.4005365588027161"/>
          <c:w val="0.17255724499954747"/>
          <c:h val="0.2312933070866141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6.1308421973569109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94</c:v>
                </c:pt>
                <c:pt idx="1">
                  <c:v>65</c:v>
                </c:pt>
                <c:pt idx="2">
                  <c:v>99</c:v>
                </c:pt>
                <c:pt idx="3">
                  <c:v>114</c:v>
                </c:pt>
                <c:pt idx="4">
                  <c:v>198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6E-4423-9B5D-FBA0EAF017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7406409562763522"/>
          <c:h val="0.2795979808508956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437896023709186E-2"/>
          <c:y val="4.3646622829218884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1st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ANC 4th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123</c:v>
                </c:pt>
                <c:pt idx="1">
                  <c:v>112</c:v>
                </c:pt>
                <c:pt idx="2">
                  <c:v>143</c:v>
                </c:pt>
                <c:pt idx="3">
                  <c:v>195</c:v>
                </c:pt>
                <c:pt idx="4">
                  <c:v>222</c:v>
                </c:pt>
                <c:pt idx="5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3-44AF-85C1-79899E8BD0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056624866336136"/>
          <c:y val="0.32813701747009422"/>
          <c:w val="0.17480414812278899"/>
          <c:h val="0.2523935790018610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39</c:v>
                </c:pt>
                <c:pt idx="2">
                  <c:v>68</c:v>
                </c:pt>
                <c:pt idx="3">
                  <c:v>25</c:v>
                </c:pt>
                <c:pt idx="4">
                  <c:v>55</c:v>
                </c:pt>
                <c:pt idx="5">
                  <c:v>65</c:v>
                </c:pt>
                <c:pt idx="6">
                  <c:v>42</c:v>
                </c:pt>
                <c:pt idx="7">
                  <c:v>31</c:v>
                </c:pt>
                <c:pt idx="8">
                  <c:v>39</c:v>
                </c:pt>
                <c:pt idx="9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B-40F4-AC31-BEB0A50FC5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8403904"/>
        <c:axId val="648405152"/>
      </c:barChart>
      <c:catAx>
        <c:axId val="64840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5152"/>
        <c:crosses val="autoZero"/>
        <c:auto val="1"/>
        <c:lblAlgn val="ctr"/>
        <c:lblOffset val="100"/>
        <c:noMultiLvlLbl val="0"/>
      </c:catAx>
      <c:valAx>
        <c:axId val="64840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403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359070</c:v>
                </c:pt>
                <c:pt idx="1">
                  <c:v>399526</c:v>
                </c:pt>
                <c:pt idx="2">
                  <c:v>547776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3938944"/>
        <c:axId val="233941632"/>
        <c:axId val="0"/>
      </c:bar3DChart>
      <c:catAx>
        <c:axId val="23393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941632"/>
        <c:crosses val="autoZero"/>
        <c:auto val="1"/>
        <c:lblAlgn val="ctr"/>
        <c:lblOffset val="100"/>
        <c:noMultiLvlLbl val="0"/>
      </c:catAx>
      <c:valAx>
        <c:axId val="2339416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39389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920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15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4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5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93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71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00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7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871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67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30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06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9251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589" y="2534098"/>
            <a:ext cx="8432800" cy="371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13877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600" b="1" dirty="0" err="1">
                <a:solidFill>
                  <a:schemeClr val="bg1"/>
                </a:solidFill>
              </a:rPr>
              <a:t>Bamna</a:t>
            </a:r>
            <a:r>
              <a:rPr lang="en-US" sz="3600" b="1" dirty="0">
                <a:solidFill>
                  <a:schemeClr val="bg1"/>
                </a:solidFill>
              </a:rPr>
              <a:t>, </a:t>
            </a:r>
            <a:r>
              <a:rPr lang="en-US" sz="3600" b="1" dirty="0" err="1">
                <a:solidFill>
                  <a:schemeClr val="bg1"/>
                </a:solidFill>
              </a:rPr>
              <a:t>Barguna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6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/>
              <a:t>Background History of Bamna Upazilla Health Complex, Barguna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 special activities in 2012.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activities: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IMCI corner for under 5 children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VIA Test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 Special activities: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*Adolescents Friendly Health Corner,     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ORT Corner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*NCD corner,     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9732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1413"/>
            <a:ext cx="8534400" cy="60975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UHC started as 31 bedded hospital in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is upgraded to 50 bedded hospital by Honorable Prime  Minister Sheikh Hasina in 2012.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 2014 started Comprehensive EOC program.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 started in 2019.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 2020 Safe Blood Transfusion unit established in Bamna hospital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SSK program started in July 2022.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6843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population		: 94036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Fertile Couples 		: 15055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Pregnant		: 2176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Delivery		: 1718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>
                <a:solidFill>
                  <a:srgbClr val="CC0000"/>
                </a:solidFill>
              </a:rPr>
              <a:t>Total Live birth		: 1715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death 			: 268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Total Maternal death		: 02    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Doctor			: 12 ( 6 + 6)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Nurse                  		: 24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c. HA                   		: 19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CSBA                   		: 15 ( 6HA+ 7 FWA+2 CHCP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          e. Volunteer, Security guard &amp; cleaner: 06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b. H &amp; FWC                   	: 03 ( FWC– 3 )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CC0000"/>
                </a:solidFill>
              </a:rPr>
              <a:t>c. Community clinic	: 09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 dirty="0"/>
              <a:t>	d. Non- Govt. Clinic  	: 05</a:t>
            </a:r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Health Profile of </a:t>
            </a:r>
            <a:r>
              <a:rPr lang="en-US" altLang="en-US" sz="2800" b="1" dirty="0" err="1"/>
              <a:t>Bamna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Upazila</a:t>
            </a:r>
            <a:r>
              <a:rPr lang="en-US" altLang="en-US" sz="2800" b="1" dirty="0"/>
              <a:t>- 2021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10. Mother Taken-ANC		: 95% 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11. Hospital Delivery Rate		: 45%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12. 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13. Bed Occupancy Rate 		: 83%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14.CPR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15.TFR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16.EPI Coverage.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17.TB Case detection rate.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18.IMR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19.NMR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20.Under 5 MR.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21.MMR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 to 2021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Bamna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741325501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, Out Door, Indoor  Service 2017 to 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Bamna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41012833"/>
              </p:ext>
            </p:extLst>
          </p:nvPr>
        </p:nvGraphicFramePr>
        <p:xfrm>
          <a:off x="152400" y="1844676"/>
          <a:ext cx="8839200" cy="4708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292" y="609883"/>
            <a:ext cx="7082852" cy="5369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1" hangingPunct="1"/>
            <a:r>
              <a:rPr lang="en-US" sz="3600" b="1" dirty="0"/>
              <a:t>Bamna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079292" y="1359107"/>
            <a:ext cx="7082852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July 2022 (NVD and C-section)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3479506"/>
              </p:ext>
            </p:extLst>
          </p:nvPr>
        </p:nvGraphicFramePr>
        <p:xfrm>
          <a:off x="1079292" y="2028559"/>
          <a:ext cx="7607508" cy="4550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7210548" y="2362200"/>
            <a:ext cx="1708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add data of Bamna UHC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91628" y="507207"/>
            <a:ext cx="7414172" cy="5369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1" hangingPunct="1"/>
            <a:r>
              <a:rPr lang="en-US" sz="3600" b="1" dirty="0"/>
              <a:t>Ramgati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891628" y="1219625"/>
            <a:ext cx="7414172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ANC Care: 2017 to July 2022 (ANC 1</a:t>
            </a:r>
            <a:r>
              <a:rPr lang="en-US" sz="24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st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and 4</a:t>
            </a:r>
            <a:r>
              <a:rPr lang="en-US" sz="24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th</a:t>
            </a: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Visit)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112301"/>
              </p:ext>
            </p:extLst>
          </p:nvPr>
        </p:nvGraphicFramePr>
        <p:xfrm>
          <a:off x="685800" y="185227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7435681" y="2199381"/>
            <a:ext cx="1708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add data of Bamna UHC</a:t>
            </a:r>
          </a:p>
        </p:txBody>
      </p:sp>
    </p:spTree>
    <p:extLst>
      <p:ext uri="{BB962C8B-B14F-4D97-AF65-F5344CB8AC3E}">
        <p14:creationId xmlns:p14="http://schemas.microsoft.com/office/powerpoint/2010/main" val="297744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BAMNA , BARGUNA.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417638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2013- 2022 (Hospital Delivery 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6105421"/>
              </p:ext>
            </p:extLst>
          </p:nvPr>
        </p:nvGraphicFramePr>
        <p:xfrm>
          <a:off x="457200" y="2209800"/>
          <a:ext cx="8229600" cy="3916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2019 to 2021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BAMNA UHC</a:t>
            </a:r>
          </a:p>
        </p:txBody>
      </p:sp>
    </p:spTree>
    <p:extLst>
      <p:ext uri="{BB962C8B-B14F-4D97-AF65-F5344CB8AC3E}">
        <p14:creationId xmlns:p14="http://schemas.microsoft.com/office/powerpoint/2010/main" val="517485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wall and shades of UHC building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03" y="1295400"/>
            <a:ext cx="3777468" cy="2514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123" y="1312976"/>
            <a:ext cx="3793797" cy="2514601"/>
          </a:xfr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E59A89A1-331F-4D4E-A6D4-6D672ADE0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8203" y="3962400"/>
            <a:ext cx="379379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E99AEF45-6BF3-4253-BCAE-3A82EE70FB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7123" y="3962399"/>
            <a:ext cx="379379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9">
            <a:extLst>
              <a:ext uri="{FF2B5EF4-FFF2-40B4-BE49-F238E27FC236}">
                <a16:creationId xmlns:a16="http://schemas.microsoft.com/office/drawing/2014/main" id="{7F68635F-63B0-4971-B9EC-8F986121B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203" y="1312976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09AA963D-C2E3-4E05-874F-4146D1F2E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123" y="1312976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0B3CF072-BA4F-42C5-B281-C4FD31031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203" y="3962399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C1F9FF0B-AC1D-42A7-A216-A8B02F432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123" y="3962399"/>
            <a:ext cx="958185" cy="348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984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UHC Campus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02" y="1600201"/>
            <a:ext cx="3396595" cy="23622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396595" cy="23622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After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174797" y="3657600"/>
            <a:ext cx="794405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27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Ambulance Garage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44976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00200"/>
            <a:ext cx="3641398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After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Pharmacy of UHC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3810000" cy="452596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04" y="1600200"/>
            <a:ext cx="3396594" cy="4525962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After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8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Billboard of UHC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038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04" y="1676400"/>
            <a:ext cx="3396594" cy="40386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After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9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Roof of UHC Building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810000" cy="4038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676400"/>
            <a:ext cx="3565198" cy="40386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After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5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Notice Board of UHC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1201"/>
            <a:ext cx="3657600" cy="373379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2" y="1981201"/>
            <a:ext cx="3565198" cy="3733800"/>
          </a:xfrm>
        </p:spPr>
      </p:pic>
      <p:sp>
        <p:nvSpPr>
          <p:cNvPr id="7" name="Rectangle 6"/>
          <p:cNvSpPr/>
          <p:nvPr/>
        </p:nvSpPr>
        <p:spPr>
          <a:xfrm>
            <a:off x="1600200" y="1295400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499" y="1246188"/>
            <a:ext cx="1524000" cy="304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After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267200" y="3657600"/>
            <a:ext cx="702002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85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Conference Room of Bamna 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200"/>
            <a:ext cx="7772400" cy="4525963"/>
          </a:xfrm>
        </p:spPr>
      </p:pic>
    </p:spTree>
    <p:extLst>
      <p:ext uri="{BB962C8B-B14F-4D97-AF65-F5344CB8AC3E}">
        <p14:creationId xmlns:p14="http://schemas.microsoft.com/office/powerpoint/2010/main" val="1118222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Garden in front of the UHC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3984181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653"/>
            <a:ext cx="8229600" cy="66516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US" altLang="en-US" sz="3200" b="1" dirty="0"/>
              <a:t>Bamna Upazila Health  Complex</a:t>
            </a:r>
            <a:endParaRPr lang="en-US" altLang="en-US" sz="20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 dirty="0"/>
          </a:p>
          <a:p>
            <a:pPr algn="ctr" eaLnBrk="1" hangingPunct="1">
              <a:buFontTx/>
              <a:buNone/>
            </a:pPr>
            <a:endParaRPr lang="en-US" altLang="en-US" sz="2800" dirty="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968732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 dirty="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05000"/>
            <a:ext cx="85344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IPS donated by Local MP.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Dental Doctors Room was Decorated by Upazila Parishad.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room was well established by Upazila Parishad. </a:t>
            </a:r>
          </a:p>
          <a:p>
            <a:pPr indent="27432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 about 85 units by blood donors in emergency    need.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Bamna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/>
              <a:t>      </a:t>
            </a:r>
            <a:r>
              <a:rPr lang="en-US" sz="2800" dirty="0"/>
              <a:t>* In 2012, Bamna Health Complex declared as the 50     </a:t>
            </a:r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dirty="0"/>
              <a:t>        bedded in Bamna Upazilla health complex.</a:t>
            </a:r>
            <a:endParaRPr lang="en-US" sz="2800" dirty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>
                <a:cs typeface="Calibri" pitchFamily="34" charset="0"/>
              </a:rPr>
              <a:t> Mobilized 7 additional </a:t>
            </a:r>
            <a:r>
              <a:rPr lang="en-US" dirty="0"/>
              <a:t>workers from community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dirty="0"/>
              <a:t>   (2 volunteer, 3 cleaners and others 1)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/>
              <a:t> EOC Beds 05.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/>
              <a:t> Bamna Health complex is awarded for best performance in HSS.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dirty="0"/>
              <a:t>COVID Achievement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0% Mortality in Bamna Hospital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Regular OPD Rx,  Hospitalization With Proper Max in COVID Unit&amp; Proper Referral.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Successful COVID Vaccination (72%) in Bamna Upazila.</a:t>
            </a:r>
          </a:p>
          <a:p>
            <a:pPr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Pathological Tests , ECG, X-Ray &amp; USG is Available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7237505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10886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of Bamna UHC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9C82D-0FED-445C-846A-08A2FA498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66536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3238" y="5486400"/>
            <a:ext cx="8183562" cy="1066800"/>
          </a:xfrm>
        </p:spPr>
        <p:txBody>
          <a:bodyPr>
            <a:normAutofit fontScale="90000"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br>
              <a:rPr lang="en-US" sz="4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</a:b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7467600" cy="3962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3531</TotalTime>
  <Words>487</Words>
  <Application>Microsoft Office PowerPoint</Application>
  <PresentationFormat>On-screen Show (4:3)</PresentationFormat>
  <Paragraphs>152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Albertus Extra Bold</vt:lpstr>
      <vt:lpstr>Arial</vt:lpstr>
      <vt:lpstr>Calibri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PowerPoint Presentation</vt:lpstr>
      <vt:lpstr>A Sub-district level Hospital with a Vision</vt:lpstr>
      <vt:lpstr>Background History of Bamna Upazilla Health Complex, Barguna</vt:lpstr>
      <vt:lpstr>Contd.</vt:lpstr>
      <vt:lpstr>Health Profile of Bamna Upazila- 2021</vt:lpstr>
      <vt:lpstr>PowerPoint Presentation</vt:lpstr>
      <vt:lpstr>PowerPoint Presentation</vt:lpstr>
      <vt:lpstr>Emergency , Out Door, Indoor  Service 2017 to 2022</vt:lpstr>
      <vt:lpstr>Bamna UHC</vt:lpstr>
      <vt:lpstr>Ramgati UHC</vt:lpstr>
      <vt:lpstr>Upazila Health  Complex BAMNA , BARGUNA.</vt:lpstr>
      <vt:lpstr>  Comparative data of revenue income (in Taka) from 2019 to 2021 </vt:lpstr>
      <vt:lpstr> wall and shades of UHC building</vt:lpstr>
      <vt:lpstr> UHC Campus</vt:lpstr>
      <vt:lpstr> Ambulance Garage</vt:lpstr>
      <vt:lpstr> Pharmacy of UHC </vt:lpstr>
      <vt:lpstr>Billboard of UHC </vt:lpstr>
      <vt:lpstr>Roof of UHC Building </vt:lpstr>
      <vt:lpstr>Notice Board of UHC </vt:lpstr>
      <vt:lpstr>Conference Room of Bamna UHC</vt:lpstr>
      <vt:lpstr>Garden in front of the UHC</vt:lpstr>
      <vt:lpstr>Bamna Upazila Health  Complex</vt:lpstr>
      <vt:lpstr>Achievement of Bamna Health Complex</vt:lpstr>
      <vt:lpstr>Challenges of Bamna UHC</vt:lpstr>
      <vt:lpstr>    Thank You 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516</cp:revision>
  <cp:lastPrinted>2022-09-06T04:38:51Z</cp:lastPrinted>
  <dcterms:created xsi:type="dcterms:W3CDTF">2013-05-05T09:56:19Z</dcterms:created>
  <dcterms:modified xsi:type="dcterms:W3CDTF">2022-09-27T06:13:00Z</dcterms:modified>
</cp:coreProperties>
</file>