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</p:sldMasterIdLst>
  <p:notesMasterIdLst>
    <p:notesMasterId r:id="rId26"/>
  </p:notesMasterIdLst>
  <p:sldIdLst>
    <p:sldId id="332" r:id="rId3"/>
    <p:sldId id="376" r:id="rId4"/>
    <p:sldId id="401" r:id="rId5"/>
    <p:sldId id="402" r:id="rId6"/>
    <p:sldId id="403" r:id="rId7"/>
    <p:sldId id="309" r:id="rId8"/>
    <p:sldId id="326" r:id="rId9"/>
    <p:sldId id="327" r:id="rId10"/>
    <p:sldId id="538" r:id="rId11"/>
    <p:sldId id="539" r:id="rId12"/>
    <p:sldId id="337" r:id="rId13"/>
    <p:sldId id="346" r:id="rId14"/>
    <p:sldId id="540" r:id="rId15"/>
    <p:sldId id="406" r:id="rId16"/>
    <p:sldId id="407" r:id="rId17"/>
    <p:sldId id="409" r:id="rId18"/>
    <p:sldId id="412" r:id="rId19"/>
    <p:sldId id="411" r:id="rId20"/>
    <p:sldId id="348" r:id="rId21"/>
    <p:sldId id="334" r:id="rId22"/>
    <p:sldId id="449" r:id="rId23"/>
    <p:sldId id="452" r:id="rId24"/>
    <p:sldId id="344" r:id="rId2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87290" autoAdjust="0"/>
  </p:normalViewPr>
  <p:slideViewPr>
    <p:cSldViewPr>
      <p:cViewPr>
        <p:scale>
          <a:sx n="70" d="100"/>
          <a:sy n="70" d="100"/>
        </p:scale>
        <p:origin x="153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0.55000000000000004</c:v>
                </c:pt>
                <c:pt idx="1">
                  <c:v>0.57999999999999996</c:v>
                </c:pt>
                <c:pt idx="2">
                  <c:v>0.69</c:v>
                </c:pt>
                <c:pt idx="3">
                  <c:v>0.78</c:v>
                </c:pt>
                <c:pt idx="4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0-4EC3-8B7B-D897AC087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2081536"/>
        <c:axId val="132083072"/>
      </c:barChart>
      <c:catAx>
        <c:axId val="1320815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2083072"/>
        <c:crosses val="autoZero"/>
        <c:auto val="1"/>
        <c:lblAlgn val="ctr"/>
        <c:lblOffset val="100"/>
        <c:noMultiLvlLbl val="0"/>
      </c:catAx>
      <c:valAx>
        <c:axId val="13208307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20815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18637</c:v>
                </c:pt>
                <c:pt idx="1">
                  <c:v>19621</c:v>
                </c:pt>
                <c:pt idx="2">
                  <c:v>28573</c:v>
                </c:pt>
                <c:pt idx="3">
                  <c:v>21874</c:v>
                </c:pt>
                <c:pt idx="4">
                  <c:v>29395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C-45CC-8C31-9F6FA0932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2.3364485981308383E-2"/>
                  <c:y val="-9.44444444444445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C3-4015-9E0A-EAFDE0E82AB7}"/>
                </c:ext>
              </c:extLst>
            </c:dLbl>
            <c:dLbl>
              <c:idx val="1"/>
              <c:layout>
                <c:manualLayout>
                  <c:x val="3.1152647975077882E-2"/>
                  <c:y val="-7.50000000000001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1C3-4015-9E0A-EAFDE0E82AB7}"/>
                </c:ext>
              </c:extLst>
            </c:dLbl>
            <c:dLbl>
              <c:idx val="2"/>
              <c:layout>
                <c:manualLayout>
                  <c:x val="1.246105919003121E-2"/>
                  <c:y val="-7.22222222222222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C3-4015-9E0A-EAFDE0E82AB7}"/>
                </c:ext>
              </c:extLst>
            </c:dLbl>
            <c:dLbl>
              <c:idx val="3"/>
              <c:layout>
                <c:manualLayout>
                  <c:x val="1.0903426791277258E-2"/>
                  <c:y val="-7.77777777777777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1C3-4015-9E0A-EAFDE0E82AB7}"/>
                </c:ext>
              </c:extLst>
            </c:dLbl>
            <c:dLbl>
              <c:idx val="4"/>
              <c:layout>
                <c:manualLayout>
                  <c:x val="4.6728971962616821E-2"/>
                  <c:y val="-3.8888888888888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1C3-4015-9E0A-EAFDE0E82AB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1760</c:v>
                </c:pt>
                <c:pt idx="1">
                  <c:v>1881</c:v>
                </c:pt>
                <c:pt idx="2">
                  <c:v>1969</c:v>
                </c:pt>
                <c:pt idx="3">
                  <c:v>1757</c:v>
                </c:pt>
                <c:pt idx="4">
                  <c:v>2535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EC-45CC-8C31-9F6FA09327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7252224"/>
        <c:axId val="159080832"/>
      </c:barChart>
      <c:catAx>
        <c:axId val="157252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9080832"/>
        <c:crosses val="autoZero"/>
        <c:auto val="1"/>
        <c:lblAlgn val="ctr"/>
        <c:lblOffset val="100"/>
        <c:noMultiLvlLbl val="0"/>
      </c:catAx>
      <c:valAx>
        <c:axId val="1590808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725222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600597339125725"/>
          <c:y val="0.4005365588027161"/>
          <c:w val="0.17255724499954747"/>
          <c:h val="0.23129330708661416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863745292707976E-2"/>
          <c:y val="6.1308421973569109E-2"/>
          <c:w val="0.74457848339609722"/>
          <c:h val="0.83681539807524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 to July 2022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</c:v>
                </c:pt>
                <c:pt idx="1">
                  <c:v>283</c:v>
                </c:pt>
                <c:pt idx="2">
                  <c:v>306</c:v>
                </c:pt>
                <c:pt idx="3">
                  <c:v>506</c:v>
                </c:pt>
                <c:pt idx="4">
                  <c:v>578</c:v>
                </c:pt>
                <c:pt idx="5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EF-4A19-95F2-F422EC5BFB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C-Section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 to July 2022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94</c:v>
                </c:pt>
                <c:pt idx="1">
                  <c:v>65</c:v>
                </c:pt>
                <c:pt idx="2">
                  <c:v>99</c:v>
                </c:pt>
                <c:pt idx="3">
                  <c:v>114</c:v>
                </c:pt>
                <c:pt idx="4">
                  <c:v>198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6E-4423-9B5D-FBA0EAF017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7"/>
        <c:overlap val="7"/>
        <c:axId val="163961088"/>
        <c:axId val="163811328"/>
      </c:barChart>
      <c:catAx>
        <c:axId val="16396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811328"/>
        <c:crosses val="autoZero"/>
        <c:auto val="1"/>
        <c:lblAlgn val="ctr"/>
        <c:lblOffset val="100"/>
        <c:noMultiLvlLbl val="0"/>
      </c:catAx>
      <c:valAx>
        <c:axId val="163811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39610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519585187721101"/>
          <c:y val="0.33374913662108024"/>
          <c:w val="0.17406409562763522"/>
          <c:h val="0.27959798085089566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437896023709186E-2"/>
          <c:y val="4.3646622829218884E-2"/>
          <c:w val="0.74457848339609722"/>
          <c:h val="0.83681539807524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1st visit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 to July 2022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</c:v>
                </c:pt>
                <c:pt idx="1">
                  <c:v>283</c:v>
                </c:pt>
                <c:pt idx="2">
                  <c:v>306</c:v>
                </c:pt>
                <c:pt idx="3">
                  <c:v>506</c:v>
                </c:pt>
                <c:pt idx="4">
                  <c:v>578</c:v>
                </c:pt>
                <c:pt idx="5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EF-4A19-95F2-F422EC5BFB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ANC 4th Visit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 to July 2022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123</c:v>
                </c:pt>
                <c:pt idx="1">
                  <c:v>112</c:v>
                </c:pt>
                <c:pt idx="2">
                  <c:v>143</c:v>
                </c:pt>
                <c:pt idx="3">
                  <c:v>195</c:v>
                </c:pt>
                <c:pt idx="4">
                  <c:v>222</c:v>
                </c:pt>
                <c:pt idx="5">
                  <c:v>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B3-44AF-85C1-79899E8BD0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7"/>
        <c:overlap val="7"/>
        <c:axId val="163961088"/>
        <c:axId val="163811328"/>
      </c:barChart>
      <c:catAx>
        <c:axId val="16396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811328"/>
        <c:crosses val="autoZero"/>
        <c:auto val="1"/>
        <c:lblAlgn val="ctr"/>
        <c:lblOffset val="100"/>
        <c:noMultiLvlLbl val="0"/>
      </c:catAx>
      <c:valAx>
        <c:axId val="163811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39610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056624866336136"/>
          <c:y val="0.32813701747009422"/>
          <c:w val="0.17480414812278899"/>
          <c:h val="0.2523935790018610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</c:v>
                </c:pt>
                <c:pt idx="1">
                  <c:v>39</c:v>
                </c:pt>
                <c:pt idx="2">
                  <c:v>68</c:v>
                </c:pt>
                <c:pt idx="3">
                  <c:v>25</c:v>
                </c:pt>
                <c:pt idx="4">
                  <c:v>55</c:v>
                </c:pt>
                <c:pt idx="5">
                  <c:v>65</c:v>
                </c:pt>
                <c:pt idx="6">
                  <c:v>42</c:v>
                </c:pt>
                <c:pt idx="7">
                  <c:v>31</c:v>
                </c:pt>
                <c:pt idx="8">
                  <c:v>39</c:v>
                </c:pt>
                <c:pt idx="9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AB-40F4-AC31-BEB0A50FC5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48403904"/>
        <c:axId val="648405152"/>
      </c:barChart>
      <c:catAx>
        <c:axId val="64840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405152"/>
        <c:crosses val="autoZero"/>
        <c:auto val="1"/>
        <c:lblAlgn val="ctr"/>
        <c:lblOffset val="100"/>
        <c:noMultiLvlLbl val="0"/>
      </c:catAx>
      <c:valAx>
        <c:axId val="648405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403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359070</c:v>
                </c:pt>
                <c:pt idx="1">
                  <c:v>399526</c:v>
                </c:pt>
                <c:pt idx="2">
                  <c:v>547776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9-46BF-9D79-F0F8DA2C8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33938944"/>
        <c:axId val="233941632"/>
        <c:axId val="0"/>
      </c:bar3DChart>
      <c:catAx>
        <c:axId val="23393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3941632"/>
        <c:crosses val="autoZero"/>
        <c:auto val="1"/>
        <c:lblAlgn val="ctr"/>
        <c:lblOffset val="100"/>
        <c:noMultiLvlLbl val="0"/>
      </c:catAx>
      <c:valAx>
        <c:axId val="23394163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3393894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9/29/2022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920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15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1B3019F-5BA1-41E7-AF51-142D8FD0DD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091965-B0C9-4A35-945D-E643E804FE38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DC19C7-0E6A-4DD2-83B5-D89E4186E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0C15B1F-55B7-4F2F-8316-A64215E64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96EEC61-29BA-4FA5-AC3F-CCFC8F9FC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CE0D24-27B3-4CEF-8609-6AB964DD7BA1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8D9B9F2-E75D-4851-A2B5-DE5305936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7C6E471-2F57-4C7E-9BD7-82B8F19E5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56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84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15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890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200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27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2672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6EABAFB-2B28-4D74-9B46-453841E93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FCFF2C-9AA9-4FA8-B407-804E6459DEE5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A2A4B5E-0B63-4A7D-B6A0-703D2F4BF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A8673A9-ED9E-4870-822F-B17B3A5B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20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0064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23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2022/9/29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2022/9/29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2022/9/29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2022/9/29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2022/9/29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2022/9/29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2022/9/29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2022/9/29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2022/9/29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2022/9/29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2022/9/29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9/29/2022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9/29/2022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9/29/2022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9/29/2022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9/29/2022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9/29/2022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9/29/2022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9/29/2022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9/29/2022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9/29/2022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9/29/2022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2022/9/29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2022/9/29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jpeg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2589" y="2534098"/>
            <a:ext cx="8432800" cy="3714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13877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600" b="1" dirty="0" err="1">
                <a:solidFill>
                  <a:schemeClr val="bg1"/>
                </a:solidFill>
              </a:rPr>
              <a:t>Bamna</a:t>
            </a:r>
            <a:r>
              <a:rPr lang="en-US" sz="3600" b="1" dirty="0">
                <a:solidFill>
                  <a:schemeClr val="bg1"/>
                </a:solidFill>
              </a:rPr>
              <a:t>, </a:t>
            </a:r>
            <a:r>
              <a:rPr lang="en-US" sz="3600" b="1" dirty="0" err="1">
                <a:solidFill>
                  <a:schemeClr val="bg1"/>
                </a:solidFill>
              </a:rPr>
              <a:t>Barguna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Hospital with a Vision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61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3200" b="1" dirty="0"/>
              <a:t>Background History of Bamna Upazilla Health Complex, Barguna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181600"/>
          </a:xfrm>
        </p:spPr>
        <p:txBody>
          <a:bodyPr/>
          <a:lstStyle/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Maternal and Child Mortality and Mobility and to ensure the quality services to the mother and child, UHFPO opened  special activities in 2012.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Tx/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activities: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ANC-Corner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EOC service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IMCI corner for under 5 children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VIA Test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Others Special activities: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*Adolescents Friendly Health Corner,      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ORT Corner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*NCD corner,      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9732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3200" b="1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1413"/>
            <a:ext cx="8534400" cy="60975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UHC started as 31 bedded hospital in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is upgraded to 50 bedded hospital by Honorable Prime  Minister Sheikh Hasina in 2012.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 2014 started Comprehensive EOC program.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NCD Corner started in 2019.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 2020 Safe Blood Transfusion unit established in Bamna hospital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SSK program started in July 2022.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86843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1E3BD5C-418E-4E6F-8442-8A2EE3710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65200"/>
            <a:ext cx="8229600" cy="55499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population		: 94036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Fertile Couples 		: 15055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Pregnant		: 2176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Delivery		: 1718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Live birth		: 1715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death 			: 268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Maternal death		: 02                              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Health Man power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a. Doctor			: 12 ( 6 + 6)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b. Nurse                  		: 24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c. HA                   		: 22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d. CHCP                   		: 8 .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          e. Volunteer, Security guard &amp; cleaner: 06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9.     Health Institutions			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a. Health Complex        	: 01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b. H &amp; FWC                   	: 03 ( FWC– 3 )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CC0000"/>
                </a:solidFill>
              </a:rPr>
              <a:t>c. Community clinic	: 09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d. Non- Govt. Clinic  	: 05</a:t>
            </a:r>
          </a:p>
          <a:p>
            <a:pPr marL="609600" indent="-609600" eaLnBrk="1" hangingPunct="1">
              <a:buFontTx/>
              <a:buNone/>
            </a:pPr>
            <a:endParaRPr lang="en-US" altLang="en-US" sz="1800" b="1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2BFF30-49BB-420B-B0B5-C33538161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3200" b="1" dirty="0"/>
              <a:t>Health Profile of </a:t>
            </a:r>
            <a:r>
              <a:rPr lang="en-US" altLang="en-US" sz="3200" b="1" dirty="0" err="1"/>
              <a:t>Bamna</a:t>
            </a:r>
            <a:r>
              <a:rPr lang="en-US" altLang="en-US" sz="3200" b="1" dirty="0"/>
              <a:t> </a:t>
            </a:r>
            <a:r>
              <a:rPr lang="en-US" altLang="en-US" sz="3200" b="1" dirty="0" err="1"/>
              <a:t>Upazila</a:t>
            </a:r>
            <a:r>
              <a:rPr lang="en-US" altLang="en-US" sz="3200" b="1" dirty="0"/>
              <a:t>- 2021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00D9D7C-63B0-4885-9C97-EF9BFDCA4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84238"/>
            <a:ext cx="8229600" cy="50593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10. Mother Taken-ANC		: 95% ( 1st Visit)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11. Hospital Delivery Rate		: 45%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12. No. of Hospital bed		: 50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13. Bed Occupancy Rate 		: 83%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14.CPR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15.TFR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16.EPI Coverage.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17.TB Case detection rate.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18.IMR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19.NMR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20.Under 5 MR.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21.MMR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Bed Occupancy Rate from 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 to 2021</a:t>
            </a: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62176" y="236831"/>
            <a:ext cx="8229600" cy="7159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4400">
                <a:latin typeface="Calibri" pitchFamily="34" charset="0"/>
              </a:defRPr>
            </a:lvl2pPr>
            <a:lvl3pPr algn="ctr">
              <a:defRPr sz="4400">
                <a:latin typeface="Calibri" pitchFamily="34" charset="0"/>
              </a:defRPr>
            </a:lvl3pPr>
            <a:lvl4pPr algn="ctr">
              <a:defRPr sz="4400">
                <a:latin typeface="Calibri" pitchFamily="34" charset="0"/>
              </a:defRPr>
            </a:lvl4pPr>
            <a:lvl5pPr algn="ctr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r>
              <a:rPr lang="en-US" dirty="0"/>
              <a:t>Bamna UHC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741325501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0508716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, Out Door, Indoor  Service 2017 to 2022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4400">
                <a:latin typeface="Calibri" pitchFamily="34" charset="0"/>
              </a:defRPr>
            </a:lvl2pPr>
            <a:lvl3pPr algn="ctr">
              <a:defRPr sz="4400">
                <a:latin typeface="Calibri" pitchFamily="34" charset="0"/>
              </a:defRPr>
            </a:lvl3pPr>
            <a:lvl4pPr algn="ctr">
              <a:defRPr sz="4400">
                <a:latin typeface="Calibri" pitchFamily="34" charset="0"/>
              </a:defRPr>
            </a:lvl4pPr>
            <a:lvl5pPr algn="ctr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r>
              <a:rPr lang="en-US" sz="4000" dirty="0"/>
              <a:t>Bamna UHC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441012833"/>
              </p:ext>
            </p:extLst>
          </p:nvPr>
        </p:nvGraphicFramePr>
        <p:xfrm>
          <a:off x="152400" y="1844676"/>
          <a:ext cx="8839200" cy="4708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5457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292" y="381000"/>
            <a:ext cx="7082852" cy="765855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1" hangingPunct="1"/>
            <a:r>
              <a:rPr lang="en-US" sz="4000" b="1" dirty="0"/>
              <a:t>Bamna UHC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dirty="0"/>
          </a:p>
          <a:p>
            <a:pPr algn="ctr" eaLnBrk="1" hangingPunct="1">
              <a:buFontTx/>
              <a:buNone/>
            </a:pPr>
            <a:endParaRPr lang="en-US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1079292" y="1359107"/>
            <a:ext cx="7082852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2017 to July 2022 (NVD and C-section)</a:t>
            </a:r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FDB99ED0-C427-4FFB-8D9C-17357E6A79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3479506"/>
              </p:ext>
            </p:extLst>
          </p:nvPr>
        </p:nvGraphicFramePr>
        <p:xfrm>
          <a:off x="1079292" y="2028559"/>
          <a:ext cx="7607508" cy="45509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B3C2B4-886A-4D42-95DF-24E3D9F22572}"/>
              </a:ext>
            </a:extLst>
          </p:cNvPr>
          <p:cNvSpPr txBox="1"/>
          <p:nvPr/>
        </p:nvSpPr>
        <p:spPr>
          <a:xfrm flipH="1">
            <a:off x="7210548" y="2362200"/>
            <a:ext cx="1708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Please add data of Bamna UHC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891628" y="507207"/>
            <a:ext cx="7414172" cy="53697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1" hangingPunct="1"/>
            <a:r>
              <a:rPr lang="en-US" sz="4000" b="1" dirty="0"/>
              <a:t>Bamna UHC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dirty="0"/>
          </a:p>
          <a:p>
            <a:pPr algn="ctr" eaLnBrk="1" hangingPunct="1">
              <a:buFontTx/>
              <a:buNone/>
            </a:pPr>
            <a:endParaRPr lang="en-US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891628" y="1219625"/>
            <a:ext cx="7414172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ANC Care: 2017 to July 2022 (ANC 1</a:t>
            </a:r>
            <a:r>
              <a:rPr lang="en-US" sz="240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st</a:t>
            </a: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and 4</a:t>
            </a:r>
            <a:r>
              <a:rPr lang="en-US" sz="240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th</a:t>
            </a: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Visit)</a:t>
            </a:r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FDB99ED0-C427-4FFB-8D9C-17357E6A79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7112301"/>
              </p:ext>
            </p:extLst>
          </p:nvPr>
        </p:nvGraphicFramePr>
        <p:xfrm>
          <a:off x="685800" y="185227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B3C2B4-886A-4D42-95DF-24E3D9F22572}"/>
              </a:ext>
            </a:extLst>
          </p:cNvPr>
          <p:cNvSpPr txBox="1"/>
          <p:nvPr/>
        </p:nvSpPr>
        <p:spPr>
          <a:xfrm flipH="1">
            <a:off x="7435681" y="2199381"/>
            <a:ext cx="1708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Please add data of Bamna UHC</a:t>
            </a:r>
          </a:p>
        </p:txBody>
      </p:sp>
    </p:spTree>
    <p:extLst>
      <p:ext uri="{BB962C8B-B14F-4D97-AF65-F5344CB8AC3E}">
        <p14:creationId xmlns:p14="http://schemas.microsoft.com/office/powerpoint/2010/main" val="297744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en-US" sz="4000" b="1" dirty="0"/>
              <a:t>Bamna UHC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417638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2013- 2022 (Hospital Delivery 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86105421"/>
              </p:ext>
            </p:extLst>
          </p:nvPr>
        </p:nvGraphicFramePr>
        <p:xfrm>
          <a:off x="457200" y="2209800"/>
          <a:ext cx="8229600" cy="3916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914400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Comparative data of revenue income (in Taka) from 2019 to 2021</a:t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4000" b="1">
                <a:latin typeface="+mj-lt"/>
                <a:ea typeface="+mj-ea"/>
                <a:cs typeface="+mj-cs"/>
              </a:defRPr>
            </a:lvl1pPr>
            <a:lvl2pPr algn="ctr">
              <a:defRPr sz="4400">
                <a:latin typeface="Calibri" pitchFamily="34" charset="0"/>
              </a:defRPr>
            </a:lvl2pPr>
            <a:lvl3pPr algn="ctr">
              <a:defRPr sz="4400">
                <a:latin typeface="Calibri" pitchFamily="34" charset="0"/>
              </a:defRPr>
            </a:lvl3pPr>
            <a:lvl4pPr algn="ctr">
              <a:defRPr sz="4400">
                <a:latin typeface="Calibri" pitchFamily="34" charset="0"/>
              </a:defRPr>
            </a:lvl4pPr>
            <a:lvl5pPr algn="ctr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r>
              <a:rPr lang="en-US" dirty="0"/>
              <a:t>BAMNA UHC</a:t>
            </a:r>
          </a:p>
        </p:txBody>
      </p:sp>
    </p:spTree>
    <p:extLst>
      <p:ext uri="{BB962C8B-B14F-4D97-AF65-F5344CB8AC3E}">
        <p14:creationId xmlns:p14="http://schemas.microsoft.com/office/powerpoint/2010/main" val="517485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57062"/>
            <a:ext cx="9144000" cy="903516"/>
          </a:xfrm>
        </p:spPr>
        <p:txBody>
          <a:bodyPr/>
          <a:lstStyle/>
          <a:p>
            <a:r>
              <a:rPr lang="en-US" sz="2400" b="1" dirty="0"/>
              <a:t> </a:t>
            </a:r>
            <a:r>
              <a:rPr lang="en-US" sz="2800" b="1" dirty="0"/>
              <a:t>Cleaning and Beautification of building and Campus of UHC </a:t>
            </a:r>
            <a:br>
              <a:rPr lang="en-US" sz="2800" b="1" dirty="0"/>
            </a:br>
            <a:r>
              <a:rPr lang="en-US" sz="2400" dirty="0"/>
              <a:t>Observational Difference between August-22 and September-22</a:t>
            </a:r>
            <a:endParaRPr lang="en-US" sz="24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03" y="1295400"/>
            <a:ext cx="3777468" cy="25146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123" y="1312976"/>
            <a:ext cx="3793797" cy="2514601"/>
          </a:xfr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E59A89A1-331F-4D4E-A6D4-6D672ADE0A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8203" y="3962400"/>
            <a:ext cx="3793797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E99AEF45-6BF3-4253-BCAE-3A82EE70FB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97123" y="3962399"/>
            <a:ext cx="3793797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9">
            <a:extLst>
              <a:ext uri="{FF2B5EF4-FFF2-40B4-BE49-F238E27FC236}">
                <a16:creationId xmlns:a16="http://schemas.microsoft.com/office/drawing/2014/main" id="{7F68635F-63B0-4971-B9EC-8F986121B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203" y="1295400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09AA963D-C2E3-4E05-874F-4146D1F2E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7122" y="1295399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0B3CF072-BA4F-42C5-B281-C4FD31031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203" y="3962400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C1F9FF0B-AC1D-42A7-A216-A8B02F432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7123" y="3962400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890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46980"/>
            <a:ext cx="8763000" cy="996020"/>
          </a:xfrm>
        </p:spPr>
        <p:txBody>
          <a:bodyPr/>
          <a:lstStyle/>
          <a:p>
            <a:r>
              <a:rPr lang="en-US" sz="2400" b="1" dirty="0"/>
              <a:t> </a:t>
            </a:r>
            <a:r>
              <a:rPr lang="en-US" sz="2800" b="1" dirty="0"/>
              <a:t>Removal of Bushes from the Roof of the Ambulance Garage and Billboard from the Campus </a:t>
            </a:r>
            <a:br>
              <a:rPr lang="en-US" sz="2400" b="1" dirty="0"/>
            </a:br>
            <a:r>
              <a:rPr lang="en-US" sz="2200" dirty="0"/>
              <a:t>Observational Difference between August-22 and September-22</a:t>
            </a:r>
            <a:endParaRPr lang="en-US" sz="22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65238"/>
            <a:ext cx="3810000" cy="269716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265237"/>
            <a:ext cx="3810000" cy="2697163"/>
          </a:xfr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C4BF796D-2632-422E-8993-E24D4BF5B9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0945" y="4008437"/>
            <a:ext cx="3787255" cy="2544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7CA43321-DD92-4FD8-B898-48D6FA8FB9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4400" y="4008437"/>
            <a:ext cx="38100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9">
            <a:extLst>
              <a:ext uri="{FF2B5EF4-FFF2-40B4-BE49-F238E27FC236}">
                <a16:creationId xmlns:a16="http://schemas.microsoft.com/office/drawing/2014/main" id="{2EB8F8A5-2287-421D-808B-65B861EC1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249972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5C5097A9-C6DC-4B45-99AF-96253189E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271581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C4404937-FCB5-442B-85D1-DF89C1448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615" y="4038600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4F0F1CC-6210-4087-A810-E2660C510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6815" y="4038600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0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75" y="1282344"/>
            <a:ext cx="3928708" cy="2680056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883" y="1282344"/>
            <a:ext cx="3645517" cy="2672663"/>
          </a:xfr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AFD00586-5CA5-4A3A-88E7-7AB536BE16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3975" y="4025544"/>
            <a:ext cx="3928708" cy="268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E315AF4D-0361-49F3-88B3-C312AAC563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88883" y="3995974"/>
            <a:ext cx="3645516" cy="2709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D0C66E8-DC82-4F84-A2D9-AA4C84B0C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28600"/>
            <a:ext cx="8763000" cy="914400"/>
          </a:xfrm>
        </p:spPr>
        <p:txBody>
          <a:bodyPr/>
          <a:lstStyle/>
          <a:p>
            <a:r>
              <a:rPr lang="en-US" sz="2400" b="1" dirty="0"/>
              <a:t> </a:t>
            </a:r>
            <a:r>
              <a:rPr lang="en-US" sz="2800" b="1" dirty="0"/>
              <a:t>Organized Pharmacy and Removal of Non Usable Notice Board from UHC Building</a:t>
            </a:r>
            <a:br>
              <a:rPr lang="en-US" sz="2400" b="1" dirty="0"/>
            </a:br>
            <a:r>
              <a:rPr lang="en-US" sz="2200" dirty="0"/>
              <a:t>Observational Difference between August-22 and September-22</a:t>
            </a:r>
            <a:endParaRPr lang="en-US" sz="2200" b="1" dirty="0"/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7154CE28-8493-4603-A71C-F80A9D44E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387" y="1295400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D8325D88-2399-42D6-992D-68AB3937B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8883" y="1295400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4A8391B3-FBCC-46EB-9641-E3CC0DCD0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75" y="4025544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04330048-9A78-46CC-AFC1-225FDC1A8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8883" y="3995974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918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97" y="1670713"/>
            <a:ext cx="3810000" cy="40386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676400"/>
            <a:ext cx="3810000" cy="4038600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B18212B-6F2F-4E7F-9BAA-552AE6DB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304800"/>
            <a:ext cx="8763000" cy="1219200"/>
          </a:xfrm>
        </p:spPr>
        <p:txBody>
          <a:bodyPr/>
          <a:lstStyle/>
          <a:p>
            <a:r>
              <a:rPr lang="en-US" sz="2400" b="1" dirty="0"/>
              <a:t> </a:t>
            </a:r>
            <a:r>
              <a:rPr lang="en-US" sz="3200" b="1" dirty="0"/>
              <a:t>Removal of Bushes from the Roof UHC Building</a:t>
            </a:r>
            <a:br>
              <a:rPr lang="en-US" sz="2400" b="1" dirty="0"/>
            </a:br>
            <a:r>
              <a:rPr lang="en-US" sz="2200" dirty="0"/>
              <a:t>Observational Difference between August-22 and September-22</a:t>
            </a:r>
            <a:endParaRPr lang="en-US" sz="2200" b="1" dirty="0"/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7E4D5BBF-48C4-4B7D-B3A5-8A7257A9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397" y="1670713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FA66C3E1-ECC8-4AFA-98EE-A018995D9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685497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325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Conference Room of Bamna UHC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00200"/>
            <a:ext cx="7772400" cy="4525963"/>
          </a:xfrm>
        </p:spPr>
      </p:pic>
    </p:spTree>
    <p:extLst>
      <p:ext uri="{BB962C8B-B14F-4D97-AF65-F5344CB8AC3E}">
        <p14:creationId xmlns:p14="http://schemas.microsoft.com/office/powerpoint/2010/main" val="1118222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Garden in front of the UHC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200"/>
            <a:ext cx="8229600" cy="4525963"/>
          </a:xfrm>
        </p:spPr>
      </p:pic>
    </p:spTree>
    <p:extLst>
      <p:ext uri="{BB962C8B-B14F-4D97-AF65-F5344CB8AC3E}">
        <p14:creationId xmlns:p14="http://schemas.microsoft.com/office/powerpoint/2010/main" val="3984181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A17ED29-B1C5-44A0-B7B2-8E405DC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653"/>
            <a:ext cx="8229600" cy="665162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eaLnBrk="1" hangingPunct="1"/>
            <a:r>
              <a:rPr lang="en-US" altLang="en-US" sz="3200" b="1" dirty="0"/>
              <a:t>Bamna Upazila Health  Complex</a:t>
            </a:r>
            <a:endParaRPr lang="en-US" altLang="en-US" sz="2000" b="1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935C444-89D8-44E5-B127-72803971B5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 dirty="0"/>
          </a:p>
          <a:p>
            <a:pPr algn="ctr" eaLnBrk="1" hangingPunct="1">
              <a:buFontTx/>
              <a:buNone/>
            </a:pPr>
            <a:endParaRPr lang="en-US" altLang="en-US" sz="2800" dirty="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7DCD4D61-0048-4A50-A148-F5E3D58F6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968732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 dirty="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7E84A1FE-1CF1-44D6-BEC9-A0C9A7A7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05000"/>
            <a:ext cx="8534400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Two IPS donated by Local MP. </a:t>
            </a:r>
          </a:p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Dental Doctors Room was Decorated by Upazila Parishad. </a:t>
            </a:r>
          </a:p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room was well established by Upazila Parishad. </a:t>
            </a:r>
          </a:p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donated  about 85 units by blood donors in emergency    need.</a:t>
            </a: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44A9FB5-73F8-496D-817C-AAFDD09B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Bamna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Health Complex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/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/>
              <a:t>      </a:t>
            </a:r>
            <a:r>
              <a:rPr lang="en-US" sz="2800" dirty="0"/>
              <a:t>* In 2012, Bamna Health Complex declared as the 50     </a:t>
            </a:r>
          </a:p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dirty="0"/>
              <a:t>        bedded in Bamna Upazilla health complex.</a:t>
            </a:r>
            <a:endParaRPr lang="en-US" sz="2800" dirty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>
                <a:cs typeface="Calibri" pitchFamily="34" charset="0"/>
              </a:rPr>
              <a:t> Mobilized 7 additional </a:t>
            </a:r>
            <a:r>
              <a:rPr lang="en-US" dirty="0"/>
              <a:t>workers from community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dirty="0"/>
              <a:t>   (2 volunteer, 3 cleaners and others 1)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/>
              <a:t> EOC Beds 05.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/>
              <a:t> Bamna Health complex is awarded for best performance in HSS.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dirty="0"/>
              <a:t>COVID Achievement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0% Mortality in Bamna Hospital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Regular OPD Rx,  Hospitalization With Proper Max in COVID Unit&amp; Proper Referral.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Successful COVID Vaccination (72%) in Bamna Upazila.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Pathological Tests , ECG, X-Ray &amp; USG is Available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7237505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sz="2400" dirty="0"/>
              <a:t>Many of the post of human resource are vacant.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 No store room in the Hospital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Main building of the Hospital is old and reconstruction is necessary.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The quarter of  officers quarter and dormitory needs urgently reconstruction.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 Post creation of human resources of  50 bedded Hospital.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657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Way Forward….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Starting of VIA activities to prevent cervical and breast cancer of female.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Starting of C-section for delivery mother.    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Establishment of USG service.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Functioning of ECG service.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Implementation of effective SSK program.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Establish a cycle stand close to the main gate.</a:t>
            </a:r>
          </a:p>
        </p:txBody>
      </p:sp>
    </p:spTree>
    <p:extLst>
      <p:ext uri="{BB962C8B-B14F-4D97-AF65-F5344CB8AC3E}">
        <p14:creationId xmlns:p14="http://schemas.microsoft.com/office/powerpoint/2010/main" val="343836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03238" y="5486400"/>
            <a:ext cx="8183562" cy="1066800"/>
          </a:xfrm>
        </p:spPr>
        <p:txBody>
          <a:bodyPr>
            <a:normAutofit fontScale="90000"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br>
              <a:rPr lang="en-US" sz="4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br>
              <a:rPr lang="en-US" sz="4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br>
              <a:rPr lang="en-US" sz="4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43000"/>
            <a:ext cx="7467600" cy="3962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3937</TotalTime>
  <Words>598</Words>
  <Application>Microsoft Office PowerPoint</Application>
  <PresentationFormat>On-screen Show (4:3)</PresentationFormat>
  <Paragraphs>156</Paragraphs>
  <Slides>23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Albertus Extra Bold</vt:lpstr>
      <vt:lpstr>Arial</vt:lpstr>
      <vt:lpstr>Calibri</vt:lpstr>
      <vt:lpstr>Symbol</vt:lpstr>
      <vt:lpstr>Times New Roman</vt:lpstr>
      <vt:lpstr>Verdana</vt:lpstr>
      <vt:lpstr>Wingdings</vt:lpstr>
      <vt:lpstr>Wingdings 2</vt:lpstr>
      <vt:lpstr>5_シック</vt:lpstr>
      <vt:lpstr>Office Theme</vt:lpstr>
      <vt:lpstr>PowerPoint Presentation</vt:lpstr>
      <vt:lpstr>A Sub-district level Hospital with a Vision</vt:lpstr>
      <vt:lpstr>Background History of Bamna Upazilla Health Complex, Barguna</vt:lpstr>
      <vt:lpstr>Contd.</vt:lpstr>
      <vt:lpstr>Health Profile of Bamna Upazila- 2021</vt:lpstr>
      <vt:lpstr>PowerPoint Presentation</vt:lpstr>
      <vt:lpstr>PowerPoint Presentation</vt:lpstr>
      <vt:lpstr>Emergency , Out Door, Indoor  Service 2017 to 2022</vt:lpstr>
      <vt:lpstr>Bamna UHC</vt:lpstr>
      <vt:lpstr>Bamna UHC</vt:lpstr>
      <vt:lpstr>Bamna UHC</vt:lpstr>
      <vt:lpstr>  Comparative data of revenue income (in Taka) from 2019 to 2021 </vt:lpstr>
      <vt:lpstr> Cleaning and Beautification of building and Campus of UHC  Observational Difference between August-22 and September-22</vt:lpstr>
      <vt:lpstr> Removal of Bushes from the Roof of the Ambulance Garage and Billboard from the Campus  Observational Difference between August-22 and September-22</vt:lpstr>
      <vt:lpstr> Organized Pharmacy and Removal of Non Usable Notice Board from UHC Building Observational Difference between August-22 and September-22</vt:lpstr>
      <vt:lpstr> Removal of Bushes from the Roof UHC Building Observational Difference between August-22 and September-22</vt:lpstr>
      <vt:lpstr>Conference Room of Bamna UHC</vt:lpstr>
      <vt:lpstr>Garden in front of the UHC</vt:lpstr>
      <vt:lpstr>Bamna Upazila Health  Complex</vt:lpstr>
      <vt:lpstr>Achievement of Bamna Health Complex</vt:lpstr>
      <vt:lpstr>Challenges</vt:lpstr>
      <vt:lpstr>Way Forward….</vt:lpstr>
      <vt:lpstr>    Thank You 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534</cp:revision>
  <cp:lastPrinted>2022-09-06T04:38:51Z</cp:lastPrinted>
  <dcterms:created xsi:type="dcterms:W3CDTF">2013-05-05T09:56:19Z</dcterms:created>
  <dcterms:modified xsi:type="dcterms:W3CDTF">2022-09-29T06:24:30Z</dcterms:modified>
</cp:coreProperties>
</file>