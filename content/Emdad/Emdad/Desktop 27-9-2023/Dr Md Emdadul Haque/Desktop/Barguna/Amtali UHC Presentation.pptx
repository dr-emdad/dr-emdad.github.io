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700" r:id="rId4"/>
    <p:sldMasterId id="2147483713" r:id="rId5"/>
    <p:sldMasterId id="2147483726" r:id="rId6"/>
  </p:sldMasterIdLst>
  <p:notesMasterIdLst>
    <p:notesMasterId r:id="rId29"/>
  </p:notesMasterIdLst>
  <p:sldIdLst>
    <p:sldId id="256" r:id="rId7"/>
    <p:sldId id="259" r:id="rId8"/>
    <p:sldId id="257" r:id="rId9"/>
    <p:sldId id="258" r:id="rId10"/>
    <p:sldId id="260" r:id="rId11"/>
    <p:sldId id="262" r:id="rId12"/>
    <p:sldId id="263" r:id="rId13"/>
    <p:sldId id="265" r:id="rId14"/>
    <p:sldId id="264" r:id="rId15"/>
    <p:sldId id="277" r:id="rId16"/>
    <p:sldId id="280" r:id="rId17"/>
    <p:sldId id="266" r:id="rId18"/>
    <p:sldId id="271" r:id="rId19"/>
    <p:sldId id="274" r:id="rId20"/>
    <p:sldId id="268" r:id="rId21"/>
    <p:sldId id="273" r:id="rId22"/>
    <p:sldId id="270" r:id="rId23"/>
    <p:sldId id="272" r:id="rId24"/>
    <p:sldId id="281" r:id="rId25"/>
    <p:sldId id="286" r:id="rId26"/>
    <p:sldId id="287" r:id="rId27"/>
    <p:sldId id="285" r:id="rId2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1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>
              <a:gsLst>
                <a:gs pos="0">
                  <a:srgbClr val="2E5F99"/>
                </a:gs>
                <a:gs pos="100000">
                  <a:srgbClr val="3C7AC7"/>
                </a:gs>
              </a:gsLst>
              <a:lin ang="16200000"/>
            </a:gradFill>
            <a:ln w="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6C-47B5-ABFC-6246F6AF02F9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lang="en-US" sz="1800" b="1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6C-47B5-ABFC-6246F6AF02F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lang="en-US" sz="1800" b="1" strike="noStrike" spc="-1">
                    <a:solidFill>
                      <a:srgbClr val="000000"/>
                    </a:solidFill>
                    <a:latin typeface="Calibri"/>
                    <a:ea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0.68</c:v>
                </c:pt>
                <c:pt idx="1">
                  <c:v>0.67</c:v>
                </c:pt>
                <c:pt idx="2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6C-47B5-ABFC-6246F6AF0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09923"/>
        <c:axId val="55486556"/>
      </c:barChart>
      <c:catAx>
        <c:axId val="1070992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800" b="1" strike="noStrike" spc="-1">
                <a:solidFill>
                  <a:srgbClr val="000000"/>
                </a:solidFill>
                <a:latin typeface="Calibri"/>
                <a:ea typeface="DejaVu Sans"/>
              </a:defRPr>
            </a:pPr>
            <a:endParaRPr lang="en-US"/>
          </a:p>
        </c:txPr>
        <c:crossAx val="55486556"/>
        <c:crosses val="autoZero"/>
        <c:auto val="1"/>
        <c:lblAlgn val="ctr"/>
        <c:lblOffset val="100"/>
        <c:noMultiLvlLbl val="0"/>
      </c:catAx>
      <c:valAx>
        <c:axId val="5548655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800" b="1" strike="noStrike" spc="-1">
                <a:solidFill>
                  <a:srgbClr val="000000"/>
                </a:solidFill>
                <a:latin typeface="Calibri"/>
                <a:ea typeface="DejaVu Sans"/>
              </a:defRPr>
            </a:pPr>
            <a:endParaRPr lang="en-US"/>
          </a:p>
        </c:txPr>
        <c:crossAx val="1070992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145033785275799"/>
          <c:y val="4.4426939740055099E-2"/>
          <c:w val="0.65821666740272899"/>
          <c:h val="0.8442693974005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gradFill>
              <a:gsLst>
                <a:gs pos="0">
                  <a:srgbClr val="2E5F99"/>
                </a:gs>
                <a:gs pos="100000">
                  <a:srgbClr val="3C7AC7"/>
                </a:gs>
              </a:gsLst>
              <a:lin ang="16200000"/>
            </a:gra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lang="en-US" sz="1800" b="1" strike="noStrike" spc="-1">
                    <a:solidFill>
                      <a:srgbClr val="000000"/>
                    </a:solidFill>
                    <a:latin typeface="Calibri"/>
                    <a:ea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49500</c:v>
                </c:pt>
                <c:pt idx="1">
                  <c:v>35078</c:v>
                </c:pt>
                <c:pt idx="2">
                  <c:v>27112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5-4CD1-A182-D3527E976DE7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Indoor</c:v>
                </c:pt>
              </c:strCache>
            </c:strRef>
          </c:tx>
          <c:spPr>
            <a:gradFill>
              <a:gsLst>
                <a:gs pos="0">
                  <a:srgbClr val="9C2F2C"/>
                </a:gs>
                <a:gs pos="100000">
                  <a:srgbClr val="CB3D39"/>
                </a:gs>
              </a:gsLst>
              <a:lin ang="16200000"/>
            </a:gra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lang="en-US" sz="1800" b="1" strike="noStrike" spc="-1">
                    <a:solidFill>
                      <a:srgbClr val="000000"/>
                    </a:solidFill>
                    <a:latin typeface="Calibri"/>
                    <a:ea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5710</c:v>
                </c:pt>
                <c:pt idx="1">
                  <c:v>4548</c:v>
                </c:pt>
                <c:pt idx="2">
                  <c:v>3480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95-4CD1-A182-D3527E976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4544813"/>
        <c:axId val="21817472"/>
      </c:barChart>
      <c:catAx>
        <c:axId val="3454481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800" b="1" strike="noStrike" spc="-1">
                <a:solidFill>
                  <a:srgbClr val="000000"/>
                </a:solidFill>
                <a:latin typeface="Calibri"/>
                <a:ea typeface="DejaVu Sans"/>
              </a:defRPr>
            </a:pPr>
            <a:endParaRPr lang="en-US"/>
          </a:p>
        </c:txPr>
        <c:crossAx val="21817472"/>
        <c:crosses val="autoZero"/>
        <c:auto val="1"/>
        <c:lblAlgn val="ctr"/>
        <c:lblOffset val="100"/>
        <c:noMultiLvlLbl val="0"/>
      </c:catAx>
      <c:valAx>
        <c:axId val="2181747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800" b="1" strike="noStrike" spc="-1">
                <a:solidFill>
                  <a:srgbClr val="000000"/>
                </a:solidFill>
                <a:latin typeface="Calibri"/>
                <a:ea typeface="DejaVu Sans"/>
              </a:defRPr>
            </a:pPr>
            <a:endParaRPr lang="en-US"/>
          </a:p>
        </c:txPr>
        <c:crossAx val="34544813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0.78439597315436205"/>
          <c:y val="0.42283464566929102"/>
          <c:w val="0.20620832781383799"/>
          <c:h val="0.27639971651311102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lang="en-US" sz="1800" b="1" strike="noStrike" spc="-1">
              <a:solidFill>
                <a:srgbClr val="000000"/>
              </a:solidFill>
              <a:latin typeface="Calibri"/>
              <a:ea typeface="DejaVu San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lang="en-US" sz="1795" b="1" strike="noStrike" spc="-1">
                    <a:solidFill>
                      <a:srgbClr val="376092"/>
                    </a:solidFill>
                    <a:latin typeface="Calibri"/>
                    <a:ea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77</c:v>
                </c:pt>
                <c:pt idx="1">
                  <c:v>51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B-43DB-A486-CD93E21A0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axId val="96672789"/>
        <c:axId val="60031201"/>
      </c:barChart>
      <c:catAx>
        <c:axId val="9667278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795" b="1" strike="noStrike" spc="-1">
                <a:solidFill>
                  <a:srgbClr val="000000"/>
                </a:solidFill>
                <a:latin typeface="Calibri"/>
                <a:ea typeface="DejaVu Sans"/>
              </a:defRPr>
            </a:pPr>
            <a:endParaRPr lang="en-US"/>
          </a:p>
        </c:txPr>
        <c:crossAx val="60031201"/>
        <c:crosses val="autoZero"/>
        <c:auto val="1"/>
        <c:lblAlgn val="ctr"/>
        <c:lblOffset val="100"/>
        <c:noMultiLvlLbl val="0"/>
      </c:catAx>
      <c:valAx>
        <c:axId val="6003120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795" b="1" strike="noStrike" spc="-1">
                <a:solidFill>
                  <a:srgbClr val="1F497D"/>
                </a:solidFill>
                <a:latin typeface="Calibri"/>
                <a:ea typeface="DejaVu Sans"/>
              </a:defRPr>
            </a:pPr>
            <a:endParaRPr lang="en-US"/>
          </a:p>
        </c:txPr>
        <c:crossAx val="9667278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lang="en-US" sz="1795" b="1" strike="noStrike" spc="-1">
                    <a:solidFill>
                      <a:srgbClr val="376092"/>
                    </a:solidFill>
                    <a:latin typeface="Calibri"/>
                    <a:ea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217551</c:v>
                </c:pt>
                <c:pt idx="1">
                  <c:v>488447</c:v>
                </c:pt>
                <c:pt idx="2">
                  <c:v>705998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61-4953-964B-9C4E954C9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axId val="22431070"/>
        <c:axId val="56224569"/>
      </c:barChart>
      <c:catAx>
        <c:axId val="2243107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795" b="1" strike="noStrike" spc="-1">
                <a:solidFill>
                  <a:srgbClr val="000000"/>
                </a:solidFill>
                <a:latin typeface="Calibri"/>
                <a:ea typeface="DejaVu Sans"/>
              </a:defRPr>
            </a:pPr>
            <a:endParaRPr lang="en-US"/>
          </a:p>
        </c:txPr>
        <c:crossAx val="56224569"/>
        <c:crosses val="autoZero"/>
        <c:auto val="1"/>
        <c:lblAlgn val="ctr"/>
        <c:lblOffset val="100"/>
        <c:noMultiLvlLbl val="0"/>
      </c:catAx>
      <c:valAx>
        <c:axId val="5622456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lang="en-US" sz="1795" b="1" strike="noStrike" spc="-1">
                <a:solidFill>
                  <a:srgbClr val="1F497D"/>
                </a:solidFill>
                <a:latin typeface="Calibri"/>
                <a:ea typeface="DejaVu Sans"/>
              </a:defRPr>
            </a:pPr>
            <a:endParaRPr lang="en-US"/>
          </a:p>
        </c:txPr>
        <c:crossAx val="2243107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314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15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16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A677150B-4C2A-4B93-A294-881255D998E8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Num"/>
          </p:nvPr>
        </p:nvSpPr>
        <p:spPr>
          <a:xfrm>
            <a:off x="3970440" y="8829720"/>
            <a:ext cx="3036240" cy="46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4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81160" y="696960"/>
            <a:ext cx="4646160" cy="348408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3"/>
          <p:cNvSpPr>
            <a:spLocks noGrp="1"/>
          </p:cNvSpPr>
          <p:nvPr>
            <p:ph type="body"/>
          </p:nvPr>
        </p:nvSpPr>
        <p:spPr>
          <a:xfrm>
            <a:off x="701640" y="4416480"/>
            <a:ext cx="5604840" cy="418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Num"/>
          </p:nvPr>
        </p:nvSpPr>
        <p:spPr>
          <a:xfrm>
            <a:off x="3970440" y="8829720"/>
            <a:ext cx="3036240" cy="46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7237" cy="34258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687240" y="4343400"/>
            <a:ext cx="5481000" cy="41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Num"/>
          </p:nvPr>
        </p:nvSpPr>
        <p:spPr>
          <a:xfrm>
            <a:off x="3970440" y="8829720"/>
            <a:ext cx="3036240" cy="46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4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7237" cy="3425825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3"/>
          <p:cNvSpPr>
            <a:spLocks noGrp="1"/>
          </p:cNvSpPr>
          <p:nvPr>
            <p:ph type="body"/>
          </p:nvPr>
        </p:nvSpPr>
        <p:spPr>
          <a:xfrm>
            <a:off x="687240" y="4343400"/>
            <a:ext cx="5481000" cy="41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Num"/>
          </p:nvPr>
        </p:nvSpPr>
        <p:spPr>
          <a:xfrm>
            <a:off x="3970440" y="8829720"/>
            <a:ext cx="3036240" cy="46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82688" y="696913"/>
            <a:ext cx="4643437" cy="3482975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3"/>
          <p:cNvSpPr>
            <a:spLocks noGrp="1"/>
          </p:cNvSpPr>
          <p:nvPr>
            <p:ph type="body"/>
          </p:nvPr>
        </p:nvSpPr>
        <p:spPr>
          <a:xfrm>
            <a:off x="702720" y="4415760"/>
            <a:ext cx="5603040" cy="41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6613" cy="3484562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701640" y="4416480"/>
            <a:ext cx="5604840" cy="418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/>
          </p:nvPr>
        </p:nvSpPr>
        <p:spPr>
          <a:xfrm>
            <a:off x="3970440" y="8829720"/>
            <a:ext cx="3036240" cy="46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6613" cy="3484562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701640" y="4416480"/>
            <a:ext cx="5604840" cy="418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/>
          </p:nvPr>
        </p:nvSpPr>
        <p:spPr>
          <a:xfrm>
            <a:off x="3970440" y="8829720"/>
            <a:ext cx="3036240" cy="46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5289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6613" cy="3484562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701640" y="4416480"/>
            <a:ext cx="5604840" cy="418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/>
          </p:nvPr>
        </p:nvSpPr>
        <p:spPr>
          <a:xfrm>
            <a:off x="3970440" y="8829720"/>
            <a:ext cx="3036240" cy="46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821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 fontScale="7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 fontScale="7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 fontScale="7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2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 fontScale="7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22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12" descr="Picture 233"/>
          <p:cNvPicPr/>
          <p:nvPr/>
        </p:nvPicPr>
        <p:blipFill>
          <a:blip r:embed="rId3"/>
          <a:stretch/>
        </p:blipFill>
        <p:spPr>
          <a:xfrm>
            <a:off x="1143000" y="2209680"/>
            <a:ext cx="6857640" cy="3526920"/>
          </a:xfrm>
          <a:prstGeom prst="rect">
            <a:avLst/>
          </a:prstGeom>
          <a:ln w="0">
            <a:noFill/>
          </a:ln>
        </p:spPr>
      </p:pic>
      <p:sp>
        <p:nvSpPr>
          <p:cNvPr id="318" name="Rectangle 13"/>
          <p:cNvSpPr/>
          <p:nvPr/>
        </p:nvSpPr>
        <p:spPr>
          <a:xfrm>
            <a:off x="382680" y="838080"/>
            <a:ext cx="8430480" cy="106452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>
            <a:solidFill>
              <a:srgbClr val="46AAC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  <a:ea typeface="DejaVu Sans"/>
              </a:rPr>
              <a:t>50 BEDDED UPAZILA  HEALTH  COMPLEX </a:t>
            </a:r>
            <a:br/>
            <a:r>
              <a:rPr lang="en-US" sz="3200" b="1" strike="noStrike" spc="-1">
                <a:solidFill>
                  <a:srgbClr val="FFFFFF"/>
                </a:solidFill>
                <a:latin typeface="Calibri"/>
                <a:ea typeface="DejaVu Sans"/>
              </a:rPr>
              <a:t>Amtali, Barguna</a:t>
            </a: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.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01376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Calibri"/>
              </a:rPr>
              <a:t>A Sub-district level Hospital with a Vision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23" name="Oval 3"/>
          <p:cNvSpPr/>
          <p:nvPr/>
        </p:nvSpPr>
        <p:spPr>
          <a:xfrm>
            <a:off x="4281480" y="2019240"/>
            <a:ext cx="3121920" cy="12931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Maximum utilization of Govt.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resources with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honesty and sincerity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1600" b="0" strike="noStrike" spc="-1">
              <a:latin typeface="Arial"/>
            </a:endParaRPr>
          </a:p>
        </p:txBody>
      </p:sp>
      <p:sp>
        <p:nvSpPr>
          <p:cNvPr id="324" name="Oval 4"/>
          <p:cNvSpPr/>
          <p:nvPr/>
        </p:nvSpPr>
        <p:spPr>
          <a:xfrm>
            <a:off x="4281480" y="5105520"/>
            <a:ext cx="3198240" cy="12171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Providing Effective and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prompt services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through improved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management system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25" name="AutoShape 6"/>
          <p:cNvSpPr/>
          <p:nvPr/>
        </p:nvSpPr>
        <p:spPr>
          <a:xfrm>
            <a:off x="1447920" y="2438280"/>
            <a:ext cx="2512440" cy="45504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6" name="AutoShape 7"/>
          <p:cNvSpPr/>
          <p:nvPr/>
        </p:nvSpPr>
        <p:spPr>
          <a:xfrm>
            <a:off x="1343160" y="5486400"/>
            <a:ext cx="2436120" cy="45504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Oval 9"/>
          <p:cNvSpPr/>
          <p:nvPr/>
        </p:nvSpPr>
        <p:spPr>
          <a:xfrm>
            <a:off x="4281480" y="3619440"/>
            <a:ext cx="3198240" cy="12171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Integrated approach of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Administration, Community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Leaders &amp; Health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Management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28" name="AutoShape 10"/>
          <p:cNvSpPr/>
          <p:nvPr/>
        </p:nvSpPr>
        <p:spPr>
          <a:xfrm>
            <a:off x="1328760" y="4000680"/>
            <a:ext cx="2436120" cy="45504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/>
          </p:nvPr>
        </p:nvSpPr>
        <p:spPr>
          <a:xfrm>
            <a:off x="457200" y="965160"/>
            <a:ext cx="8227440" cy="554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None/>
            </a:pPr>
            <a:r>
              <a:rPr lang="en-US" sz="1800" b="1" strike="noStrike" spc="-1" dirty="0">
                <a:latin typeface="Calibri"/>
              </a:rPr>
              <a:t>1.        Total population	        : 270802</a:t>
            </a:r>
            <a:endParaRPr lang="en-US" sz="1800" b="0" strike="noStrike" spc="-1" dirty="0"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None/>
            </a:pPr>
            <a:r>
              <a:rPr lang="en-US" sz="1800" b="1" strike="noStrike" spc="-1" dirty="0">
                <a:latin typeface="Calibri"/>
              </a:rPr>
              <a:t>2.        Total Fertile Couples             : 57254</a:t>
            </a:r>
            <a:endParaRPr lang="en-US" sz="1800" b="0" strike="noStrike" spc="-1" dirty="0"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None/>
            </a:pPr>
            <a:r>
              <a:rPr lang="en-US" sz="1800" b="1" strike="noStrike" spc="-1" dirty="0">
                <a:latin typeface="Calibri"/>
              </a:rPr>
              <a:t>3.        Total Pregnant                </a:t>
            </a:r>
            <a:r>
              <a:rPr lang="en-US" sz="1800" b="1" spc="-1" dirty="0">
                <a:latin typeface="Calibri"/>
              </a:rPr>
              <a:t>        </a:t>
            </a:r>
            <a:r>
              <a:rPr lang="en-US" sz="1800" b="1" strike="noStrike" spc="-1" dirty="0">
                <a:latin typeface="Calibri"/>
              </a:rPr>
              <a:t>: 11064</a:t>
            </a:r>
            <a:endParaRPr lang="en-US" sz="1800" b="0" strike="noStrike" spc="-1" dirty="0"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None/>
            </a:pPr>
            <a:r>
              <a:rPr lang="en-US" sz="1800" b="1" strike="noStrike" spc="-1" dirty="0">
                <a:latin typeface="Calibri"/>
              </a:rPr>
              <a:t>4.        Total Delivery	         : </a:t>
            </a:r>
            <a:r>
              <a:rPr lang="en-US" sz="1800" b="1" strike="noStrike" spc="-1" dirty="0">
                <a:solidFill>
                  <a:srgbClr val="C00000"/>
                </a:solidFill>
                <a:latin typeface="Calibri"/>
              </a:rPr>
              <a:t>4342</a:t>
            </a:r>
            <a:r>
              <a:rPr lang="en-US" sz="1800" b="1" strike="noStrike" spc="-1" dirty="0">
                <a:latin typeface="Calibri"/>
              </a:rPr>
              <a:t>*</a:t>
            </a:r>
            <a:endParaRPr lang="en-US" sz="1800" b="0" strike="noStrike" spc="-1" dirty="0"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None/>
            </a:pPr>
            <a:r>
              <a:rPr lang="en-US" sz="1800" b="1" strike="noStrike" spc="-1" dirty="0">
                <a:latin typeface="Calibri"/>
              </a:rPr>
              <a:t>5.        Total Live birth</a:t>
            </a:r>
            <a:r>
              <a:rPr lang="en-US" sz="1800" b="1" strike="noStrike" spc="-1" dirty="0">
                <a:solidFill>
                  <a:srgbClr val="CC0000"/>
                </a:solidFill>
                <a:latin typeface="Calibri"/>
              </a:rPr>
              <a:t>	          : 4310</a:t>
            </a:r>
            <a:r>
              <a:rPr lang="en-US" sz="1800" b="1" spc="-1" dirty="0">
                <a:latin typeface="Calibri"/>
              </a:rPr>
              <a:t>*</a:t>
            </a:r>
            <a:endParaRPr lang="en-US" sz="1800" b="0" strike="noStrike" spc="-1" dirty="0"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None/>
            </a:pPr>
            <a:r>
              <a:rPr lang="en-US" sz="1800" b="1" spc="-1" dirty="0">
                <a:solidFill>
                  <a:srgbClr val="000000"/>
                </a:solidFill>
                <a:latin typeface="Calibri"/>
              </a:rPr>
              <a:t>6.       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Total death 		          : </a:t>
            </a:r>
            <a:r>
              <a:rPr lang="en-US" sz="1800" b="1" strike="noStrike" spc="-1" dirty="0">
                <a:solidFill>
                  <a:srgbClr val="C00000"/>
                </a:solidFill>
                <a:latin typeface="Calibri"/>
              </a:rPr>
              <a:t>932</a:t>
            </a:r>
            <a:r>
              <a:rPr lang="en-US" sz="1800" b="1" spc="-1" dirty="0">
                <a:latin typeface="Calibri"/>
              </a:rPr>
              <a:t>*</a:t>
            </a:r>
            <a:endParaRPr lang="en-US" sz="1800" b="0" strike="noStrike" spc="-1" dirty="0">
              <a:solidFill>
                <a:srgbClr val="C00000"/>
              </a:solidFill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7.        Total Maternal death	          : </a:t>
            </a:r>
            <a:r>
              <a:rPr lang="en-US" sz="1800" b="1" strike="noStrike" spc="-1" dirty="0">
                <a:solidFill>
                  <a:srgbClr val="C00000"/>
                </a:solidFill>
                <a:latin typeface="Calibri"/>
              </a:rPr>
              <a:t>02</a:t>
            </a:r>
            <a:r>
              <a:rPr lang="en-US" sz="1800" b="1" spc="-1" dirty="0">
                <a:latin typeface="Calibri"/>
              </a:rPr>
              <a:t>*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                          </a:t>
            </a:r>
            <a:endParaRPr lang="en-US" sz="1800" b="0" strike="noStrike" spc="-1" dirty="0"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8.        Health Man power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	a. Doctor			          : 19 ( 11 + 8)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	b. Nurse </a:t>
            </a:r>
            <a:r>
              <a:rPr lang="en-US" sz="1800" b="1" spc="-1" dirty="0">
                <a:solidFill>
                  <a:srgbClr val="000000"/>
                </a:solidFill>
                <a:latin typeface="Calibri"/>
              </a:rPr>
              <a:t>+ Midwife	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                           : 33+6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	c. HA                   		         : 36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	d. SBA                   		         : 8 HA 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9.     Health Institutions			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	a. Health Complex        	          : 01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	b. H &amp; FWC                    	          : 9 (RD- 2 + FWC– 7 )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latin typeface="Calibri"/>
              </a:rPr>
              <a:t>	c. Community clinic	          : 32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	d. 10 Bed Hospital  	                           : 01</a:t>
            </a:r>
            <a:endParaRPr lang="en-US" sz="1800" b="0" strike="noStrike" spc="-1" dirty="0"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en-US" sz="1600" b="0" strike="noStrike" spc="-1" dirty="0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457200" y="406440"/>
            <a:ext cx="8227440" cy="50580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Health Profile of Amtali Upazila- 2022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61085B43-6040-4396-A18E-70A8AD499612}"/>
              </a:ext>
            </a:extLst>
          </p:cNvPr>
          <p:cNvSpPr txBox="1">
            <a:spLocks/>
          </p:cNvSpPr>
          <p:nvPr/>
        </p:nvSpPr>
        <p:spPr>
          <a:xfrm>
            <a:off x="700660" y="6312780"/>
            <a:ext cx="8227440" cy="50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1800" spc="-1" dirty="0">
                <a:solidFill>
                  <a:srgbClr val="000000"/>
                </a:solidFill>
                <a:latin typeface="Calibri"/>
              </a:rPr>
              <a:t>*Data to be corrected</a:t>
            </a:r>
            <a:endParaRPr lang="en-US" sz="1800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/>
          </p:nvPr>
        </p:nvSpPr>
        <p:spPr>
          <a:xfrm>
            <a:off x="457200" y="1270000"/>
            <a:ext cx="8227440" cy="467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 dirty="0">
                <a:latin typeface="Calibri"/>
              </a:rPr>
              <a:t>10. Mother Taken-ANC	: 14.5% ( 1st Visit)</a:t>
            </a:r>
            <a:endParaRPr lang="en-US" sz="2400" b="0" strike="noStrike" spc="-1" dirty="0"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 dirty="0">
                <a:latin typeface="Calibri"/>
              </a:rPr>
              <a:t>11. Hospital Delivery Rate	: 2.5% (105)</a:t>
            </a:r>
            <a:endParaRPr lang="en-US" sz="2400" b="0" strike="noStrike" spc="-1" dirty="0"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 dirty="0">
                <a:latin typeface="Calibri"/>
              </a:rPr>
              <a:t>12. No. of Hospital bed	: 50</a:t>
            </a:r>
          </a:p>
          <a:p>
            <a:pPr marL="609480" indent="-609480"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pc="-1" dirty="0">
                <a:latin typeface="Calibri"/>
              </a:rPr>
              <a:t>13. Bed Occupancy Rate 	: 96.96%</a:t>
            </a:r>
            <a:endParaRPr lang="en-US" sz="2400" b="1" strike="noStrike" spc="-1" dirty="0">
              <a:latin typeface="Calibri"/>
            </a:endParaRPr>
          </a:p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pc="-1" dirty="0">
                <a:latin typeface="Calibri"/>
              </a:rPr>
              <a:t>14. EPI Coverage Rate		: [To be filled]</a:t>
            </a:r>
            <a:endParaRPr lang="en-US" sz="2400" b="1" strike="noStrike" spc="-1" dirty="0">
              <a:latin typeface="Calibri"/>
            </a:endParaRPr>
          </a:p>
          <a:p>
            <a:pPr marL="609480" indent="-609480"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pc="-1" dirty="0">
                <a:latin typeface="Calibri"/>
              </a:rPr>
              <a:t>15. CPR			: [To be filled]</a:t>
            </a:r>
          </a:p>
          <a:p>
            <a:pPr marL="609480" indent="-609480"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 dirty="0">
                <a:latin typeface="Calibri"/>
              </a:rPr>
              <a:t>16. TF</a:t>
            </a:r>
            <a:r>
              <a:rPr lang="en-US" sz="2400" b="1" spc="-1" dirty="0">
                <a:latin typeface="Calibri"/>
              </a:rPr>
              <a:t>R			: [To be filled]</a:t>
            </a:r>
            <a:endParaRPr lang="en-US" sz="2400" b="0" strike="noStrike" spc="-1" dirty="0"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 dirty="0">
                <a:latin typeface="Calibri"/>
              </a:rPr>
              <a:t>17. Maternal Mortality Ratio	: 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18.07/ 100000 </a:t>
            </a:r>
            <a:r>
              <a:rPr lang="en-US" sz="2400" b="1" strike="noStrike" spc="-1" dirty="0">
                <a:latin typeface="Calibri"/>
              </a:rPr>
              <a:t>live Birth*</a:t>
            </a:r>
            <a:endParaRPr lang="en-US" sz="2400" b="0" strike="noStrike" spc="-1" dirty="0"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 dirty="0">
                <a:latin typeface="Calibri"/>
              </a:rPr>
              <a:t>18. Neonatal Mortality Rate	: 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8.53 / 1000 </a:t>
            </a:r>
            <a:r>
              <a:rPr lang="en-US" sz="2400" b="1" strike="noStrike" spc="-1" dirty="0">
                <a:latin typeface="Calibri"/>
              </a:rPr>
              <a:t>live birth*</a:t>
            </a:r>
            <a:endParaRPr lang="en-US" sz="2400" b="0" strike="noStrike" spc="-1" dirty="0"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 dirty="0">
                <a:latin typeface="Calibri"/>
              </a:rPr>
              <a:t>19. Infant Mortality Rate   	: 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 8.99/1000 </a:t>
            </a:r>
            <a:r>
              <a:rPr lang="en-US" sz="2400" b="1" strike="noStrike" spc="-1" dirty="0">
                <a:latin typeface="Calibri"/>
              </a:rPr>
              <a:t>live birth*</a:t>
            </a:r>
            <a:endParaRPr lang="en-US" sz="2400" b="0" strike="noStrike" spc="-1" dirty="0"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pc="-1" dirty="0">
                <a:latin typeface="Calibri"/>
              </a:rPr>
              <a:t>20</a:t>
            </a:r>
            <a:r>
              <a:rPr lang="en-US" sz="2400" b="1" strike="noStrike" spc="-1" dirty="0">
                <a:latin typeface="Calibri"/>
              </a:rPr>
              <a:t>. Under-5 Mortality Rate   	:</a:t>
            </a:r>
            <a:r>
              <a:rPr lang="en-US" sz="2400" b="1" strike="noStrike" spc="-1" dirty="0">
                <a:solidFill>
                  <a:srgbClr val="FF0000"/>
                </a:solidFill>
                <a:latin typeface="Calibri"/>
              </a:rPr>
              <a:t>  11.98/1000 </a:t>
            </a:r>
            <a:r>
              <a:rPr lang="en-US" sz="2400" b="1" strike="noStrike" spc="-1" dirty="0">
                <a:latin typeface="Calibri"/>
              </a:rPr>
              <a:t>live birth*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F407C5ED-0393-40B5-84BB-F62142FD5250}"/>
              </a:ext>
            </a:extLst>
          </p:cNvPr>
          <p:cNvSpPr txBox="1">
            <a:spLocks/>
          </p:cNvSpPr>
          <p:nvPr/>
        </p:nvSpPr>
        <p:spPr>
          <a:xfrm>
            <a:off x="457200" y="406440"/>
            <a:ext cx="8227440" cy="50580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800" b="1" spc="-1" dirty="0">
                <a:solidFill>
                  <a:srgbClr val="000000"/>
                </a:solidFill>
                <a:latin typeface="Calibri"/>
              </a:rPr>
              <a:t>Health Profile of Amtali Upazila- 2022 (</a:t>
            </a:r>
            <a:r>
              <a:rPr lang="en-US" sz="2800" b="1" spc="-1" dirty="0" err="1">
                <a:solidFill>
                  <a:srgbClr val="000000"/>
                </a:solidFill>
                <a:latin typeface="Calibri"/>
              </a:rPr>
              <a:t>Contd</a:t>
            </a:r>
            <a:r>
              <a:rPr lang="en-US" sz="2800" b="1" spc="-1" dirty="0">
                <a:solidFill>
                  <a:srgbClr val="000000"/>
                </a:solidFill>
                <a:latin typeface="Calibri"/>
              </a:rPr>
              <a:t>)</a:t>
            </a:r>
            <a:endParaRPr lang="en-US" sz="2800" spc="-1" dirty="0"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B218A02-E7F4-4942-94C7-FD5B369AF66D}"/>
              </a:ext>
            </a:extLst>
          </p:cNvPr>
          <p:cNvSpPr txBox="1">
            <a:spLocks/>
          </p:cNvSpPr>
          <p:nvPr/>
        </p:nvSpPr>
        <p:spPr>
          <a:xfrm>
            <a:off x="586360" y="5945760"/>
            <a:ext cx="8227440" cy="50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1800" spc="-1" dirty="0">
                <a:solidFill>
                  <a:srgbClr val="000000"/>
                </a:solidFill>
                <a:latin typeface="Calibri"/>
              </a:rPr>
              <a:t>*Data to be corrected</a:t>
            </a:r>
            <a:endParaRPr lang="en-US" sz="1800" spc="-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7440" cy="912240"/>
          </a:xfrm>
          <a:prstGeom prst="rect">
            <a:avLst/>
          </a:prstGeom>
          <a:solidFill>
            <a:srgbClr val="BBE0E3"/>
          </a:solidFill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000000"/>
                </a:solidFill>
                <a:latin typeface="Arial"/>
              </a:rPr>
              <a:t>Background History of </a:t>
            </a:r>
            <a:br>
              <a:rPr dirty="0"/>
            </a:br>
            <a:r>
              <a:rPr lang="en-US" sz="2800" b="1" strike="noStrike" spc="-1" dirty="0">
                <a:solidFill>
                  <a:srgbClr val="000000"/>
                </a:solidFill>
                <a:latin typeface="Arial"/>
              </a:rPr>
              <a:t>Amtali Upazilla Health Complex, Barguna.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379720" cy="517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The health complex started as 31 bedded UHC in </a:t>
            </a:r>
            <a:r>
              <a:rPr lang="en-US" sz="2000" b="1" strike="noStrike" spc="-1" dirty="0">
                <a:solidFill>
                  <a:srgbClr val="FF0000"/>
                </a:solidFill>
                <a:latin typeface="Times New Roman"/>
              </a:rPr>
              <a:t>1978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*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The health complex was upgraded to 50 bedded hospital in </a:t>
            </a:r>
            <a:r>
              <a:rPr lang="en-US" sz="2000" b="1" spc="-1" dirty="0">
                <a:solidFill>
                  <a:srgbClr val="FF0000"/>
                </a:solidFill>
                <a:latin typeface="Times New Roman"/>
              </a:rPr>
              <a:t>2008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*.</a:t>
            </a:r>
          </a:p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The health complex was awarded Health Minister’s Award in </a:t>
            </a:r>
            <a:r>
              <a:rPr lang="en-US" sz="2000" b="1" spc="-1" dirty="0">
                <a:solidFill>
                  <a:srgbClr val="FF0000"/>
                </a:solidFill>
                <a:latin typeface="Times New Roman"/>
              </a:rPr>
              <a:t>2017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*.</a:t>
            </a:r>
          </a:p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Digital X-Ray started in </a:t>
            </a:r>
            <a:r>
              <a:rPr lang="en-US" sz="2000" b="1" spc="-1" dirty="0">
                <a:solidFill>
                  <a:srgbClr val="FF0000"/>
                </a:solidFill>
                <a:latin typeface="Times New Roman"/>
              </a:rPr>
              <a:t>2018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*. </a:t>
            </a:r>
          </a:p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Trauma Center started in </a:t>
            </a:r>
            <a:r>
              <a:rPr lang="en-US" sz="2000" b="1" spc="-1" dirty="0">
                <a:solidFill>
                  <a:srgbClr val="FF0000"/>
                </a:solidFill>
                <a:latin typeface="Times New Roman"/>
              </a:rPr>
              <a:t>2018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*.</a:t>
            </a:r>
          </a:p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Vision Center started in </a:t>
            </a:r>
            <a:r>
              <a:rPr lang="en-US" sz="2000" b="1" spc="-1" dirty="0">
                <a:solidFill>
                  <a:srgbClr val="FF0000"/>
                </a:solidFill>
                <a:latin typeface="Times New Roman"/>
              </a:rPr>
              <a:t>2019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*.</a:t>
            </a:r>
          </a:p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Ultrasonography started in </a:t>
            </a:r>
            <a:r>
              <a:rPr lang="en-US" sz="2000" b="1" spc="-1" dirty="0">
                <a:solidFill>
                  <a:srgbClr val="FF0000"/>
                </a:solidFill>
                <a:latin typeface="Times New Roman"/>
              </a:rPr>
              <a:t>2020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*.</a:t>
            </a:r>
          </a:p>
          <a:p>
            <a:pPr marL="457200" indent="-457200" algn="just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AutoNum type="arabicPeriod"/>
              <a:tabLst>
                <a:tab pos="0" algn="l"/>
              </a:tabLst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SSK Program started in July, 2022. </a:t>
            </a:r>
            <a:endParaRPr lang="en-US" sz="2000" b="1" spc="-1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E7A2149-B92C-426D-BD99-B549A1E72D5B}"/>
              </a:ext>
            </a:extLst>
          </p:cNvPr>
          <p:cNvSpPr txBox="1">
            <a:spLocks/>
          </p:cNvSpPr>
          <p:nvPr/>
        </p:nvSpPr>
        <p:spPr>
          <a:xfrm>
            <a:off x="457200" y="6045120"/>
            <a:ext cx="8227440" cy="50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1800" spc="-1" dirty="0">
                <a:solidFill>
                  <a:srgbClr val="000000"/>
                </a:solidFill>
                <a:latin typeface="Calibri"/>
              </a:rPr>
              <a:t>*Data to be corrected</a:t>
            </a:r>
            <a:endParaRPr lang="en-US" sz="1800" spc="-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 57"/>
          <p:cNvSpPr/>
          <p:nvPr/>
        </p:nvSpPr>
        <p:spPr>
          <a:xfrm>
            <a:off x="462240" y="983160"/>
            <a:ext cx="8227440" cy="60732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DejaVu Sans"/>
              </a:rPr>
              <a:t>Bed Occupancy Rate from 2019 to 2021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335" name="Text Box 32"/>
          <p:cNvSpPr/>
          <p:nvPr/>
        </p:nvSpPr>
        <p:spPr>
          <a:xfrm>
            <a:off x="462240" y="236880"/>
            <a:ext cx="8227440" cy="71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3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UHC</a:t>
            </a:r>
            <a:endParaRPr lang="en-US" sz="4300" b="0" strike="noStrike" spc="-1" dirty="0">
              <a:latin typeface="Arial"/>
            </a:endParaRPr>
          </a:p>
        </p:txBody>
      </p:sp>
      <p:graphicFrame>
        <p:nvGraphicFramePr>
          <p:cNvPr id="336" name="Chart 2"/>
          <p:cNvGraphicFramePr/>
          <p:nvPr/>
        </p:nvGraphicFramePr>
        <p:xfrm>
          <a:off x="1215720" y="1742040"/>
          <a:ext cx="5838480" cy="43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6">
            <a:extLst>
              <a:ext uri="{FF2B5EF4-FFF2-40B4-BE49-F238E27FC236}">
                <a16:creationId xmlns:a16="http://schemas.microsoft.com/office/drawing/2014/main" id="{2FFDB99C-8294-4E15-AA4D-97B8356FBC1E}"/>
              </a:ext>
            </a:extLst>
          </p:cNvPr>
          <p:cNvSpPr/>
          <p:nvPr/>
        </p:nvSpPr>
        <p:spPr>
          <a:xfrm>
            <a:off x="456840" y="77040"/>
            <a:ext cx="8303760" cy="106488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4000" lnSpcReduction="10000"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DEADA"/>
                </a:solidFill>
                <a:latin typeface="Calibri"/>
                <a:ea typeface="DejaVu Sans"/>
              </a:rPr>
              <a:t>Upazila Health  Complex </a:t>
            </a:r>
            <a:br/>
            <a:r>
              <a:rPr lang="en-US" sz="2800" b="1" strike="noStrike" spc="-1">
                <a:solidFill>
                  <a:srgbClr val="FDEADA"/>
                </a:solidFill>
                <a:latin typeface="Calibri"/>
                <a:ea typeface="DejaVu Sans"/>
              </a:rPr>
              <a:t>Amtali , Barguna.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56840" y="1143000"/>
            <a:ext cx="8304120" cy="50112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 w="9360"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numCol="1" spcCol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</a:rPr>
              <a:t>Emergency &amp; Out Door, Indoor  Service 2019 to 2021</a:t>
            </a:r>
            <a:endParaRPr lang="en-US" sz="2400" b="0" strike="noStrike" spc="-1">
              <a:latin typeface="Arial"/>
            </a:endParaRPr>
          </a:p>
        </p:txBody>
      </p:sp>
      <p:graphicFrame>
        <p:nvGraphicFramePr>
          <p:cNvPr id="339" name="Chart 3"/>
          <p:cNvGraphicFramePr/>
          <p:nvPr/>
        </p:nvGraphicFramePr>
        <p:xfrm>
          <a:off x="609480" y="1981080"/>
          <a:ext cx="8151120" cy="4569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6">
            <a:extLst>
              <a:ext uri="{FF2B5EF4-FFF2-40B4-BE49-F238E27FC236}">
                <a16:creationId xmlns:a16="http://schemas.microsoft.com/office/drawing/2014/main" id="{D14B4274-53B1-41E4-B3E0-3178979BB8E2}"/>
              </a:ext>
            </a:extLst>
          </p:cNvPr>
          <p:cNvSpPr/>
          <p:nvPr/>
        </p:nvSpPr>
        <p:spPr>
          <a:xfrm>
            <a:off x="456840" y="77040"/>
            <a:ext cx="8303760" cy="106488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4000" lnSpcReduction="10000"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DEADA"/>
                </a:solidFill>
                <a:latin typeface="Calibri"/>
                <a:ea typeface="DejaVu Sans"/>
              </a:rPr>
              <a:t>Upazila Health  Complex </a:t>
            </a:r>
            <a:br/>
            <a:r>
              <a:rPr lang="en-US" sz="2800" b="1" strike="noStrike" spc="-1">
                <a:solidFill>
                  <a:srgbClr val="FDEADA"/>
                </a:solidFill>
                <a:latin typeface="Calibri"/>
                <a:ea typeface="DejaVu Sans"/>
              </a:rPr>
              <a:t>Amtali , Barguna.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" name="Content Placeholder 1"/>
          <p:cNvGraphicFramePr/>
          <p:nvPr/>
        </p:nvGraphicFramePr>
        <p:xfrm>
          <a:off x="1676520" y="2133720"/>
          <a:ext cx="5560560" cy="4341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5" name="Title 6"/>
          <p:cNvSpPr/>
          <p:nvPr/>
        </p:nvSpPr>
        <p:spPr>
          <a:xfrm>
            <a:off x="456840" y="77040"/>
            <a:ext cx="8303760" cy="106488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4000" lnSpcReduction="10000"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Upazila Health  Complex </a:t>
            </a:r>
            <a:br>
              <a:rPr dirty="0"/>
            </a:br>
            <a:r>
              <a:rPr lang="en-US" sz="28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Amtali , Barguna.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EE9B7EBA-2850-4962-8840-BC64E08CF02A}"/>
              </a:ext>
            </a:extLst>
          </p:cNvPr>
          <p:cNvSpPr txBox="1">
            <a:spLocks/>
          </p:cNvSpPr>
          <p:nvPr/>
        </p:nvSpPr>
        <p:spPr>
          <a:xfrm>
            <a:off x="420120" y="1210750"/>
            <a:ext cx="8303760" cy="75038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 w="9360"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spc="-1" dirty="0">
                <a:solidFill>
                  <a:schemeClr val="bg1"/>
                </a:solidFill>
              </a:rPr>
              <a:t>EOC Activities : 2019- 2021 (Hospital Delivery )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56840" y="1141920"/>
            <a:ext cx="8303760" cy="75038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 w="9360"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txBody>
          <a:bodyPr lIns="90000" tIns="45000" rIns="90000" bIns="45000"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Comparative data of revenue income (in Taka) from 2019 to 2021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341" name="Content Placeholder 8"/>
          <p:cNvGraphicFramePr/>
          <p:nvPr/>
        </p:nvGraphicFramePr>
        <p:xfrm>
          <a:off x="1676520" y="2133720"/>
          <a:ext cx="5560560" cy="4341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6">
            <a:extLst>
              <a:ext uri="{FF2B5EF4-FFF2-40B4-BE49-F238E27FC236}">
                <a16:creationId xmlns:a16="http://schemas.microsoft.com/office/drawing/2014/main" id="{B8D1CB6E-01E4-4D16-BC26-B445C3385C9E}"/>
              </a:ext>
            </a:extLst>
          </p:cNvPr>
          <p:cNvSpPr/>
          <p:nvPr/>
        </p:nvSpPr>
        <p:spPr>
          <a:xfrm>
            <a:off x="456840" y="77040"/>
            <a:ext cx="8303760" cy="106488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4000" lnSpcReduction="10000"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DEADA"/>
                </a:solidFill>
                <a:latin typeface="Calibri"/>
                <a:ea typeface="DejaVu Sans"/>
              </a:rPr>
              <a:t>Upazila Health  Complex </a:t>
            </a:r>
            <a:br/>
            <a:r>
              <a:rPr lang="en-US" sz="2800" b="1" strike="noStrike" spc="-1">
                <a:solidFill>
                  <a:srgbClr val="FDEADA"/>
                </a:solidFill>
                <a:latin typeface="Calibri"/>
                <a:ea typeface="DejaVu Sans"/>
              </a:rPr>
              <a:t>Amtali , Barguna.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Content Placeholder 6"/>
          <p:cNvPicPr/>
          <p:nvPr/>
        </p:nvPicPr>
        <p:blipFill>
          <a:blip r:embed="rId2"/>
          <a:stretch/>
        </p:blipFill>
        <p:spPr>
          <a:xfrm>
            <a:off x="219239" y="3733920"/>
            <a:ext cx="4351679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12" name="Title 8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pc="-1" dirty="0">
                <a:solidFill>
                  <a:srgbClr val="FFFFFF"/>
                </a:solidFill>
                <a:latin typeface="Calibri"/>
                <a:ea typeface="DejaVu Sans"/>
              </a:rPr>
              <a:t>A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ctivities of the health complex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413" name="Picture 6"/>
          <p:cNvPicPr/>
          <p:nvPr/>
        </p:nvPicPr>
        <p:blipFill>
          <a:blip r:embed="rId3"/>
          <a:stretch/>
        </p:blipFill>
        <p:spPr>
          <a:xfrm>
            <a:off x="4699000" y="3733920"/>
            <a:ext cx="42142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6618EE39-F060-4482-8F8F-7ABD6DBAFC7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19240" y="695340"/>
            <a:ext cx="435168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32">
            <a:extLst>
              <a:ext uri="{FF2B5EF4-FFF2-40B4-BE49-F238E27FC236}">
                <a16:creationId xmlns:a16="http://schemas.microsoft.com/office/drawing/2014/main" id="{9630673C-EB55-43F9-8D7B-FFB4E1AC2D80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699000" y="695340"/>
            <a:ext cx="42142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Content Placeholder 18"/>
          <p:cNvPicPr/>
          <p:nvPr/>
        </p:nvPicPr>
        <p:blipFill>
          <a:blip r:embed="rId2"/>
          <a:stretch/>
        </p:blipFill>
        <p:spPr>
          <a:xfrm>
            <a:off x="88920" y="3733920"/>
            <a:ext cx="41000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29" name="Title 15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Diagnostic Activities of the health complex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430" name="Picture 47"/>
          <p:cNvPicPr/>
          <p:nvPr/>
        </p:nvPicPr>
        <p:blipFill>
          <a:blip r:embed="rId3"/>
          <a:stretch/>
        </p:blipFill>
        <p:spPr>
          <a:xfrm>
            <a:off x="11736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1" name="Picture 48"/>
          <p:cNvPicPr/>
          <p:nvPr/>
        </p:nvPicPr>
        <p:blipFill>
          <a:blip r:embed="rId4"/>
          <a:stretch/>
        </p:blipFill>
        <p:spPr>
          <a:xfrm>
            <a:off x="487692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7DB9DA-5F4D-419A-BEA9-A1E12F586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920" y="3723419"/>
            <a:ext cx="4036320" cy="2817081"/>
          </a:xfrm>
          <a:prstGeom prst="rect">
            <a:avLst/>
          </a:prstGeom>
        </p:spPr>
      </p:pic>
      <p:sp>
        <p:nvSpPr>
          <p:cNvPr id="9" name="PlaceHolder 1">
            <a:extLst>
              <a:ext uri="{FF2B5EF4-FFF2-40B4-BE49-F238E27FC236}">
                <a16:creationId xmlns:a16="http://schemas.microsoft.com/office/drawing/2014/main" id="{7663B77C-A29C-49D4-99EE-6A494C5E6083}"/>
              </a:ext>
            </a:extLst>
          </p:cNvPr>
          <p:cNvSpPr txBox="1">
            <a:spLocks/>
          </p:cNvSpPr>
          <p:nvPr/>
        </p:nvSpPr>
        <p:spPr>
          <a:xfrm>
            <a:off x="4978520" y="3848220"/>
            <a:ext cx="1409580" cy="38088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txBody>
          <a:bodyPr lIns="0" tIns="0" rIns="0" bIns="0" numCol="1" spc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800" b="1" spc="-1" dirty="0">
                <a:solidFill>
                  <a:srgbClr val="FFFFFF"/>
                </a:solidFill>
                <a:latin typeface="Calibri"/>
              </a:rPr>
              <a:t>Functioning ECG</a:t>
            </a:r>
            <a:endParaRPr lang="en-US" sz="2800" spc="-1" dirty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76096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txBody>
          <a:bodyPr lIns="0" tIns="0" rIns="0" bIns="0" numCol="1" spcCol="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Changes  in Compound of the UHC (Within Aug’22 to Sept’22)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47" name="Picture 1"/>
          <p:cNvPicPr/>
          <p:nvPr/>
        </p:nvPicPr>
        <p:blipFill>
          <a:blip r:embed="rId2"/>
          <a:stretch/>
        </p:blipFill>
        <p:spPr>
          <a:xfrm>
            <a:off x="4928760" y="3850560"/>
            <a:ext cx="3884040" cy="2891880"/>
          </a:xfrm>
          <a:prstGeom prst="rect">
            <a:avLst/>
          </a:prstGeom>
          <a:ln w="0">
            <a:noFill/>
          </a:ln>
        </p:spPr>
      </p:pic>
      <p:pic>
        <p:nvPicPr>
          <p:cNvPr id="348" name="Picture 9" descr="8"/>
          <p:cNvPicPr/>
          <p:nvPr/>
        </p:nvPicPr>
        <p:blipFill>
          <a:blip r:embed="rId3"/>
          <a:stretch/>
        </p:blipFill>
        <p:spPr>
          <a:xfrm>
            <a:off x="152280" y="836100"/>
            <a:ext cx="4031640" cy="2741040"/>
          </a:xfrm>
          <a:prstGeom prst="rect">
            <a:avLst/>
          </a:prstGeom>
          <a:ln w="0">
            <a:noFill/>
          </a:ln>
        </p:spPr>
      </p:pic>
      <p:pic>
        <p:nvPicPr>
          <p:cNvPr id="349" name="Picture 10"/>
          <p:cNvPicPr/>
          <p:nvPr/>
        </p:nvPicPr>
        <p:blipFill>
          <a:blip r:embed="rId4"/>
          <a:stretch/>
        </p:blipFill>
        <p:spPr>
          <a:xfrm>
            <a:off x="152280" y="3730320"/>
            <a:ext cx="4112640" cy="2969640"/>
          </a:xfrm>
          <a:prstGeom prst="rect">
            <a:avLst/>
          </a:prstGeom>
          <a:ln w="0">
            <a:noFill/>
          </a:ln>
        </p:spPr>
      </p:pic>
      <p:pic>
        <p:nvPicPr>
          <p:cNvPr id="350" name="Picture 11"/>
          <p:cNvPicPr/>
          <p:nvPr/>
        </p:nvPicPr>
        <p:blipFill>
          <a:blip r:embed="rId5"/>
          <a:stretch/>
        </p:blipFill>
        <p:spPr>
          <a:xfrm>
            <a:off x="4701240" y="858420"/>
            <a:ext cx="3880800" cy="2741040"/>
          </a:xfrm>
          <a:prstGeom prst="rect">
            <a:avLst/>
          </a:prstGeom>
          <a:ln w="9525">
            <a:solidFill>
              <a:srgbClr val="000000"/>
            </a:solidFill>
            <a:miter/>
          </a:ln>
        </p:spPr>
      </p:pic>
      <p:sp>
        <p:nvSpPr>
          <p:cNvPr id="351" name="Right Arrow 1"/>
          <p:cNvSpPr/>
          <p:nvPr/>
        </p:nvSpPr>
        <p:spPr>
          <a:xfrm>
            <a:off x="4264920" y="1981080"/>
            <a:ext cx="6638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948712B6-37E2-4968-9EEE-63BE5D48A2CE}"/>
              </a:ext>
            </a:extLst>
          </p:cNvPr>
          <p:cNvSpPr txBox="1">
            <a:spLocks/>
          </p:cNvSpPr>
          <p:nvPr/>
        </p:nvSpPr>
        <p:spPr>
          <a:xfrm>
            <a:off x="254880" y="4127499"/>
            <a:ext cx="876300" cy="241301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txBody>
          <a:bodyPr lIns="0" tIns="0" rIns="0" bIns="0" numCol="1" spc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800" b="1" spc="-1" dirty="0">
                <a:solidFill>
                  <a:srgbClr val="FFFFFF"/>
                </a:solidFill>
                <a:latin typeface="Calibri"/>
              </a:rPr>
              <a:t>Before</a:t>
            </a:r>
            <a:endParaRPr lang="en-US" sz="2800" spc="-1" dirty="0">
              <a:latin typeface="Arial"/>
            </a:endParaRPr>
          </a:p>
        </p:txBody>
      </p:sp>
      <p:sp>
        <p:nvSpPr>
          <p:cNvPr id="9" name="Right Arrow 1">
            <a:extLst>
              <a:ext uri="{FF2B5EF4-FFF2-40B4-BE49-F238E27FC236}">
                <a16:creationId xmlns:a16="http://schemas.microsoft.com/office/drawing/2014/main" id="{C3130491-A5A8-4D56-ABB6-92054E5DADCB}"/>
              </a:ext>
            </a:extLst>
          </p:cNvPr>
          <p:cNvSpPr/>
          <p:nvPr/>
        </p:nvSpPr>
        <p:spPr>
          <a:xfrm>
            <a:off x="4264920" y="1979460"/>
            <a:ext cx="6638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Right Arrow 1">
            <a:extLst>
              <a:ext uri="{FF2B5EF4-FFF2-40B4-BE49-F238E27FC236}">
                <a16:creationId xmlns:a16="http://schemas.microsoft.com/office/drawing/2014/main" id="{2E8C5278-BAA4-4F77-AAEB-FD8B39D694FD}"/>
              </a:ext>
            </a:extLst>
          </p:cNvPr>
          <p:cNvSpPr/>
          <p:nvPr/>
        </p:nvSpPr>
        <p:spPr>
          <a:xfrm>
            <a:off x="4264920" y="1977840"/>
            <a:ext cx="6638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Content Placeholder 13"/>
          <p:cNvPicPr/>
          <p:nvPr/>
        </p:nvPicPr>
        <p:blipFill>
          <a:blip r:embed="rId2"/>
          <a:stretch/>
        </p:blipFill>
        <p:spPr>
          <a:xfrm>
            <a:off x="5025272" y="838080"/>
            <a:ext cx="3661528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0" name="Title 9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850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Changes in Emergency OT and Corridor 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(Within Aug’22 to Sept’22)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81" name="Picture 34"/>
          <p:cNvPicPr/>
          <p:nvPr/>
        </p:nvPicPr>
        <p:blipFill>
          <a:blip r:embed="rId3"/>
          <a:stretch/>
        </p:blipFill>
        <p:spPr>
          <a:xfrm>
            <a:off x="647700" y="838080"/>
            <a:ext cx="347103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3" name="Right Arrow 10"/>
          <p:cNvSpPr/>
          <p:nvPr/>
        </p:nvSpPr>
        <p:spPr>
          <a:xfrm>
            <a:off x="4334040" y="1981080"/>
            <a:ext cx="4550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" name="Picture 26">
            <a:extLst>
              <a:ext uri="{FF2B5EF4-FFF2-40B4-BE49-F238E27FC236}">
                <a16:creationId xmlns:a16="http://schemas.microsoft.com/office/drawing/2014/main" id="{001B1473-DB58-41CC-A7C7-2F23A216285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025273" y="3733561"/>
            <a:ext cx="3661528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2C6E01-7981-413C-BD57-6DBDA40A989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47700" y="3733560"/>
            <a:ext cx="3541260" cy="276018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ight Arrow 10">
            <a:extLst>
              <a:ext uri="{FF2B5EF4-FFF2-40B4-BE49-F238E27FC236}">
                <a16:creationId xmlns:a16="http://schemas.microsoft.com/office/drawing/2014/main" id="{DC394BA5-6E9B-4771-AEA6-96416B4558F2}"/>
              </a:ext>
            </a:extLst>
          </p:cNvPr>
          <p:cNvSpPr/>
          <p:nvPr/>
        </p:nvSpPr>
        <p:spPr>
          <a:xfrm>
            <a:off x="4379596" y="4924290"/>
            <a:ext cx="4550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Picture 29"/>
          <p:cNvPicPr/>
          <p:nvPr/>
        </p:nvPicPr>
        <p:blipFill>
          <a:blip r:embed="rId2"/>
          <a:stretch/>
        </p:blipFill>
        <p:spPr>
          <a:xfrm>
            <a:off x="5029200" y="3733920"/>
            <a:ext cx="3884040" cy="296964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6" name="Content Placeholder 14"/>
          <p:cNvPicPr/>
          <p:nvPr/>
        </p:nvPicPr>
        <p:blipFill>
          <a:blip r:embed="rId3"/>
          <a:stretch/>
        </p:blipFill>
        <p:spPr>
          <a:xfrm>
            <a:off x="88920" y="3733920"/>
            <a:ext cx="41000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7" name="Title 10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Changes in Store Room 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(Within Aug’22 to Sept’22)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98" name="Picture 36"/>
          <p:cNvPicPr/>
          <p:nvPr/>
        </p:nvPicPr>
        <p:blipFill>
          <a:blip r:embed="rId4"/>
          <a:stretch/>
        </p:blipFill>
        <p:spPr>
          <a:xfrm>
            <a:off x="11736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9" name="Picture 37"/>
          <p:cNvPicPr/>
          <p:nvPr/>
        </p:nvPicPr>
        <p:blipFill>
          <a:blip r:embed="rId5"/>
          <a:stretch/>
        </p:blipFill>
        <p:spPr>
          <a:xfrm>
            <a:off x="487692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0" name="Right Arrow 12"/>
          <p:cNvSpPr/>
          <p:nvPr/>
        </p:nvSpPr>
        <p:spPr>
          <a:xfrm>
            <a:off x="4334040" y="1981080"/>
            <a:ext cx="4550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01" name="Picture 38"/>
          <p:cNvPicPr/>
          <p:nvPr/>
        </p:nvPicPr>
        <p:blipFill>
          <a:blip r:embed="rId6"/>
          <a:stretch/>
        </p:blipFill>
        <p:spPr>
          <a:xfrm>
            <a:off x="4424400" y="4952880"/>
            <a:ext cx="474120" cy="418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itle 2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Changes in Ward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 (Within Aug’22 to Sept’22)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7090CCCC-4ECE-479D-A266-E670B9971A7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029200" y="685800"/>
            <a:ext cx="3884040" cy="296964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D96B57D4-90F8-491A-A6E5-41276F8C8FE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8920" y="663530"/>
            <a:ext cx="41000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22">
            <a:extLst>
              <a:ext uri="{FF2B5EF4-FFF2-40B4-BE49-F238E27FC236}">
                <a16:creationId xmlns:a16="http://schemas.microsoft.com/office/drawing/2014/main" id="{64E933C6-7A9B-416A-B1D1-D91D3195BF4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372020" y="1961280"/>
            <a:ext cx="474120" cy="418680"/>
          </a:xfrm>
          <a:prstGeom prst="rect">
            <a:avLst/>
          </a:prstGeom>
          <a:ln w="0">
            <a:noFill/>
          </a:ln>
        </p:spPr>
      </p:pic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5DA6203C-C2D1-4933-9E3A-AD90FD83F5A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8920" y="3772070"/>
            <a:ext cx="41000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7">
            <a:extLst>
              <a:ext uri="{FF2B5EF4-FFF2-40B4-BE49-F238E27FC236}">
                <a16:creationId xmlns:a16="http://schemas.microsoft.com/office/drawing/2014/main" id="{B5F07B5A-20A5-4D68-9F46-514D8D9CDDE3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4955042" y="3772070"/>
            <a:ext cx="3958198" cy="293365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Picture 33"/>
          <p:cNvPicPr/>
          <p:nvPr/>
        </p:nvPicPr>
        <p:blipFill>
          <a:blip r:embed="rId2"/>
          <a:stretch/>
        </p:blipFill>
        <p:spPr>
          <a:xfrm>
            <a:off x="5029200" y="3733920"/>
            <a:ext cx="3884040" cy="296964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89" name="Content Placeholder 15"/>
          <p:cNvPicPr/>
          <p:nvPr/>
        </p:nvPicPr>
        <p:blipFill>
          <a:blip r:embed="rId3"/>
          <a:stretch/>
        </p:blipFill>
        <p:spPr>
          <a:xfrm>
            <a:off x="88920" y="3733920"/>
            <a:ext cx="41000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0" name="Title 12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Changes in Nursing Station 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(Within Aug’22 to Sept’22)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91" name="Picture 41"/>
          <p:cNvPicPr/>
          <p:nvPr/>
        </p:nvPicPr>
        <p:blipFill>
          <a:blip r:embed="rId4"/>
          <a:stretch/>
        </p:blipFill>
        <p:spPr>
          <a:xfrm>
            <a:off x="11736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2" name="Picture 42"/>
          <p:cNvPicPr/>
          <p:nvPr/>
        </p:nvPicPr>
        <p:blipFill>
          <a:blip r:embed="rId5"/>
          <a:stretch/>
        </p:blipFill>
        <p:spPr>
          <a:xfrm>
            <a:off x="487692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3" name="Right Arrow 14"/>
          <p:cNvSpPr/>
          <p:nvPr/>
        </p:nvSpPr>
        <p:spPr>
          <a:xfrm>
            <a:off x="4334040" y="1981080"/>
            <a:ext cx="4550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94" name="Picture 43"/>
          <p:cNvPicPr/>
          <p:nvPr/>
        </p:nvPicPr>
        <p:blipFill>
          <a:blip r:embed="rId6"/>
          <a:stretch/>
        </p:blipFill>
        <p:spPr>
          <a:xfrm>
            <a:off x="4424400" y="4952880"/>
            <a:ext cx="474120" cy="418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itle 7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Changes </a:t>
            </a:r>
            <a:r>
              <a:rPr lang="en-US" sz="2800" b="1" spc="-1" dirty="0">
                <a:solidFill>
                  <a:srgbClr val="FFFFFF"/>
                </a:solidFill>
                <a:latin typeface="Calibri"/>
                <a:ea typeface="DejaVu Sans"/>
              </a:rPr>
              <a:t>on rooftop of the UHC 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(Within Aug’22 to Sept’22)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76" name="Picture 27"/>
          <p:cNvPicPr/>
          <p:nvPr/>
        </p:nvPicPr>
        <p:blipFill>
          <a:blip r:embed="rId2"/>
          <a:stretch/>
        </p:blipFill>
        <p:spPr>
          <a:xfrm>
            <a:off x="11736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7" name="Picture 28"/>
          <p:cNvPicPr/>
          <p:nvPr/>
        </p:nvPicPr>
        <p:blipFill>
          <a:blip r:embed="rId3"/>
          <a:stretch/>
        </p:blipFill>
        <p:spPr>
          <a:xfrm>
            <a:off x="4876920" y="762120"/>
            <a:ext cx="4036320" cy="266472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8" name="Right Arrow 6"/>
          <p:cNvSpPr/>
          <p:nvPr/>
        </p:nvSpPr>
        <p:spPr>
          <a:xfrm>
            <a:off x="4334040" y="1981080"/>
            <a:ext cx="4550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" name="Picture 23">
            <a:extLst>
              <a:ext uri="{FF2B5EF4-FFF2-40B4-BE49-F238E27FC236}">
                <a16:creationId xmlns:a16="http://schemas.microsoft.com/office/drawing/2014/main" id="{706E5C8E-8206-4863-A229-435A833F780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029200" y="3733920"/>
            <a:ext cx="3884040" cy="296964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05821514-FDF3-4BAE-9032-74A75E6D76E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8920" y="3733920"/>
            <a:ext cx="4100040" cy="295056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itle 11"/>
          <p:cNvSpPr/>
          <p:nvPr/>
        </p:nvSpPr>
        <p:spPr>
          <a:xfrm>
            <a:off x="228600" y="152280"/>
            <a:ext cx="8684640" cy="455040"/>
          </a:xfrm>
          <a:prstGeom prst="rect">
            <a:avLst/>
          </a:prstGeom>
          <a:solidFill>
            <a:srgbClr val="0066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Removal of Danbox </a:t>
            </a: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(Within Aug’22 to Sept’22)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85" name="Picture 39"/>
          <p:cNvPicPr/>
          <p:nvPr/>
        </p:nvPicPr>
        <p:blipFill>
          <a:blip r:embed="rId2"/>
          <a:stretch/>
        </p:blipFill>
        <p:spPr>
          <a:xfrm>
            <a:off x="209880" y="831815"/>
            <a:ext cx="4036320" cy="5190050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86" name="Picture 40"/>
          <p:cNvPicPr/>
          <p:nvPr/>
        </p:nvPicPr>
        <p:blipFill>
          <a:blip r:embed="rId3"/>
          <a:stretch/>
        </p:blipFill>
        <p:spPr>
          <a:xfrm>
            <a:off x="4876920" y="762119"/>
            <a:ext cx="4036320" cy="5259745"/>
          </a:xfrm>
          <a:prstGeom prst="rect">
            <a:avLst/>
          </a:prstGeom>
          <a:ln w="0">
            <a:noFill/>
          </a:ln>
          <a:effectLst>
            <a:outerShdw blurRad="291960" dist="138479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7" name="Right Arrow 13"/>
          <p:cNvSpPr/>
          <p:nvPr/>
        </p:nvSpPr>
        <p:spPr>
          <a:xfrm>
            <a:off x="4343400" y="3048120"/>
            <a:ext cx="455040" cy="37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E4CDA25B-6558-4BE5-8971-550888E3CE20}"/>
              </a:ext>
            </a:extLst>
          </p:cNvPr>
          <p:cNvSpPr/>
          <p:nvPr/>
        </p:nvSpPr>
        <p:spPr>
          <a:xfrm>
            <a:off x="456840" y="77040"/>
            <a:ext cx="8303760" cy="106488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4000" lnSpcReduction="10000"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Upazila Health  Complex </a:t>
            </a:r>
            <a:br>
              <a:rPr dirty="0"/>
            </a:br>
            <a:r>
              <a:rPr lang="en-US" sz="28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Amtali , Barguna.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3440EB63-14CC-4FC2-8BCC-5C99B82DB45E}"/>
              </a:ext>
            </a:extLst>
          </p:cNvPr>
          <p:cNvSpPr txBox="1">
            <a:spLocks/>
          </p:cNvSpPr>
          <p:nvPr/>
        </p:nvSpPr>
        <p:spPr>
          <a:xfrm>
            <a:off x="456840" y="1198530"/>
            <a:ext cx="8303760" cy="75038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 w="9360"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Achievement of Amtali Upazila Health Complex</a:t>
            </a:r>
            <a:endParaRPr lang="en-US" sz="2800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6FB086B6-0AC0-44A3-8D93-9BBB9451D0A5}"/>
              </a:ext>
            </a:extLst>
          </p:cNvPr>
          <p:cNvSpPr txBox="1">
            <a:spLocks/>
          </p:cNvSpPr>
          <p:nvPr/>
        </p:nvSpPr>
        <p:spPr>
          <a:xfrm>
            <a:off x="800100" y="2539476"/>
            <a:ext cx="7543800" cy="4038284"/>
          </a:xfrm>
          <a:prstGeom prst="rect">
            <a:avLst/>
          </a:prstGeom>
          <a:noFill/>
          <a:ln w="9360">
            <a:noFill/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txBody>
          <a:bodyPr lIns="90000" tIns="45000" rIns="90000" bIns="45000" numCol="1" spc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Amtali Upazila Health complex is awarded </a:t>
            </a:r>
            <a:r>
              <a:rPr lang="en-US" sz="2600" b="1" strike="noStrike" spc="-1" dirty="0">
                <a:solidFill>
                  <a:srgbClr val="000000"/>
                </a:solidFill>
                <a:latin typeface="Calibri"/>
              </a:rPr>
              <a:t>Health Minister National Award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 in 2017. 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Trauma Center in the health complex.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Effective Community Vision Center.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Effective diagnostic system.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Automation </a:t>
            </a:r>
            <a:r>
              <a:rPr lang="en-US" sz="2400" spc="-1" dirty="0">
                <a:solidFill>
                  <a:srgbClr val="000000"/>
                </a:solidFill>
                <a:latin typeface="Calibri"/>
              </a:rPr>
              <a:t>Services in emergency, outdoor and indoor.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9E3D98-C0A6-48B5-AA17-7560E6990B8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083301" y="3181891"/>
            <a:ext cx="2260599" cy="1727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838200" y="2603500"/>
            <a:ext cx="7772400" cy="3149600"/>
          </a:xfrm>
          <a:prstGeom prst="rect">
            <a:avLst/>
          </a:prstGeom>
          <a:noFill/>
          <a:ln w="9360">
            <a:noFill/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txBody>
          <a:bodyPr lIns="90000" tIns="45000" rIns="90000" bIns="45000" numCol="1" spcCol="0" anchor="t">
            <a:norm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C-Section and other major surgery not performed in the health complex.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Birth Death recording system is weak.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Many post of consultants are vacant.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Community participation is minimum.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1D713A1-41A5-42CD-8FE8-751C9A95FFBE}"/>
              </a:ext>
            </a:extLst>
          </p:cNvPr>
          <p:cNvSpPr/>
          <p:nvPr/>
        </p:nvSpPr>
        <p:spPr>
          <a:xfrm>
            <a:off x="456840" y="77040"/>
            <a:ext cx="8303760" cy="106488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4000" lnSpcReduction="10000"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Upazila Health  Complex </a:t>
            </a:r>
            <a:br>
              <a:rPr dirty="0"/>
            </a:br>
            <a:r>
              <a:rPr lang="en-US" sz="28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Amtali , Barguna.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EC4C4549-4AC4-4D77-AA34-09360FC9A3EB}"/>
              </a:ext>
            </a:extLst>
          </p:cNvPr>
          <p:cNvSpPr txBox="1">
            <a:spLocks/>
          </p:cNvSpPr>
          <p:nvPr/>
        </p:nvSpPr>
        <p:spPr>
          <a:xfrm>
            <a:off x="420120" y="1210750"/>
            <a:ext cx="8303760" cy="75038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 w="9360"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Challenges of the health complex</a:t>
            </a:r>
            <a:endParaRPr lang="en-US" sz="2800" spc="-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8911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FF10518B-9ABA-479D-868C-0CA7624437B7}"/>
              </a:ext>
            </a:extLst>
          </p:cNvPr>
          <p:cNvSpPr/>
          <p:nvPr/>
        </p:nvSpPr>
        <p:spPr>
          <a:xfrm>
            <a:off x="393340" y="191340"/>
            <a:ext cx="8303760" cy="1064880"/>
          </a:xfrm>
          <a:prstGeom prst="rect">
            <a:avLst/>
          </a:prstGeom>
          <a:gradFill rotWithShape="0">
            <a:gsLst>
              <a:gs pos="0">
                <a:srgbClr val="2988A1"/>
              </a:gs>
              <a:gs pos="100000">
                <a:srgbClr val="36B0D1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4000" lnSpcReduction="10000"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Upazila Health  Complex </a:t>
            </a:r>
            <a:br>
              <a:rPr dirty="0"/>
            </a:br>
            <a:r>
              <a:rPr lang="en-US" sz="2800" b="1" strike="noStrike" spc="-1" dirty="0">
                <a:solidFill>
                  <a:srgbClr val="FDEADA"/>
                </a:solidFill>
                <a:latin typeface="Calibri"/>
                <a:ea typeface="DejaVu Sans"/>
              </a:rPr>
              <a:t>Amtali , Barguna.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10EAFF0D-1562-441A-8198-985BF8095BE9}"/>
              </a:ext>
            </a:extLst>
          </p:cNvPr>
          <p:cNvSpPr txBox="1">
            <a:spLocks/>
          </p:cNvSpPr>
          <p:nvPr/>
        </p:nvSpPr>
        <p:spPr>
          <a:xfrm>
            <a:off x="356620" y="1325050"/>
            <a:ext cx="8303760" cy="75038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 w="9360"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txBody>
          <a:bodyPr lIns="90000" tIns="45000" rIns="90000" bIns="45000" numCol="1" spc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FFFFFF"/>
                </a:solidFill>
                <a:latin typeface="Calibri"/>
              </a:rPr>
              <a:t>Way Forward</a:t>
            </a:r>
            <a:endParaRPr lang="en-US" sz="2800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118E6B19-79DB-4053-BE13-0201FF37E495}"/>
              </a:ext>
            </a:extLst>
          </p:cNvPr>
          <p:cNvSpPr txBox="1">
            <a:spLocks/>
          </p:cNvSpPr>
          <p:nvPr/>
        </p:nvSpPr>
        <p:spPr>
          <a:xfrm>
            <a:off x="685800" y="2383350"/>
            <a:ext cx="7772400" cy="3149600"/>
          </a:xfrm>
          <a:prstGeom prst="rect">
            <a:avLst/>
          </a:prstGeom>
          <a:noFill/>
          <a:ln w="9360">
            <a:noFill/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txBody>
          <a:bodyPr lIns="90000" tIns="45000" rIns="90000" bIns="45000" numCol="1" spc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C-section should be started immediately.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Should be upgraded to 100 bedded hospital.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Increase community participation.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Establishment of blood bank.</a:t>
            </a: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Effective implementation of SSK program.</a:t>
            </a:r>
          </a:p>
        </p:txBody>
      </p:sp>
    </p:spTree>
    <p:extLst>
      <p:ext uri="{BB962C8B-B14F-4D97-AF65-F5344CB8AC3E}">
        <p14:creationId xmlns:p14="http://schemas.microsoft.com/office/powerpoint/2010/main" val="246080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F11985-386A-427F-87BE-81C43075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5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253</TotalTime>
  <Words>399</Words>
  <Application>Microsoft Office PowerPoint</Application>
  <PresentationFormat>On-screen Show (4:3)</PresentationFormat>
  <Paragraphs>97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A Sub-district level Hospital with a Vision</vt:lpstr>
      <vt:lpstr>Health Profile of Amtali Upazila- 2022</vt:lpstr>
      <vt:lpstr>PowerPoint Presentation</vt:lpstr>
      <vt:lpstr>Background History of  Amtali Upazilla Health Complex, Barguna.</vt:lpstr>
      <vt:lpstr>PowerPoint Presentation</vt:lpstr>
      <vt:lpstr>Emergency &amp; Out Door, Indoor  Service 2019 to 2021</vt:lpstr>
      <vt:lpstr>PowerPoint Presentation</vt:lpstr>
      <vt:lpstr>Comparative data of revenue income (in Taka) from 2019 to 2021</vt:lpstr>
      <vt:lpstr>PowerPoint Presentation</vt:lpstr>
      <vt:lpstr>PowerPoint Presentation</vt:lpstr>
      <vt:lpstr>Changes  in Compound of the UHC (Within Aug’22 to Sept’22)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subject/>
  <dc:creator>Emdad</dc:creator>
  <dc:description/>
  <cp:lastModifiedBy>Dell</cp:lastModifiedBy>
  <cp:revision>608</cp:revision>
  <cp:lastPrinted>2017-03-18T23:47:00Z</cp:lastPrinted>
  <dcterms:created xsi:type="dcterms:W3CDTF">2013-05-05T09:56:00Z</dcterms:created>
  <dcterms:modified xsi:type="dcterms:W3CDTF">2022-10-10T02:45:26Z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FD0BD321C67E4787BD97D87D771CC629</vt:lpwstr>
  </property>
  <property fmtid="{D5CDD505-2E9C-101B-9397-08002B2CF9AE}" pid="3" name="KSOProductBuildVer">
    <vt:lpwstr>1033-11.2.0.11341</vt:lpwstr>
  </property>
  <property fmtid="{D5CDD505-2E9C-101B-9397-08002B2CF9AE}" pid="4" name="Notes">
    <vt:i4>12</vt:i4>
  </property>
  <property fmtid="{D5CDD505-2E9C-101B-9397-08002B2CF9AE}" pid="5" name="PresentationFormat">
    <vt:lpwstr>On-screen Show (4:3)</vt:lpwstr>
  </property>
  <property fmtid="{D5CDD505-2E9C-101B-9397-08002B2CF9AE}" pid="6" name="Slides">
    <vt:i4>21</vt:i4>
  </property>
</Properties>
</file>