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2" r:id="rId1"/>
  </p:sldMasterIdLst>
  <p:notesMasterIdLst>
    <p:notesMasterId r:id="rId51"/>
  </p:notesMasterIdLst>
  <p:sldIdLst>
    <p:sldId id="385" r:id="rId2"/>
    <p:sldId id="527" r:id="rId3"/>
    <p:sldId id="512" r:id="rId4"/>
    <p:sldId id="526" r:id="rId5"/>
    <p:sldId id="384" r:id="rId6"/>
    <p:sldId id="518" r:id="rId7"/>
    <p:sldId id="531" r:id="rId8"/>
    <p:sldId id="520" r:id="rId9"/>
    <p:sldId id="361" r:id="rId10"/>
    <p:sldId id="378" r:id="rId11"/>
    <p:sldId id="452" r:id="rId12"/>
    <p:sldId id="515" r:id="rId13"/>
    <p:sldId id="516" r:id="rId14"/>
    <p:sldId id="447" r:id="rId15"/>
    <p:sldId id="469" r:id="rId16"/>
    <p:sldId id="513" r:id="rId17"/>
    <p:sldId id="390" r:id="rId18"/>
    <p:sldId id="434" r:id="rId19"/>
    <p:sldId id="451" r:id="rId20"/>
    <p:sldId id="391" r:id="rId21"/>
    <p:sldId id="510" r:id="rId22"/>
    <p:sldId id="376" r:id="rId23"/>
    <p:sldId id="477" r:id="rId24"/>
    <p:sldId id="480" r:id="rId25"/>
    <p:sldId id="481" r:id="rId26"/>
    <p:sldId id="484" r:id="rId27"/>
    <p:sldId id="351" r:id="rId28"/>
    <p:sldId id="488" r:id="rId29"/>
    <p:sldId id="490" r:id="rId30"/>
    <p:sldId id="492" r:id="rId31"/>
    <p:sldId id="323" r:id="rId32"/>
    <p:sldId id="495" r:id="rId33"/>
    <p:sldId id="496" r:id="rId34"/>
    <p:sldId id="372" r:id="rId35"/>
    <p:sldId id="514" r:id="rId36"/>
    <p:sldId id="412" r:id="rId37"/>
    <p:sldId id="293" r:id="rId38"/>
    <p:sldId id="500" r:id="rId39"/>
    <p:sldId id="487" r:id="rId40"/>
    <p:sldId id="507" r:id="rId41"/>
    <p:sldId id="509" r:id="rId42"/>
    <p:sldId id="522" r:id="rId43"/>
    <p:sldId id="523" r:id="rId44"/>
    <p:sldId id="524" r:id="rId45"/>
    <p:sldId id="530" r:id="rId46"/>
    <p:sldId id="528" r:id="rId47"/>
    <p:sldId id="525" r:id="rId48"/>
    <p:sldId id="262" r:id="rId49"/>
    <p:sldId id="511" r:id="rId50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EE00"/>
    <a:srgbClr val="33CC33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85" autoAdjust="0"/>
    <p:restoredTop sz="91459" autoAdjust="0"/>
  </p:normalViewPr>
  <p:slideViewPr>
    <p:cSldViewPr>
      <p:cViewPr varScale="1">
        <p:scale>
          <a:sx n="62" d="100"/>
          <a:sy n="62" d="100"/>
        </p:scale>
        <p:origin x="179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image" Target="../media/image34.jpeg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image" Target="../media/image36.jpeg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Human Resource Per 1000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74-4A03-9DED-7A8BD65DA5D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WHO Standard</c:v>
                </c:pt>
                <c:pt idx="1">
                  <c:v>Maldives</c:v>
                </c:pt>
                <c:pt idx="2">
                  <c:v>Nepal</c:v>
                </c:pt>
                <c:pt idx="3">
                  <c:v>Sri-Lanka</c:v>
                </c:pt>
                <c:pt idx="4">
                  <c:v>Bhutan</c:v>
                </c:pt>
                <c:pt idx="5">
                  <c:v>India</c:v>
                </c:pt>
                <c:pt idx="6">
                  <c:v>Pakistan</c:v>
                </c:pt>
                <c:pt idx="7">
                  <c:v>Bangladesh</c:v>
                </c:pt>
                <c:pt idx="8">
                  <c:v>Afghanistan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4.45</c:v>
                </c:pt>
                <c:pt idx="1">
                  <c:v>6.71</c:v>
                </c:pt>
                <c:pt idx="2">
                  <c:v>4.1900000000000004</c:v>
                </c:pt>
                <c:pt idx="3">
                  <c:v>3.73</c:v>
                </c:pt>
                <c:pt idx="4">
                  <c:v>2.58</c:v>
                </c:pt>
                <c:pt idx="5">
                  <c:v>2.4900000000000002</c:v>
                </c:pt>
                <c:pt idx="6">
                  <c:v>1.6</c:v>
                </c:pt>
                <c:pt idx="7">
                  <c:v>1.1599999999999999</c:v>
                </c:pt>
                <c:pt idx="8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74-4A03-9DED-7A8BD65DA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5"/>
        <c:overlap val="-27"/>
        <c:axId val="278835503"/>
        <c:axId val="1942959343"/>
      </c:barChart>
      <c:catAx>
        <c:axId val="278835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2959343"/>
        <c:crosses val="autoZero"/>
        <c:auto val="1"/>
        <c:lblAlgn val="ctr"/>
        <c:lblOffset val="100"/>
        <c:noMultiLvlLbl val="0"/>
      </c:catAx>
      <c:valAx>
        <c:axId val="1942959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8835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</c:numCache>
            </c:numRef>
          </c:cat>
          <c:val>
            <c:numRef>
              <c:f>Sheet1!$B$2:$B$9</c:f>
              <c:numCache>
                <c:formatCode>0%</c:formatCode>
                <c:ptCount val="8"/>
                <c:pt idx="0">
                  <c:v>1.26</c:v>
                </c:pt>
                <c:pt idx="1">
                  <c:v>1.46</c:v>
                </c:pt>
                <c:pt idx="2">
                  <c:v>1.6500000000000001</c:v>
                </c:pt>
                <c:pt idx="3">
                  <c:v>1.930000000000003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  <c:pt idx="7">
                  <c:v>2.88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1F-44CA-84E8-7BF74E19B8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88364800"/>
        <c:axId val="288370688"/>
      </c:barChart>
      <c:catAx>
        <c:axId val="2883648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000" baseline="0"/>
            </a:pPr>
            <a:endParaRPr lang="en-US"/>
          </a:p>
        </c:txPr>
        <c:crossAx val="288370688"/>
        <c:crosses val="autoZero"/>
        <c:auto val="1"/>
        <c:lblAlgn val="ctr"/>
        <c:lblOffset val="100"/>
        <c:noMultiLvlLbl val="0"/>
      </c:catAx>
      <c:valAx>
        <c:axId val="28837068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88364800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141903990973091"/>
          <c:y val="2.5792207312114252E-2"/>
          <c:w val="0.87858091957255369"/>
          <c:h val="0.869334959890577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  <c:pt idx="7">
                  <c:v>384928</c:v>
                </c:pt>
                <c:pt idx="8">
                  <c:v>407474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A4-4B43-9B3D-389D9FD40D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6.2305295950156646E-3"/>
                  <c:y val="-1.11111111111112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5A4-4B43-9B3D-389D9FD40DB4}"/>
                </c:ext>
              </c:extLst>
            </c:dLbl>
            <c:dLbl>
              <c:idx val="5"/>
              <c:layout>
                <c:manualLayout>
                  <c:x val="6.2305295950156646E-3"/>
                  <c:y val="8.33333333333333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5A4-4B43-9B3D-389D9FD40DB4}"/>
                </c:ext>
              </c:extLst>
            </c:dLbl>
            <c:dLbl>
              <c:idx val="6"/>
              <c:layout>
                <c:manualLayout>
                  <c:x val="-1.0708427071616101E-3"/>
                  <c:y val="-1.38564222440944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5A4-4B43-9B3D-389D9FD40DB4}"/>
                </c:ext>
              </c:extLst>
            </c:dLbl>
            <c:dLbl>
              <c:idx val="7"/>
              <c:layout>
                <c:manualLayout>
                  <c:x val="-6.5370734908137547E-4"/>
                  <c:y val="-1.25793553149606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5A4-4B43-9B3D-389D9FD40DB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  <c:pt idx="7">
                  <c:v>37096</c:v>
                </c:pt>
                <c:pt idx="8">
                  <c:v>42551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5A4-4B43-9B3D-389D9FD40D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240000"/>
        <c:axId val="14270464"/>
      </c:barChart>
      <c:catAx>
        <c:axId val="14240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270464"/>
        <c:crosses val="autoZero"/>
        <c:auto val="1"/>
        <c:lblAlgn val="ctr"/>
        <c:lblOffset val="100"/>
        <c:noMultiLvlLbl val="0"/>
      </c:catAx>
      <c:valAx>
        <c:axId val="1427046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4240000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621293866044522"/>
          <c:y val="4.4861391929187228E-2"/>
          <c:w val="0.69983231262758827"/>
          <c:h val="0.857203428309069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ANC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0802590648391173E-2"/>
                  <c:y val="-1.68361959653668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080-4FAD-9110-D7C256A3E8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1354</c:v>
                </c:pt>
                <c:pt idx="1">
                  <c:v>2268</c:v>
                </c:pt>
                <c:pt idx="2">
                  <c:v>7096</c:v>
                </c:pt>
                <c:pt idx="3">
                  <c:v>13251</c:v>
                </c:pt>
                <c:pt idx="4">
                  <c:v>15309</c:v>
                </c:pt>
                <c:pt idx="5">
                  <c:v>14191</c:v>
                </c:pt>
                <c:pt idx="6">
                  <c:v>14712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80-4FAD-9110-D7C256A3E8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5432098765432098E-3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080-4FAD-9110-D7C256A3E8CF}"/>
                </c:ext>
              </c:extLst>
            </c:dLbl>
            <c:dLbl>
              <c:idx val="1"/>
              <c:layout>
                <c:manualLayout>
                  <c:x val="2.1604938271604937E-2"/>
                  <c:y val="-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080-4FAD-9110-D7C256A3E8CF}"/>
                </c:ext>
              </c:extLst>
            </c:dLbl>
            <c:dLbl>
              <c:idx val="2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080-4FAD-9110-D7C256A3E8CF}"/>
                </c:ext>
              </c:extLst>
            </c:dLbl>
            <c:dLbl>
              <c:idx val="3"/>
              <c:layout>
                <c:manualLayout>
                  <c:x val="1.8518518518518576E-2"/>
                  <c:y val="1.4030163304472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080-4FAD-9110-D7C256A3E8CF}"/>
                </c:ext>
              </c:extLst>
            </c:dLbl>
            <c:dLbl>
              <c:idx val="4"/>
              <c:layout>
                <c:manualLayout>
                  <c:x val="2.0061728395061727E-2"/>
                  <c:y val="1.1224130643577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080-4FAD-9110-D7C256A3E8CF}"/>
                </c:ext>
              </c:extLst>
            </c:dLbl>
            <c:dLbl>
              <c:idx val="5"/>
              <c:layout>
                <c:manualLayout>
                  <c:x val="1.6975308641975308E-2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080-4FAD-9110-D7C256A3E8CF}"/>
                </c:ext>
              </c:extLst>
            </c:dLbl>
            <c:dLbl>
              <c:idx val="6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080-4FAD-9110-D7C256A3E8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2375</c:v>
                </c:pt>
                <c:pt idx="1">
                  <c:v>2379</c:v>
                </c:pt>
                <c:pt idx="2">
                  <c:v>2796</c:v>
                </c:pt>
                <c:pt idx="3">
                  <c:v>3034</c:v>
                </c:pt>
                <c:pt idx="4">
                  <c:v>2981</c:v>
                </c:pt>
                <c:pt idx="5">
                  <c:v>2737</c:v>
                </c:pt>
                <c:pt idx="6">
                  <c:v>2753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080-4FAD-9110-D7C256A3E8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0569984"/>
        <c:axId val="200571520"/>
      </c:barChart>
      <c:catAx>
        <c:axId val="2005699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00571520"/>
        <c:crosses val="autoZero"/>
        <c:auto val="1"/>
        <c:lblAlgn val="ctr"/>
        <c:lblOffset val="100"/>
        <c:noMultiLvlLbl val="0"/>
      </c:catAx>
      <c:valAx>
        <c:axId val="20057152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0056998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F36-415A-9D8B-B1D9EAB3B4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F36-415A-9D8B-B1D9EAB3B4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F36-415A-9D8B-B1D9EAB3B4DF}"/>
                </c:ext>
              </c:extLst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F36-415A-9D8B-B1D9EAB3B4DF}"/>
                </c:ext>
              </c:extLst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F36-415A-9D8B-B1D9EAB3B4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F36-415A-9D8B-B1D9EAB3B4D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F36-415A-9D8B-B1D9EAB3B4DF}"/>
                </c:ext>
              </c:extLst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F36-415A-9D8B-B1D9EAB3B4DF}"/>
                </c:ext>
              </c:extLst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F36-415A-9D8B-B1D9EAB3B4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F36-415A-9D8B-B1D9EAB3B4D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F36-415A-9D8B-B1D9EAB3B4DF}"/>
                </c:ext>
              </c:extLst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F36-415A-9D8B-B1D9EAB3B4DF}"/>
                </c:ext>
              </c:extLst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F36-415A-9D8B-B1D9EAB3B4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EF36-415A-9D8B-B1D9EAB3B4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5630848"/>
        <c:axId val="225632640"/>
      </c:barChart>
      <c:catAx>
        <c:axId val="22563084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25632640"/>
        <c:crosses val="autoZero"/>
        <c:auto val="1"/>
        <c:lblAlgn val="ctr"/>
        <c:lblOffset val="100"/>
        <c:noMultiLvlLbl val="0"/>
      </c:catAx>
      <c:valAx>
        <c:axId val="2256326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2563084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121154-DD83-45F1-A0A6-59611F8D3BD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FB9751C-3B62-4B33-81E9-C11B694D9446}">
      <dgm:prSet/>
      <dgm:spPr/>
      <dgm:t>
        <a:bodyPr/>
        <a:lstStyle/>
        <a:p>
          <a:pPr rtl="0"/>
          <a:r>
            <a:rPr lang="en-GB" dirty="0"/>
            <a:t>Central oxygen system 	- 1</a:t>
          </a:r>
        </a:p>
      </dgm:t>
    </dgm:pt>
    <dgm:pt modelId="{9B18A42C-0BA2-41CC-BAE1-B8A7E351EFFF}" type="parTrans" cxnId="{62419439-C95E-4013-B6C7-5500B1C5694B}">
      <dgm:prSet/>
      <dgm:spPr/>
      <dgm:t>
        <a:bodyPr/>
        <a:lstStyle/>
        <a:p>
          <a:endParaRPr lang="en-GB"/>
        </a:p>
      </dgm:t>
    </dgm:pt>
    <dgm:pt modelId="{443683C2-1AE6-4A81-954A-430C3F3E2BBF}" type="sibTrans" cxnId="{62419439-C95E-4013-B6C7-5500B1C5694B}">
      <dgm:prSet/>
      <dgm:spPr/>
      <dgm:t>
        <a:bodyPr/>
        <a:lstStyle/>
        <a:p>
          <a:endParaRPr lang="en-GB"/>
        </a:p>
      </dgm:t>
    </dgm:pt>
    <dgm:pt modelId="{64DC4C56-D733-4353-AC4A-B55F22024702}">
      <dgm:prSet/>
      <dgm:spPr/>
      <dgm:t>
        <a:bodyPr/>
        <a:lstStyle/>
        <a:p>
          <a:pPr rtl="0"/>
          <a:r>
            <a:rPr lang="en-GB" dirty="0"/>
            <a:t>High flow nasal cannula	- 5</a:t>
          </a:r>
        </a:p>
      </dgm:t>
    </dgm:pt>
    <dgm:pt modelId="{94CF4D94-4818-47AB-A823-23F05697EF76}" type="parTrans" cxnId="{1C21FFBF-CD23-4AD6-BC05-5B0C85A96AB1}">
      <dgm:prSet/>
      <dgm:spPr/>
      <dgm:t>
        <a:bodyPr/>
        <a:lstStyle/>
        <a:p>
          <a:endParaRPr lang="en-GB"/>
        </a:p>
      </dgm:t>
    </dgm:pt>
    <dgm:pt modelId="{22EE8EEA-169C-4E6C-B0C9-DB93B9C4DD7E}" type="sibTrans" cxnId="{1C21FFBF-CD23-4AD6-BC05-5B0C85A96AB1}">
      <dgm:prSet/>
      <dgm:spPr/>
      <dgm:t>
        <a:bodyPr/>
        <a:lstStyle/>
        <a:p>
          <a:endParaRPr lang="en-GB"/>
        </a:p>
      </dgm:t>
    </dgm:pt>
    <dgm:pt modelId="{E72DC5B8-FF43-4864-9B3D-4D5C1B7EED89}">
      <dgm:prSet/>
      <dgm:spPr/>
      <dgm:t>
        <a:bodyPr/>
        <a:lstStyle/>
        <a:p>
          <a:pPr rtl="0"/>
          <a:r>
            <a:rPr lang="en-GB" dirty="0"/>
            <a:t>Oxygen concentrator	- 3</a:t>
          </a:r>
        </a:p>
      </dgm:t>
    </dgm:pt>
    <dgm:pt modelId="{60AC6C80-5308-42B7-8CAB-57F51CF8DC3B}" type="parTrans" cxnId="{5259394A-7032-4B5C-BF39-A634876A54AF}">
      <dgm:prSet/>
      <dgm:spPr/>
      <dgm:t>
        <a:bodyPr/>
        <a:lstStyle/>
        <a:p>
          <a:endParaRPr lang="en-GB"/>
        </a:p>
      </dgm:t>
    </dgm:pt>
    <dgm:pt modelId="{42A4E20B-61DC-4E71-B5AF-2DC120041BD5}" type="sibTrans" cxnId="{5259394A-7032-4B5C-BF39-A634876A54AF}">
      <dgm:prSet/>
      <dgm:spPr/>
      <dgm:t>
        <a:bodyPr/>
        <a:lstStyle/>
        <a:p>
          <a:endParaRPr lang="en-GB"/>
        </a:p>
      </dgm:t>
    </dgm:pt>
    <dgm:pt modelId="{7DD33E70-A5C1-4937-BEC7-5E7B423E1466}">
      <dgm:prSet/>
      <dgm:spPr/>
      <dgm:t>
        <a:bodyPr/>
        <a:lstStyle/>
        <a:p>
          <a:pPr rtl="0"/>
          <a:r>
            <a:rPr lang="en-GB"/>
            <a:t>Large oxygen cylinder	- 48 </a:t>
          </a:r>
        </a:p>
      </dgm:t>
    </dgm:pt>
    <dgm:pt modelId="{F23E8BF4-6635-4CE1-B4D1-75836B6E3820}" type="parTrans" cxnId="{D6F0057D-13F8-4622-B4BF-12290B61476E}">
      <dgm:prSet/>
      <dgm:spPr/>
      <dgm:t>
        <a:bodyPr/>
        <a:lstStyle/>
        <a:p>
          <a:endParaRPr lang="en-GB"/>
        </a:p>
      </dgm:t>
    </dgm:pt>
    <dgm:pt modelId="{BCA29651-9E81-4C0B-AF05-D9A7DCFBD21B}" type="sibTrans" cxnId="{D6F0057D-13F8-4622-B4BF-12290B61476E}">
      <dgm:prSet/>
      <dgm:spPr/>
      <dgm:t>
        <a:bodyPr/>
        <a:lstStyle/>
        <a:p>
          <a:endParaRPr lang="en-GB"/>
        </a:p>
      </dgm:t>
    </dgm:pt>
    <dgm:pt modelId="{A7355A04-39B4-4540-B677-910EA43D0274}">
      <dgm:prSet/>
      <dgm:spPr/>
      <dgm:t>
        <a:bodyPr/>
        <a:lstStyle/>
        <a:p>
          <a:pPr rtl="0"/>
          <a:r>
            <a:rPr lang="en-GB"/>
            <a:t>C-PAP machine		- 1</a:t>
          </a:r>
        </a:p>
      </dgm:t>
    </dgm:pt>
    <dgm:pt modelId="{28BD80BD-2CD1-4232-AA94-CC254F351732}" type="parTrans" cxnId="{6CEEB0CF-E32C-4283-9DF0-F7A284838672}">
      <dgm:prSet/>
      <dgm:spPr/>
      <dgm:t>
        <a:bodyPr/>
        <a:lstStyle/>
        <a:p>
          <a:endParaRPr lang="en-GB"/>
        </a:p>
      </dgm:t>
    </dgm:pt>
    <dgm:pt modelId="{4060D010-324E-41D9-8B8F-14000C1D486F}" type="sibTrans" cxnId="{6CEEB0CF-E32C-4283-9DF0-F7A284838672}">
      <dgm:prSet/>
      <dgm:spPr/>
      <dgm:t>
        <a:bodyPr/>
        <a:lstStyle/>
        <a:p>
          <a:endParaRPr lang="en-GB"/>
        </a:p>
      </dgm:t>
    </dgm:pt>
    <dgm:pt modelId="{65BCF39B-F011-41D6-A1FA-228244CE055A}">
      <dgm:prSet/>
      <dgm:spPr/>
      <dgm:t>
        <a:bodyPr/>
        <a:lstStyle/>
        <a:p>
          <a:pPr rtl="0"/>
          <a:r>
            <a:rPr lang="en-GB" dirty="0"/>
            <a:t>Pick-up </a:t>
          </a:r>
          <a:r>
            <a:rPr lang="en-GB" dirty="0" err="1"/>
            <a:t>caverd</a:t>
          </a:r>
          <a:r>
            <a:rPr lang="en-GB" dirty="0"/>
            <a:t> van	- 1</a:t>
          </a:r>
        </a:p>
      </dgm:t>
    </dgm:pt>
    <dgm:pt modelId="{EBBDA495-D9FA-4A07-AB7C-7A8E4E6778F2}" type="parTrans" cxnId="{932C2C0E-B530-4391-958A-0FAA2E10CDA1}">
      <dgm:prSet/>
      <dgm:spPr/>
      <dgm:t>
        <a:bodyPr/>
        <a:lstStyle/>
        <a:p>
          <a:endParaRPr lang="en-GB"/>
        </a:p>
      </dgm:t>
    </dgm:pt>
    <dgm:pt modelId="{7A4617D4-940A-482D-B3B9-37EF771E04AD}" type="sibTrans" cxnId="{932C2C0E-B530-4391-958A-0FAA2E10CDA1}">
      <dgm:prSet/>
      <dgm:spPr/>
      <dgm:t>
        <a:bodyPr/>
        <a:lstStyle/>
        <a:p>
          <a:endParaRPr lang="en-GB"/>
        </a:p>
      </dgm:t>
    </dgm:pt>
    <dgm:pt modelId="{8FEB2AA0-3F4F-423C-AD91-5B9785EE46C4}" type="pres">
      <dgm:prSet presAssocID="{D2121154-DD83-45F1-A0A6-59611F8D3BD3}" presName="linear" presStyleCnt="0">
        <dgm:presLayoutVars>
          <dgm:animLvl val="lvl"/>
          <dgm:resizeHandles val="exact"/>
        </dgm:presLayoutVars>
      </dgm:prSet>
      <dgm:spPr/>
    </dgm:pt>
    <dgm:pt modelId="{CE2622F9-F07C-4B23-BC93-E0F03E146D01}" type="pres">
      <dgm:prSet presAssocID="{4FB9751C-3B62-4B33-81E9-C11B694D944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422F2F0-9A12-494F-BE7C-65E95988AA28}" type="pres">
      <dgm:prSet presAssocID="{443683C2-1AE6-4A81-954A-430C3F3E2BBF}" presName="spacer" presStyleCnt="0"/>
      <dgm:spPr/>
    </dgm:pt>
    <dgm:pt modelId="{336BD10C-9BB5-469F-8BD4-A3494E0C75E9}" type="pres">
      <dgm:prSet presAssocID="{64DC4C56-D733-4353-AC4A-B55F2202470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424B8033-A930-4A9F-B82E-3557B060E25F}" type="pres">
      <dgm:prSet presAssocID="{22EE8EEA-169C-4E6C-B0C9-DB93B9C4DD7E}" presName="spacer" presStyleCnt="0"/>
      <dgm:spPr/>
    </dgm:pt>
    <dgm:pt modelId="{A893A7A7-CC28-4404-AD1A-6638F1AA5451}" type="pres">
      <dgm:prSet presAssocID="{E72DC5B8-FF43-4864-9B3D-4D5C1B7EED8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14B8B32-0DAE-4CF1-8EC1-BCC1541F7B61}" type="pres">
      <dgm:prSet presAssocID="{42A4E20B-61DC-4E71-B5AF-2DC120041BD5}" presName="spacer" presStyleCnt="0"/>
      <dgm:spPr/>
    </dgm:pt>
    <dgm:pt modelId="{CD71DDF5-A775-4A4F-B429-2F449530DD1D}" type="pres">
      <dgm:prSet presAssocID="{7DD33E70-A5C1-4937-BEC7-5E7B423E146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2A511F5-86EF-44B9-976B-BE435FBA14C1}" type="pres">
      <dgm:prSet presAssocID="{BCA29651-9E81-4C0B-AF05-D9A7DCFBD21B}" presName="spacer" presStyleCnt="0"/>
      <dgm:spPr/>
    </dgm:pt>
    <dgm:pt modelId="{DD6FDA14-5D81-4D91-815D-EF411B6DA3BB}" type="pres">
      <dgm:prSet presAssocID="{A7355A04-39B4-4540-B677-910EA43D027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38473C0-9027-4523-83A9-D05A403B38F5}" type="pres">
      <dgm:prSet presAssocID="{4060D010-324E-41D9-8B8F-14000C1D486F}" presName="spacer" presStyleCnt="0"/>
      <dgm:spPr/>
    </dgm:pt>
    <dgm:pt modelId="{6325200D-4401-4F68-8132-B7BA410A12E6}" type="pres">
      <dgm:prSet presAssocID="{65BCF39B-F011-41D6-A1FA-228244CE055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6B70F0D-D991-4F23-B3ED-CA085642F39A}" type="presOf" srcId="{E72DC5B8-FF43-4864-9B3D-4D5C1B7EED89}" destId="{A893A7A7-CC28-4404-AD1A-6638F1AA5451}" srcOrd="0" destOrd="0" presId="urn:microsoft.com/office/officeart/2005/8/layout/vList2"/>
    <dgm:cxn modelId="{932C2C0E-B530-4391-958A-0FAA2E10CDA1}" srcId="{D2121154-DD83-45F1-A0A6-59611F8D3BD3}" destId="{65BCF39B-F011-41D6-A1FA-228244CE055A}" srcOrd="5" destOrd="0" parTransId="{EBBDA495-D9FA-4A07-AB7C-7A8E4E6778F2}" sibTransId="{7A4617D4-940A-482D-B3B9-37EF771E04AD}"/>
    <dgm:cxn modelId="{62419439-C95E-4013-B6C7-5500B1C5694B}" srcId="{D2121154-DD83-45F1-A0A6-59611F8D3BD3}" destId="{4FB9751C-3B62-4B33-81E9-C11B694D9446}" srcOrd="0" destOrd="0" parTransId="{9B18A42C-0BA2-41CC-BAE1-B8A7E351EFFF}" sibTransId="{443683C2-1AE6-4A81-954A-430C3F3E2BBF}"/>
    <dgm:cxn modelId="{5259394A-7032-4B5C-BF39-A634876A54AF}" srcId="{D2121154-DD83-45F1-A0A6-59611F8D3BD3}" destId="{E72DC5B8-FF43-4864-9B3D-4D5C1B7EED89}" srcOrd="2" destOrd="0" parTransId="{60AC6C80-5308-42B7-8CAB-57F51CF8DC3B}" sibTransId="{42A4E20B-61DC-4E71-B5AF-2DC120041BD5}"/>
    <dgm:cxn modelId="{373FCE52-73B9-49B0-A601-FC538D901F71}" type="presOf" srcId="{4FB9751C-3B62-4B33-81E9-C11B694D9446}" destId="{CE2622F9-F07C-4B23-BC93-E0F03E146D01}" srcOrd="0" destOrd="0" presId="urn:microsoft.com/office/officeart/2005/8/layout/vList2"/>
    <dgm:cxn modelId="{0990D07C-AA34-45DC-B6B6-F0315F264DE0}" type="presOf" srcId="{65BCF39B-F011-41D6-A1FA-228244CE055A}" destId="{6325200D-4401-4F68-8132-B7BA410A12E6}" srcOrd="0" destOrd="0" presId="urn:microsoft.com/office/officeart/2005/8/layout/vList2"/>
    <dgm:cxn modelId="{D6F0057D-13F8-4622-B4BF-12290B61476E}" srcId="{D2121154-DD83-45F1-A0A6-59611F8D3BD3}" destId="{7DD33E70-A5C1-4937-BEC7-5E7B423E1466}" srcOrd="3" destOrd="0" parTransId="{F23E8BF4-6635-4CE1-B4D1-75836B6E3820}" sibTransId="{BCA29651-9E81-4C0B-AF05-D9A7DCFBD21B}"/>
    <dgm:cxn modelId="{12176390-5032-4B2D-948D-98A3D3DDF0E7}" type="presOf" srcId="{7DD33E70-A5C1-4937-BEC7-5E7B423E1466}" destId="{CD71DDF5-A775-4A4F-B429-2F449530DD1D}" srcOrd="0" destOrd="0" presId="urn:microsoft.com/office/officeart/2005/8/layout/vList2"/>
    <dgm:cxn modelId="{1C21FFBF-CD23-4AD6-BC05-5B0C85A96AB1}" srcId="{D2121154-DD83-45F1-A0A6-59611F8D3BD3}" destId="{64DC4C56-D733-4353-AC4A-B55F22024702}" srcOrd="1" destOrd="0" parTransId="{94CF4D94-4818-47AB-A823-23F05697EF76}" sibTransId="{22EE8EEA-169C-4E6C-B0C9-DB93B9C4DD7E}"/>
    <dgm:cxn modelId="{A27635C4-06F5-46C3-8571-556DC641687D}" type="presOf" srcId="{D2121154-DD83-45F1-A0A6-59611F8D3BD3}" destId="{8FEB2AA0-3F4F-423C-AD91-5B9785EE46C4}" srcOrd="0" destOrd="0" presId="urn:microsoft.com/office/officeart/2005/8/layout/vList2"/>
    <dgm:cxn modelId="{6CEEB0CF-E32C-4283-9DF0-F7A284838672}" srcId="{D2121154-DD83-45F1-A0A6-59611F8D3BD3}" destId="{A7355A04-39B4-4540-B677-910EA43D0274}" srcOrd="4" destOrd="0" parTransId="{28BD80BD-2CD1-4232-AA94-CC254F351732}" sibTransId="{4060D010-324E-41D9-8B8F-14000C1D486F}"/>
    <dgm:cxn modelId="{07AB95DA-426D-49AF-B8F0-BB93A51EC17C}" type="presOf" srcId="{A7355A04-39B4-4540-B677-910EA43D0274}" destId="{DD6FDA14-5D81-4D91-815D-EF411B6DA3BB}" srcOrd="0" destOrd="0" presId="urn:microsoft.com/office/officeart/2005/8/layout/vList2"/>
    <dgm:cxn modelId="{70957FDF-E2F0-4CD6-B609-744C73881C9A}" type="presOf" srcId="{64DC4C56-D733-4353-AC4A-B55F22024702}" destId="{336BD10C-9BB5-469F-8BD4-A3494E0C75E9}" srcOrd="0" destOrd="0" presId="urn:microsoft.com/office/officeart/2005/8/layout/vList2"/>
    <dgm:cxn modelId="{F99E9DE0-D70D-45AC-8ADF-E35B5106A0C9}" type="presParOf" srcId="{8FEB2AA0-3F4F-423C-AD91-5B9785EE46C4}" destId="{CE2622F9-F07C-4B23-BC93-E0F03E146D01}" srcOrd="0" destOrd="0" presId="urn:microsoft.com/office/officeart/2005/8/layout/vList2"/>
    <dgm:cxn modelId="{3595AB8A-97E4-4E46-8673-7AC717F8D9C6}" type="presParOf" srcId="{8FEB2AA0-3F4F-423C-AD91-5B9785EE46C4}" destId="{5422F2F0-9A12-494F-BE7C-65E95988AA28}" srcOrd="1" destOrd="0" presId="urn:microsoft.com/office/officeart/2005/8/layout/vList2"/>
    <dgm:cxn modelId="{343D90CF-8A07-4BB9-A763-8FE7504F6591}" type="presParOf" srcId="{8FEB2AA0-3F4F-423C-AD91-5B9785EE46C4}" destId="{336BD10C-9BB5-469F-8BD4-A3494E0C75E9}" srcOrd="2" destOrd="0" presId="urn:microsoft.com/office/officeart/2005/8/layout/vList2"/>
    <dgm:cxn modelId="{9B6927FF-1922-4AAA-80CA-883B4E07FE2A}" type="presParOf" srcId="{8FEB2AA0-3F4F-423C-AD91-5B9785EE46C4}" destId="{424B8033-A930-4A9F-B82E-3557B060E25F}" srcOrd="3" destOrd="0" presId="urn:microsoft.com/office/officeart/2005/8/layout/vList2"/>
    <dgm:cxn modelId="{D46AFF8A-B758-4642-B835-B05F0CC0D3D6}" type="presParOf" srcId="{8FEB2AA0-3F4F-423C-AD91-5B9785EE46C4}" destId="{A893A7A7-CC28-4404-AD1A-6638F1AA5451}" srcOrd="4" destOrd="0" presId="urn:microsoft.com/office/officeart/2005/8/layout/vList2"/>
    <dgm:cxn modelId="{23A2C807-2BB5-4B0F-B85A-F1E8C6C3E4DE}" type="presParOf" srcId="{8FEB2AA0-3F4F-423C-AD91-5B9785EE46C4}" destId="{E14B8B32-0DAE-4CF1-8EC1-BCC1541F7B61}" srcOrd="5" destOrd="0" presId="urn:microsoft.com/office/officeart/2005/8/layout/vList2"/>
    <dgm:cxn modelId="{3F3F7C00-935B-4A6B-A8C6-1793C881F6B2}" type="presParOf" srcId="{8FEB2AA0-3F4F-423C-AD91-5B9785EE46C4}" destId="{CD71DDF5-A775-4A4F-B429-2F449530DD1D}" srcOrd="6" destOrd="0" presId="urn:microsoft.com/office/officeart/2005/8/layout/vList2"/>
    <dgm:cxn modelId="{DAB80BA0-9BF6-4273-9026-48DB621BFE55}" type="presParOf" srcId="{8FEB2AA0-3F4F-423C-AD91-5B9785EE46C4}" destId="{D2A511F5-86EF-44B9-976B-BE435FBA14C1}" srcOrd="7" destOrd="0" presId="urn:microsoft.com/office/officeart/2005/8/layout/vList2"/>
    <dgm:cxn modelId="{EBF75664-93DB-42CF-91E2-FE7C25F65C86}" type="presParOf" srcId="{8FEB2AA0-3F4F-423C-AD91-5B9785EE46C4}" destId="{DD6FDA14-5D81-4D91-815D-EF411B6DA3BB}" srcOrd="8" destOrd="0" presId="urn:microsoft.com/office/officeart/2005/8/layout/vList2"/>
    <dgm:cxn modelId="{8FFCFBC3-2EAE-4501-8559-9F6F3FF7AEF1}" type="presParOf" srcId="{8FEB2AA0-3F4F-423C-AD91-5B9785EE46C4}" destId="{738473C0-9027-4523-83A9-D05A403B38F5}" srcOrd="9" destOrd="0" presId="urn:microsoft.com/office/officeart/2005/8/layout/vList2"/>
    <dgm:cxn modelId="{C11046FF-2215-4CCC-A511-C995391826B5}" type="presParOf" srcId="{8FEB2AA0-3F4F-423C-AD91-5B9785EE46C4}" destId="{6325200D-4401-4F68-8132-B7BA410A12E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ED80E6-6809-4689-8355-F701AC12805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6ADC0028-4587-4C12-AA1F-B3FE2A794B1F}">
      <dgm:prSet/>
      <dgm:spPr/>
      <dgm:t>
        <a:bodyPr/>
        <a:lstStyle/>
        <a:p>
          <a:pPr rtl="0"/>
          <a:r>
            <a:rPr lang="en-GB"/>
            <a:t>Prime minister’s relief fund.</a:t>
          </a:r>
        </a:p>
      </dgm:t>
    </dgm:pt>
    <dgm:pt modelId="{E19D67D5-7399-49ED-A7B2-9C91EE799442}" type="parTrans" cxnId="{4B3FD876-976C-4D1F-9A0A-DC02CC469A5D}">
      <dgm:prSet/>
      <dgm:spPr/>
      <dgm:t>
        <a:bodyPr/>
        <a:lstStyle/>
        <a:p>
          <a:endParaRPr lang="en-GB"/>
        </a:p>
      </dgm:t>
    </dgm:pt>
    <dgm:pt modelId="{82C1AC1D-23BE-437F-9111-5EAFCF5A8265}" type="sibTrans" cxnId="{4B3FD876-976C-4D1F-9A0A-DC02CC469A5D}">
      <dgm:prSet/>
      <dgm:spPr/>
      <dgm:t>
        <a:bodyPr/>
        <a:lstStyle/>
        <a:p>
          <a:endParaRPr lang="en-GB"/>
        </a:p>
      </dgm:t>
    </dgm:pt>
    <dgm:pt modelId="{C7F08E02-3120-4CA8-A96A-519ADF4B41D8}">
      <dgm:prSet/>
      <dgm:spPr/>
      <dgm:t>
        <a:bodyPr/>
        <a:lstStyle/>
        <a:p>
          <a:pPr rtl="0"/>
          <a:r>
            <a:rPr lang="en-GB"/>
            <a:t>MP, Jhenaidah-2.</a:t>
          </a:r>
        </a:p>
      </dgm:t>
    </dgm:pt>
    <dgm:pt modelId="{BB701834-38DE-4D50-9138-BE36B0AF13DF}" type="parTrans" cxnId="{C683CF76-4F5A-4BD5-B3CF-99F9F4583627}">
      <dgm:prSet/>
      <dgm:spPr/>
      <dgm:t>
        <a:bodyPr/>
        <a:lstStyle/>
        <a:p>
          <a:endParaRPr lang="en-GB"/>
        </a:p>
      </dgm:t>
    </dgm:pt>
    <dgm:pt modelId="{0E880F49-9502-4518-9AFB-CD8A2E5B7765}" type="sibTrans" cxnId="{C683CF76-4F5A-4BD5-B3CF-99F9F4583627}">
      <dgm:prSet/>
      <dgm:spPr/>
      <dgm:t>
        <a:bodyPr/>
        <a:lstStyle/>
        <a:p>
          <a:endParaRPr lang="en-GB"/>
        </a:p>
      </dgm:t>
    </dgm:pt>
    <dgm:pt modelId="{5AD6B90F-9083-408E-A794-2991B86BCF5D}">
      <dgm:prSet/>
      <dgm:spPr/>
      <dgm:t>
        <a:bodyPr/>
        <a:lstStyle/>
        <a:p>
          <a:pPr rtl="0"/>
          <a:r>
            <a:rPr lang="en-GB" dirty="0"/>
            <a:t>Mayor, </a:t>
          </a:r>
          <a:r>
            <a:rPr lang="en-GB" dirty="0" err="1"/>
            <a:t>Jhenaidah</a:t>
          </a:r>
          <a:r>
            <a:rPr lang="en-GB" dirty="0"/>
            <a:t> </a:t>
          </a:r>
          <a:r>
            <a:rPr lang="en-GB" dirty="0" err="1"/>
            <a:t>pourosova</a:t>
          </a:r>
          <a:r>
            <a:rPr lang="en-GB" dirty="0"/>
            <a:t>.</a:t>
          </a:r>
        </a:p>
      </dgm:t>
    </dgm:pt>
    <dgm:pt modelId="{577E4D54-DCA5-4A0B-9949-71EA6EB100C7}" type="parTrans" cxnId="{9869E879-9D20-4E3A-88E6-F824C3755487}">
      <dgm:prSet/>
      <dgm:spPr/>
      <dgm:t>
        <a:bodyPr/>
        <a:lstStyle/>
        <a:p>
          <a:endParaRPr lang="en-GB"/>
        </a:p>
      </dgm:t>
    </dgm:pt>
    <dgm:pt modelId="{7A0C1DEE-6724-4C3E-AE5C-E612B1393D4E}" type="sibTrans" cxnId="{9869E879-9D20-4E3A-88E6-F824C3755487}">
      <dgm:prSet/>
      <dgm:spPr/>
      <dgm:t>
        <a:bodyPr/>
        <a:lstStyle/>
        <a:p>
          <a:endParaRPr lang="en-GB"/>
        </a:p>
      </dgm:t>
    </dgm:pt>
    <dgm:pt modelId="{3FEE24C6-CE85-45B8-850E-D4EE6860F9D3}">
      <dgm:prSet/>
      <dgm:spPr/>
      <dgm:t>
        <a:bodyPr/>
        <a:lstStyle/>
        <a:p>
          <a:pPr rtl="0"/>
          <a:r>
            <a:rPr lang="en-GB"/>
            <a:t>Jaheedi Foundation.</a:t>
          </a:r>
        </a:p>
      </dgm:t>
    </dgm:pt>
    <dgm:pt modelId="{7C0C76C5-C115-4C2D-95CE-FA5D79831362}" type="parTrans" cxnId="{2E4F4598-2F9B-4133-A67F-97FF67AC1EBE}">
      <dgm:prSet/>
      <dgm:spPr/>
      <dgm:t>
        <a:bodyPr/>
        <a:lstStyle/>
        <a:p>
          <a:endParaRPr lang="en-GB"/>
        </a:p>
      </dgm:t>
    </dgm:pt>
    <dgm:pt modelId="{29A33AD3-BD5D-4782-B1F2-0C3D712012DE}" type="sibTrans" cxnId="{2E4F4598-2F9B-4133-A67F-97FF67AC1EBE}">
      <dgm:prSet/>
      <dgm:spPr/>
      <dgm:t>
        <a:bodyPr/>
        <a:lstStyle/>
        <a:p>
          <a:endParaRPr lang="en-GB"/>
        </a:p>
      </dgm:t>
    </dgm:pt>
    <dgm:pt modelId="{26F90953-42C6-43BF-A499-FBB77A723DD6}">
      <dgm:prSet/>
      <dgm:spPr/>
      <dgm:t>
        <a:bodyPr/>
        <a:lstStyle/>
        <a:p>
          <a:pPr rtl="0"/>
          <a:r>
            <a:rPr lang="en-GB"/>
            <a:t>Navana group.</a:t>
          </a:r>
        </a:p>
      </dgm:t>
    </dgm:pt>
    <dgm:pt modelId="{CC2B5356-6A02-4CC1-9B7F-99E5A93503D3}" type="parTrans" cxnId="{3B23A490-8A96-483B-ACD5-66CD6701BE45}">
      <dgm:prSet/>
      <dgm:spPr/>
      <dgm:t>
        <a:bodyPr/>
        <a:lstStyle/>
        <a:p>
          <a:endParaRPr lang="en-GB"/>
        </a:p>
      </dgm:t>
    </dgm:pt>
    <dgm:pt modelId="{50511D2C-A017-43E8-879B-2BED343D6967}" type="sibTrans" cxnId="{3B23A490-8A96-483B-ACD5-66CD6701BE45}">
      <dgm:prSet/>
      <dgm:spPr/>
      <dgm:t>
        <a:bodyPr/>
        <a:lstStyle/>
        <a:p>
          <a:endParaRPr lang="en-GB"/>
        </a:p>
      </dgm:t>
    </dgm:pt>
    <dgm:pt modelId="{8DEF001F-9526-425D-A304-364FD2A32D09}" type="pres">
      <dgm:prSet presAssocID="{E5ED80E6-6809-4689-8355-F701AC128059}" presName="linear" presStyleCnt="0">
        <dgm:presLayoutVars>
          <dgm:animLvl val="lvl"/>
          <dgm:resizeHandles val="exact"/>
        </dgm:presLayoutVars>
      </dgm:prSet>
      <dgm:spPr/>
    </dgm:pt>
    <dgm:pt modelId="{F322EB3B-4393-4F62-9896-6CAC1D8C7C9F}" type="pres">
      <dgm:prSet presAssocID="{6ADC0028-4587-4C12-AA1F-B3FE2A794B1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0E5320E-11AB-43A7-9D24-5AB88107839E}" type="pres">
      <dgm:prSet presAssocID="{82C1AC1D-23BE-437F-9111-5EAFCF5A8265}" presName="spacer" presStyleCnt="0"/>
      <dgm:spPr/>
    </dgm:pt>
    <dgm:pt modelId="{4957D60D-9A48-45C1-BAC6-F3D37092E3B1}" type="pres">
      <dgm:prSet presAssocID="{C7F08E02-3120-4CA8-A96A-519ADF4B41D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6280F85-D5B7-45C3-A4D2-BA70B77BB121}" type="pres">
      <dgm:prSet presAssocID="{0E880F49-9502-4518-9AFB-CD8A2E5B7765}" presName="spacer" presStyleCnt="0"/>
      <dgm:spPr/>
    </dgm:pt>
    <dgm:pt modelId="{648756C2-CBEA-4503-B679-343ADD8DA048}" type="pres">
      <dgm:prSet presAssocID="{5AD6B90F-9083-408E-A794-2991B86BCF5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B1360F5-7A90-451C-918B-9DE1897A5330}" type="pres">
      <dgm:prSet presAssocID="{7A0C1DEE-6724-4C3E-AE5C-E612B1393D4E}" presName="spacer" presStyleCnt="0"/>
      <dgm:spPr/>
    </dgm:pt>
    <dgm:pt modelId="{67D1A4F1-4413-4A6E-B170-3E78BE79127C}" type="pres">
      <dgm:prSet presAssocID="{3FEE24C6-CE85-45B8-850E-D4EE6860F9D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3780C74-FC6D-47EF-8E2B-33A4236B1781}" type="pres">
      <dgm:prSet presAssocID="{29A33AD3-BD5D-4782-B1F2-0C3D712012DE}" presName="spacer" presStyleCnt="0"/>
      <dgm:spPr/>
    </dgm:pt>
    <dgm:pt modelId="{CA20AB46-4D56-4B7A-B508-C9C3AA679FFD}" type="pres">
      <dgm:prSet presAssocID="{26F90953-42C6-43BF-A499-FBB77A723DD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3608C05-F76C-4BC4-808F-58E3AAC2A141}" type="presOf" srcId="{5AD6B90F-9083-408E-A794-2991B86BCF5D}" destId="{648756C2-CBEA-4503-B679-343ADD8DA048}" srcOrd="0" destOrd="0" presId="urn:microsoft.com/office/officeart/2005/8/layout/vList2"/>
    <dgm:cxn modelId="{65A7431F-9DA0-46BB-9168-2F44F4CC767C}" type="presOf" srcId="{26F90953-42C6-43BF-A499-FBB77A723DD6}" destId="{CA20AB46-4D56-4B7A-B508-C9C3AA679FFD}" srcOrd="0" destOrd="0" presId="urn:microsoft.com/office/officeart/2005/8/layout/vList2"/>
    <dgm:cxn modelId="{8DBFDD37-C88B-46AA-9C34-4215E6B03565}" type="presOf" srcId="{3FEE24C6-CE85-45B8-850E-D4EE6860F9D3}" destId="{67D1A4F1-4413-4A6E-B170-3E78BE79127C}" srcOrd="0" destOrd="0" presId="urn:microsoft.com/office/officeart/2005/8/layout/vList2"/>
    <dgm:cxn modelId="{EBA1F962-DE1F-4CA0-A704-5B8D17731EBB}" type="presOf" srcId="{6ADC0028-4587-4C12-AA1F-B3FE2A794B1F}" destId="{F322EB3B-4393-4F62-9896-6CAC1D8C7C9F}" srcOrd="0" destOrd="0" presId="urn:microsoft.com/office/officeart/2005/8/layout/vList2"/>
    <dgm:cxn modelId="{15AB3E72-8E1A-42C7-A158-AA43911A699E}" type="presOf" srcId="{E5ED80E6-6809-4689-8355-F701AC128059}" destId="{8DEF001F-9526-425D-A304-364FD2A32D09}" srcOrd="0" destOrd="0" presId="urn:microsoft.com/office/officeart/2005/8/layout/vList2"/>
    <dgm:cxn modelId="{C683CF76-4F5A-4BD5-B3CF-99F9F4583627}" srcId="{E5ED80E6-6809-4689-8355-F701AC128059}" destId="{C7F08E02-3120-4CA8-A96A-519ADF4B41D8}" srcOrd="1" destOrd="0" parTransId="{BB701834-38DE-4D50-9138-BE36B0AF13DF}" sibTransId="{0E880F49-9502-4518-9AFB-CD8A2E5B7765}"/>
    <dgm:cxn modelId="{4B3FD876-976C-4D1F-9A0A-DC02CC469A5D}" srcId="{E5ED80E6-6809-4689-8355-F701AC128059}" destId="{6ADC0028-4587-4C12-AA1F-B3FE2A794B1F}" srcOrd="0" destOrd="0" parTransId="{E19D67D5-7399-49ED-A7B2-9C91EE799442}" sibTransId="{82C1AC1D-23BE-437F-9111-5EAFCF5A8265}"/>
    <dgm:cxn modelId="{9869E879-9D20-4E3A-88E6-F824C3755487}" srcId="{E5ED80E6-6809-4689-8355-F701AC128059}" destId="{5AD6B90F-9083-408E-A794-2991B86BCF5D}" srcOrd="2" destOrd="0" parTransId="{577E4D54-DCA5-4A0B-9949-71EA6EB100C7}" sibTransId="{7A0C1DEE-6724-4C3E-AE5C-E612B1393D4E}"/>
    <dgm:cxn modelId="{3B23A490-8A96-483B-ACD5-66CD6701BE45}" srcId="{E5ED80E6-6809-4689-8355-F701AC128059}" destId="{26F90953-42C6-43BF-A499-FBB77A723DD6}" srcOrd="4" destOrd="0" parTransId="{CC2B5356-6A02-4CC1-9B7F-99E5A93503D3}" sibTransId="{50511D2C-A017-43E8-879B-2BED343D6967}"/>
    <dgm:cxn modelId="{2E4F4598-2F9B-4133-A67F-97FF67AC1EBE}" srcId="{E5ED80E6-6809-4689-8355-F701AC128059}" destId="{3FEE24C6-CE85-45B8-850E-D4EE6860F9D3}" srcOrd="3" destOrd="0" parTransId="{7C0C76C5-C115-4C2D-95CE-FA5D79831362}" sibTransId="{29A33AD3-BD5D-4782-B1F2-0C3D712012DE}"/>
    <dgm:cxn modelId="{845972D5-FF1F-464E-9CD9-9A302F6CEB2D}" type="presOf" srcId="{C7F08E02-3120-4CA8-A96A-519ADF4B41D8}" destId="{4957D60D-9A48-45C1-BAC6-F3D37092E3B1}" srcOrd="0" destOrd="0" presId="urn:microsoft.com/office/officeart/2005/8/layout/vList2"/>
    <dgm:cxn modelId="{CF0C3DDD-B73F-4E55-AE3B-54E16F4843CC}" type="presParOf" srcId="{8DEF001F-9526-425D-A304-364FD2A32D09}" destId="{F322EB3B-4393-4F62-9896-6CAC1D8C7C9F}" srcOrd="0" destOrd="0" presId="urn:microsoft.com/office/officeart/2005/8/layout/vList2"/>
    <dgm:cxn modelId="{23C31C32-BF97-4DED-901F-860C129C4E38}" type="presParOf" srcId="{8DEF001F-9526-425D-A304-364FD2A32D09}" destId="{60E5320E-11AB-43A7-9D24-5AB88107839E}" srcOrd="1" destOrd="0" presId="urn:microsoft.com/office/officeart/2005/8/layout/vList2"/>
    <dgm:cxn modelId="{791F724C-155C-4F3E-8D23-923B3F40FA4C}" type="presParOf" srcId="{8DEF001F-9526-425D-A304-364FD2A32D09}" destId="{4957D60D-9A48-45C1-BAC6-F3D37092E3B1}" srcOrd="2" destOrd="0" presId="urn:microsoft.com/office/officeart/2005/8/layout/vList2"/>
    <dgm:cxn modelId="{1CE2B9C1-5EE7-4513-A2CA-F920C8759861}" type="presParOf" srcId="{8DEF001F-9526-425D-A304-364FD2A32D09}" destId="{16280F85-D5B7-45C3-A4D2-BA70B77BB121}" srcOrd="3" destOrd="0" presId="urn:microsoft.com/office/officeart/2005/8/layout/vList2"/>
    <dgm:cxn modelId="{DC8916F9-5C36-43D2-AA49-0EE4DFF0A206}" type="presParOf" srcId="{8DEF001F-9526-425D-A304-364FD2A32D09}" destId="{648756C2-CBEA-4503-B679-343ADD8DA048}" srcOrd="4" destOrd="0" presId="urn:microsoft.com/office/officeart/2005/8/layout/vList2"/>
    <dgm:cxn modelId="{BDBAD711-9103-449F-8553-8C9B56046EED}" type="presParOf" srcId="{8DEF001F-9526-425D-A304-364FD2A32D09}" destId="{9B1360F5-7A90-451C-918B-9DE1897A5330}" srcOrd="5" destOrd="0" presId="urn:microsoft.com/office/officeart/2005/8/layout/vList2"/>
    <dgm:cxn modelId="{3ABA51A7-8EB2-40D3-8E03-5DBA386ACE52}" type="presParOf" srcId="{8DEF001F-9526-425D-A304-364FD2A32D09}" destId="{67D1A4F1-4413-4A6E-B170-3E78BE79127C}" srcOrd="6" destOrd="0" presId="urn:microsoft.com/office/officeart/2005/8/layout/vList2"/>
    <dgm:cxn modelId="{A19C42B1-0EFB-4C8E-8EFA-02F8E9572AB2}" type="presParOf" srcId="{8DEF001F-9526-425D-A304-364FD2A32D09}" destId="{C3780C74-FC6D-47EF-8E2B-33A4236B1781}" srcOrd="7" destOrd="0" presId="urn:microsoft.com/office/officeart/2005/8/layout/vList2"/>
    <dgm:cxn modelId="{98A7B389-529E-400D-BD18-D3F90A22E2A0}" type="presParOf" srcId="{8DEF001F-9526-425D-A304-364FD2A32D09}" destId="{CA20AB46-4D56-4B7A-B508-C9C3AA679FF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16F7FE-2300-4A17-A15B-6A7F7491AD5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2E5693D-0EFD-458E-98CF-DCA495A21184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pPr rtl="0"/>
          <a:r>
            <a:rPr lang="en-GB" dirty="0"/>
            <a:t>Value – Nearly 52 Lac taka </a:t>
          </a:r>
        </a:p>
      </dgm:t>
    </dgm:pt>
    <dgm:pt modelId="{204FC4FA-25E8-412D-8193-19DEFA885865}" type="parTrans" cxnId="{86008C12-7CFE-4652-B54F-3578BBD24D01}">
      <dgm:prSet/>
      <dgm:spPr/>
      <dgm:t>
        <a:bodyPr/>
        <a:lstStyle/>
        <a:p>
          <a:endParaRPr lang="en-GB"/>
        </a:p>
      </dgm:t>
    </dgm:pt>
    <dgm:pt modelId="{C9FCD6DB-3844-458E-97C2-E98846834BC0}" type="sibTrans" cxnId="{86008C12-7CFE-4652-B54F-3578BBD24D01}">
      <dgm:prSet/>
      <dgm:spPr/>
      <dgm:t>
        <a:bodyPr/>
        <a:lstStyle/>
        <a:p>
          <a:endParaRPr lang="en-GB"/>
        </a:p>
      </dgm:t>
    </dgm:pt>
    <dgm:pt modelId="{5EF4972E-4643-43E2-B3AB-113B9B2E4FEA}" type="pres">
      <dgm:prSet presAssocID="{3316F7FE-2300-4A17-A15B-6A7F7491AD5C}" presName="linear" presStyleCnt="0">
        <dgm:presLayoutVars>
          <dgm:animLvl val="lvl"/>
          <dgm:resizeHandles val="exact"/>
        </dgm:presLayoutVars>
      </dgm:prSet>
      <dgm:spPr/>
    </dgm:pt>
    <dgm:pt modelId="{EDA508CE-5441-40F4-BF43-22D7E4368061}" type="pres">
      <dgm:prSet presAssocID="{F2E5693D-0EFD-458E-98CF-DCA495A21184}" presName="parentText" presStyleLbl="node1" presStyleIdx="0" presStyleCnt="1" custLinFactNeighborY="8174">
        <dgm:presLayoutVars>
          <dgm:chMax val="0"/>
          <dgm:bulletEnabled val="1"/>
        </dgm:presLayoutVars>
      </dgm:prSet>
      <dgm:spPr/>
    </dgm:pt>
  </dgm:ptLst>
  <dgm:cxnLst>
    <dgm:cxn modelId="{86008C12-7CFE-4652-B54F-3578BBD24D01}" srcId="{3316F7FE-2300-4A17-A15B-6A7F7491AD5C}" destId="{F2E5693D-0EFD-458E-98CF-DCA495A21184}" srcOrd="0" destOrd="0" parTransId="{204FC4FA-25E8-412D-8193-19DEFA885865}" sibTransId="{C9FCD6DB-3844-458E-97C2-E98846834BC0}"/>
    <dgm:cxn modelId="{B5A0FD4C-DE4D-4A6B-B0E5-52F7990ED734}" type="presOf" srcId="{3316F7FE-2300-4A17-A15B-6A7F7491AD5C}" destId="{5EF4972E-4643-43E2-B3AB-113B9B2E4FEA}" srcOrd="0" destOrd="0" presId="urn:microsoft.com/office/officeart/2005/8/layout/vList2"/>
    <dgm:cxn modelId="{A1EC6AA3-8D11-4E09-A469-A60F78FCD857}" type="presOf" srcId="{F2E5693D-0EFD-458E-98CF-DCA495A21184}" destId="{EDA508CE-5441-40F4-BF43-22D7E4368061}" srcOrd="0" destOrd="0" presId="urn:microsoft.com/office/officeart/2005/8/layout/vList2"/>
    <dgm:cxn modelId="{224BBAE5-C656-472F-BABC-76B7509ECAB4}" type="presParOf" srcId="{5EF4972E-4643-43E2-B3AB-113B9B2E4FEA}" destId="{EDA508CE-5441-40F4-BF43-22D7E436806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2622F9-F07C-4B23-BC93-E0F03E146D01}">
      <dsp:nvSpPr>
        <dsp:cNvPr id="0" name=""/>
        <dsp:cNvSpPr/>
      </dsp:nvSpPr>
      <dsp:spPr>
        <a:xfrm>
          <a:off x="0" y="18047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Central oxygen system 	- 1</a:t>
          </a:r>
        </a:p>
      </dsp:txBody>
      <dsp:txXfrm>
        <a:off x="19904" y="37951"/>
        <a:ext cx="4379792" cy="367937"/>
      </dsp:txXfrm>
    </dsp:sp>
    <dsp:sp modelId="{336BD10C-9BB5-469F-8BD4-A3494E0C75E9}">
      <dsp:nvSpPr>
        <dsp:cNvPr id="0" name=""/>
        <dsp:cNvSpPr/>
      </dsp:nvSpPr>
      <dsp:spPr>
        <a:xfrm>
          <a:off x="0" y="474752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High flow nasal cannula	- 5</a:t>
          </a:r>
        </a:p>
      </dsp:txBody>
      <dsp:txXfrm>
        <a:off x="19904" y="494656"/>
        <a:ext cx="4379792" cy="367937"/>
      </dsp:txXfrm>
    </dsp:sp>
    <dsp:sp modelId="{A893A7A7-CC28-4404-AD1A-6638F1AA5451}">
      <dsp:nvSpPr>
        <dsp:cNvPr id="0" name=""/>
        <dsp:cNvSpPr/>
      </dsp:nvSpPr>
      <dsp:spPr>
        <a:xfrm>
          <a:off x="0" y="931457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Oxygen concentrator	- 3</a:t>
          </a:r>
        </a:p>
      </dsp:txBody>
      <dsp:txXfrm>
        <a:off x="19904" y="951361"/>
        <a:ext cx="4379792" cy="367937"/>
      </dsp:txXfrm>
    </dsp:sp>
    <dsp:sp modelId="{CD71DDF5-A775-4A4F-B429-2F449530DD1D}">
      <dsp:nvSpPr>
        <dsp:cNvPr id="0" name=""/>
        <dsp:cNvSpPr/>
      </dsp:nvSpPr>
      <dsp:spPr>
        <a:xfrm>
          <a:off x="0" y="1388163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Large oxygen cylinder	- 48 </a:t>
          </a:r>
        </a:p>
      </dsp:txBody>
      <dsp:txXfrm>
        <a:off x="19904" y="1408067"/>
        <a:ext cx="4379792" cy="367937"/>
      </dsp:txXfrm>
    </dsp:sp>
    <dsp:sp modelId="{DD6FDA14-5D81-4D91-815D-EF411B6DA3BB}">
      <dsp:nvSpPr>
        <dsp:cNvPr id="0" name=""/>
        <dsp:cNvSpPr/>
      </dsp:nvSpPr>
      <dsp:spPr>
        <a:xfrm>
          <a:off x="0" y="1844868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C-PAP machine		- 1</a:t>
          </a:r>
        </a:p>
      </dsp:txBody>
      <dsp:txXfrm>
        <a:off x="19904" y="1864772"/>
        <a:ext cx="4379792" cy="367937"/>
      </dsp:txXfrm>
    </dsp:sp>
    <dsp:sp modelId="{6325200D-4401-4F68-8132-B7BA410A12E6}">
      <dsp:nvSpPr>
        <dsp:cNvPr id="0" name=""/>
        <dsp:cNvSpPr/>
      </dsp:nvSpPr>
      <dsp:spPr>
        <a:xfrm>
          <a:off x="0" y="2301573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Pick-up </a:t>
          </a:r>
          <a:r>
            <a:rPr lang="en-GB" sz="1700" kern="1200" dirty="0" err="1"/>
            <a:t>caverd</a:t>
          </a:r>
          <a:r>
            <a:rPr lang="en-GB" sz="1700" kern="1200" dirty="0"/>
            <a:t> van	- 1</a:t>
          </a:r>
        </a:p>
      </dsp:txBody>
      <dsp:txXfrm>
        <a:off x="19904" y="2321477"/>
        <a:ext cx="4379792" cy="3679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22EB3B-4393-4F62-9896-6CAC1D8C7C9F}">
      <dsp:nvSpPr>
        <dsp:cNvPr id="0" name=""/>
        <dsp:cNvSpPr/>
      </dsp:nvSpPr>
      <dsp:spPr>
        <a:xfrm>
          <a:off x="0" y="776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Prime minister’s relief fund.</a:t>
          </a:r>
        </a:p>
      </dsp:txBody>
      <dsp:txXfrm>
        <a:off x="17563" y="25325"/>
        <a:ext cx="4232073" cy="324648"/>
      </dsp:txXfrm>
    </dsp:sp>
    <dsp:sp modelId="{4957D60D-9A48-45C1-BAC6-F3D37092E3B1}">
      <dsp:nvSpPr>
        <dsp:cNvPr id="0" name=""/>
        <dsp:cNvSpPr/>
      </dsp:nvSpPr>
      <dsp:spPr>
        <a:xfrm>
          <a:off x="0" y="410737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MP, Jhenaidah-2.</a:t>
          </a:r>
        </a:p>
      </dsp:txBody>
      <dsp:txXfrm>
        <a:off x="17563" y="428300"/>
        <a:ext cx="4232073" cy="324648"/>
      </dsp:txXfrm>
    </dsp:sp>
    <dsp:sp modelId="{648756C2-CBEA-4503-B679-343ADD8DA048}">
      <dsp:nvSpPr>
        <dsp:cNvPr id="0" name=""/>
        <dsp:cNvSpPr/>
      </dsp:nvSpPr>
      <dsp:spPr>
        <a:xfrm>
          <a:off x="0" y="81371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Mayor, </a:t>
          </a:r>
          <a:r>
            <a:rPr lang="en-GB" sz="1500" kern="1200" dirty="0" err="1"/>
            <a:t>Jhenaidah</a:t>
          </a:r>
          <a:r>
            <a:rPr lang="en-GB" sz="1500" kern="1200" dirty="0"/>
            <a:t> </a:t>
          </a:r>
          <a:r>
            <a:rPr lang="en-GB" sz="1500" kern="1200" dirty="0" err="1"/>
            <a:t>pourosova</a:t>
          </a:r>
          <a:r>
            <a:rPr lang="en-GB" sz="1500" kern="1200" dirty="0"/>
            <a:t>.</a:t>
          </a:r>
        </a:p>
      </dsp:txBody>
      <dsp:txXfrm>
        <a:off x="17563" y="831275"/>
        <a:ext cx="4232073" cy="324648"/>
      </dsp:txXfrm>
    </dsp:sp>
    <dsp:sp modelId="{67D1A4F1-4413-4A6E-B170-3E78BE79127C}">
      <dsp:nvSpPr>
        <dsp:cNvPr id="0" name=""/>
        <dsp:cNvSpPr/>
      </dsp:nvSpPr>
      <dsp:spPr>
        <a:xfrm>
          <a:off x="0" y="1216687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Jaheedi Foundation.</a:t>
          </a:r>
        </a:p>
      </dsp:txBody>
      <dsp:txXfrm>
        <a:off x="17563" y="1234250"/>
        <a:ext cx="4232073" cy="324648"/>
      </dsp:txXfrm>
    </dsp:sp>
    <dsp:sp modelId="{CA20AB46-4D56-4B7A-B508-C9C3AA679FFD}">
      <dsp:nvSpPr>
        <dsp:cNvPr id="0" name=""/>
        <dsp:cNvSpPr/>
      </dsp:nvSpPr>
      <dsp:spPr>
        <a:xfrm>
          <a:off x="0" y="161966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Navana group.</a:t>
          </a:r>
        </a:p>
      </dsp:txBody>
      <dsp:txXfrm>
        <a:off x="17563" y="1637225"/>
        <a:ext cx="4232073" cy="3246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A508CE-5441-40F4-BF43-22D7E4368061}">
      <dsp:nvSpPr>
        <dsp:cNvPr id="0" name=""/>
        <dsp:cNvSpPr/>
      </dsp:nvSpPr>
      <dsp:spPr>
        <a:xfrm>
          <a:off x="0" y="254619"/>
          <a:ext cx="3962400" cy="647595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Value – Nearly 52 Lac taka </a:t>
          </a:r>
        </a:p>
      </dsp:txBody>
      <dsp:txXfrm>
        <a:off x="31613" y="286232"/>
        <a:ext cx="3899174" cy="5843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1/5/2023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928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352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430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44563" y="746125"/>
            <a:ext cx="4968875" cy="3727450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724202"/>
            <a:ext cx="5483225" cy="447556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249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10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493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873E5E-FE9D-4022-BB0E-584F64AF886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148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15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306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57066" indent="-291179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64717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30604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96491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62377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3028264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94151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960038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20EF894-5C7A-4186-AC86-C2AA879455C3}" type="slidenum">
              <a:rPr lang="en-US" altLang="en-US">
                <a:latin typeface="Arial" panose="020B0604020202020204" pitchFamily="34" charset="0"/>
              </a:rPr>
              <a:pPr/>
              <a:t>19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1603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defTabSz="931774">
              <a:defRPr/>
            </a:pPr>
            <a:fld id="{3A337629-D36D-49E4-ACBA-6A81B0F14D58}" type="slidenum">
              <a:rPr lang="en-US">
                <a:solidFill>
                  <a:srgbClr val="000000"/>
                </a:solidFill>
              </a:rPr>
              <a:pPr defTabSz="931774">
                <a:defRPr/>
              </a:pPr>
              <a:t>21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0567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39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6630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41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863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C528EF-78D8-49A5-809B-2599B7DD834B}" type="datetimeFigureOut">
              <a:rPr lang="en-US" altLang="en-US" smtClean="0"/>
              <a:pPr>
                <a:defRPr/>
              </a:pPr>
              <a:t>1/5/2023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EFA2A5-5979-48A6-9408-4607D4934BE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538784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C57163-4E2A-442A-AF52-8DCCF3E5F898}" type="datetimeFigureOut">
              <a:rPr lang="en-US" altLang="en-US" smtClean="0"/>
              <a:pPr>
                <a:defRPr/>
              </a:pPr>
              <a:t>1/5/2023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4CFB5-2CC1-45EB-A3F2-C919B032989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8419073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CADFD7-462D-4DC3-B03B-C216ECE8D47D}" type="datetimeFigureOut">
              <a:rPr lang="en-US" altLang="en-US" smtClean="0"/>
              <a:pPr>
                <a:defRPr/>
              </a:pPr>
              <a:t>1/5/2023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1B0A13-5CDD-4B02-825E-D5B70CB11E2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006264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CFF109-4CB5-4AAD-95FA-C87EB3E04025}" type="datetimeFigureOut">
              <a:rPr lang="en-US" altLang="en-US" smtClean="0"/>
              <a:pPr>
                <a:defRPr/>
              </a:pPr>
              <a:t>1/5/2023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13CE82-7117-4891-B558-D1CF2158FB3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992098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BA6665-6F14-4A40-AA68-DF2D49F6DD20}" type="datetimeFigureOut">
              <a:rPr lang="en-US" altLang="en-US" smtClean="0"/>
              <a:pPr>
                <a:defRPr/>
              </a:pPr>
              <a:t>1/5/2023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2395EA-16E2-485C-BE10-C0C30288CF7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237168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CFB527-45A3-4F1F-BC31-990A27D35CF4}" type="datetimeFigureOut">
              <a:rPr lang="en-US" altLang="en-US" smtClean="0"/>
              <a:pPr>
                <a:defRPr/>
              </a:pPr>
              <a:t>1/5/2023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52998-14DA-4294-9809-0671B108F66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462675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20C454-2AF4-4F56-B134-15CC2881F322}" type="datetimeFigureOut">
              <a:rPr lang="en-US" altLang="en-US" smtClean="0"/>
              <a:pPr>
                <a:defRPr/>
              </a:pPr>
              <a:t>1/5/2023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1FBE90-576A-469F-BB2C-57A27D47CF3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588089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80C9C6-69CB-45B7-9979-6C3E38187D0A}" type="datetimeFigureOut">
              <a:rPr lang="en-US" altLang="en-US" smtClean="0"/>
              <a:pPr>
                <a:defRPr/>
              </a:pPr>
              <a:t>1/5/2023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E9712-EA71-450B-AE72-6EC24D46A791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2874313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E0AD57-2794-4A43-BC3A-6D6DEE633501}" type="datetimeFigureOut">
              <a:rPr lang="en-US" altLang="en-US" smtClean="0"/>
              <a:pPr>
                <a:defRPr/>
              </a:pPr>
              <a:t>1/5/2023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9D0AA-CDC8-41BE-AFF7-7A9CB8C401D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42656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9D4D3F-EDC6-440C-ABD2-54996654AEC4}" type="datetimeFigureOut">
              <a:rPr lang="en-US" altLang="en-US" smtClean="0"/>
              <a:pPr>
                <a:defRPr/>
              </a:pPr>
              <a:t>1/5/2023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C68EAF-25D6-47A5-AF16-8E40A707229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3709647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15DA01-3A8D-4832-86F7-58BF2CA1F9C1}" type="datetimeFigureOut">
              <a:rPr lang="en-US" altLang="en-US" smtClean="0"/>
              <a:pPr>
                <a:defRPr/>
              </a:pPr>
              <a:t>1/5/2023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CA87E-87C4-451A-AA13-2FDE2706BB2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243769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313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 smtClean="0"/>
              <a:pPr>
                <a:defRPr/>
              </a:pPr>
              <a:t>2023/1/5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1328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  <p:sldLayoutId id="2147484034" r:id="rId12"/>
    <p:sldLayoutId id="2147484035" r:id="rId13"/>
  </p:sldLayoutIdLst>
  <p:transition spd="slow">
    <p:zoom dir="in"/>
    <p:sndAc>
      <p:stSnd>
        <p:snd r:embed="rId15" name="chimes.wav"/>
      </p:stSnd>
    </p:sndAc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7" Type="http://schemas.openxmlformats.org/officeDocument/2006/relationships/image" Target="../media/image44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3.png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2.jpeg"/><Relationship Id="rId5" Type="http://schemas.openxmlformats.org/officeDocument/2006/relationships/image" Target="../media/image51.jpeg"/><Relationship Id="rId4" Type="http://schemas.openxmlformats.org/officeDocument/2006/relationships/image" Target="../media/image50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jpeg"/><Relationship Id="rId4" Type="http://schemas.openxmlformats.org/officeDocument/2006/relationships/image" Target="../media/image6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6.jpeg"/><Relationship Id="rId4" Type="http://schemas.openxmlformats.org/officeDocument/2006/relationships/image" Target="../media/image6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9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3.jpeg"/><Relationship Id="rId5" Type="http://schemas.openxmlformats.org/officeDocument/2006/relationships/image" Target="../media/image72.jpeg"/><Relationship Id="rId4" Type="http://schemas.openxmlformats.org/officeDocument/2006/relationships/image" Target="../media/image71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jpeg"/><Relationship Id="rId4" Type="http://schemas.openxmlformats.org/officeDocument/2006/relationships/image" Target="../media/image7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-</a:t>
            </a:r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model is the best example of community participation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Md.Emdadul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Haque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National Consultant(HEU) .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M0HFW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479676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38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615677"/>
              </p:ext>
            </p:extLst>
          </p:nvPr>
        </p:nvGraphicFramePr>
        <p:xfrm>
          <a:off x="144439" y="1295400"/>
          <a:ext cx="8823562" cy="462379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10246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5.3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48</a:t>
                      </a:r>
                      <a:endParaRPr kumimoji="0" 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7.5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5.3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4343400" y="6026060"/>
            <a:ext cx="4611337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 World Bank 2018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9903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4982936" y="6341722"/>
            <a:ext cx="3627664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World Health Bulletin 2022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01930" y="8684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HR of different SEARC countries(Doctors , Nurses &amp; Midwives)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270AB4A-A350-4AE2-A5E3-4D20C1FC13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6310072"/>
              </p:ext>
            </p:extLst>
          </p:nvPr>
        </p:nvGraphicFramePr>
        <p:xfrm>
          <a:off x="840105" y="1410155"/>
          <a:ext cx="7543800" cy="454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9556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1063229"/>
            <a:ext cx="6172200" cy="762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2700" b="1" dirty="0"/>
              <a:t>A 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354115" y="2371725"/>
            <a:ext cx="2343150" cy="97155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2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200" b="1" dirty="0"/>
              <a:t>Maximum utilization of Govt.</a:t>
            </a:r>
          </a:p>
          <a:p>
            <a:pPr algn="ctr" eaLnBrk="0" hangingPunct="0"/>
            <a:r>
              <a:rPr lang="en-US" sz="1200" b="1" dirty="0"/>
              <a:t>resources with </a:t>
            </a:r>
          </a:p>
          <a:p>
            <a:pPr algn="ctr" eaLnBrk="0" hangingPunct="0"/>
            <a:r>
              <a:rPr lang="en-US" sz="1200" b="1" dirty="0"/>
              <a:t>honesty and sincerity.</a:t>
            </a:r>
          </a:p>
          <a:p>
            <a:pPr algn="ctr" eaLnBrk="0" hangingPunct="0"/>
            <a:endParaRPr lang="en-US" sz="12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354115" y="4686300"/>
            <a:ext cx="2400300" cy="914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200" b="1" dirty="0"/>
              <a:t>Providing Effective  services </a:t>
            </a:r>
          </a:p>
          <a:p>
            <a:pPr algn="ctr" eaLnBrk="0" hangingPunct="0"/>
            <a:r>
              <a:rPr lang="en-US" sz="1200" b="1" dirty="0"/>
              <a:t>through improved </a:t>
            </a:r>
          </a:p>
          <a:p>
            <a:pPr algn="ctr" eaLnBrk="0" hangingPunct="0"/>
            <a:r>
              <a:rPr lang="en-US" sz="1200" b="1" dirty="0"/>
              <a:t>management system.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2228850" y="2686050"/>
            <a:ext cx="1885950" cy="3429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2150269" y="4972050"/>
            <a:ext cx="1828800" cy="3429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354115" y="3571875"/>
            <a:ext cx="2400300" cy="914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200" b="1" dirty="0"/>
              <a:t>Integrated approach of </a:t>
            </a:r>
          </a:p>
          <a:p>
            <a:pPr algn="ctr" eaLnBrk="0" hangingPunct="0"/>
            <a:r>
              <a:rPr lang="en-US" sz="1200" b="1" dirty="0"/>
              <a:t>Administration, Community</a:t>
            </a:r>
          </a:p>
          <a:p>
            <a:pPr algn="ctr" eaLnBrk="0" hangingPunct="0"/>
            <a:r>
              <a:rPr lang="en-US" sz="1200" b="1" dirty="0"/>
              <a:t>Leaders 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2139553" y="3857625"/>
            <a:ext cx="1828800" cy="3429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2102807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23338902_357949735289465_2022138112910056218_n.jpg"/>
          <p:cNvPicPr>
            <a:picLocks noChangeAspect="1"/>
          </p:cNvPicPr>
          <p:nvPr/>
        </p:nvPicPr>
        <p:blipFill>
          <a:blip r:embed="rId2"/>
          <a:srcRect l="14445" r="7778" b="33704"/>
          <a:stretch>
            <a:fillRect/>
          </a:stretch>
        </p:blipFill>
        <p:spPr>
          <a:xfrm>
            <a:off x="0" y="3711212"/>
            <a:ext cx="2743200" cy="2289538"/>
          </a:xfrm>
          <a:prstGeom prst="rect">
            <a:avLst/>
          </a:prstGeom>
        </p:spPr>
      </p:pic>
      <p:pic>
        <p:nvPicPr>
          <p:cNvPr id="8" name="Picture 7" descr="123987180_358016088633264_7440447193674186206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0200"/>
            <a:ext cx="9144000" cy="2146102"/>
          </a:xfrm>
          <a:prstGeom prst="rect">
            <a:avLst/>
          </a:prstGeom>
        </p:spPr>
      </p:pic>
      <p:pic>
        <p:nvPicPr>
          <p:cNvPr id="9" name="Picture 8" descr="124981287_284963982782478_7865259408336761610_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1" y="3714750"/>
            <a:ext cx="2967777" cy="2286000"/>
          </a:xfrm>
          <a:prstGeom prst="rect">
            <a:avLst/>
          </a:prstGeom>
        </p:spPr>
      </p:pic>
      <p:pic>
        <p:nvPicPr>
          <p:cNvPr id="10" name="Picture 9" descr="124577046_390549818733675_5808906727791639712_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733800"/>
            <a:ext cx="3429000" cy="2266950"/>
          </a:xfrm>
          <a:prstGeom prst="rect">
            <a:avLst/>
          </a:prstGeom>
        </p:spPr>
      </p:pic>
      <p:sp>
        <p:nvSpPr>
          <p:cNvPr id="11" name="Text Placeholder 9"/>
          <p:cNvSpPr txBox="1">
            <a:spLocks/>
          </p:cNvSpPr>
          <p:nvPr/>
        </p:nvSpPr>
        <p:spPr>
          <a:xfrm>
            <a:off x="1676400" y="857250"/>
            <a:ext cx="6172200" cy="5905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200" b="1" dirty="0">
                <a:latin typeface="Berlin Sans FB" pitchFamily="34" charset="0"/>
              </a:rPr>
              <a:t>Beautification of the Premises</a:t>
            </a:r>
          </a:p>
        </p:txBody>
      </p:sp>
    </p:spTree>
    <p:extLst>
      <p:ext uri="{BB962C8B-B14F-4D97-AF65-F5344CB8AC3E}">
        <p14:creationId xmlns:p14="http://schemas.microsoft.com/office/powerpoint/2010/main" val="161887455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7FD4-3840-4ED5-B018-64CF93AE7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84187"/>
            <a:ext cx="7772400" cy="1470025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096A1-20AF-4D53-9DAD-79F3AEA38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133600"/>
            <a:ext cx="8839200" cy="4572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277CD99-8A87-4218-8C22-92C673BFD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3349"/>
              </p:ext>
            </p:extLst>
          </p:nvPr>
        </p:nvGraphicFramePr>
        <p:xfrm>
          <a:off x="324394" y="2264092"/>
          <a:ext cx="8229600" cy="4109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606">
                  <a:extLst>
                    <a:ext uri="{9D8B030D-6E8A-4147-A177-3AD203B41FA5}">
                      <a16:colId xmlns:a16="http://schemas.microsoft.com/office/drawing/2014/main" val="324917256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59093571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06574305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6791793"/>
                    </a:ext>
                  </a:extLst>
                </a:gridCol>
                <a:gridCol w="1162594">
                  <a:extLst>
                    <a:ext uri="{9D8B030D-6E8A-4147-A177-3AD203B41FA5}">
                      <a16:colId xmlns:a16="http://schemas.microsoft.com/office/drawing/2014/main" val="3078791361"/>
                    </a:ext>
                  </a:extLst>
                </a:gridCol>
              </a:tblGrid>
              <a:tr h="498318">
                <a:tc>
                  <a:txBody>
                    <a:bodyPr/>
                    <a:lstStyle/>
                    <a:p>
                      <a:r>
                        <a:rPr lang="en-IN" dirty="0"/>
                        <a:t>  Criteria  of C-J  Model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Best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good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Weak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547838"/>
                  </a:ext>
                </a:extLst>
              </a:tr>
              <a:tr h="705483">
                <a:tc>
                  <a:txBody>
                    <a:bodyPr/>
                    <a:lstStyle/>
                    <a:p>
                      <a:r>
                        <a:rPr lang="en-IN" dirty="0"/>
                        <a:t> 1.Cycle stand close to the main gate.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564194"/>
                  </a:ext>
                </a:extLst>
              </a:tr>
              <a:tr h="498318">
                <a:tc>
                  <a:txBody>
                    <a:bodyPr/>
                    <a:lstStyle/>
                    <a:p>
                      <a:r>
                        <a:rPr lang="en-IN" dirty="0"/>
                        <a:t>2.Health Education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85467"/>
                  </a:ext>
                </a:extLst>
              </a:tr>
              <a:tr h="705483">
                <a:tc>
                  <a:txBody>
                    <a:bodyPr/>
                    <a:lstStyle/>
                    <a:p>
                      <a:r>
                        <a:rPr lang="en-IN" dirty="0"/>
                        <a:t>3.Cleanliness &amp;  beautification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917439"/>
                  </a:ext>
                </a:extLst>
              </a:tr>
              <a:tr h="705483">
                <a:tc>
                  <a:txBody>
                    <a:bodyPr/>
                    <a:lstStyle/>
                    <a:p>
                      <a:r>
                        <a:rPr lang="en-IN" dirty="0"/>
                        <a:t>4.Separation of patients  in out door &amp; indoor.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54509"/>
                  </a:ext>
                </a:extLst>
              </a:tr>
              <a:tr h="498318">
                <a:tc>
                  <a:txBody>
                    <a:bodyPr/>
                    <a:lstStyle/>
                    <a:p>
                      <a:r>
                        <a:rPr lang="en-IN" dirty="0"/>
                        <a:t>5.</a:t>
                      </a:r>
                      <a:r>
                        <a:rPr lang="en-IN" baseline="0" dirty="0"/>
                        <a:t>B</a:t>
                      </a:r>
                      <a:r>
                        <a:rPr lang="en-IN" dirty="0"/>
                        <a:t>lood  </a:t>
                      </a:r>
                      <a:r>
                        <a:rPr lang="en-IN" dirty="0" err="1"/>
                        <a:t>doner</a:t>
                      </a:r>
                      <a:r>
                        <a:rPr lang="en-IN" dirty="0"/>
                        <a:t> list with  24/7 B.T facility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128657"/>
                  </a:ext>
                </a:extLst>
              </a:tr>
              <a:tr h="49831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6.Birth- death recording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90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32907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2B6A7-25DF-4DF2-A52E-F4D228D61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1470025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17C04-BE57-4892-A83B-DEC08F71F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905000"/>
            <a:ext cx="8305800" cy="42672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B48B1AD-9122-4F00-8177-DE2A5E86240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698624"/>
          <a:ext cx="8305800" cy="4687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22405818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611971279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70946733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9912386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007281843"/>
                    </a:ext>
                  </a:extLst>
                </a:gridCol>
              </a:tblGrid>
              <a:tr h="578247">
                <a:tc>
                  <a:txBody>
                    <a:bodyPr/>
                    <a:lstStyle/>
                    <a:p>
                      <a:r>
                        <a:rPr lang="en-IN" sz="1800" dirty="0"/>
                        <a:t>Criteria  of C-J  Model.</a:t>
                      </a:r>
                      <a:endParaRPr lang="en-GB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Good</a:t>
                      </a:r>
                      <a:endParaRPr lang="en-GB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Week</a:t>
                      </a:r>
                      <a:endParaRPr lang="en-GB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846444"/>
                  </a:ext>
                </a:extLst>
              </a:tr>
              <a:tr h="578247">
                <a:tc>
                  <a:txBody>
                    <a:bodyPr/>
                    <a:lstStyle/>
                    <a:p>
                      <a:r>
                        <a:rPr lang="en-IN" sz="1800" dirty="0"/>
                        <a:t>7. Reception</a:t>
                      </a:r>
                      <a:r>
                        <a:rPr lang="en-IN" sz="1800" baseline="0" dirty="0"/>
                        <a:t> Desk</a:t>
                      </a:r>
                      <a:endParaRPr lang="en-GB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833271"/>
                  </a:ext>
                </a:extLst>
              </a:tr>
              <a:tr h="578247">
                <a:tc>
                  <a:txBody>
                    <a:bodyPr/>
                    <a:lstStyle/>
                    <a:p>
                      <a:r>
                        <a:rPr lang="en-IN" sz="1800" dirty="0"/>
                        <a:t>8 . Developed Emergency</a:t>
                      </a:r>
                      <a:r>
                        <a:rPr lang="en-IN" sz="1800" baseline="0" dirty="0"/>
                        <a:t>  Dept.</a:t>
                      </a:r>
                      <a:endParaRPr lang="en-GB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582631"/>
                  </a:ext>
                </a:extLst>
              </a:tr>
              <a:tr h="578247">
                <a:tc>
                  <a:txBody>
                    <a:bodyPr/>
                    <a:lstStyle/>
                    <a:p>
                      <a:r>
                        <a:rPr lang="en-IN" sz="1800" dirty="0"/>
                        <a:t>9. 5S</a:t>
                      </a:r>
                      <a:r>
                        <a:rPr lang="en-IN" sz="1800" baseline="0" dirty="0"/>
                        <a:t> –KAIZEN implementation.</a:t>
                      </a:r>
                      <a:endParaRPr lang="en-GB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040395"/>
                  </a:ext>
                </a:extLst>
              </a:tr>
              <a:tr h="578247">
                <a:tc>
                  <a:txBody>
                    <a:bodyPr/>
                    <a:lstStyle/>
                    <a:p>
                      <a:r>
                        <a:rPr lang="en-IN" sz="1800" dirty="0"/>
                        <a:t>10. Community</a:t>
                      </a:r>
                      <a:r>
                        <a:rPr lang="en-IN" sz="1800" baseline="0" dirty="0"/>
                        <a:t> Participation.</a:t>
                      </a:r>
                      <a:endParaRPr lang="en-GB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375197"/>
                  </a:ext>
                </a:extLst>
              </a:tr>
              <a:tr h="578247">
                <a:tc>
                  <a:txBody>
                    <a:bodyPr/>
                    <a:lstStyle/>
                    <a:p>
                      <a:r>
                        <a:rPr lang="en-IN" sz="1800" dirty="0"/>
                        <a:t>11. Hospital</a:t>
                      </a:r>
                      <a:r>
                        <a:rPr lang="en-IN" sz="1800" baseline="0" dirty="0"/>
                        <a:t> activities Display</a:t>
                      </a:r>
                      <a:endParaRPr lang="en-IN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2468"/>
                  </a:ext>
                </a:extLst>
              </a:tr>
              <a:tr h="578247">
                <a:tc>
                  <a:txBody>
                    <a:bodyPr/>
                    <a:lstStyle/>
                    <a:p>
                      <a:r>
                        <a:rPr lang="en-GB" sz="1800" dirty="0"/>
                        <a:t>12. Corner based service.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567929"/>
                  </a:ext>
                </a:extLst>
              </a:tr>
              <a:tr h="578247">
                <a:tc>
                  <a:txBody>
                    <a:bodyPr/>
                    <a:lstStyle/>
                    <a:p>
                      <a:r>
                        <a:rPr lang="en-IN" sz="1800" dirty="0"/>
                        <a:t>13.Cash counter for receiving Govt. money.</a:t>
                      </a:r>
                      <a:endParaRPr lang="en-GB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535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515318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74C5C-EB62-4DB3-B99C-71C341555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304799"/>
            <a:ext cx="8077201" cy="1288869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CDC4A-F424-4A38-B3B0-9D27479A2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2057400"/>
            <a:ext cx="8077200" cy="44958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B92E863-F8F5-4CF1-B778-581E34C37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949089"/>
              </p:ext>
            </p:extLst>
          </p:nvPr>
        </p:nvGraphicFramePr>
        <p:xfrm>
          <a:off x="152400" y="2057400"/>
          <a:ext cx="8534400" cy="4724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235456119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64712403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495356835"/>
                    </a:ext>
                  </a:extLst>
                </a:gridCol>
                <a:gridCol w="823317">
                  <a:extLst>
                    <a:ext uri="{9D8B030D-6E8A-4147-A177-3AD203B41FA5}">
                      <a16:colId xmlns:a16="http://schemas.microsoft.com/office/drawing/2014/main" val="3677972066"/>
                    </a:ext>
                  </a:extLst>
                </a:gridCol>
                <a:gridCol w="1081684">
                  <a:extLst>
                    <a:ext uri="{9D8B030D-6E8A-4147-A177-3AD203B41FA5}">
                      <a16:colId xmlns:a16="http://schemas.microsoft.com/office/drawing/2014/main" val="968595212"/>
                    </a:ext>
                  </a:extLst>
                </a:gridCol>
              </a:tblGrid>
              <a:tr h="550821">
                <a:tc>
                  <a:txBody>
                    <a:bodyPr/>
                    <a:lstStyle/>
                    <a:p>
                      <a:r>
                        <a:rPr lang="en-IN" sz="1800" dirty="0"/>
                        <a:t>Criteria  of C-J   Model.</a:t>
                      </a:r>
                      <a:endParaRPr lang="en-GB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Good</a:t>
                      </a:r>
                      <a:endParaRPr lang="en-GB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Week</a:t>
                      </a:r>
                      <a:endParaRPr lang="en-GB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35983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14.Devolped</a:t>
                      </a:r>
                      <a:r>
                        <a:rPr lang="en-IN" sz="1800" baseline="0" dirty="0"/>
                        <a:t> maternal health/labour word.</a:t>
                      </a:r>
                      <a:endParaRPr lang="en-GB" sz="18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485239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15.Devolped</a:t>
                      </a:r>
                      <a:r>
                        <a:rPr lang="en-IN" sz="1800" baseline="0" dirty="0"/>
                        <a:t> paediatric health</a:t>
                      </a:r>
                      <a:endParaRPr lang="en-GB" sz="18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654530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 16.Position in HSS score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04961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17. Power point Presentation &amp;Video on UHC</a:t>
                      </a:r>
                      <a:endParaRPr lang="en-GB" sz="18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69227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18.Knowledge about 7</a:t>
                      </a:r>
                      <a:r>
                        <a:rPr lang="en-GB" sz="1800" baseline="30000" dirty="0"/>
                        <a:t>th</a:t>
                      </a:r>
                      <a:r>
                        <a:rPr lang="en-GB" sz="1800" dirty="0"/>
                        <a:t> Five Year plan &amp;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      SDG.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09765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r>
                        <a:rPr lang="en-US" dirty="0"/>
                        <a:t>19.Zero-Tollarance on corruption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227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67296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0" y="381000"/>
            <a:ext cx="7543800" cy="13906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eaLnBrk="1" hangingPunct="1"/>
            <a:r>
              <a:rPr lang="en-US" sz="3600" b="1" dirty="0"/>
              <a:t>Background History  of </a:t>
            </a:r>
            <a:r>
              <a:rPr lang="en-US" sz="3600" b="1" dirty="0" err="1"/>
              <a:t>Chowgacha</a:t>
            </a:r>
            <a:r>
              <a:rPr lang="en-US" sz="3600" b="1" dirty="0"/>
              <a:t> Health </a:t>
            </a:r>
            <a:r>
              <a:rPr lang="en-US" sz="3600" b="1" dirty="0" err="1"/>
              <a:t>Complex,Model</a:t>
            </a:r>
            <a:endParaRPr lang="en-US" sz="3600" b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71650"/>
            <a:ext cx="8001000" cy="510812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1800" b="1" dirty="0"/>
              <a:t>       *</a:t>
            </a:r>
            <a:r>
              <a:rPr lang="en-US" sz="1800" b="1" dirty="0" err="1"/>
              <a:t>Choowgacha</a:t>
            </a:r>
            <a:r>
              <a:rPr lang="en-US" sz="1800" b="1" dirty="0"/>
              <a:t> UHC Model  starts in 1985 and effectively in Feb. 1996. 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endParaRPr lang="en-US" sz="1800" b="1" dirty="0"/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1800" b="1" u="sng" dirty="0"/>
              <a:t>         *From January 1995 to 1997 </a:t>
            </a:r>
            <a:r>
              <a:rPr lang="en-US" sz="1800" b="1" u="sng" dirty="0">
                <a:solidFill>
                  <a:srgbClr val="0000FF"/>
                </a:solidFill>
              </a:rPr>
              <a:t>JICA</a:t>
            </a:r>
            <a:r>
              <a:rPr lang="en-US" sz="1800" b="1" u="sng" dirty="0"/>
              <a:t>  by Frontline MCH Program to  by giving technical and logistic supports.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endParaRPr lang="en-US" sz="1800" b="1" u="sng" dirty="0"/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1800" b="1" u="sng" dirty="0"/>
              <a:t>        * From 1998 </a:t>
            </a:r>
            <a:r>
              <a:rPr lang="en-US" sz="1800" b="1" u="sng" dirty="0">
                <a:solidFill>
                  <a:srgbClr val="0000FF"/>
                </a:solidFill>
              </a:rPr>
              <a:t>DGHS</a:t>
            </a:r>
            <a:r>
              <a:rPr lang="en-US" sz="1800" b="1" u="sng" dirty="0"/>
              <a:t> &amp; </a:t>
            </a:r>
            <a:r>
              <a:rPr lang="en-US" sz="1800" b="1" u="sng" dirty="0">
                <a:solidFill>
                  <a:srgbClr val="0000FF"/>
                </a:solidFill>
              </a:rPr>
              <a:t>UNICEF</a:t>
            </a:r>
            <a:r>
              <a:rPr lang="en-US" sz="1800" b="1" u="sng" dirty="0"/>
              <a:t> have continued the support.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endParaRPr lang="en-US" sz="1800" b="1" u="sng" dirty="0"/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endParaRPr lang="en-US" sz="1800" b="1" dirty="0"/>
          </a:p>
          <a:p>
            <a:pPr marL="0" indent="0">
              <a:spcBef>
                <a:spcPts val="450"/>
              </a:spcBef>
              <a:buClr>
                <a:schemeClr val="tx1"/>
              </a:buClr>
              <a:buNone/>
            </a:pPr>
            <a:r>
              <a:rPr lang="en-US" sz="1800" b="1" dirty="0">
                <a:solidFill>
                  <a:srgbClr val="0000FF"/>
                </a:solidFill>
              </a:rPr>
              <a:t>&lt;4 Special activities&gt;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1800" b="1" dirty="0">
                <a:solidFill>
                  <a:srgbClr val="0000FF"/>
                </a:solidFill>
              </a:rPr>
              <a:t>ANC-Corner</a:t>
            </a:r>
            <a:endParaRPr lang="en-US" sz="1800" b="1" dirty="0"/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1800" b="1" dirty="0">
                <a:solidFill>
                  <a:srgbClr val="0000FF"/>
                </a:solidFill>
              </a:rPr>
              <a:t>Basic EOC service</a:t>
            </a:r>
            <a:r>
              <a:rPr lang="en-US" sz="1800" b="1" dirty="0"/>
              <a:t>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1800" b="1" dirty="0">
                <a:solidFill>
                  <a:srgbClr val="0000FF"/>
                </a:solidFill>
              </a:rPr>
              <a:t>Under 5 corner for under 5 children</a:t>
            </a:r>
            <a:r>
              <a:rPr lang="en-US" sz="1800" b="1" dirty="0"/>
              <a:t>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1800" b="1" dirty="0">
                <a:solidFill>
                  <a:srgbClr val="0000FF"/>
                </a:solidFill>
              </a:rPr>
              <a:t>Monthly birth and death record</a:t>
            </a:r>
            <a:endParaRPr lang="en-US" sz="1800" b="1" dirty="0"/>
          </a:p>
          <a:p>
            <a:pPr marL="0" indent="0">
              <a:lnSpc>
                <a:spcPct val="80000"/>
              </a:lnSpc>
              <a:buNone/>
            </a:pPr>
            <a:r>
              <a:rPr lang="en-US" sz="1350" b="1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16764012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7" y="3794095"/>
            <a:ext cx="3248553" cy="2193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1390936" y="857252"/>
            <a:ext cx="6324600" cy="507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700" b="1" dirty="0">
                <a:solidFill>
                  <a:schemeClr val="tx1"/>
                </a:solidFill>
              </a:rPr>
              <a:t>CHOWGACHA UHC-Through the Ages</a:t>
            </a:r>
            <a:endParaRPr lang="en-US" sz="21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6801" y="1586446"/>
            <a:ext cx="3072205" cy="2071154"/>
          </a:xfrm>
          <a:prstGeom prst="rect">
            <a:avLst/>
          </a:prstGeom>
          <a:blipFill dpi="0" rotWithShape="1">
            <a:blip r:embed="rId5" cstate="print"/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233" y="3758665"/>
            <a:ext cx="3072205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066800" y="1600200"/>
            <a:ext cx="956196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Old UHC</a:t>
            </a: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066801" y="3733800"/>
            <a:ext cx="1427535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50-bedded UHC</a:t>
            </a: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6781800" y="3810000"/>
            <a:ext cx="1311578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31-bedded UHC</a:t>
            </a:r>
            <a:endParaRPr lang="en-US" sz="1350" dirty="0">
              <a:solidFill>
                <a:schemeClr val="tx1"/>
              </a:solidFill>
            </a:endParaRPr>
          </a:p>
        </p:txBody>
      </p:sp>
      <p:pic>
        <p:nvPicPr>
          <p:cNvPr id="1026" name="Picture 2" descr="E:\$L_AG\Final\IMG-20201113-WA000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6" y="1586447"/>
            <a:ext cx="3286014" cy="204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097197" y="1581009"/>
            <a:ext cx="933736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Old UHC</a:t>
            </a:r>
            <a:endParaRPr lang="en-US" sz="13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73780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ubtitle 2"/>
          <p:cNvSpPr>
            <a:spLocks noGrp="1"/>
          </p:cNvSpPr>
          <p:nvPr/>
        </p:nvSpPr>
        <p:spPr bwMode="auto">
          <a:xfrm>
            <a:off x="5110716" y="1295401"/>
            <a:ext cx="3733800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Blood donation program stared in 16 December, 1996 in </a:t>
            </a:r>
            <a:r>
              <a:rPr lang="en-US" dirty="0" err="1">
                <a:latin typeface="Calibri" pitchFamily="34" charset="0"/>
              </a:rPr>
              <a:t>Chowgacha</a:t>
            </a:r>
            <a:r>
              <a:rPr lang="en-US" dirty="0">
                <a:latin typeface="Calibri" pitchFamily="34" charset="0"/>
              </a:rPr>
              <a:t> UHC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37891" name="Picture 4" descr="H:\D. S. Islam\ee.jpg"/>
          <p:cNvPicPr>
            <a:picLocks noGrp="1"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49862"/>
            <a:ext cx="4781331" cy="3151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5" descr="H:\D. S. Islam\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710320"/>
            <a:ext cx="4882118" cy="3147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Subtitle 2"/>
          <p:cNvSpPr txBox="1">
            <a:spLocks/>
          </p:cNvSpPr>
          <p:nvPr/>
        </p:nvSpPr>
        <p:spPr bwMode="auto">
          <a:xfrm>
            <a:off x="0" y="4648200"/>
            <a:ext cx="4267200" cy="1756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on ‘Importance of birth &amp; death registration and prevention of early marriage’ at </a:t>
            </a:r>
            <a:r>
              <a:rPr lang="en-US" dirty="0" err="1">
                <a:latin typeface="Calibri" pitchFamily="34" charset="0"/>
              </a:rPr>
              <a:t>Chowgacha</a:t>
            </a:r>
            <a:r>
              <a:rPr lang="en-US" dirty="0">
                <a:latin typeface="Calibri" pitchFamily="34" charset="0"/>
              </a:rPr>
              <a:t> Degree College in 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guest. </a:t>
            </a:r>
            <a:endParaRPr lang="en-GB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046306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389445" y="2000675"/>
            <a:ext cx="3623930" cy="513638"/>
          </a:xfrm>
        </p:spPr>
        <p:txBody>
          <a:bodyPr>
            <a:normAutofit fontScale="77500" lnSpcReduction="20000"/>
          </a:bodyPr>
          <a:lstStyle/>
          <a:p>
            <a:r>
              <a:rPr lang="en-US" sz="2100" dirty="0"/>
              <a:t>Cycle stand near the entrance</a:t>
            </a:r>
            <a:r>
              <a:rPr lang="en-US" dirty="0"/>
              <a:t>	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quarter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491885"/>
            <a:ext cx="4127500" cy="2800350"/>
          </a:xfrm>
        </p:spPr>
      </p:pic>
      <p:sp>
        <p:nvSpPr>
          <p:cNvPr id="9" name="Rectangle 8"/>
          <p:cNvSpPr/>
          <p:nvPr/>
        </p:nvSpPr>
        <p:spPr>
          <a:xfrm>
            <a:off x="1295400" y="5107209"/>
            <a:ext cx="4724400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/>
              <a:t>“</a:t>
            </a:r>
            <a:r>
              <a:rPr lang="en-US" sz="1700" b="1" dirty="0" err="1"/>
              <a:t>Pushti</a:t>
            </a:r>
            <a:r>
              <a:rPr lang="en-US" sz="1700" b="1" dirty="0"/>
              <a:t> Tray” – Nutritional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9800" y="1046013"/>
            <a:ext cx="601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Innovations of Chowgacha Health Complex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1" y="3549825"/>
            <a:ext cx="3962399" cy="245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11548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3276600" y="2819400"/>
            <a:ext cx="2592572" cy="586446"/>
          </a:xfrm>
        </p:spPr>
        <p:txBody>
          <a:bodyPr>
            <a:normAutofit/>
          </a:bodyPr>
          <a:lstStyle/>
          <a:p>
            <a:pPr algn="ctr"/>
            <a:r>
              <a:rPr lang="en-US" sz="2100" dirty="0"/>
              <a:t>Citizen Charter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5" t="3481" r="11055" b="27102"/>
          <a:stretch/>
        </p:blipFill>
        <p:spPr>
          <a:xfrm>
            <a:off x="12405" y="838200"/>
            <a:ext cx="3441700" cy="516255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6" t="4074" b="23333"/>
          <a:stretch/>
        </p:blipFill>
        <p:spPr>
          <a:xfrm>
            <a:off x="5715000" y="846618"/>
            <a:ext cx="3429000" cy="515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607545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$L_AG\Final\DSC0558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0" y="990600"/>
            <a:ext cx="3938838" cy="393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9"/>
          <p:cNvSpPr>
            <a:spLocks noGrp="1"/>
          </p:cNvSpPr>
          <p:nvPr>
            <p:ph type="body" idx="1"/>
          </p:nvPr>
        </p:nvSpPr>
        <p:spPr>
          <a:xfrm>
            <a:off x="4775857" y="1285910"/>
            <a:ext cx="3962400" cy="471487"/>
          </a:xfrm>
        </p:spPr>
        <p:txBody>
          <a:bodyPr>
            <a:noAutofit/>
          </a:bodyPr>
          <a:lstStyle/>
          <a:p>
            <a:pPr algn="ctr"/>
            <a:r>
              <a:rPr lang="en-US" sz="1800" dirty="0" err="1"/>
              <a:t>Labour</a:t>
            </a:r>
            <a:r>
              <a:rPr lang="en-US" sz="1800" dirty="0"/>
              <a:t> Ward  with 41=(11+30) beds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4114800" y="1314420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</a:p>
        </p:txBody>
      </p:sp>
      <p:pic>
        <p:nvPicPr>
          <p:cNvPr id="1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072" y="3062177"/>
            <a:ext cx="3842671" cy="3795823"/>
          </a:xfrm>
        </p:spPr>
      </p:pic>
      <p:sp>
        <p:nvSpPr>
          <p:cNvPr id="16" name="Text Placeholder 9"/>
          <p:cNvSpPr>
            <a:spLocks noGrp="1"/>
          </p:cNvSpPr>
          <p:nvPr>
            <p:ph type="body" idx="1"/>
          </p:nvPr>
        </p:nvSpPr>
        <p:spPr>
          <a:xfrm>
            <a:off x="1066800" y="5791200"/>
            <a:ext cx="3972508" cy="471487"/>
          </a:xfrm>
        </p:spPr>
        <p:txBody>
          <a:bodyPr>
            <a:noAutofit/>
          </a:bodyPr>
          <a:lstStyle/>
          <a:p>
            <a:pPr algn="ctr"/>
            <a:r>
              <a:rPr lang="en-US" sz="2000" dirty="0"/>
              <a:t>Rest room for pregnant mothers</a:t>
            </a:r>
          </a:p>
        </p:txBody>
      </p:sp>
    </p:spTree>
    <p:extLst>
      <p:ext uri="{BB962C8B-B14F-4D97-AF65-F5344CB8AC3E}">
        <p14:creationId xmlns:p14="http://schemas.microsoft.com/office/powerpoint/2010/main" val="1983761050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7" y="676563"/>
            <a:ext cx="3916795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804" y="672014"/>
            <a:ext cx="4156364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8" y="3798454"/>
            <a:ext cx="3916795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032" y="3798454"/>
            <a:ext cx="4162136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47633" y="226325"/>
            <a:ext cx="6705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Community Participation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36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1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31748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773531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/>
              <a:t>Upazila Health  Complex</a:t>
            </a:r>
            <a:br>
              <a:rPr lang="en-US" sz="3200" b="1"/>
            </a:br>
            <a:r>
              <a:rPr lang="en-US" sz="2000" b="1"/>
              <a:t>CHOWGACHA , JESSORE.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/>
          </a:p>
          <a:p>
            <a:pPr algn="ctr">
              <a:buFontTx/>
              <a:buNone/>
            </a:pPr>
            <a:endParaRPr lang="en-US" sz="2800"/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43840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</p:spTree>
    <p:extLst>
      <p:ext uri="{BB962C8B-B14F-4D97-AF65-F5344CB8AC3E}">
        <p14:creationId xmlns:p14="http://schemas.microsoft.com/office/powerpoint/2010/main" val="2323327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/>
              <a:t>TOTAL</a:t>
            </a:r>
            <a:r>
              <a:rPr lang="en-US" dirty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sz="2000" dirty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8"/>
          <p:cNvSpPr>
            <a:spLocks noChangeArrowheads="1"/>
          </p:cNvSpPr>
          <p:nvPr/>
        </p:nvSpPr>
        <p:spPr bwMode="auto">
          <a:xfrm>
            <a:off x="228600" y="4168568"/>
            <a:ext cx="4724400" cy="1474509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400" b="1" dirty="0"/>
              <a:t>Secretary of MOHFW A.K.M. </a:t>
            </a:r>
            <a:r>
              <a:rPr lang="en-US" altLang="en-US" sz="1400" b="1" dirty="0" err="1"/>
              <a:t>Zaforullah</a:t>
            </a:r>
            <a:r>
              <a:rPr lang="en-US" altLang="en-US" sz="1400" b="1" dirty="0"/>
              <a:t> Khan </a:t>
            </a:r>
          </a:p>
          <a:p>
            <a:pPr algn="ctr"/>
            <a:r>
              <a:rPr lang="en-US" altLang="en-US" sz="1400" b="1" dirty="0"/>
              <a:t>declared “</a:t>
            </a:r>
            <a:r>
              <a:rPr lang="en-US" altLang="en-US" sz="1400" b="1" dirty="0" err="1"/>
              <a:t>Chowgacha</a:t>
            </a:r>
            <a:r>
              <a:rPr lang="en-US" altLang="en-US" sz="1400" b="1" dirty="0"/>
              <a:t> UHC model” in DSF</a:t>
            </a:r>
          </a:p>
          <a:p>
            <a:pPr algn="ctr"/>
            <a:r>
              <a:rPr lang="en-US" altLang="en-US" sz="1400" b="1" dirty="0"/>
              <a:t> voucher distribution ceremony on 20 June-2008</a:t>
            </a:r>
          </a:p>
        </p:txBody>
      </p:sp>
      <p:pic>
        <p:nvPicPr>
          <p:cNvPr id="13315" name="Picture 4" descr="IMGP238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652472"/>
            <a:ext cx="3651324" cy="3205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811358" y="1295400"/>
            <a:ext cx="4337124" cy="1730895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400" b="1" dirty="0"/>
              <a:t>Honorable Health Minister Prof </a:t>
            </a:r>
            <a:r>
              <a:rPr lang="en-US" sz="1400" b="1" dirty="0">
                <a:latin typeface="+mn-lt"/>
              </a:rPr>
              <a:t>Dr. </a:t>
            </a:r>
            <a:r>
              <a:rPr lang="en-US" sz="1400" b="1" dirty="0" err="1">
                <a:latin typeface="+mn-lt"/>
              </a:rPr>
              <a:t>Ruhul</a:t>
            </a:r>
            <a:r>
              <a:rPr lang="en-US" sz="1400" b="1" dirty="0">
                <a:latin typeface="+mn-lt"/>
              </a:rPr>
              <a:t> </a:t>
            </a:r>
            <a:r>
              <a:rPr lang="en-US" sz="1400" b="1" dirty="0" err="1">
                <a:latin typeface="+mn-lt"/>
              </a:rPr>
              <a:t>Haque</a:t>
            </a:r>
            <a:endParaRPr lang="en-US" sz="1400" b="1" dirty="0">
              <a:latin typeface="+mn-lt"/>
            </a:endParaRPr>
          </a:p>
          <a:p>
            <a:pPr algn="ctr"/>
            <a:r>
              <a:rPr lang="en-US" sz="1400" b="1" dirty="0">
                <a:latin typeface="+mn-lt"/>
              </a:rPr>
              <a:t> MP with WHO Representative handing over </a:t>
            </a:r>
          </a:p>
          <a:p>
            <a:pPr algn="ctr"/>
            <a:r>
              <a:rPr lang="en-US" sz="1400" b="1" dirty="0">
                <a:latin typeface="+mn-lt"/>
              </a:rPr>
              <a:t>money and gift of voucher scheme of </a:t>
            </a:r>
            <a:r>
              <a:rPr lang="en-US" sz="1400" b="1" dirty="0"/>
              <a:t>DSF</a:t>
            </a:r>
            <a:endParaRPr lang="en-US" altLang="en-US" sz="1400" b="1" dirty="0"/>
          </a:p>
        </p:txBody>
      </p:sp>
      <p:pic>
        <p:nvPicPr>
          <p:cNvPr id="6" name="Picture 4" descr="Razzak_Remove (Mama)"/>
          <p:cNvPicPr>
            <a:picLocks noGrp="1" noChangeAspect="1" noChangeArrowheads="1"/>
          </p:cNvPicPr>
          <p:nvPr>
            <p:ph type="body" sz="half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038004"/>
            <a:ext cx="3790749" cy="2837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371600" y="0"/>
            <a:ext cx="62156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Visit by Dignitaries – UHC Chowgacha</a:t>
            </a:r>
          </a:p>
        </p:txBody>
      </p:sp>
      <p:sp>
        <p:nvSpPr>
          <p:cNvPr id="8" name="Left Arrow 7"/>
          <p:cNvSpPr/>
          <p:nvPr/>
        </p:nvSpPr>
        <p:spPr>
          <a:xfrm>
            <a:off x="4113545" y="1717871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Left Arrow 9"/>
          <p:cNvSpPr/>
          <p:nvPr/>
        </p:nvSpPr>
        <p:spPr>
          <a:xfrm rot="10800000">
            <a:off x="4546092" y="4684335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230255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416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-38100" y="0"/>
            <a:ext cx="9220200" cy="791029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Acheivement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UHC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4472" y="791028"/>
            <a:ext cx="9178471" cy="6066971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lnSpcReduction="10000"/>
          </a:bodyPr>
          <a:lstStyle/>
          <a:p>
            <a:pPr marL="0" indent="0" algn="just">
              <a:spcBef>
                <a:spcPts val="0"/>
              </a:spcBef>
              <a:buNone/>
              <a:defRPr/>
            </a:pPr>
            <a:endParaRPr lang="en-US" sz="2400" b="1" dirty="0"/>
          </a:p>
          <a:p>
            <a:pPr algn="just">
              <a:spcBef>
                <a:spcPts val="0"/>
              </a:spcBef>
              <a:defRPr/>
            </a:pPr>
            <a:endParaRPr lang="en-US" sz="2400" b="1" dirty="0"/>
          </a:p>
          <a:p>
            <a:pPr algn="just">
              <a:spcBef>
                <a:spcPts val="0"/>
              </a:spcBef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awarded for EPI in 1988,” Best </a:t>
            </a:r>
            <a:r>
              <a:rPr lang="en-US" sz="2400" b="1" dirty="0" err="1"/>
              <a:t>PerformanceAward</a:t>
            </a:r>
            <a:r>
              <a:rPr lang="en-US" sz="2400" b="1" dirty="0"/>
              <a:t>” in </a:t>
            </a:r>
            <a:r>
              <a:rPr lang="en-US" sz="2400" b="1" dirty="0">
                <a:solidFill>
                  <a:srgbClr val="FF0000"/>
                </a:solidFill>
              </a:rPr>
              <a:t>EOC form 2005 to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 2014 &amp;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Health Ministers Award 2017, 2018 &amp; 2020,2022.</a:t>
            </a:r>
          </a:p>
          <a:p>
            <a:pPr algn="just">
              <a:spcBef>
                <a:spcPts val="0"/>
              </a:spcBef>
              <a:defRPr/>
            </a:pPr>
            <a:endParaRPr lang="en-US" sz="2400" b="1" dirty="0"/>
          </a:p>
          <a:p>
            <a:pPr algn="just">
              <a:spcBef>
                <a:spcPts val="0"/>
              </a:spcBef>
              <a:defRPr/>
            </a:pPr>
            <a:r>
              <a:rPr lang="en-US" sz="2400" b="1" dirty="0"/>
              <a:t>In </a:t>
            </a:r>
            <a:r>
              <a:rPr lang="en-US" sz="2400" b="1" dirty="0">
                <a:solidFill>
                  <a:srgbClr val="FF0000"/>
                </a:solidFill>
              </a:rPr>
              <a:t>2008</a:t>
            </a:r>
            <a:r>
              <a:rPr lang="en-US" sz="2400" b="1" dirty="0"/>
              <a:t>, </a:t>
            </a:r>
            <a:r>
              <a:rPr lang="en-US" sz="2400" b="1" dirty="0" err="1"/>
              <a:t>Chowgacha</a:t>
            </a:r>
            <a:r>
              <a:rPr lang="en-US" sz="2400" b="1" dirty="0"/>
              <a:t> Health Complex declared as the “</a:t>
            </a:r>
            <a:r>
              <a:rPr lang="en-US" sz="2400" b="1" u="sng" dirty="0">
                <a:solidFill>
                  <a:srgbClr val="FF0000"/>
                </a:solidFill>
                <a:latin typeface="Century Schoolbook" pitchFamily="18" charset="0"/>
              </a:rPr>
              <a:t>Model </a:t>
            </a:r>
            <a:r>
              <a:rPr lang="en-US" sz="2400" b="1" u="sng" dirty="0" err="1">
                <a:solidFill>
                  <a:srgbClr val="FF0000"/>
                </a:solidFill>
                <a:latin typeface="Century Schoolbook" pitchFamily="18" charset="0"/>
              </a:rPr>
              <a:t>Upazilla</a:t>
            </a:r>
            <a:r>
              <a:rPr lang="en-US" sz="2400" b="1" u="sng" dirty="0">
                <a:solidFill>
                  <a:srgbClr val="FF0000"/>
                </a:solidFill>
                <a:latin typeface="Century Schoolbook" pitchFamily="18" charset="0"/>
              </a:rPr>
              <a:t> Health Complex by the M0HFW</a:t>
            </a:r>
            <a:endParaRPr lang="en-US" sz="2400" u="sng" dirty="0">
              <a:solidFill>
                <a:srgbClr val="FF0000"/>
              </a:solidFill>
              <a:latin typeface="Century Schoolbook" pitchFamily="18" charset="0"/>
            </a:endParaRPr>
          </a:p>
          <a:p>
            <a:pPr marL="300038" lvl="1" indent="0" algn="just">
              <a:spcBef>
                <a:spcPts val="0"/>
              </a:spcBef>
              <a:buNone/>
              <a:defRPr/>
            </a:pPr>
            <a:endParaRPr lang="en-US" sz="2400" b="1" dirty="0">
              <a:solidFill>
                <a:srgbClr val="FF0000"/>
              </a:solidFill>
            </a:endParaRP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 became the </a:t>
            </a:r>
            <a:r>
              <a:rPr lang="en-US" sz="2400" b="1" dirty="0">
                <a:solidFill>
                  <a:srgbClr val="FF0000"/>
                </a:solidFill>
              </a:rPr>
              <a:t>best EOC center having 41(11+30)  with 98.4%(4413) hospital delivery rate in 2011.</a:t>
            </a: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2400" b="1" dirty="0"/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The UHC starts upgrade to 100  bedded hospital</a:t>
            </a: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2400" b="1" dirty="0"/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model is being replicated throughout the country by DGHS, MOH &amp; FW since 2016 by the order of Prime Ministers office</a:t>
            </a:r>
          </a:p>
        </p:txBody>
      </p:sp>
    </p:spTree>
    <p:extLst>
      <p:ext uri="{BB962C8B-B14F-4D97-AF65-F5344CB8AC3E}">
        <p14:creationId xmlns:p14="http://schemas.microsoft.com/office/powerpoint/2010/main" val="140766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32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dirty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05800" cy="51054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  <a:defRPr/>
            </a:pPr>
            <a:endParaRPr lang="en-US" sz="1800" b="1" dirty="0"/>
          </a:p>
          <a:p>
            <a:pPr algn="just">
              <a:defRPr/>
            </a:pPr>
            <a:r>
              <a:rPr lang="en-US" sz="3000" b="1" dirty="0" err="1"/>
              <a:t>Insecured</a:t>
            </a:r>
            <a:r>
              <a:rPr lang="en-US" sz="3000" b="1" dirty="0"/>
              <a:t>  hospital environment.</a:t>
            </a:r>
          </a:p>
          <a:p>
            <a:pPr algn="just">
              <a:defRPr/>
            </a:pPr>
            <a:r>
              <a:rPr lang="en-US" sz="3000" b="1" dirty="0"/>
              <a:t>Performance of all activities was very low.</a:t>
            </a:r>
          </a:p>
          <a:p>
            <a:pPr algn="just">
              <a:defRPr/>
            </a:pPr>
            <a:r>
              <a:rPr lang="en-US" sz="3000" b="1" dirty="0"/>
              <a:t>Very limited support staff.</a:t>
            </a:r>
          </a:p>
          <a:p>
            <a:pPr algn="just">
              <a:defRPr/>
            </a:pPr>
            <a:r>
              <a:rPr lang="en-US" sz="3000" b="1" dirty="0"/>
              <a:t>3 doctors including RMO was suspended. </a:t>
            </a:r>
          </a:p>
          <a:p>
            <a:pPr algn="just">
              <a:defRPr/>
            </a:pPr>
            <a:r>
              <a:rPr lang="en-US" sz="3000" b="1" dirty="0"/>
              <a:t>48 Non-gov. staff. demanding money from the patients.</a:t>
            </a:r>
          </a:p>
          <a:p>
            <a:pPr algn="just">
              <a:defRPr/>
            </a:pPr>
            <a:r>
              <a:rPr lang="en-US" sz="3000" b="1" dirty="0"/>
              <a:t>Waste management system was poor.</a:t>
            </a:r>
          </a:p>
          <a:p>
            <a:pPr algn="just">
              <a:defRPr/>
            </a:pPr>
            <a:r>
              <a:rPr lang="en-US" sz="3000" b="1" dirty="0"/>
              <a:t>Monitoring meeting was not performed regularl</a:t>
            </a:r>
            <a:r>
              <a:rPr lang="en-US" sz="2800" b="1" dirty="0"/>
              <a:t>y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 marL="0" indent="0">
              <a:buFont typeface="Arial" charset="0"/>
              <a:buNone/>
              <a:defRPr/>
            </a:pPr>
            <a:endParaRPr lang="en-US" sz="1800" b="1" dirty="0"/>
          </a:p>
          <a:p>
            <a:pPr marL="0" indent="0">
              <a:buFont typeface="Arial" charset="0"/>
              <a:buNone/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35536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19100" y="609600"/>
            <a:ext cx="8229600" cy="60960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2019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572270648"/>
              </p:ext>
            </p:extLst>
          </p:nvPr>
        </p:nvGraphicFramePr>
        <p:xfrm>
          <a:off x="381000" y="1676400"/>
          <a:ext cx="8305800" cy="436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3068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655638"/>
          </a:xfrm>
          <a:blipFill>
            <a:blip r:embed="rId2"/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+ Out Door &amp; Indoor  Service 1998 to 2019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645567418"/>
              </p:ext>
            </p:extLst>
          </p:nvPr>
        </p:nvGraphicFramePr>
        <p:xfrm>
          <a:off x="228600" y="1219200"/>
          <a:ext cx="8534400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4800" y="838200"/>
            <a:ext cx="8610600" cy="36933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   </a:t>
            </a:r>
            <a:r>
              <a:rPr lang="en-US" b="1" dirty="0">
                <a:solidFill>
                  <a:srgbClr val="0070C0"/>
                </a:solidFill>
              </a:rPr>
              <a:t>Emergency + Outdoor visit</a:t>
            </a:r>
            <a:r>
              <a:rPr lang="en-US" dirty="0"/>
              <a:t>,       </a:t>
            </a:r>
            <a:r>
              <a:rPr lang="en-US" dirty="0">
                <a:solidFill>
                  <a:srgbClr val="C00000"/>
                </a:solidFill>
              </a:rPr>
              <a:t>Indoor (admission)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2600" y="990600"/>
            <a:ext cx="1524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257800" y="990600"/>
            <a:ext cx="1524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02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GB" sz="2400" dirty="0"/>
              <a:t>Total ANC and Delivery in Jhenaidah District Hospital 2011-2019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08028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>
                <a:ea typeface="Calibri"/>
                <a:cs typeface="Vrinda"/>
              </a:rPr>
              <a:t>3 best performing </a:t>
            </a:r>
            <a:r>
              <a:rPr lang="en-US" sz="2800" b="1" dirty="0" err="1">
                <a:ea typeface="Calibri"/>
                <a:cs typeface="Vrinda"/>
              </a:rPr>
              <a:t>EmOC</a:t>
            </a:r>
            <a:r>
              <a:rPr lang="en-US" sz="2800" b="1" dirty="0">
                <a:ea typeface="Calibri"/>
                <a:cs typeface="Vrinda"/>
              </a:rPr>
              <a:t> Hospital in Khulna division - 2017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Hospital and Introduction of TQM 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3886200"/>
            <a:ext cx="4281094" cy="3002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0412" y="15240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/>
              <a:t>A team of </a:t>
            </a:r>
            <a:r>
              <a:rPr lang="en-US" sz="2000" dirty="0" err="1"/>
              <a:t>Jhenaidah</a:t>
            </a:r>
            <a:r>
              <a:rPr lang="en-US" sz="2000" dirty="0"/>
              <a:t>  District hospital visited to </a:t>
            </a:r>
            <a:r>
              <a:rPr lang="en-US" sz="2000" dirty="0" err="1"/>
              <a:t>Shatkhira</a:t>
            </a:r>
            <a:r>
              <a:rPr lang="en-US" sz="2000" dirty="0"/>
              <a:t> District hospital in 2014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7146" y="48768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000" dirty="0"/>
              <a:t>A meeting was held in </a:t>
            </a:r>
            <a:r>
              <a:rPr lang="en-US" sz="2000" dirty="0" err="1"/>
              <a:t>Shatkhira</a:t>
            </a:r>
            <a:r>
              <a:rPr lang="en-US" sz="2000" dirty="0"/>
              <a:t>  District conference room</a:t>
            </a:r>
          </a:p>
        </p:txBody>
      </p:sp>
    </p:spTree>
    <p:extLst>
      <p:ext uri="{BB962C8B-B14F-4D97-AF65-F5344CB8AC3E}">
        <p14:creationId xmlns:p14="http://schemas.microsoft.com/office/powerpoint/2010/main" val="261314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Pediatric Ward and EOC Ward </a:t>
            </a:r>
          </a:p>
        </p:txBody>
      </p:sp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8A6FAB46-D4DC-4955-B04D-5BF29585B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45100" y="782955"/>
            <a:ext cx="3589753" cy="274510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6E62CA87-33B8-441D-989B-1B1FAE89E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304800" y="782955"/>
            <a:ext cx="3789183" cy="2727508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>
            <a:extLst>
              <a:ext uri="{FF2B5EF4-FFF2-40B4-BE49-F238E27FC236}">
                <a16:creationId xmlns:a16="http://schemas.microsoft.com/office/drawing/2014/main" id="{55BFDDC4-F51C-41D7-B9F5-21DCA8EEE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33769"/>
            <a:ext cx="1058743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>
            <a:extLst>
              <a:ext uri="{FF2B5EF4-FFF2-40B4-BE49-F238E27FC236}">
                <a16:creationId xmlns:a16="http://schemas.microsoft.com/office/drawing/2014/main" id="{8C329F57-9516-40AD-8FA9-66514E421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025" y="678180"/>
            <a:ext cx="1058741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833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Waste 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8" descr="DSC02406">
            <a:extLst>
              <a:ext uri="{FF2B5EF4-FFF2-40B4-BE49-F238E27FC236}">
                <a16:creationId xmlns:a16="http://schemas.microsoft.com/office/drawing/2014/main" id="{8F5E5399-F6B2-4D6F-9A39-73801E1E0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" y="3867786"/>
            <a:ext cx="3962400" cy="300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9">
            <a:extLst>
              <a:ext uri="{FF2B5EF4-FFF2-40B4-BE49-F238E27FC236}">
                <a16:creationId xmlns:a16="http://schemas.microsoft.com/office/drawing/2014/main" id="{B38B44C1-EAF7-4A0F-9FF3-7058A3AFD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197" y="3906440"/>
            <a:ext cx="4082477" cy="2970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1">
            <a:extLst>
              <a:ext uri="{FF2B5EF4-FFF2-40B4-BE49-F238E27FC236}">
                <a16:creationId xmlns:a16="http://schemas.microsoft.com/office/drawing/2014/main" id="{25CFE8B7-28AF-42E6-B126-8138ABEFD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41" y="3896361"/>
            <a:ext cx="1003646" cy="3801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C1DE858F-CB10-4F27-A7AE-C07186A80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4198" y="3882075"/>
            <a:ext cx="793176" cy="380162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ight Arrow 9">
            <a:extLst>
              <a:ext uri="{FF2B5EF4-FFF2-40B4-BE49-F238E27FC236}">
                <a16:creationId xmlns:a16="http://schemas.microsoft.com/office/drawing/2014/main" id="{B97AA76F-4E97-4F6E-A0D7-6101C2960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83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973138"/>
            <a:ext cx="3886200" cy="26670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132263" cy="2695575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42672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2" name="Content Placeholder 10">
            <a:extLst>
              <a:ext uri="{FF2B5EF4-FFF2-40B4-BE49-F238E27FC236}">
                <a16:creationId xmlns:a16="http://schemas.microsoft.com/office/drawing/2014/main" id="{5040BD0C-06ED-4A4A-B5C0-ED079DF7CA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3803650"/>
            <a:ext cx="4419600" cy="2914650"/>
          </a:xfrm>
          <a:prstGeom prst="rect">
            <a:avLst/>
          </a:prstGeom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E8C7CBAC-33FC-4311-8B49-55546B23A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0" y="3838741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" y="665328"/>
            <a:ext cx="3848100" cy="2514600"/>
          </a:xfrm>
        </p:spPr>
      </p:pic>
      <p:sp>
        <p:nvSpPr>
          <p:cNvPr id="77827" name="Rectangle 4"/>
          <p:cNvSpPr>
            <a:spLocks noChangeArrowheads="1"/>
          </p:cNvSpPr>
          <p:nvPr/>
        </p:nvSpPr>
        <p:spPr bwMode="auto">
          <a:xfrm>
            <a:off x="4332288" y="990600"/>
            <a:ext cx="3429000" cy="132397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0" hangingPunct="0"/>
            <a:r>
              <a:rPr lang="en-US" sz="2000" dirty="0"/>
              <a:t>Creation of awareness towards Health Education for the patients and their attendances.</a:t>
            </a:r>
          </a:p>
        </p:txBody>
      </p:sp>
      <p:pic>
        <p:nvPicPr>
          <p:cNvPr id="77828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696" y="3418764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Rectangle 6"/>
          <p:cNvSpPr>
            <a:spLocks noChangeArrowheads="1"/>
          </p:cNvSpPr>
          <p:nvPr/>
        </p:nvSpPr>
        <p:spPr bwMode="auto">
          <a:xfrm>
            <a:off x="152400" y="4343400"/>
            <a:ext cx="3810000" cy="132397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0" hangingPunct="0"/>
            <a:r>
              <a:rPr lang="en-US" sz="2000" dirty="0"/>
              <a:t>Motivation of the community,  the teachers, reporters, social workers, cultural activists and donors of the hospital 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- 1</a:t>
            </a:r>
          </a:p>
        </p:txBody>
      </p:sp>
    </p:spTree>
    <p:extLst>
      <p:ext uri="{BB962C8B-B14F-4D97-AF65-F5344CB8AC3E}">
        <p14:creationId xmlns:p14="http://schemas.microsoft.com/office/powerpoint/2010/main" val="1925477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85799"/>
            <a:ext cx="4424362" cy="2996821"/>
          </a:xfrm>
        </p:spPr>
      </p:pic>
      <p:pic>
        <p:nvPicPr>
          <p:cNvPr id="75779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685800"/>
            <a:ext cx="44958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025" y="4038600"/>
            <a:ext cx="4498975" cy="285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5781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38600"/>
            <a:ext cx="442595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community supported manpower -  2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88813" y="4038600"/>
            <a:ext cx="864339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Guard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58817" y="685800"/>
            <a:ext cx="146713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Trolley man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8112949" y="685800"/>
            <a:ext cx="103105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Cleaner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7689756" y="4038600"/>
            <a:ext cx="145424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Nursing aid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57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52112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4010480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373" y="4185782"/>
            <a:ext cx="4067270" cy="252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Administrator &amp; Mayor in Sadar Hospital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9870"/>
            <a:ext cx="4363439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 </a:t>
            </a:r>
            <a:r>
              <a:rPr lang="en-US" sz="1500" b="1" dirty="0" err="1">
                <a:solidFill>
                  <a:srgbClr val="FF0000"/>
                </a:solidFill>
              </a:rPr>
              <a:t>Perticipation</a:t>
            </a:r>
            <a:r>
              <a:rPr lang="en-US" sz="1500" b="1" dirty="0">
                <a:solidFill>
                  <a:srgbClr val="FF0000"/>
                </a:solidFill>
              </a:rPr>
              <a:t> of Previous MP in beautification</a:t>
            </a:r>
            <a:endParaRPr lang="en-GB" sz="1500" dirty="0"/>
          </a:p>
        </p:txBody>
      </p:sp>
      <p:sp>
        <p:nvSpPr>
          <p:cNvPr id="12" name="Rectangle 11"/>
          <p:cNvSpPr/>
          <p:nvPr/>
        </p:nvSpPr>
        <p:spPr>
          <a:xfrm>
            <a:off x="-20039" y="3985289"/>
            <a:ext cx="3048527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A big cleaning day on 17 March</a:t>
            </a:r>
            <a:endParaRPr lang="en-GB" sz="1500" dirty="0"/>
          </a:p>
        </p:txBody>
      </p:sp>
      <p:sp>
        <p:nvSpPr>
          <p:cNvPr id="13" name="Rectangle 12"/>
          <p:cNvSpPr/>
          <p:nvPr/>
        </p:nvSpPr>
        <p:spPr>
          <a:xfrm>
            <a:off x="5691266" y="3850856"/>
            <a:ext cx="2329484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Crowd control by scout</a:t>
            </a:r>
            <a:endParaRPr lang="en-GB" sz="1500" dirty="0"/>
          </a:p>
        </p:txBody>
      </p:sp>
      <p:pic>
        <p:nvPicPr>
          <p:cNvPr id="16" name="Content Placeholder 3">
            <a:extLst>
              <a:ext uri="{FF2B5EF4-FFF2-40B4-BE49-F238E27FC236}">
                <a16:creationId xmlns:a16="http://schemas.microsoft.com/office/drawing/2014/main" id="{A3BB88F7-AC78-4669-9407-FFB2212920E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59479" y="954520"/>
            <a:ext cx="3847874" cy="259614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A6D52DD-003A-4D35-984E-B94CFFD4555C}"/>
              </a:ext>
            </a:extLst>
          </p:cNvPr>
          <p:cNvSpPr/>
          <p:nvPr/>
        </p:nvSpPr>
        <p:spPr>
          <a:xfrm>
            <a:off x="4957563" y="582377"/>
            <a:ext cx="3651705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DC, </a:t>
            </a:r>
            <a:r>
              <a:rPr lang="en-US" sz="1500" b="1" dirty="0" err="1">
                <a:solidFill>
                  <a:srgbClr val="FF0000"/>
                </a:solidFill>
              </a:rPr>
              <a:t>Jhenaidah</a:t>
            </a:r>
            <a:r>
              <a:rPr lang="en-US" sz="1500" b="1" dirty="0">
                <a:solidFill>
                  <a:srgbClr val="FF0000"/>
                </a:solidFill>
              </a:rPr>
              <a:t> Visited </a:t>
            </a:r>
            <a:r>
              <a:rPr lang="en-US" sz="1500" b="1" dirty="0" err="1">
                <a:solidFill>
                  <a:srgbClr val="FF0000"/>
                </a:solidFill>
              </a:rPr>
              <a:t>Sadar</a:t>
            </a:r>
            <a:r>
              <a:rPr lang="en-US" sz="1500" b="1" dirty="0">
                <a:solidFill>
                  <a:srgbClr val="FF0000"/>
                </a:solidFill>
              </a:rPr>
              <a:t> Hospital</a:t>
            </a: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448160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9466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670561"/>
            <a:ext cx="4047260" cy="2698173"/>
          </a:xfrm>
          <a:prstGeom prst="rect">
            <a:avLst/>
          </a:prstGeom>
          <a:noFill/>
        </p:spPr>
      </p:pic>
      <p:pic>
        <p:nvPicPr>
          <p:cNvPr id="2051" name="Picture 3" descr="C:\Users\USER\Desktop\Medicine 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670561"/>
            <a:ext cx="4402282" cy="2698173"/>
          </a:xfrm>
          <a:prstGeom prst="rect">
            <a:avLst/>
          </a:prstGeom>
          <a:noFill/>
        </p:spPr>
      </p:pic>
      <p:pic>
        <p:nvPicPr>
          <p:cNvPr id="2052" name="Picture 4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642361"/>
            <a:ext cx="4402282" cy="3124200"/>
          </a:xfrm>
          <a:prstGeom prst="rect">
            <a:avLst/>
          </a:prstGeom>
          <a:noFill/>
        </p:spPr>
      </p:pic>
      <p:pic>
        <p:nvPicPr>
          <p:cNvPr id="2053" name="Picture 5" descr="C:\Users\USER\Desktop\Medicine 3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53000" y="3642361"/>
            <a:ext cx="4047259" cy="31242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9DA632E-D6A3-42BC-B01B-A055C1EBB13F}"/>
              </a:ext>
            </a:extLst>
          </p:cNvPr>
          <p:cNvSpPr txBox="1">
            <a:spLocks/>
          </p:cNvSpPr>
          <p:nvPr/>
        </p:nvSpPr>
        <p:spPr>
          <a:xfrm>
            <a:off x="152399" y="43210"/>
            <a:ext cx="8847859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Innovation in Medicine Ward</a:t>
            </a:r>
          </a:p>
        </p:txBody>
      </p:sp>
    </p:spTree>
    <p:extLst>
      <p:ext uri="{BB962C8B-B14F-4D97-AF65-F5344CB8AC3E}">
        <p14:creationId xmlns:p14="http://schemas.microsoft.com/office/powerpoint/2010/main" val="133199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3074" name="Picture 2" descr="F:\Hospital Picture\New 2022\IMG_5268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762000"/>
            <a:ext cx="4419600" cy="2819400"/>
          </a:xfrm>
          <a:prstGeom prst="rect">
            <a:avLst/>
          </a:prstGeom>
          <a:noFill/>
        </p:spPr>
      </p:pic>
      <p:pic>
        <p:nvPicPr>
          <p:cNvPr id="3077" name="Picture 5" descr="F:\Hospital Picture\New 2022\IMG_5270.JP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5800" y="685800"/>
            <a:ext cx="4489450" cy="2909888"/>
          </a:xfrm>
          <a:prstGeom prst="rect">
            <a:avLst/>
          </a:prstGeom>
          <a:noFill/>
        </p:spPr>
      </p:pic>
      <p:pic>
        <p:nvPicPr>
          <p:cNvPr id="3081" name="Picture 9" descr="C:\Users\USER\Desktop\rsz_1img_5277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3657600"/>
            <a:ext cx="4419600" cy="3200400"/>
          </a:xfrm>
          <a:prstGeom prst="rect">
            <a:avLst/>
          </a:prstGeom>
          <a:noFill/>
        </p:spPr>
      </p:pic>
      <p:pic>
        <p:nvPicPr>
          <p:cNvPr id="1026" name="Picture 2" descr="C:\Users\USER\Desktop\Screenshot_1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495800" y="3657601"/>
            <a:ext cx="4648200" cy="3200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79040436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5">
            <a:extLst>
              <a:ext uri="{FF2B5EF4-FFF2-40B4-BE49-F238E27FC236}">
                <a16:creationId xmlns:a16="http://schemas.microsoft.com/office/drawing/2014/main" id="{879CCA2B-0EFA-40EE-A405-083B9857D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3688079"/>
            <a:ext cx="4451959" cy="2844284"/>
          </a:xfrm>
          <a:prstGeom prst="rect">
            <a:avLst/>
          </a:prstGeom>
          <a:noFill/>
        </p:spPr>
      </p:pic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97468"/>
            <a:ext cx="4416426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738411"/>
            <a:ext cx="4532312" cy="28442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21" y="3657599"/>
            <a:ext cx="4416425" cy="2845482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-1" y="685800"/>
            <a:ext cx="418576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Intercom system by community sup.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5689208" y="738411"/>
            <a:ext cx="345479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Generator by community sup.</a:t>
            </a:r>
            <a:endParaRPr lang="en-GB" dirty="0"/>
          </a:p>
        </p:txBody>
      </p:sp>
      <p:sp>
        <p:nvSpPr>
          <p:cNvPr id="16" name="Rectangle 15"/>
          <p:cNvSpPr/>
          <p:nvPr/>
        </p:nvSpPr>
        <p:spPr>
          <a:xfrm>
            <a:off x="4842113" y="3915261"/>
            <a:ext cx="404469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Pcikup</a:t>
            </a:r>
            <a:r>
              <a:rPr lang="en-US" b="1" dirty="0">
                <a:solidFill>
                  <a:srgbClr val="FF0000"/>
                </a:solidFill>
              </a:rPr>
              <a:t> van by </a:t>
            </a:r>
            <a:r>
              <a:rPr lang="en-US" b="1" dirty="0" err="1">
                <a:solidFill>
                  <a:srgbClr val="FF0000"/>
                </a:solidFill>
              </a:rPr>
              <a:t>Jahedee</a:t>
            </a:r>
            <a:r>
              <a:rPr lang="en-US" b="1" dirty="0">
                <a:solidFill>
                  <a:srgbClr val="FF0000"/>
                </a:solidFill>
              </a:rPr>
              <a:t> Foundation</a:t>
            </a:r>
            <a:endParaRPr lang="en-GB" dirty="0"/>
          </a:p>
        </p:txBody>
      </p:sp>
      <p:sp>
        <p:nvSpPr>
          <p:cNvPr id="17" name="Rectangle 16"/>
          <p:cNvSpPr/>
          <p:nvPr/>
        </p:nvSpPr>
        <p:spPr>
          <a:xfrm>
            <a:off x="-1" y="4068574"/>
            <a:ext cx="346761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Extension </a:t>
            </a:r>
            <a:r>
              <a:rPr lang="en-US" b="1" dirty="0">
                <a:solidFill>
                  <a:srgbClr val="FF0000"/>
                </a:solidFill>
              </a:rPr>
              <a:t>of hospital mosque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305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94698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Staff : 53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Cleaner:	20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err="1">
                <a:solidFill>
                  <a:srgbClr val="1F497D">
                    <a:lumMod val="75000"/>
                  </a:srgbClr>
                </a:solidFill>
              </a:rPr>
              <a:t>Aya</a:t>
            </a: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 /Word boy:	21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Security guard:	6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Volunteer:	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Trolley man:	3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Generator.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Intercom.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Biochemical analyzer.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Reformation of medicine, surgery, pediatric word.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Boundary wall repair.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Pic up car.</a:t>
            </a:r>
          </a:p>
        </p:txBody>
      </p:sp>
      <p:sp>
        <p:nvSpPr>
          <p:cNvPr id="5" name="Rectangle 31"/>
          <p:cNvSpPr txBox="1">
            <a:spLocks noChangeArrowheads="1"/>
          </p:cNvSpPr>
          <p:nvPr/>
        </p:nvSpPr>
        <p:spPr bwMode="auto">
          <a:xfrm>
            <a:off x="4572000" y="781050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600" b="1" u="sng" dirty="0">
                <a:solidFill>
                  <a:srgbClr val="1F497D">
                    <a:lumMod val="75000"/>
                  </a:srgbClr>
                </a:solidFill>
              </a:rPr>
              <a:t>Donors: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MP.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Mayor.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Other donors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Retd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Secretary .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51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</a:t>
            </a: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1. Active Community Participation in health service is an example in Bangladesh.</a:t>
            </a:r>
          </a:p>
          <a:p>
            <a:pPr marL="0" algn="just">
              <a:defRPr/>
            </a:pPr>
            <a:r>
              <a:rPr lang="en-US" sz="2000" dirty="0"/>
              <a:t> </a:t>
            </a:r>
          </a:p>
          <a:p>
            <a:pPr marL="0" algn="just">
              <a:defRPr/>
            </a:pPr>
            <a:r>
              <a:rPr lang="en-US" sz="2000" b="1" dirty="0"/>
              <a:t>2. Improved   performance  of all IPD &amp; OPD services.</a:t>
            </a:r>
          </a:p>
          <a:p>
            <a:pPr marL="0">
              <a:defRPr/>
            </a:pPr>
            <a:endParaRPr lang="en-US" sz="2000" b="1" dirty="0"/>
          </a:p>
          <a:p>
            <a:pPr marL="0">
              <a:defRPr/>
            </a:pPr>
            <a:r>
              <a:rPr lang="en-US" sz="2000" b="1" dirty="0"/>
              <a:t>3. Improved cleanliness and beautification of campus.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4.. The hospital is awarded 7 times from 2013 to 2020. </a:t>
            </a:r>
            <a:endParaRPr lang="en-US" sz="2000" dirty="0"/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5. Improved Security &amp; financial management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8.The hospital is upgraded to 250 bedded General Hospital with post creation in 2021.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7. Replication of C- J Model by DGHS in 20 District hospital &amp; 40 UHC.</a:t>
            </a:r>
          </a:p>
          <a:p>
            <a:pPr marL="0" algn="just">
              <a:defRPr/>
            </a:pPr>
            <a:r>
              <a:rPr lang="en-US" sz="2000" b="1" dirty="0"/>
              <a:t> </a:t>
            </a:r>
          </a:p>
          <a:p>
            <a:pPr marL="0" algn="just">
              <a:defRPr/>
            </a:pP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66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" y="-30480"/>
            <a:ext cx="9144001" cy="688848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62200"/>
            <a:ext cx="8229600" cy="121920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716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BA4BC-8525-4EEB-B12A-B9E74D66F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28601"/>
            <a:ext cx="7772400" cy="838200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sz="2700" b="1" dirty="0"/>
              <a:t>7th Five Year Plan, Health, Nutrition and Population Target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A224D-FBD7-4615-A81A-D241A6E7F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524000"/>
            <a:ext cx="7772400" cy="4953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24E81D3-7098-4160-B448-0E2EFC6A2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781318"/>
              </p:ext>
            </p:extLst>
          </p:nvPr>
        </p:nvGraphicFramePr>
        <p:xfrm>
          <a:off x="457200" y="950340"/>
          <a:ext cx="8077200" cy="5298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04905989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11331188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3042837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59636225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05302822"/>
                    </a:ext>
                  </a:extLst>
                </a:gridCol>
              </a:tblGrid>
              <a:tr h="108054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SL No.</a:t>
                      </a:r>
                      <a:endParaRPr lang="en-US" sz="1800" baseline="-25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Indicator (effect/ results)</a:t>
                      </a:r>
                      <a:endParaRPr lang="en-US" sz="1800" baseline="-25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Start Year Info (Start Year)</a:t>
                      </a:r>
                      <a:endParaRPr lang="en-US" sz="1800" baseline="-25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target of 7th Five-Year Plan is only by 2022</a:t>
                      </a:r>
                      <a:endParaRPr lang="en-US" sz="1800" baseline="-25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SDG by 2030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5845806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life expectancy at birth (in year)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70.4 (SVRS 2013)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546600"/>
                  </a:ext>
                </a:extLst>
              </a:tr>
              <a:tr h="6139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Under five mortality rate (per 1000 live birth)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46 (BDHS 2014)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2334868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Infant (0-1 </a:t>
                      </a:r>
                      <a:r>
                        <a:rPr lang="en-GB" sz="16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yr</a:t>
                      </a: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) mortality rate (per 1000 live births)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38 (BDHS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3982229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Maternal mortality ratio (per 100000 live birth)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170 (MMEIG 2013)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296337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ratio of underweight children under 5 years 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32.6 (BDHS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5646935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Ratio of stunting in under 5 years children 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36.1 (BDHS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3703974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 fertility rate (children per head of every woman of reproductive age)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2.3 (BDHS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215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964015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FA4A883-3C96-4EE0-8381-49912B31C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918485"/>
              </p:ext>
            </p:extLst>
          </p:nvPr>
        </p:nvGraphicFramePr>
        <p:xfrm>
          <a:off x="609600" y="457200"/>
          <a:ext cx="8153400" cy="5964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4163680596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5796109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49449429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41929515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338225704"/>
                    </a:ext>
                  </a:extLst>
                </a:gridCol>
              </a:tblGrid>
              <a:tr h="7770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Contraceptive prevalence rate (%)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62.4 (BDHS 2014)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73111561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Immunization coverage among Children under the age of one year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78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4181881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Ratio of childbirth (%) delivery by trained person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42.1 (BDHS 2014)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80314428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Rate of institutional delivery according to wealth status (ratio of highest and lowest fifth)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15:69.5 (BDHS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1:3.5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3195608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Tuberculosis identification rate 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53 (GTR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2016302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Neonatal mortality rate per 1000 live birth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 (2014)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09117782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wasting rate of children aged under five years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35877409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Ante-natal Health Care (ANC) 4</a:t>
                      </a:r>
                      <a:r>
                        <a:rPr lang="en-GB" sz="1600" baseline="300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visit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31.2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09798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5136437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8A62065-D262-4C8B-AA7F-FA5E49DED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735875"/>
              </p:ext>
            </p:extLst>
          </p:nvPr>
        </p:nvGraphicFramePr>
        <p:xfrm>
          <a:off x="762000" y="457200"/>
          <a:ext cx="8077200" cy="5921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650446907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3299152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63992833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605533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829105880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SL No.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Indicator (effect/ results)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Start Year Info (Start Year)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target of 7th Five-Year Plan is only by 2022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SDG by 2030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09115656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Exclusive Breastfeeding infant under 6 months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55.3 (2014)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2402765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Adolescent fertility rate (15-19) per 1000 married couple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1005158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Deaths due to NCD per ten thousand population (30 - 69 years)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332665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18. 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Heart disease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5430159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 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Cancer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727304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 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Diabetes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4353527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BD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 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BD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Chronic respiratory illness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7903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987164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BA4BC-8525-4EEB-B12A-B9E74D66F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28601"/>
            <a:ext cx="7772400" cy="838200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sz="2700" b="1" dirty="0"/>
              <a:t>8th Five Year Plan, Health, Nutrition and Population Target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A224D-FBD7-4615-A81A-D241A6E7F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524000"/>
            <a:ext cx="7772400" cy="4953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24E81D3-7098-4160-B448-0E2EFC6A2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898508"/>
              </p:ext>
            </p:extLst>
          </p:nvPr>
        </p:nvGraphicFramePr>
        <p:xfrm>
          <a:off x="457200" y="950340"/>
          <a:ext cx="8077200" cy="5333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04905989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11331188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3042837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59636225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05302822"/>
                    </a:ext>
                  </a:extLst>
                </a:gridCol>
              </a:tblGrid>
              <a:tr h="108054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SL No.</a:t>
                      </a:r>
                      <a:endParaRPr lang="en-US" sz="1800" baseline="-25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Indicator (effect/ results)</a:t>
                      </a:r>
                      <a:endParaRPr lang="en-US" sz="1800" baseline="-25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Start Year Info (Start Year2019)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target of 8th Five-Year Plan is only by 2025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SDG by 2030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5845806"/>
                  </a:ext>
                </a:extLst>
              </a:tr>
              <a:tr h="6361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life expectancy at birth (in year)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72.6 (SVRS 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546600"/>
                  </a:ext>
                </a:extLst>
              </a:tr>
              <a:tr h="6139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Under five mortality rate (per 1000 live birth)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28(SVRS-2019)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2334868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Infant (0-1,year) mortality rate (per 1000 live births)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21(SVRS 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3982229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Maternal mortality ratio (per 100000 live birth)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165 (SVRS-2019)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296337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ratio of underweight children under 5 years 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32.6 (BDHS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5646935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Ratio of stunting in under 5 years children 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28%(MICS- 2019)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3703974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 fertility rate (children per head of every woman of reproductive age)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2.04(SVRS- 2019)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215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508769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FA4A883-3C96-4EE0-8381-49912B31C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257472"/>
              </p:ext>
            </p:extLst>
          </p:nvPr>
        </p:nvGraphicFramePr>
        <p:xfrm>
          <a:off x="609600" y="457200"/>
          <a:ext cx="8153400" cy="5964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4163680596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5796109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49449429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41929515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338225704"/>
                    </a:ext>
                  </a:extLst>
                </a:gridCol>
              </a:tblGrid>
              <a:tr h="7770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Contraceptive prevalence rate (%)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63.4 (SVRS -2019)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73111561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Immunization coverage among Children under the age of one year(%)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86 (%)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98(%)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4181881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Ratio of childbirth (%) delivery by trained person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59 (MICS- 2019)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80314428"/>
                  </a:ext>
                </a:extLst>
              </a:tr>
              <a:tr h="7952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Rate of institutional delivery according to wealth status (ratio of highest and lowest fifth)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1:3 (BDHS 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1:1.5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3195608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Tuberculosis </a:t>
                      </a:r>
                      <a:r>
                        <a:rPr lang="en-GB" sz="160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incidance </a:t>
                      </a: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rate /1,00,000 pop.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221(GTR-2019)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2016302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Neonatal mortality rate per 1000 live birth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 (SVRS-2019)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09117782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Mortality rate by NCD(Cardiovascular, Cancer </a:t>
                      </a:r>
                      <a:r>
                        <a:rPr lang="en-GB" sz="1600" dirty="0" err="1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Diabetis</a:t>
                      </a: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GB" sz="1600" dirty="0" err="1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Chorinicrespiratory</a:t>
                      </a: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illness) 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Vrinda" panose="020B0502040204020203" pitchFamily="34" charset="0"/>
                        </a:rPr>
                        <a:t>21.6(WHO-2019)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Vrinda" panose="020B0502040204020203" pitchFamily="34" charset="0"/>
                        </a:rPr>
                        <a:t>16.8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35877409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Ante-natal Health Care (ANC) 4</a:t>
                      </a:r>
                      <a:r>
                        <a:rPr lang="en-GB" sz="1600" baseline="300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visit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09798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62607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059A3C3C-9BC5-42FF-9216-C3CC642A90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201814"/>
              </p:ext>
            </p:extLst>
          </p:nvPr>
        </p:nvGraphicFramePr>
        <p:xfrm>
          <a:off x="381000" y="1143000"/>
          <a:ext cx="8153400" cy="4419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756354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318302488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93392277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3545994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969277320"/>
                    </a:ext>
                  </a:extLst>
                </a:gridCol>
              </a:tblGrid>
              <a:tr h="103437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SL No.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Indicator (effect/ results)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Start Year Info (Start Year)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target of 7th Five-Year Plan is only by 2025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SDG by 2030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0305934"/>
                  </a:ext>
                </a:extLst>
              </a:tr>
              <a:tr h="8463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19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Mortality in road traffic accidents (per 100,000 population)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675594"/>
                  </a:ext>
                </a:extLst>
              </a:tr>
              <a:tr h="8463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19a.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Male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9016653"/>
                  </a:ext>
                </a:extLst>
              </a:tr>
              <a:tr h="8463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19 b.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Women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1628612"/>
                  </a:ext>
                </a:extLst>
              </a:tr>
              <a:tr h="8463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Smoker's rate (every 100,000 population) in 15+ years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4165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5756766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/>
              <a:t>Our usual solution: </a:t>
            </a:r>
            <a:br>
              <a:rPr lang="en-US" sz="3600" dirty="0"/>
            </a:br>
            <a:r>
              <a:rPr lang="en-US" sz="3600" dirty="0"/>
              <a:t>We need more RESOURCES!!!!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56226"/>
            <a:ext cx="820891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5041983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  <a:solidFill>
            <a:srgbClr val="0C7E17"/>
          </a:solidFill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en-GB" sz="3200" b="1" dirty="0">
                <a:solidFill>
                  <a:schemeClr val="bg1"/>
                </a:solidFill>
              </a:rPr>
              <a:t>Community support in COVID -19 Management-2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81000" y="1158834"/>
          <a:ext cx="4419600" cy="2727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Diagram 11"/>
          <p:cNvGraphicFramePr/>
          <p:nvPr/>
        </p:nvGraphicFramePr>
        <p:xfrm>
          <a:off x="4876800" y="4708091"/>
          <a:ext cx="4267199" cy="198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Diagram 6"/>
          <p:cNvGraphicFramePr/>
          <p:nvPr/>
        </p:nvGraphicFramePr>
        <p:xfrm>
          <a:off x="4876800" y="1920834"/>
          <a:ext cx="3962400" cy="1050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4846615" y="3909139"/>
            <a:ext cx="4317856" cy="815261"/>
            <a:chOff x="0" y="8342"/>
            <a:chExt cx="3962399" cy="1034280"/>
          </a:xfrm>
        </p:grpSpPr>
        <p:sp>
          <p:nvSpPr>
            <p:cNvPr id="14" name="Rounded Rectangle 13"/>
            <p:cNvSpPr/>
            <p:nvPr/>
          </p:nvSpPr>
          <p:spPr>
            <a:xfrm>
              <a:off x="0" y="8342"/>
              <a:ext cx="3962399" cy="10342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Rounded Rectangle 4"/>
            <p:cNvSpPr/>
            <p:nvPr/>
          </p:nvSpPr>
          <p:spPr>
            <a:xfrm>
              <a:off x="50489" y="58831"/>
              <a:ext cx="3861421" cy="93330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lvl="0" algn="l" defTabSz="11557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600" b="1" kern="1200" dirty="0"/>
                <a:t>Source of Donation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358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7044</TotalTime>
  <Words>1944</Words>
  <Application>Microsoft Office PowerPoint</Application>
  <PresentationFormat>On-screen Show (4:3)</PresentationFormat>
  <Paragraphs>554</Paragraphs>
  <Slides>49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3" baseType="lpstr">
      <vt:lpstr>Albertus Extra Bold</vt:lpstr>
      <vt:lpstr>Andalus</vt:lpstr>
      <vt:lpstr>Arial</vt:lpstr>
      <vt:lpstr>Berlin Sans FB</vt:lpstr>
      <vt:lpstr>Book Antiqua</vt:lpstr>
      <vt:lpstr>Calibri</vt:lpstr>
      <vt:lpstr>Century Schoolbook</vt:lpstr>
      <vt:lpstr>Courier New</vt:lpstr>
      <vt:lpstr>NikoshBAN</vt:lpstr>
      <vt:lpstr>SutonnyMJ</vt:lpstr>
      <vt:lpstr>Times New Roman</vt:lpstr>
      <vt:lpstr>Wingdings 2</vt:lpstr>
      <vt:lpstr>Office Theme</vt:lpstr>
      <vt:lpstr>Chart</vt:lpstr>
      <vt:lpstr>PowerPoint Presentation</vt:lpstr>
      <vt:lpstr>PowerPoint Presentation</vt:lpstr>
      <vt:lpstr>PowerPoint Presentation</vt:lpstr>
      <vt:lpstr>A Hospital with a Vision …</vt:lpstr>
      <vt:lpstr>PowerPoint Presentation</vt:lpstr>
      <vt:lpstr>Criteria Of C-J Model.</vt:lpstr>
      <vt:lpstr>Criteria of C-J Model.</vt:lpstr>
      <vt:lpstr>Criteria of C-J Model.</vt:lpstr>
      <vt:lpstr>Background History  of Chowgacha Health Complex,Model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Upazila Health  Complex CHOWGACHA , JESSORE.</vt:lpstr>
      <vt:lpstr>Upazila Health  Complex CHOWGACHA , JESSORE.</vt:lpstr>
      <vt:lpstr>Upazilla Health  Complex CHOWGACHA , JESSORE.</vt:lpstr>
      <vt:lpstr>PowerPoint Presentation</vt:lpstr>
      <vt:lpstr>PowerPoint Presentation</vt:lpstr>
      <vt:lpstr>Acheivement of Chowgacha UHC</vt:lpstr>
      <vt:lpstr>100 kh¨v wewkó m`i nvmcvZvj, wSbvB`n</vt:lpstr>
      <vt:lpstr>Challenges of the hospital in 2012</vt:lpstr>
      <vt:lpstr>PowerPoint Presentation</vt:lpstr>
      <vt:lpstr>Emergency + Out Door &amp; Indoor  Service 1998 to 2019</vt:lpstr>
      <vt:lpstr>Total ANC and Delivery in Jhenaidah District Hospital 2011-2019</vt:lpstr>
      <vt:lpstr>3 best performing EmOC Hospital in Khulna division - 2017</vt:lpstr>
      <vt:lpstr>PowerPoint Presentation</vt:lpstr>
      <vt:lpstr>Changes in Pediatric Ward and EOC Ward </vt:lpstr>
      <vt:lpstr>PowerPoint Presentation</vt:lpstr>
      <vt:lpstr>Use of color code, alignment of picture &amp; continuous big cleaning day</vt:lpstr>
      <vt:lpstr>Innovative activities of Jhenaidah Sadar Hospital - 1</vt:lpstr>
      <vt:lpstr>Innovative activities community supported manpower -  2</vt:lpstr>
      <vt:lpstr>Involvement of MP, District Administrator &amp; Mayor in Sadar Hospital</vt:lpstr>
      <vt:lpstr>PowerPoint Presentation</vt:lpstr>
      <vt:lpstr>PowerPoint Presentation</vt:lpstr>
      <vt:lpstr>PowerPoint Presentation</vt:lpstr>
      <vt:lpstr>Innovative activities of Jhenaidah Sadar Hospital - 6</vt:lpstr>
      <vt:lpstr>PowerPoint Presentation</vt:lpstr>
      <vt:lpstr>PowerPoint Presentation</vt:lpstr>
      <vt:lpstr>Thank You</vt:lpstr>
      <vt:lpstr> 7th Five Year Plan, Health, Nutrition and Population Target </vt:lpstr>
      <vt:lpstr>PowerPoint Presentation</vt:lpstr>
      <vt:lpstr>PowerPoint Presentation</vt:lpstr>
      <vt:lpstr> 8th Five Year Plan, Health, Nutrition and Population Target </vt:lpstr>
      <vt:lpstr>PowerPoint Presentation</vt:lpstr>
      <vt:lpstr>PowerPoint Presentation</vt:lpstr>
      <vt:lpstr>Our usual solution:  We need more RESOURCES!!!!</vt:lpstr>
      <vt:lpstr>Community support in COVID -19 Management-2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MD EMDADUL HAQUE</cp:lastModifiedBy>
  <cp:revision>970</cp:revision>
  <cp:lastPrinted>2017-03-18T23:47:54Z</cp:lastPrinted>
  <dcterms:created xsi:type="dcterms:W3CDTF">2013-05-05T09:56:19Z</dcterms:created>
  <dcterms:modified xsi:type="dcterms:W3CDTF">2023-01-05T06:20:20Z</dcterms:modified>
</cp:coreProperties>
</file>