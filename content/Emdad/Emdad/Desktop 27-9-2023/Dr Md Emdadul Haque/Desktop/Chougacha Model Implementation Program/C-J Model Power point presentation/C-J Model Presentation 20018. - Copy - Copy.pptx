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45"/>
  </p:notesMasterIdLst>
  <p:sldIdLst>
    <p:sldId id="542" r:id="rId2"/>
    <p:sldId id="527" r:id="rId3"/>
    <p:sldId id="512" r:id="rId4"/>
    <p:sldId id="554" r:id="rId5"/>
    <p:sldId id="546" r:id="rId6"/>
    <p:sldId id="550" r:id="rId7"/>
    <p:sldId id="551" r:id="rId8"/>
    <p:sldId id="533" r:id="rId9"/>
    <p:sldId id="535" r:id="rId10"/>
    <p:sldId id="536" r:id="rId11"/>
    <p:sldId id="259" r:id="rId12"/>
    <p:sldId id="384" r:id="rId13"/>
    <p:sldId id="532" r:id="rId14"/>
    <p:sldId id="452" r:id="rId15"/>
    <p:sldId id="515" r:id="rId16"/>
    <p:sldId id="516" r:id="rId17"/>
    <p:sldId id="447" r:id="rId18"/>
    <p:sldId id="469" r:id="rId19"/>
    <p:sldId id="357" r:id="rId20"/>
    <p:sldId id="513" r:id="rId21"/>
    <p:sldId id="390" r:id="rId22"/>
    <p:sldId id="538" r:id="rId23"/>
    <p:sldId id="537" r:id="rId24"/>
    <p:sldId id="510" r:id="rId25"/>
    <p:sldId id="391" r:id="rId26"/>
    <p:sldId id="376" r:id="rId27"/>
    <p:sldId id="488" r:id="rId28"/>
    <p:sldId id="490" r:id="rId29"/>
    <p:sldId id="492" r:id="rId30"/>
    <p:sldId id="323" r:id="rId31"/>
    <p:sldId id="496" r:id="rId32"/>
    <p:sldId id="495" r:id="rId33"/>
    <p:sldId id="500" r:id="rId34"/>
    <p:sldId id="514" r:id="rId35"/>
    <p:sldId id="487" r:id="rId36"/>
    <p:sldId id="507" r:id="rId37"/>
    <p:sldId id="552" r:id="rId38"/>
    <p:sldId id="262" r:id="rId39"/>
    <p:sldId id="341" r:id="rId40"/>
    <p:sldId id="521" r:id="rId41"/>
    <p:sldId id="522" r:id="rId42"/>
    <p:sldId id="509" r:id="rId43"/>
    <p:sldId id="477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5" autoAdjust="0"/>
    <p:restoredTop sz="90446" autoAdjust="0"/>
  </p:normalViewPr>
  <p:slideViewPr>
    <p:cSldViewPr>
      <p:cViewPr varScale="1">
        <p:scale>
          <a:sx n="72" d="100"/>
          <a:sy n="72" d="100"/>
        </p:scale>
        <p:origin x="14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736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662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05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4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4A6AD93-BD72-42ED-B1DC-C5E58BE4E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E77E2E-B07E-48FD-91A3-58E45726F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6555712-0B84-4C3A-9118-B3E48184A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8DBCCB-4C23-435A-8E51-FBD2B31FEC8C}" type="slidenum">
              <a:rPr lang="en-US" altLang="en-US"/>
              <a:pPr eaLnBrk="1" hangingPunct="1"/>
              <a:t>22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2257331-E17E-4C34-ACBB-D2849C4C6C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FA6E0831-79F6-435B-B69B-D7A870F9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75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8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35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37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229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1">
            <a:extLst>
              <a:ext uri="{FF2B5EF4-FFF2-40B4-BE49-F238E27FC236}">
                <a16:creationId xmlns:a16="http://schemas.microsoft.com/office/drawing/2014/main" id="{4F4F54C2-9248-43C0-9FBB-13F2A58023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8463" algn="l"/>
                <a:tab pos="800100" algn="l"/>
                <a:tab pos="1201738" algn="l"/>
                <a:tab pos="1603375" algn="l"/>
                <a:tab pos="2005013" algn="l"/>
                <a:tab pos="2406650" algn="l"/>
                <a:tab pos="2806700" algn="l"/>
                <a:tab pos="3208338" algn="l"/>
                <a:tab pos="3609975" algn="l"/>
                <a:tab pos="4011613" algn="l"/>
                <a:tab pos="4413250" algn="l"/>
                <a:tab pos="4814888" algn="l"/>
                <a:tab pos="5214938" algn="l"/>
                <a:tab pos="5616575" algn="l"/>
                <a:tab pos="6018213" algn="l"/>
                <a:tab pos="6419850" algn="l"/>
                <a:tab pos="6821488" algn="l"/>
                <a:tab pos="7223125" algn="l"/>
                <a:tab pos="7623175" algn="l"/>
                <a:tab pos="8024813" algn="l"/>
              </a:tabLs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/>
            <a:fld id="{6117B931-8D96-4F4A-A722-FE05E31681A5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  <a:ea typeface="ＭＳ Ｐ明朝" panose="02020600040205080304" pitchFamily="18" charset="-128"/>
              </a:rPr>
              <a:pPr eaLnBrk="1"/>
              <a:t>39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  <a:ea typeface="ＭＳ Ｐ明朝" panose="02020600040205080304" pitchFamily="18" charset="-128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AA8524B9-F19A-4A07-A542-84083CE75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F44D836B-BF78-4E6F-9B2D-0EB6AA340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815975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>
            <a:extLst>
              <a:ext uri="{FF2B5EF4-FFF2-40B4-BE49-F238E27FC236}">
                <a16:creationId xmlns:a16="http://schemas.microsoft.com/office/drawing/2014/main" id="{A7F6AF17-4B02-4774-B145-0B533BA06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</p:spPr>
      </p:sp>
      <p:sp>
        <p:nvSpPr>
          <p:cNvPr id="54275" name="Rectangle 1027">
            <a:extLst>
              <a:ext uri="{FF2B5EF4-FFF2-40B4-BE49-F238E27FC236}">
                <a16:creationId xmlns:a16="http://schemas.microsoft.com/office/drawing/2014/main" id="{79D858D4-236D-4872-91CD-7001687E8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26">
            <a:extLst>
              <a:ext uri="{FF2B5EF4-FFF2-40B4-BE49-F238E27FC236}">
                <a16:creationId xmlns:a16="http://schemas.microsoft.com/office/drawing/2014/main" id="{9ED7A956-EE2C-46D8-82F0-F744D584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30250"/>
            <a:ext cx="4619625" cy="3463925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5299" name="Rectangle 1028">
            <a:extLst>
              <a:ext uri="{FF2B5EF4-FFF2-40B4-BE49-F238E27FC236}">
                <a16:creationId xmlns:a16="http://schemas.microsoft.com/office/drawing/2014/main" id="{4AA9FDC3-594D-4D50-8719-29FB87987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443413"/>
            <a:ext cx="5143500" cy="4152900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5" rIns="93170" bIns="46585"/>
          <a:lstStyle/>
          <a:p>
            <a:pPr defTabSz="914400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42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8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9/23/2023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2023/9/23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eg"/><Relationship Id="rId4" Type="http://schemas.openxmlformats.org/officeDocument/2006/relationships/image" Target="../media/image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17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0.wmf"/><Relationship Id="rId10" Type="http://schemas.openxmlformats.org/officeDocument/2006/relationships/image" Target="../media/image62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 Emdadul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47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/>
        </p:nvGraphicFramePr>
        <p:xfrm>
          <a:off x="144439" y="1295400"/>
          <a:ext cx="9213348" cy="484306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2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 rot="10800000" flipV="1">
            <a:off x="5181600" y="6415951"/>
            <a:ext cx="37731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Bank 2018,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resources of different countries  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32549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SAARC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/>
        </p:nvGraphicFramePr>
        <p:xfrm>
          <a:off x="840105" y="1410155"/>
          <a:ext cx="7543800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36946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sz="3200" dirty="0"/>
              <a:t>Challenges in  the health service  Bangladesh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458200" cy="54102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  <a:defRPr/>
            </a:pPr>
            <a:endParaRPr lang="en-US" sz="2000" b="1" dirty="0"/>
          </a:p>
          <a:p>
            <a:pPr marL="0" indent="0" algn="just">
              <a:buNone/>
              <a:defRPr/>
            </a:pPr>
            <a:endParaRPr lang="en-US" sz="2000" b="1" dirty="0"/>
          </a:p>
          <a:p>
            <a:pPr algn="just">
              <a:defRPr/>
            </a:pPr>
            <a:r>
              <a:rPr lang="en-US" b="1" dirty="0"/>
              <a:t> </a:t>
            </a:r>
            <a:r>
              <a:rPr lang="en-US" sz="3400" b="1" dirty="0"/>
              <a:t>In secured  hospital environment</a:t>
            </a:r>
          </a:p>
          <a:p>
            <a:pPr algn="just">
              <a:defRPr/>
            </a:pPr>
            <a:r>
              <a:rPr lang="en-US" sz="3400" b="1" dirty="0"/>
              <a:t> Waste management system is poor.</a:t>
            </a:r>
          </a:p>
          <a:p>
            <a:pPr algn="just">
              <a:defRPr/>
            </a:pPr>
            <a:r>
              <a:rPr lang="en-US" sz="3400" b="1" dirty="0"/>
              <a:t>In effective referral system</a:t>
            </a:r>
          </a:p>
          <a:p>
            <a:pPr algn="just">
              <a:defRPr/>
            </a:pPr>
            <a:r>
              <a:rPr lang="en-US" sz="3400" b="1" dirty="0"/>
              <a:t>High C-section rate.</a:t>
            </a:r>
          </a:p>
          <a:p>
            <a:pPr algn="just">
              <a:defRPr/>
            </a:pPr>
            <a:r>
              <a:rPr lang="en-US" sz="3400" b="1" dirty="0"/>
              <a:t>Primary health care is neglected in local govt area.</a:t>
            </a:r>
          </a:p>
          <a:p>
            <a:pPr algn="just">
              <a:defRPr/>
            </a:pPr>
            <a:r>
              <a:rPr lang="en-US" sz="3400" b="1" dirty="0"/>
              <a:t>Weak diagnostic facility in Govt. System. </a:t>
            </a:r>
          </a:p>
          <a:p>
            <a:pPr algn="just">
              <a:defRPr/>
            </a:pPr>
            <a:r>
              <a:rPr lang="en-US" sz="3400" b="1" dirty="0"/>
              <a:t>Loss of foreign currency due to medical tourism.</a:t>
            </a:r>
          </a:p>
          <a:p>
            <a:pPr algn="just">
              <a:defRPr/>
            </a:pPr>
            <a:r>
              <a:rPr lang="en-US" sz="3400" b="1" dirty="0"/>
              <a:t>Both Service providers and patient satisfaction rate is unsatisfactory.</a:t>
            </a:r>
          </a:p>
          <a:p>
            <a:pPr algn="just">
              <a:defRPr/>
            </a:pPr>
            <a:r>
              <a:rPr lang="en-US" sz="3400" b="1" dirty="0"/>
              <a:t>Community involvement is minimum.</a:t>
            </a:r>
          </a:p>
          <a:p>
            <a:pPr algn="just">
              <a:defRPr/>
            </a:pPr>
            <a:r>
              <a:rPr lang="en-US" sz="3400" b="1" dirty="0"/>
              <a:t>Division of the health, family planning nursing services.</a:t>
            </a:r>
          </a:p>
          <a:p>
            <a:pPr algn="just">
              <a:defRPr/>
            </a:pPr>
            <a:r>
              <a:rPr lang="en-US" sz="3400" b="1" dirty="0"/>
              <a:t>Health insurance system is weak.</a:t>
            </a:r>
          </a:p>
          <a:p>
            <a:pPr algn="just">
              <a:defRPr/>
            </a:pPr>
            <a:r>
              <a:rPr lang="en-US" sz="3400" b="1" dirty="0"/>
              <a:t>Visionary health policy not developed.</a:t>
            </a:r>
          </a:p>
          <a:p>
            <a:pPr>
              <a:defRPr/>
            </a:pPr>
            <a:endParaRPr lang="en-US" sz="34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1871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/>
        </p:nvGraphicFramePr>
        <p:xfrm>
          <a:off x="0" y="838200"/>
          <a:ext cx="9144000" cy="625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476">
                  <a:extLst>
                    <a:ext uri="{9D8B030D-6E8A-4147-A177-3AD203B41FA5}">
                      <a16:colId xmlns:a16="http://schemas.microsoft.com/office/drawing/2014/main" val="1629112992"/>
                    </a:ext>
                  </a:extLst>
                </a:gridCol>
                <a:gridCol w="1589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No2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 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  <a:p>
                      <a:r>
                        <a:rPr lang="en-US" sz="1800" dirty="0"/>
                        <a:t>2030.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CPR(Contractive Prevalence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831029"/>
                  </a:ext>
                </a:extLst>
              </a:tr>
              <a:tr h="264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TFR(Total Fertility Rate)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3168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rate( 15-19)</a:t>
                      </a:r>
                      <a:r>
                        <a:rPr kumimoji="0" 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/1000 fertile couple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118009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MMR( Maternal mortality ratio) 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5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ANC(Ante natal care) 4</a:t>
                      </a:r>
                      <a:r>
                        <a:rPr kumimoji="0" lang="en-US" sz="1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36.9%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27885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Delivery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64561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Institutional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49%(2018)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906082"/>
                  </a:ext>
                </a:extLst>
              </a:tr>
              <a:tr h="406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 (Neonatal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IMR(Infant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7580856"/>
                  </a:ext>
                </a:extLst>
              </a:tr>
              <a:tr h="314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3.3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 (Under 5 mortality rate)/1000LB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164581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Immunization Coverages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806131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Malnutrition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Stunting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15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Health-seeking behavior for Pneumonia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2501573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70572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sz="3200" b="1" baseline="30000" dirty="0"/>
            </a:br>
            <a:r>
              <a:rPr lang="en-US" altLang="en-US" sz="3200" b="1" baseline="30000" dirty="0"/>
              <a:t> </a:t>
            </a:r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2380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/>
        </p:nvGraphicFramePr>
        <p:xfrm>
          <a:off x="0" y="914400"/>
          <a:ext cx="9144000" cy="6614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2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2796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1617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8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60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.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TB case detection rate/100000 pop(Bacteriologically conform new pulmonary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97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All forms of TB case detection rate/100000 pop (New + Relapse)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&lt;10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5.3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MDR</a:t>
                      </a:r>
                      <a:r>
                        <a:rPr kumimoji="0" lang="en-US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(Multi drug resistant)-TB treatment Success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81%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9872724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6.0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HIV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Use of bed nets for malaria prevention(%)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Sanitation coverage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9-12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NCD(30-69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 % of total death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50.25%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3387127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8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 (Road traffic accident)     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838918"/>
                  </a:ext>
                </a:extLst>
              </a:tr>
              <a:tr h="473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Tobacco Smoking(Smoked or smokeless formed) rate(%)15+years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34.70%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703419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8580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29000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219200"/>
          <a:ext cx="8396725" cy="476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98550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Targets 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OPE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67%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126801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49%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59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14.1 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Gov. Hospital access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790109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access rate(Non- Govt)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04338"/>
                  </a:ext>
                </a:extLst>
              </a:tr>
              <a:tr h="335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Health worker density(Doctors ,nurses &amp; midwifes, paramedics )/1000 population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171470"/>
                  </a:ext>
                </a:extLst>
              </a:tr>
              <a:tr h="2408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Doctors.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 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3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Nurses &amp; midwifes.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4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16.0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 &amp;Vaccines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319665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medicines.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83240"/>
                  </a:ext>
                </a:extLst>
              </a:tr>
              <a:tr h="3300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Access to essential vaccines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436613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394700" cy="857250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altLang="en-US" sz="3600" b="1" baseline="30000" dirty="0"/>
              <a:t>Progress of Universal  Health Coverage</a:t>
            </a:r>
            <a:endParaRPr lang="en-US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9547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donor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6272843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711275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524000"/>
          <a:ext cx="8382000" cy="5241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about 8</a:t>
                      </a:r>
                      <a:r>
                        <a:rPr lang="en-GB" sz="2400" baseline="30000" dirty="0"/>
                        <a:t>th</a:t>
                      </a:r>
                      <a:r>
                        <a:rPr lang="en-GB" sz="2400" dirty="0"/>
                        <a:t> 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19Develop pathological investigation</a:t>
                      </a:r>
                    </a:p>
                    <a:p>
                      <a:r>
                        <a:rPr lang="en-US" sz="2400"/>
                        <a:t>.20.</a:t>
                      </a:r>
                      <a:r>
                        <a:rPr lang="en-US" sz="2400" dirty="0"/>
                        <a:t>Z</a:t>
                      </a:r>
                      <a:r>
                        <a:rPr lang="en-US" sz="2400"/>
                        <a:t>ero-Tollarance </a:t>
                      </a:r>
                      <a:r>
                        <a:rPr lang="en-US" sz="2400" dirty="0"/>
                        <a:t>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89295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Who should care!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305857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353637225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567929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129389" y="1900622"/>
            <a:ext cx="3682847" cy="131802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2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b="1" dirty="0"/>
              <a:t>Maximum utilization of Govt.</a:t>
            </a:r>
          </a:p>
          <a:p>
            <a:pPr algn="ctr" eaLnBrk="0" hangingPunct="0"/>
            <a:r>
              <a:rPr lang="en-US" b="1" dirty="0"/>
              <a:t>resources with </a:t>
            </a:r>
          </a:p>
          <a:p>
            <a:pPr algn="ctr" eaLnBrk="0" hangingPunct="0"/>
            <a:r>
              <a:rPr lang="en-US" b="1" dirty="0"/>
              <a:t>honesty .</a:t>
            </a:r>
          </a:p>
          <a:p>
            <a:pPr algn="ctr" eaLnBrk="0" hangingPunct="0"/>
            <a:endParaRPr lang="en-US" sz="12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129389" y="4761693"/>
            <a:ext cx="4024011" cy="15283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 Effective  services </a:t>
            </a:r>
          </a:p>
          <a:p>
            <a:pPr algn="ctr" eaLnBrk="0" hangingPunct="0"/>
            <a:r>
              <a:rPr lang="en-US" sz="2000" b="1" dirty="0"/>
              <a:t>through improved </a:t>
            </a:r>
          </a:p>
          <a:p>
            <a:pPr algn="ctr" eaLnBrk="0" hangingPunct="0"/>
            <a:r>
              <a:rPr lang="en-US" sz="2000" b="1" dirty="0"/>
              <a:t>management system</a:t>
            </a:r>
            <a:r>
              <a:rPr lang="en-US" sz="12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632348" y="2362200"/>
            <a:ext cx="2299842" cy="66675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219200" y="5070226"/>
            <a:ext cx="2493169" cy="804945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932190" y="3328987"/>
            <a:ext cx="4082899" cy="143270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000" b="1" dirty="0"/>
              <a:t>Integrated approach with</a:t>
            </a:r>
          </a:p>
          <a:p>
            <a:pPr algn="ctr" eaLnBrk="0" hangingPunct="0"/>
            <a:r>
              <a:rPr lang="en-US" sz="2000" b="1" dirty="0"/>
              <a:t>Administration, Community</a:t>
            </a:r>
          </a:p>
          <a:p>
            <a:pPr algn="ctr" eaLnBrk="0" hangingPunct="0"/>
            <a:r>
              <a:rPr lang="en-US" sz="2000" b="1" dirty="0"/>
              <a:t>Leaders </a:t>
            </a:r>
            <a:r>
              <a:rPr lang="en-US" sz="12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19175" y="3696839"/>
            <a:ext cx="2482453" cy="666751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257800" y="1143000"/>
            <a:ext cx="41910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Blood donor list &gt;1000 donor</a:t>
            </a:r>
            <a:r>
              <a:rPr lang="en-US" dirty="0">
                <a:latin typeface="Calibri" pitchFamily="34" charset="0"/>
              </a:rPr>
              <a:t>.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4648200"/>
            <a:ext cx="4267200" cy="1756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Birth-death recording through out the Upazilla.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389445" y="2000675"/>
            <a:ext cx="3623930" cy="513638"/>
          </a:xfrm>
        </p:spPr>
        <p:txBody>
          <a:bodyPr>
            <a:noAutofit/>
          </a:bodyPr>
          <a:lstStyle/>
          <a:p>
            <a:r>
              <a:rPr lang="en-US" sz="2800" dirty="0"/>
              <a:t>Cycle stand near the entrance	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8" y="1319904"/>
            <a:ext cx="4349848" cy="3175895"/>
          </a:xfrm>
        </p:spPr>
      </p:pic>
      <p:sp>
        <p:nvSpPr>
          <p:cNvPr id="9" name="Rectangle 8"/>
          <p:cNvSpPr/>
          <p:nvPr/>
        </p:nvSpPr>
        <p:spPr>
          <a:xfrm>
            <a:off x="0" y="5107209"/>
            <a:ext cx="6019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b="1" dirty="0"/>
              <a:t>“</a:t>
            </a:r>
            <a:r>
              <a:rPr lang="en-US" sz="2200" b="1" dirty="0"/>
              <a:t>Pushti Tray”- Nutritional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97695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the health complex.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3" y="3770723"/>
            <a:ext cx="4127497" cy="293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1548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276600" y="2819400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Citizen Charter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12405" y="838200"/>
            <a:ext cx="3441700" cy="516255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5715000" y="846618"/>
            <a:ext cx="3429000" cy="515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0754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775857" y="990600"/>
            <a:ext cx="3962400" cy="1219200"/>
          </a:xfrm>
        </p:spPr>
        <p:txBody>
          <a:bodyPr>
            <a:noAutofit/>
          </a:bodyPr>
          <a:lstStyle/>
          <a:p>
            <a:pPr algn="ctr"/>
            <a:r>
              <a:rPr lang="en-US" dirty="0" err="1"/>
              <a:t>Labour</a:t>
            </a:r>
            <a:r>
              <a:rPr lang="en-US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55890" y="5791200"/>
            <a:ext cx="4983418" cy="47148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Rest room for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3F51AF1-FD59-4942-8F00-267233307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sz="2400" b="1" dirty="0"/>
              <a:t>All mother will take ANC &amp; PNC Care in the Health Complex(Minimum 5 Visit</a:t>
            </a:r>
            <a:r>
              <a:rPr lang="en-US" altLang="en-US" sz="2000" b="1" dirty="0"/>
              <a:t>)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1661D01-577D-4F3A-AF86-1D2945DA56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altLang="en-US" sz="2800"/>
          </a:p>
          <a:p>
            <a:pPr algn="ctr">
              <a:buFontTx/>
              <a:buNone/>
            </a:pPr>
            <a:endParaRPr lang="en-US" altLang="en-US" sz="2800"/>
          </a:p>
        </p:txBody>
      </p:sp>
      <p:sp>
        <p:nvSpPr>
          <p:cNvPr id="78852" name="Rectangle 4">
            <a:extLst>
              <a:ext uri="{FF2B5EF4-FFF2-40B4-BE49-F238E27FC236}">
                <a16:creationId xmlns:a16="http://schemas.microsoft.com/office/drawing/2014/main" id="{E9477B92-AA10-4251-B80A-38389EBD2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19461" name="Object 25">
            <a:extLst>
              <a:ext uri="{FF2B5EF4-FFF2-40B4-BE49-F238E27FC236}">
                <a16:creationId xmlns:a16="http://schemas.microsoft.com/office/drawing/2014/main" id="{1F9264CA-D3DE-4070-9B16-D7A9224FB4F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90600" y="2286000"/>
          <a:ext cx="7162800" cy="407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9461" name="Object 25">
                        <a:extLst>
                          <a:ext uri="{FF2B5EF4-FFF2-40B4-BE49-F238E27FC236}">
                            <a16:creationId xmlns:a16="http://schemas.microsoft.com/office/drawing/2014/main" id="{1F9264CA-D3DE-4070-9B16-D7A9224FB4F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86000"/>
                        <a:ext cx="7162800" cy="407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All mother will deliver their baby in Hospital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dirty="0"/>
              <a:t>All Caesarian Section Perform in Govt. Hospital</a:t>
            </a:r>
            <a:r>
              <a:rPr lang="en-US" sz="2000" b="1" dirty="0"/>
              <a:t>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1612262"/>
              </p:ext>
            </p:extLst>
          </p:nvPr>
        </p:nvGraphicFramePr>
        <p:xfrm>
          <a:off x="990600" y="2678112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678112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E6B77D2-4122-4E45-9F4E-C7BA6C3F52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3640"/>
            <a:ext cx="8153400" cy="97555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600" b="1" dirty="0"/>
              <a:t>UHC,CHOWGACHA,JASHORE.</a:t>
            </a:r>
            <a:br>
              <a:rPr lang="en-US" altLang="en-US" sz="3600" b="1" dirty="0"/>
            </a:br>
            <a:endParaRPr lang="en-US" altLang="en-US" sz="2800" b="1" dirty="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E9689E5E-2CF0-42C3-A770-171EB38F5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3401"/>
            <a:ext cx="8115300" cy="6604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graphicFrame>
        <p:nvGraphicFramePr>
          <p:cNvPr id="20216" name="Group 760">
            <a:extLst>
              <a:ext uri="{FF2B5EF4-FFF2-40B4-BE49-F238E27FC236}">
                <a16:creationId xmlns:a16="http://schemas.microsoft.com/office/drawing/2014/main" id="{D86488D1-44EB-4DD7-902F-D51CEB2DC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981610"/>
              </p:ext>
            </p:extLst>
          </p:nvPr>
        </p:nvGraphicFramePr>
        <p:xfrm>
          <a:off x="533400" y="2057400"/>
          <a:ext cx="8153400" cy="4785416"/>
        </p:xfrm>
        <a:graphic>
          <a:graphicData uri="http://schemas.openxmlformats.org/drawingml/2006/table">
            <a:tbl>
              <a:tblPr/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Name of institute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NVD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Vacuum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Del.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Breech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C.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Section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Chowgacha UHC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3346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1007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4413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Ad-din Hospital Jessore.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1424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1864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3288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03.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Khulna Medical College Hospital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1581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1356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3013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04.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Jessore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1327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1498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2852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6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 bed Hospital, Kustia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1728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34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915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2677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06.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Fatima Hospital Jessore.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519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1061</a:t>
                      </a: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1586</a:t>
                      </a: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6" marB="4570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011316"/>
      </p:ext>
    </p:extLst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TOTAL</a:t>
            </a:r>
            <a:r>
              <a:rPr lang="en-US" sz="2600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19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</a:t>
            </a:r>
            <a:r>
              <a:rPr lang="en-US" sz="2400" b="1" dirty="0">
                <a:solidFill>
                  <a:srgbClr val="FF0000"/>
                </a:solidFill>
              </a:rPr>
              <a:t>awarded for EPI in 1988,”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2" y="1066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" y="0"/>
            <a:ext cx="9126078" cy="10668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Learning visit in other hospital  to develop quality of care.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370598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Ward and EOC Ward </a:t>
            </a:r>
          </a:p>
        </p:txBody>
      </p:sp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45100" y="782955"/>
            <a:ext cx="3589753" cy="274510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90593" y="782955"/>
            <a:ext cx="3789183" cy="2727508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833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85799"/>
            <a:ext cx="4424362" cy="2996821"/>
          </a:xfrm>
        </p:spPr>
      </p:pic>
      <p:pic>
        <p:nvPicPr>
          <p:cNvPr id="75779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85800"/>
            <a:ext cx="44958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5025" y="4038600"/>
            <a:ext cx="4498975" cy="285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781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38600"/>
            <a:ext cx="44259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community supported manpower -  2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88813" y="4038600"/>
            <a:ext cx="864339" cy="369332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Guard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8817" y="685800"/>
            <a:ext cx="1467133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Trolley man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8112949" y="685800"/>
            <a:ext cx="103105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Cleaner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7689756" y="4038600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Nursing aid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57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9875" y="993319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062722" y="1012155"/>
            <a:ext cx="4537074" cy="138499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800" dirty="0"/>
              <a:t> Health Education for the patients and their attendance by health Manager</a:t>
            </a:r>
            <a:r>
              <a:rPr lang="en-US" sz="2000" dirty="0"/>
              <a:t>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14300" y="4318876"/>
            <a:ext cx="4152900" cy="1077218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3200" dirty="0"/>
              <a:t>Motivation of the community leaders </a:t>
            </a:r>
            <a:r>
              <a:rPr lang="en-US" sz="2000" dirty="0"/>
              <a:t>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0"/>
            <a:ext cx="8229599" cy="914400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Hospital</a:t>
            </a:r>
          </a:p>
        </p:txBody>
      </p:sp>
    </p:spTree>
    <p:extLst>
      <p:ext uri="{BB962C8B-B14F-4D97-AF65-F5344CB8AC3E}">
        <p14:creationId xmlns:p14="http://schemas.microsoft.com/office/powerpoint/2010/main" val="25154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>
            <a:extLst>
              <a:ext uri="{FF2B5EF4-FFF2-40B4-BE49-F238E27FC236}">
                <a16:creationId xmlns:a16="http://schemas.microsoft.com/office/drawing/2014/main" id="{879CCA2B-0EFA-40EE-A405-083B9857D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3688079"/>
            <a:ext cx="4451959" cy="2844284"/>
          </a:xfrm>
          <a:prstGeom prst="rect">
            <a:avLst/>
          </a:prstGeom>
          <a:noFill/>
        </p:spPr>
      </p:pic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97468"/>
            <a:ext cx="4416426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738411"/>
            <a:ext cx="4532312" cy="28442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1" y="3657599"/>
            <a:ext cx="4416425" cy="2845482"/>
          </a:xfrm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-1" y="685800"/>
            <a:ext cx="418576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Intercom system by community sup.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689208" y="738411"/>
            <a:ext cx="3454792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Generator by community sup.</a:t>
            </a:r>
            <a:endParaRPr lang="en-GB" dirty="0"/>
          </a:p>
        </p:txBody>
      </p:sp>
      <p:sp>
        <p:nvSpPr>
          <p:cNvPr id="16" name="Rectangle 15"/>
          <p:cNvSpPr/>
          <p:nvPr/>
        </p:nvSpPr>
        <p:spPr>
          <a:xfrm>
            <a:off x="4842113" y="3915261"/>
            <a:ext cx="4044697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Pcikup</a:t>
            </a:r>
            <a:r>
              <a:rPr lang="en-US" b="1" dirty="0">
                <a:solidFill>
                  <a:srgbClr val="FF0000"/>
                </a:solidFill>
              </a:rPr>
              <a:t> van by </a:t>
            </a:r>
            <a:r>
              <a:rPr lang="en-US" b="1" dirty="0" err="1">
                <a:solidFill>
                  <a:srgbClr val="FF0000"/>
                </a:solidFill>
              </a:rPr>
              <a:t>Jahedee</a:t>
            </a:r>
            <a:r>
              <a:rPr lang="en-US" b="1" dirty="0">
                <a:solidFill>
                  <a:srgbClr val="FF0000"/>
                </a:solidFill>
              </a:rPr>
              <a:t> Foundation</a:t>
            </a:r>
            <a:endParaRPr lang="en-GB" dirty="0"/>
          </a:p>
        </p:txBody>
      </p:sp>
      <p:sp>
        <p:nvSpPr>
          <p:cNvPr id="17" name="Rectangle 16"/>
          <p:cNvSpPr/>
          <p:nvPr/>
        </p:nvSpPr>
        <p:spPr>
          <a:xfrm>
            <a:off x="-1" y="4068574"/>
            <a:ext cx="346761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Extension </a:t>
            </a:r>
            <a:r>
              <a:rPr lang="en-US" b="1" dirty="0">
                <a:solidFill>
                  <a:srgbClr val="FF0000"/>
                </a:solidFill>
              </a:rPr>
              <a:t>of hospital mosque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60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9466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1. Active Community Participation in health service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IPD &amp; OPD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4.. The hospital is awarded 7 times from 2013 to 2020. </a:t>
            </a:r>
            <a:endParaRPr lang="en-US" sz="2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6. Improved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Replication of C- J Model by DGHS in many District hospital &amp; UHC.</a:t>
            </a:r>
          </a:p>
          <a:p>
            <a:pPr marL="0" algn="just">
              <a:defRPr/>
            </a:pPr>
            <a:r>
              <a:rPr lang="en-US" sz="2000" b="1" dirty="0"/>
              <a:t> </a:t>
            </a:r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66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5766" y="-15766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Supported Hospitals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42270" y="746234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Upazilla Health Complex</a:t>
            </a: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01.Chowgacha 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02.Koatchandpur 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03.Keshobpur 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04.Kapashia,UHC.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05.Ramgoti,UHC.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06.Hatibhanda,UHC.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07.Modhupur,UHC.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08.Nandail UHC,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09.Malendah.UHC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10.Mohammadpur,UHC                                                             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800" dirty="0">
                <a:solidFill>
                  <a:srgbClr val="1F497D">
                    <a:lumMod val="75000"/>
                  </a:srgbClr>
                </a:solidFill>
              </a:rPr>
              <a:t>District Hospitals</a:t>
            </a:r>
            <a:r>
              <a:rPr lang="en-US" sz="3200" dirty="0">
                <a:solidFill>
                  <a:srgbClr val="1F497D">
                    <a:lumMod val="75000"/>
                  </a:srgbClr>
                </a:solidFill>
              </a:rPr>
              <a:t>.</a:t>
            </a: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01.Jhenaidah, 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02.JhenaidahShishu Hospital.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03.Jashore ,DH.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04.Norshindhi,DH.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04.Chuadanga, 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05.Coxbazar, 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06.Nowgon ,DH.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07.Jhalokathi, DH</a:t>
            </a:r>
          </a:p>
          <a:p>
            <a:pPr marL="0" algn="just"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08.Lokhmipur,DH</a:t>
            </a:r>
          </a:p>
        </p:txBody>
      </p:sp>
    </p:spTree>
    <p:extLst>
      <p:ext uri="{BB962C8B-B14F-4D97-AF65-F5344CB8AC3E}">
        <p14:creationId xmlns:p14="http://schemas.microsoft.com/office/powerpoint/2010/main" val="348685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79697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8">
            <a:extLst>
              <a:ext uri="{FF2B5EF4-FFF2-40B4-BE49-F238E27FC236}">
                <a16:creationId xmlns:a16="http://schemas.microsoft.com/office/drawing/2014/main" id="{CD6D1931-655F-4D84-A296-9848D6DF4814}"/>
              </a:ext>
            </a:extLst>
          </p:cNvPr>
          <p:cNvGrpSpPr>
            <a:grpSpLocks/>
          </p:cNvGrpSpPr>
          <p:nvPr/>
        </p:nvGrpSpPr>
        <p:grpSpPr bwMode="auto">
          <a:xfrm>
            <a:off x="-1439" y="1905481"/>
            <a:ext cx="9145440" cy="4952160"/>
            <a:chOff x="-1" y="1200"/>
            <a:chExt cx="5761" cy="3120"/>
          </a:xfrm>
        </p:grpSpPr>
        <p:sp>
          <p:nvSpPr>
            <p:cNvPr id="23590" name="Freeform 2">
              <a:extLst>
                <a:ext uri="{FF2B5EF4-FFF2-40B4-BE49-F238E27FC236}">
                  <a16:creationId xmlns:a16="http://schemas.microsoft.com/office/drawing/2014/main" id="{468F90AF-8BCF-45C9-8B5A-A0C26024C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1" name="Object 3">
              <a:extLst>
                <a:ext uri="{FF2B5EF4-FFF2-40B4-BE49-F238E27FC236}">
                  <a16:creationId xmlns:a16="http://schemas.microsoft.com/office/drawing/2014/main" id="{F8D9B85C-E4BA-40AC-9837-C1F4B10DA30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3591" name="Object 3">
                          <a:extLst>
                            <a:ext uri="{FF2B5EF4-FFF2-40B4-BE49-F238E27FC236}">
                              <a16:creationId xmlns:a16="http://schemas.microsoft.com/office/drawing/2014/main" id="{F8D9B85C-E4BA-40AC-9837-C1F4B10DA30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2" name="Object 4">
              <a:extLst>
                <a:ext uri="{FF2B5EF4-FFF2-40B4-BE49-F238E27FC236}">
                  <a16:creationId xmlns:a16="http://schemas.microsoft.com/office/drawing/2014/main" id="{AB86F339-AFF8-4730-95B4-7250F98979C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3592" name="Object 4">
                          <a:extLst>
                            <a:ext uri="{FF2B5EF4-FFF2-40B4-BE49-F238E27FC236}">
                              <a16:creationId xmlns:a16="http://schemas.microsoft.com/office/drawing/2014/main" id="{AB86F339-AFF8-4730-95B4-7250F98979C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3" name="Object 5">
              <a:extLst>
                <a:ext uri="{FF2B5EF4-FFF2-40B4-BE49-F238E27FC236}">
                  <a16:creationId xmlns:a16="http://schemas.microsoft.com/office/drawing/2014/main" id="{19311BE0-D067-40BB-9555-6D700675B17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3593" name="Object 5">
                          <a:extLst>
                            <a:ext uri="{FF2B5EF4-FFF2-40B4-BE49-F238E27FC236}">
                              <a16:creationId xmlns:a16="http://schemas.microsoft.com/office/drawing/2014/main" id="{19311BE0-D067-40BB-9555-6D700675B17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Freeform 6">
              <a:extLst>
                <a:ext uri="{FF2B5EF4-FFF2-40B4-BE49-F238E27FC236}">
                  <a16:creationId xmlns:a16="http://schemas.microsoft.com/office/drawing/2014/main" id="{8646076C-EB4C-4B67-88F7-9225EA70E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3595" name="Object 7">
              <a:extLst>
                <a:ext uri="{FF2B5EF4-FFF2-40B4-BE49-F238E27FC236}">
                  <a16:creationId xmlns:a16="http://schemas.microsoft.com/office/drawing/2014/main" id="{F8E4F45F-48E7-4304-9737-049866B73C5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25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23595" name="Object 7">
                          <a:extLst>
                            <a:ext uri="{FF2B5EF4-FFF2-40B4-BE49-F238E27FC236}">
                              <a16:creationId xmlns:a16="http://schemas.microsoft.com/office/drawing/2014/main" id="{F8E4F45F-48E7-4304-9737-049866B73C5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>
            <a:extLst>
              <a:ext uri="{FF2B5EF4-FFF2-40B4-BE49-F238E27FC236}">
                <a16:creationId xmlns:a16="http://schemas.microsoft.com/office/drawing/2014/main" id="{A5723377-BB97-462D-BCB3-B10EFC9F6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01" y="229321"/>
            <a:ext cx="518112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3556" name="Group 42">
            <a:extLst>
              <a:ext uri="{FF2B5EF4-FFF2-40B4-BE49-F238E27FC236}">
                <a16:creationId xmlns:a16="http://schemas.microsoft.com/office/drawing/2014/main" id="{D259A4AB-7168-4D5F-95FB-389DDBD81EC8}"/>
              </a:ext>
            </a:extLst>
          </p:cNvPr>
          <p:cNvGrpSpPr>
            <a:grpSpLocks/>
          </p:cNvGrpSpPr>
          <p:nvPr/>
        </p:nvGrpSpPr>
        <p:grpSpPr bwMode="auto">
          <a:xfrm>
            <a:off x="152641" y="1857961"/>
            <a:ext cx="8838720" cy="4818240"/>
            <a:chOff x="96" y="1170"/>
            <a:chExt cx="5568" cy="3036"/>
          </a:xfrm>
        </p:grpSpPr>
        <p:grpSp>
          <p:nvGrpSpPr>
            <p:cNvPr id="23558" name="Group 20">
              <a:extLst>
                <a:ext uri="{FF2B5EF4-FFF2-40B4-BE49-F238E27FC236}">
                  <a16:creationId xmlns:a16="http://schemas.microsoft.com/office/drawing/2014/main" id="{886B46D3-0111-4D23-9440-61CD015214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3580" name="Oval 10">
                <a:extLst>
                  <a:ext uri="{FF2B5EF4-FFF2-40B4-BE49-F238E27FC236}">
                    <a16:creationId xmlns:a16="http://schemas.microsoft.com/office/drawing/2014/main" id="{4E3CBF06-8BEE-4F25-8EAF-D9CC3DE724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81" name="Group 19">
                <a:extLst>
                  <a:ext uri="{FF2B5EF4-FFF2-40B4-BE49-F238E27FC236}">
                    <a16:creationId xmlns:a16="http://schemas.microsoft.com/office/drawing/2014/main" id="{BC4B32C9-1EFE-44CA-9238-08D4CF601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3582" name="Group 13">
                  <a:extLst>
                    <a:ext uri="{FF2B5EF4-FFF2-40B4-BE49-F238E27FC236}">
                      <a16:creationId xmlns:a16="http://schemas.microsoft.com/office/drawing/2014/main" id="{5A04FDFD-9E8E-4D31-89CE-33C5014415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3588" name="Picture 11">
                    <a:extLst>
                      <a:ext uri="{FF2B5EF4-FFF2-40B4-BE49-F238E27FC236}">
                        <a16:creationId xmlns:a16="http://schemas.microsoft.com/office/drawing/2014/main" id="{86C7CCE1-8626-4F8C-B50F-B1F17B8B00E6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89" name="AutoShape 12">
                    <a:extLst>
                      <a:ext uri="{FF2B5EF4-FFF2-40B4-BE49-F238E27FC236}">
                        <a16:creationId xmlns:a16="http://schemas.microsoft.com/office/drawing/2014/main" id="{50E59F01-05F0-416B-ACDB-4C2F9815AD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83" name="Group 18">
                  <a:extLst>
                    <a:ext uri="{FF2B5EF4-FFF2-40B4-BE49-F238E27FC236}">
                      <a16:creationId xmlns:a16="http://schemas.microsoft.com/office/drawing/2014/main" id="{8C6E77E7-359D-48F2-BC4D-648881F3D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3584" name="Freeform 14">
                    <a:extLst>
                      <a:ext uri="{FF2B5EF4-FFF2-40B4-BE49-F238E27FC236}">
                        <a16:creationId xmlns:a16="http://schemas.microsoft.com/office/drawing/2014/main" id="{46C9B740-F1FF-4AC0-A04B-E6937896CF8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5" name="Freeform 15">
                    <a:extLst>
                      <a:ext uri="{FF2B5EF4-FFF2-40B4-BE49-F238E27FC236}">
                        <a16:creationId xmlns:a16="http://schemas.microsoft.com/office/drawing/2014/main" id="{B2F41BC6-ED88-4046-94ED-B594E0B37B0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6" name="Freeform 16">
                    <a:extLst>
                      <a:ext uri="{FF2B5EF4-FFF2-40B4-BE49-F238E27FC236}">
                        <a16:creationId xmlns:a16="http://schemas.microsoft.com/office/drawing/2014/main" id="{B6905DE0-D0DF-4B1A-B3F3-1A54110DAFD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87" name="Freeform 17">
                    <a:extLst>
                      <a:ext uri="{FF2B5EF4-FFF2-40B4-BE49-F238E27FC236}">
                        <a16:creationId xmlns:a16="http://schemas.microsoft.com/office/drawing/2014/main" id="{7B398AC8-8170-44EA-BF04-44A3BB7D5C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59" name="Group 29">
              <a:extLst>
                <a:ext uri="{FF2B5EF4-FFF2-40B4-BE49-F238E27FC236}">
                  <a16:creationId xmlns:a16="http://schemas.microsoft.com/office/drawing/2014/main" id="{3899AC48-9F59-43BA-A9F5-C66D26A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3572" name="Oval 21">
                <a:extLst>
                  <a:ext uri="{FF2B5EF4-FFF2-40B4-BE49-F238E27FC236}">
                    <a16:creationId xmlns:a16="http://schemas.microsoft.com/office/drawing/2014/main" id="{397233C8-1238-4939-AB6E-D20EBC6AA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73" name="Group 28">
                <a:extLst>
                  <a:ext uri="{FF2B5EF4-FFF2-40B4-BE49-F238E27FC236}">
                    <a16:creationId xmlns:a16="http://schemas.microsoft.com/office/drawing/2014/main" id="{DDBAD37F-2081-4973-B3A9-763CE020A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3574" name="Picture 22">
                  <a:extLst>
                    <a:ext uri="{FF2B5EF4-FFF2-40B4-BE49-F238E27FC236}">
                      <a16:creationId xmlns:a16="http://schemas.microsoft.com/office/drawing/2014/main" id="{652E968C-0467-48B4-AD22-9BD91DC54344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3575" name="Group 27">
                  <a:extLst>
                    <a:ext uri="{FF2B5EF4-FFF2-40B4-BE49-F238E27FC236}">
                      <a16:creationId xmlns:a16="http://schemas.microsoft.com/office/drawing/2014/main" id="{1E2B9B2F-8C7F-4974-81F9-155989CA2AC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3576" name="Freeform 23">
                    <a:extLst>
                      <a:ext uri="{FF2B5EF4-FFF2-40B4-BE49-F238E27FC236}">
                        <a16:creationId xmlns:a16="http://schemas.microsoft.com/office/drawing/2014/main" id="{A9E9B7D4-88D1-4AC1-881B-6AAF7CCE146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7" name="Freeform 24">
                    <a:extLst>
                      <a:ext uri="{FF2B5EF4-FFF2-40B4-BE49-F238E27FC236}">
                        <a16:creationId xmlns:a16="http://schemas.microsoft.com/office/drawing/2014/main" id="{84F1197A-1BD7-4FF8-A569-6AB1644C648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8" name="Freeform 25">
                    <a:extLst>
                      <a:ext uri="{FF2B5EF4-FFF2-40B4-BE49-F238E27FC236}">
                        <a16:creationId xmlns:a16="http://schemas.microsoft.com/office/drawing/2014/main" id="{10BE0FEE-1E2C-4CB4-8DC9-5AE99780E9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79" name="Freeform 26">
                    <a:extLst>
                      <a:ext uri="{FF2B5EF4-FFF2-40B4-BE49-F238E27FC236}">
                        <a16:creationId xmlns:a16="http://schemas.microsoft.com/office/drawing/2014/main" id="{4B1666E5-7CA7-45B9-A155-3A978E9EA5A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grpSp>
          <p:nvGrpSpPr>
            <p:cNvPr id="23560" name="Group 40">
              <a:extLst>
                <a:ext uri="{FF2B5EF4-FFF2-40B4-BE49-F238E27FC236}">
                  <a16:creationId xmlns:a16="http://schemas.microsoft.com/office/drawing/2014/main" id="{502C1DAA-982F-4E4F-929E-C8F98D059D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3562" name="Oval 30">
                <a:extLst>
                  <a:ext uri="{FF2B5EF4-FFF2-40B4-BE49-F238E27FC236}">
                    <a16:creationId xmlns:a16="http://schemas.microsoft.com/office/drawing/2014/main" id="{1565BAB2-304F-46D6-B387-20A0D8A6E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1429" tIns="45714" rIns="91429" bIns="45714" anchor="ctr"/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1814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563" name="Group 39">
                <a:extLst>
                  <a:ext uri="{FF2B5EF4-FFF2-40B4-BE49-F238E27FC236}">
                    <a16:creationId xmlns:a16="http://schemas.microsoft.com/office/drawing/2014/main" id="{143E79DC-BB44-433F-AA46-EC583A8054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3564" name="Group 33">
                  <a:extLst>
                    <a:ext uri="{FF2B5EF4-FFF2-40B4-BE49-F238E27FC236}">
                      <a16:creationId xmlns:a16="http://schemas.microsoft.com/office/drawing/2014/main" id="{66512632-686B-498A-AE63-2C5AE9A3CE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3570" name="Picture 31">
                    <a:extLst>
                      <a:ext uri="{FF2B5EF4-FFF2-40B4-BE49-F238E27FC236}">
                        <a16:creationId xmlns:a16="http://schemas.microsoft.com/office/drawing/2014/main" id="{028854E4-1FDA-4395-938F-0C65EA7FC542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3571" name="AutoShape 32">
                    <a:extLst>
                      <a:ext uri="{FF2B5EF4-FFF2-40B4-BE49-F238E27FC236}">
                        <a16:creationId xmlns:a16="http://schemas.microsoft.com/office/drawing/2014/main" id="{207EB77B-EBA9-447E-8266-99061764B5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91429" tIns="45714" rIns="91429" bIns="45714" anchor="ctr"/>
                  <a:lstStyle>
                    <a:lvl1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defTabSz="1008063" eaLnBrk="0" hangingPunct="0"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1008063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8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endParaRPr lang="en-US" altLang="en-US" sz="1814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565" name="Group 38">
                  <a:extLst>
                    <a:ext uri="{FF2B5EF4-FFF2-40B4-BE49-F238E27FC236}">
                      <a16:creationId xmlns:a16="http://schemas.microsoft.com/office/drawing/2014/main" id="{A1910A79-0A20-4A3A-A527-5F157A8EDC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3566" name="Freeform 34">
                    <a:extLst>
                      <a:ext uri="{FF2B5EF4-FFF2-40B4-BE49-F238E27FC236}">
                        <a16:creationId xmlns:a16="http://schemas.microsoft.com/office/drawing/2014/main" id="{5E185FCF-BA67-407F-B978-B656A9C4D2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7" name="Freeform 35">
                    <a:extLst>
                      <a:ext uri="{FF2B5EF4-FFF2-40B4-BE49-F238E27FC236}">
                        <a16:creationId xmlns:a16="http://schemas.microsoft.com/office/drawing/2014/main" id="{878C23D6-5C41-4FE5-A33C-04A5C1571F9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8" name="Freeform 36">
                    <a:extLst>
                      <a:ext uri="{FF2B5EF4-FFF2-40B4-BE49-F238E27FC236}">
                        <a16:creationId xmlns:a16="http://schemas.microsoft.com/office/drawing/2014/main" id="{874BB8AF-7870-4A4C-A42F-FF554CED2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  <p:sp>
                <p:nvSpPr>
                  <p:cNvPr id="23569" name="Freeform 37">
                    <a:extLst>
                      <a:ext uri="{FF2B5EF4-FFF2-40B4-BE49-F238E27FC236}">
                        <a16:creationId xmlns:a16="http://schemas.microsoft.com/office/drawing/2014/main" id="{78364900-3A0E-4D1E-BF40-94438DCD75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91429" tIns="45714" rIns="91429" bIns="45714"/>
                  <a:lstStyle/>
                  <a:p>
                    <a:endParaRPr lang="en-US" sz="1633"/>
                  </a:p>
                </p:txBody>
              </p:sp>
            </p:grpSp>
          </p:grpSp>
        </p:grpSp>
        <p:sp>
          <p:nvSpPr>
            <p:cNvPr id="23561" name="Line 41">
              <a:extLst>
                <a:ext uri="{FF2B5EF4-FFF2-40B4-BE49-F238E27FC236}">
                  <a16:creationId xmlns:a16="http://schemas.microsoft.com/office/drawing/2014/main" id="{244B1FA4-AEAC-4EFD-A20B-293C868B92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  <p:sp>
        <p:nvSpPr>
          <p:cNvPr id="23557" name="Rectangle 43">
            <a:extLst>
              <a:ext uri="{FF2B5EF4-FFF2-40B4-BE49-F238E27FC236}">
                <a16:creationId xmlns:a16="http://schemas.microsoft.com/office/drawing/2014/main" id="{2DBF7F4D-B7B5-40CD-88C9-B4215284D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1" y="991081"/>
            <a:ext cx="7162560" cy="161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903" b="1">
                <a:solidFill>
                  <a:srgbClr val="B000B0"/>
                </a:solidFill>
                <a:ea typeface="MS Gothic" panose="020B0609070205080204" pitchFamily="49" charset="-128"/>
              </a:rPr>
              <a:t>A frontline-based problem solving approach </a:t>
            </a:r>
          </a:p>
          <a:p>
            <a:pPr>
              <a:spcBef>
                <a:spcPct val="50000"/>
              </a:spcBef>
            </a:pPr>
            <a:r>
              <a:rPr kumimoji="1" lang="en-US" altLang="ja-JP" sz="2721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3B4E7E8-0C26-4313-93B5-50EB8C7D7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4579" name="Group 12">
            <a:extLst>
              <a:ext uri="{FF2B5EF4-FFF2-40B4-BE49-F238E27FC236}">
                <a16:creationId xmlns:a16="http://schemas.microsoft.com/office/drawing/2014/main" id="{16B70414-1123-498D-97C2-7C8A7F6CFFC8}"/>
              </a:ext>
            </a:extLst>
          </p:cNvPr>
          <p:cNvGrpSpPr>
            <a:grpSpLocks/>
          </p:cNvGrpSpPr>
          <p:nvPr/>
        </p:nvGrpSpPr>
        <p:grpSpPr bwMode="auto">
          <a:xfrm>
            <a:off x="1441" y="1990440"/>
            <a:ext cx="9142560" cy="4867200"/>
            <a:chOff x="1" y="1254"/>
            <a:chExt cx="5759" cy="3066"/>
          </a:xfrm>
        </p:grpSpPr>
        <p:grpSp>
          <p:nvGrpSpPr>
            <p:cNvPr id="24607" name="Group 5">
              <a:extLst>
                <a:ext uri="{FF2B5EF4-FFF2-40B4-BE49-F238E27FC236}">
                  <a16:creationId xmlns:a16="http://schemas.microsoft.com/office/drawing/2014/main" id="{B7084EBC-E9A1-4EA0-8CB0-5601C91C4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4614" name="Freeform 3">
                <a:extLst>
                  <a:ext uri="{FF2B5EF4-FFF2-40B4-BE49-F238E27FC236}">
                    <a16:creationId xmlns:a16="http://schemas.microsoft.com/office/drawing/2014/main" id="{0A16C013-782C-4192-86C5-B34C5F29DC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5" name="Object 4">
                <a:extLst>
                  <a:ext uri="{FF2B5EF4-FFF2-40B4-BE49-F238E27FC236}">
                    <a16:creationId xmlns:a16="http://schemas.microsoft.com/office/drawing/2014/main" id="{48528052-A283-4D37-A46B-02641C0ED37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86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24615" name="Object 4">
                            <a:extLst>
                              <a:ext uri="{FF2B5EF4-FFF2-40B4-BE49-F238E27FC236}">
                                <a16:creationId xmlns:a16="http://schemas.microsoft.com/office/drawing/2014/main" id="{48528052-A283-4D37-A46B-02641C0ED375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8" name="Group 8">
              <a:extLst>
                <a:ext uri="{FF2B5EF4-FFF2-40B4-BE49-F238E27FC236}">
                  <a16:creationId xmlns:a16="http://schemas.microsoft.com/office/drawing/2014/main" id="{644A4197-6A11-4341-9602-BC959749C5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4612" name="Freeform 6">
                <a:extLst>
                  <a:ext uri="{FF2B5EF4-FFF2-40B4-BE49-F238E27FC236}">
                    <a16:creationId xmlns:a16="http://schemas.microsoft.com/office/drawing/2014/main" id="{6444E49D-093D-49A4-9B42-D36E6DD10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3" name="Object 7">
                <a:extLst>
                  <a:ext uri="{FF2B5EF4-FFF2-40B4-BE49-F238E27FC236}">
                    <a16:creationId xmlns:a16="http://schemas.microsoft.com/office/drawing/2014/main" id="{4A943EDB-8A4F-4B4C-9F06-39D545050CC9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87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24613" name="Object 7">
                            <a:extLst>
                              <a:ext uri="{FF2B5EF4-FFF2-40B4-BE49-F238E27FC236}">
                                <a16:creationId xmlns:a16="http://schemas.microsoft.com/office/drawing/2014/main" id="{4A943EDB-8A4F-4B4C-9F06-39D545050CC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4609" name="Group 11">
              <a:extLst>
                <a:ext uri="{FF2B5EF4-FFF2-40B4-BE49-F238E27FC236}">
                  <a16:creationId xmlns:a16="http://schemas.microsoft.com/office/drawing/2014/main" id="{56A559BE-F4C1-42D3-83EB-FFC86BF5D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4610" name="Freeform 9">
                <a:extLst>
                  <a:ext uri="{FF2B5EF4-FFF2-40B4-BE49-F238E27FC236}">
                    <a16:creationId xmlns:a16="http://schemas.microsoft.com/office/drawing/2014/main" id="{215FCBE3-0102-4D59-B2A5-50E644B99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1429" tIns="45714" rIns="91429" bIns="45714"/>
              <a:lstStyle/>
              <a:p>
                <a:endParaRPr lang="en-US" sz="1633"/>
              </a:p>
            </p:txBody>
          </p:sp>
          <p:graphicFrame>
            <p:nvGraphicFramePr>
              <p:cNvPr id="24611" name="Object 10">
                <a:extLst>
                  <a:ext uri="{FF2B5EF4-FFF2-40B4-BE49-F238E27FC236}">
                    <a16:creationId xmlns:a16="http://schemas.microsoft.com/office/drawing/2014/main" id="{429D8178-1E67-47FB-908C-ADEBFF4DBF2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88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24611" name="Object 10">
                            <a:extLst>
                              <a:ext uri="{FF2B5EF4-FFF2-40B4-BE49-F238E27FC236}">
                                <a16:creationId xmlns:a16="http://schemas.microsoft.com/office/drawing/2014/main" id="{429D8178-1E67-47FB-908C-ADEBFF4DBF2F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E5B280B4-DBB6-4729-B517-0967AF56B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265320"/>
            <a:ext cx="49320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spcBef>
                <a:spcPct val="50000"/>
              </a:spcBef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4581" name="Group 37">
            <a:extLst>
              <a:ext uri="{FF2B5EF4-FFF2-40B4-BE49-F238E27FC236}">
                <a16:creationId xmlns:a16="http://schemas.microsoft.com/office/drawing/2014/main" id="{09F0099C-D599-483E-9E11-71E0020969FB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1309321"/>
            <a:ext cx="9059040" cy="4710240"/>
            <a:chOff x="18" y="825"/>
            <a:chExt cx="5707" cy="2967"/>
          </a:xfrm>
        </p:grpSpPr>
        <p:grpSp>
          <p:nvGrpSpPr>
            <p:cNvPr id="24584" name="Group 23">
              <a:extLst>
                <a:ext uri="{FF2B5EF4-FFF2-40B4-BE49-F238E27FC236}">
                  <a16:creationId xmlns:a16="http://schemas.microsoft.com/office/drawing/2014/main" id="{6F9624EC-2042-48B9-B45D-5DD72675C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4598" name="Group 16">
                <a:extLst>
                  <a:ext uri="{FF2B5EF4-FFF2-40B4-BE49-F238E27FC236}">
                    <a16:creationId xmlns:a16="http://schemas.microsoft.com/office/drawing/2014/main" id="{B8E4B9D5-76F6-49F0-B6A9-8BE5FA1681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4605" name="Oval 14">
                  <a:extLst>
                    <a:ext uri="{FF2B5EF4-FFF2-40B4-BE49-F238E27FC236}">
                      <a16:creationId xmlns:a16="http://schemas.microsoft.com/office/drawing/2014/main" id="{F4AF6568-A6C1-4E8A-B1D0-818463583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6" name="Picture 15">
                  <a:extLst>
                    <a:ext uri="{FF2B5EF4-FFF2-40B4-BE49-F238E27FC236}">
                      <a16:creationId xmlns:a16="http://schemas.microsoft.com/office/drawing/2014/main" id="{D9E72E28-DD56-4130-A0FB-ACB3AF5480FF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599" name="Group 19">
                <a:extLst>
                  <a:ext uri="{FF2B5EF4-FFF2-40B4-BE49-F238E27FC236}">
                    <a16:creationId xmlns:a16="http://schemas.microsoft.com/office/drawing/2014/main" id="{634DC60C-48DD-448D-AE01-F169F1E8A5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4603" name="Oval 17">
                  <a:extLst>
                    <a:ext uri="{FF2B5EF4-FFF2-40B4-BE49-F238E27FC236}">
                      <a16:creationId xmlns:a16="http://schemas.microsoft.com/office/drawing/2014/main" id="{766E21B5-1F76-457E-BD1C-CC98085147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4" name="Picture 18">
                  <a:extLst>
                    <a:ext uri="{FF2B5EF4-FFF2-40B4-BE49-F238E27FC236}">
                      <a16:creationId xmlns:a16="http://schemas.microsoft.com/office/drawing/2014/main" id="{81A9CB65-829B-4E79-9B46-FB759F80CC02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4600" name="Group 22">
                <a:extLst>
                  <a:ext uri="{FF2B5EF4-FFF2-40B4-BE49-F238E27FC236}">
                    <a16:creationId xmlns:a16="http://schemas.microsoft.com/office/drawing/2014/main" id="{7F86EF57-30BA-449C-B07D-A1ABE1126E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4601" name="Rectangle 20">
                  <a:extLst>
                    <a:ext uri="{FF2B5EF4-FFF2-40B4-BE49-F238E27FC236}">
                      <a16:creationId xmlns:a16="http://schemas.microsoft.com/office/drawing/2014/main" id="{921F3A9E-D4C6-408A-B9C7-A4B9DCE2CD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4602" name="Picture 21">
                  <a:extLst>
                    <a:ext uri="{FF2B5EF4-FFF2-40B4-BE49-F238E27FC236}">
                      <a16:creationId xmlns:a16="http://schemas.microsoft.com/office/drawing/2014/main" id="{DC8B2C24-EAF9-4C4A-B161-EFDEA621AC7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4585" name="Group 36">
              <a:extLst>
                <a:ext uri="{FF2B5EF4-FFF2-40B4-BE49-F238E27FC236}">
                  <a16:creationId xmlns:a16="http://schemas.microsoft.com/office/drawing/2014/main" id="{4496C39E-123A-4B94-A2B4-9E5E36E967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4586" name="Rectangle 24">
                <a:extLst>
                  <a:ext uri="{FF2B5EF4-FFF2-40B4-BE49-F238E27FC236}">
                    <a16:creationId xmlns:a16="http://schemas.microsoft.com/office/drawing/2014/main" id="{594E6046-FD7B-44F1-BBCF-21734FC49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4587" name="Rectangle 25">
                <a:extLst>
                  <a:ext uri="{FF2B5EF4-FFF2-40B4-BE49-F238E27FC236}">
                    <a16:creationId xmlns:a16="http://schemas.microsoft.com/office/drawing/2014/main" id="{EF8FCE6B-4734-49D1-A427-9FCBBC240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660000">
                <a:off x="1819" y="3055"/>
                <a:ext cx="908" cy="1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2064" tIns="46033" rIns="92064" bIns="46033">
                <a:spAutoFit/>
              </a:bodyPr>
              <a:lstStyle>
                <a:lvl1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defTabSz="1008063" eaLnBrk="0" hangingPunct="0"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 sz="800">
                    <a:solidFill>
                      <a:schemeClr val="bg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en-US" altLang="ja-JP" sz="1361" b="1">
                    <a:solidFill>
                      <a:schemeClr val="tx1"/>
                    </a:solidFill>
                    <a:latin typeface="Times New Roman" panose="02020603050405020304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4588" name="Group 35">
                <a:extLst>
                  <a:ext uri="{FF2B5EF4-FFF2-40B4-BE49-F238E27FC236}">
                    <a16:creationId xmlns:a16="http://schemas.microsoft.com/office/drawing/2014/main" id="{62DEB5E7-4D51-4BA5-B5B6-73BD3B5BDE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4589" name="Group 32">
                  <a:extLst>
                    <a:ext uri="{FF2B5EF4-FFF2-40B4-BE49-F238E27FC236}">
                      <a16:creationId xmlns:a16="http://schemas.microsoft.com/office/drawing/2014/main" id="{8FBF486B-A58E-4FA6-8BC9-79C2BB0034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4592" name="Group 28">
                    <a:extLst>
                      <a:ext uri="{FF2B5EF4-FFF2-40B4-BE49-F238E27FC236}">
                        <a16:creationId xmlns:a16="http://schemas.microsoft.com/office/drawing/2014/main" id="{7E9705D2-4E0F-4D98-9122-CD8D0E919EE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4596" name="Line 26">
                      <a:extLst>
                        <a:ext uri="{FF2B5EF4-FFF2-40B4-BE49-F238E27FC236}">
                          <a16:creationId xmlns:a16="http://schemas.microsoft.com/office/drawing/2014/main" id="{1B948C8C-08E4-4D67-BC09-E895F58834C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7" name="Line 27">
                      <a:extLst>
                        <a:ext uri="{FF2B5EF4-FFF2-40B4-BE49-F238E27FC236}">
                          <a16:creationId xmlns:a16="http://schemas.microsoft.com/office/drawing/2014/main" id="{A89D79A7-60F7-45A3-8D62-FD8C60F88E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  <p:grpSp>
                <p:nvGrpSpPr>
                  <p:cNvPr id="24593" name="Group 31">
                    <a:extLst>
                      <a:ext uri="{FF2B5EF4-FFF2-40B4-BE49-F238E27FC236}">
                        <a16:creationId xmlns:a16="http://schemas.microsoft.com/office/drawing/2014/main" id="{F3713B55-EEE0-40D0-B95E-1321157D17E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4594" name="Line 29">
                      <a:extLst>
                        <a:ext uri="{FF2B5EF4-FFF2-40B4-BE49-F238E27FC236}">
                          <a16:creationId xmlns:a16="http://schemas.microsoft.com/office/drawing/2014/main" id="{BCB30E9C-CA79-495D-9EF5-6AA14983E9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4595" name="Line 30">
                      <a:extLst>
                        <a:ext uri="{FF2B5EF4-FFF2-40B4-BE49-F238E27FC236}">
                          <a16:creationId xmlns:a16="http://schemas.microsoft.com/office/drawing/2014/main" id="{0FBFBC55-6D0A-4636-A427-066EA63699F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1633"/>
                    </a:p>
                  </p:txBody>
                </p:sp>
              </p:grpSp>
            </p:grpSp>
            <p:sp>
              <p:nvSpPr>
                <p:cNvPr id="24590" name="Line 33">
                  <a:extLst>
                    <a:ext uri="{FF2B5EF4-FFF2-40B4-BE49-F238E27FC236}">
                      <a16:creationId xmlns:a16="http://schemas.microsoft.com/office/drawing/2014/main" id="{9627A7D8-E081-4C1A-9BAD-1025BB8122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  <p:sp>
              <p:nvSpPr>
                <p:cNvPr id="24591" name="Line 34">
                  <a:extLst>
                    <a:ext uri="{FF2B5EF4-FFF2-40B4-BE49-F238E27FC236}">
                      <a16:creationId xmlns:a16="http://schemas.microsoft.com/office/drawing/2014/main" id="{23A99D1D-0214-4554-B19D-2FD27B659B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633"/>
                </a:p>
              </p:txBody>
            </p:sp>
          </p:grpSp>
        </p:grpSp>
      </p:grpSp>
      <p:sp>
        <p:nvSpPr>
          <p:cNvPr id="24582" name="Rectangle 38">
            <a:extLst>
              <a:ext uri="{FF2B5EF4-FFF2-40B4-BE49-F238E27FC236}">
                <a16:creationId xmlns:a16="http://schemas.microsoft.com/office/drawing/2014/main" id="{E49B8F8F-F139-467B-AE54-9118302DC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121" y="341641"/>
            <a:ext cx="267120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kumimoji="1" lang="en-US" altLang="ja-JP" sz="2358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4583" name="Rectangle 39">
            <a:extLst>
              <a:ext uri="{FF2B5EF4-FFF2-40B4-BE49-F238E27FC236}">
                <a16:creationId xmlns:a16="http://schemas.microsoft.com/office/drawing/2014/main" id="{BC6F1B86-ED7B-404A-B8A1-7FCD4DD7E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2641" y="5594761"/>
            <a:ext cx="7273440" cy="118153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49C9133-3D28-4D27-A97E-A543DBBEA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1" y="417961"/>
            <a:ext cx="2895840" cy="45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kumimoji="1" lang="en-US" altLang="en-US" sz="2358">
              <a:solidFill>
                <a:srgbClr val="000000"/>
              </a:solidFill>
            </a:endParaRPr>
          </a:p>
        </p:txBody>
      </p:sp>
      <p:grpSp>
        <p:nvGrpSpPr>
          <p:cNvPr id="25603" name="Group 3">
            <a:extLst>
              <a:ext uri="{FF2B5EF4-FFF2-40B4-BE49-F238E27FC236}">
                <a16:creationId xmlns:a16="http://schemas.microsoft.com/office/drawing/2014/main" id="{6D5E9297-374E-40A4-9486-D5D94BBA1CD3}"/>
              </a:ext>
            </a:extLst>
          </p:cNvPr>
          <p:cNvGrpSpPr>
            <a:grpSpLocks/>
          </p:cNvGrpSpPr>
          <p:nvPr/>
        </p:nvGrpSpPr>
        <p:grpSpPr bwMode="auto">
          <a:xfrm>
            <a:off x="1" y="5148361"/>
            <a:ext cx="9142560" cy="1709280"/>
            <a:chOff x="0" y="3243"/>
            <a:chExt cx="5759" cy="1077"/>
          </a:xfrm>
        </p:grpSpPr>
        <p:sp>
          <p:nvSpPr>
            <p:cNvPr id="25637" name="Freeform 4">
              <a:extLst>
                <a:ext uri="{FF2B5EF4-FFF2-40B4-BE49-F238E27FC236}">
                  <a16:creationId xmlns:a16="http://schemas.microsoft.com/office/drawing/2014/main" id="{5CF99CC2-2FEF-4B27-B0FD-BBA29B926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sp>
          <p:nvSpPr>
            <p:cNvPr id="25638" name="Freeform 5">
              <a:extLst>
                <a:ext uri="{FF2B5EF4-FFF2-40B4-BE49-F238E27FC236}">
                  <a16:creationId xmlns:a16="http://schemas.microsoft.com/office/drawing/2014/main" id="{CEEC06B2-5603-452D-B9B4-92FEFC32E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9" tIns="45714" rIns="91429" bIns="45714"/>
            <a:lstStyle/>
            <a:p>
              <a:endParaRPr lang="en-US" sz="1633"/>
            </a:p>
          </p:txBody>
        </p:sp>
        <p:graphicFrame>
          <p:nvGraphicFramePr>
            <p:cNvPr id="25639" name="Object 6">
              <a:extLst>
                <a:ext uri="{FF2B5EF4-FFF2-40B4-BE49-F238E27FC236}">
                  <a16:creationId xmlns:a16="http://schemas.microsoft.com/office/drawing/2014/main" id="{91F6EDCF-9252-474A-A683-E010B8D1FE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7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25639" name="Object 6">
                          <a:extLst>
                            <a:ext uri="{FF2B5EF4-FFF2-40B4-BE49-F238E27FC236}">
                              <a16:creationId xmlns:a16="http://schemas.microsoft.com/office/drawing/2014/main" id="{91F6EDCF-9252-474A-A683-E010B8D1FE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7">
              <a:extLst>
                <a:ext uri="{FF2B5EF4-FFF2-40B4-BE49-F238E27FC236}">
                  <a16:creationId xmlns:a16="http://schemas.microsoft.com/office/drawing/2014/main" id="{63CC3C8D-5D96-47E9-83EF-9D049F2D641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8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25640" name="Object 7">
                          <a:extLst>
                            <a:ext uri="{FF2B5EF4-FFF2-40B4-BE49-F238E27FC236}">
                              <a16:creationId xmlns:a16="http://schemas.microsoft.com/office/drawing/2014/main" id="{63CC3C8D-5D96-47E9-83EF-9D049F2D641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8">
              <a:extLst>
                <a:ext uri="{FF2B5EF4-FFF2-40B4-BE49-F238E27FC236}">
                  <a16:creationId xmlns:a16="http://schemas.microsoft.com/office/drawing/2014/main" id="{222D71CC-50BF-424B-ACCC-46812F4429B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9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25641" name="Object 8">
                          <a:extLst>
                            <a:ext uri="{FF2B5EF4-FFF2-40B4-BE49-F238E27FC236}">
                              <a16:creationId xmlns:a16="http://schemas.microsoft.com/office/drawing/2014/main" id="{222D71CC-50BF-424B-ACCC-46812F4429B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604" name="Group 9">
            <a:extLst>
              <a:ext uri="{FF2B5EF4-FFF2-40B4-BE49-F238E27FC236}">
                <a16:creationId xmlns:a16="http://schemas.microsoft.com/office/drawing/2014/main" id="{9DDF2585-7A56-4276-A9F1-B9C34AE37A0D}"/>
              </a:ext>
            </a:extLst>
          </p:cNvPr>
          <p:cNvGrpSpPr>
            <a:grpSpLocks/>
          </p:cNvGrpSpPr>
          <p:nvPr/>
        </p:nvGrpSpPr>
        <p:grpSpPr bwMode="auto">
          <a:xfrm>
            <a:off x="28801" y="776521"/>
            <a:ext cx="9038880" cy="5811840"/>
            <a:chOff x="18" y="489"/>
            <a:chExt cx="5694" cy="3661"/>
          </a:xfrm>
        </p:grpSpPr>
        <p:grpSp>
          <p:nvGrpSpPr>
            <p:cNvPr id="25607" name="Group 10">
              <a:extLst>
                <a:ext uri="{FF2B5EF4-FFF2-40B4-BE49-F238E27FC236}">
                  <a16:creationId xmlns:a16="http://schemas.microsoft.com/office/drawing/2014/main" id="{ADE2E927-785A-4250-910F-99051EB2F8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5622" name="Group 11">
                <a:extLst>
                  <a:ext uri="{FF2B5EF4-FFF2-40B4-BE49-F238E27FC236}">
                    <a16:creationId xmlns:a16="http://schemas.microsoft.com/office/drawing/2014/main" id="{293E6E7D-3BD2-48F9-B927-162EA9A8F9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5629" name="Oval 12">
                  <a:extLst>
                    <a:ext uri="{FF2B5EF4-FFF2-40B4-BE49-F238E27FC236}">
                      <a16:creationId xmlns:a16="http://schemas.microsoft.com/office/drawing/2014/main" id="{FA3BB798-48FD-4CB2-B7E8-AC0B306B39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630" name="Group 13">
                  <a:extLst>
                    <a:ext uri="{FF2B5EF4-FFF2-40B4-BE49-F238E27FC236}">
                      <a16:creationId xmlns:a16="http://schemas.microsoft.com/office/drawing/2014/main" id="{4B957200-3598-4DAA-8F04-5C6D7BA46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5631" name="Picture 14">
                    <a:extLst>
                      <a:ext uri="{FF2B5EF4-FFF2-40B4-BE49-F238E27FC236}">
                        <a16:creationId xmlns:a16="http://schemas.microsoft.com/office/drawing/2014/main" id="{B3B42804-FD76-45F8-A6A0-C957F0791200}"/>
                      </a:ext>
                    </a:extLst>
                  </p:cNvPr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5632" name="Group 15">
                    <a:extLst>
                      <a:ext uri="{FF2B5EF4-FFF2-40B4-BE49-F238E27FC236}">
                        <a16:creationId xmlns:a16="http://schemas.microsoft.com/office/drawing/2014/main" id="{03376C3E-C276-49B7-B627-0E534A950A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5633" name="Freeform 16">
                      <a:extLst>
                        <a:ext uri="{FF2B5EF4-FFF2-40B4-BE49-F238E27FC236}">
                          <a16:creationId xmlns:a16="http://schemas.microsoft.com/office/drawing/2014/main" id="{5107A71E-A0A9-44DC-AFD5-700049F866B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4" name="Freeform 17">
                      <a:extLst>
                        <a:ext uri="{FF2B5EF4-FFF2-40B4-BE49-F238E27FC236}">
                          <a16:creationId xmlns:a16="http://schemas.microsoft.com/office/drawing/2014/main" id="{90AA7722-3BDF-40AB-8882-D4F46C5FF07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5" name="Freeform 18">
                      <a:extLst>
                        <a:ext uri="{FF2B5EF4-FFF2-40B4-BE49-F238E27FC236}">
                          <a16:creationId xmlns:a16="http://schemas.microsoft.com/office/drawing/2014/main" id="{8B5F3B30-867B-4B0F-882F-E0E3D90E934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  <p:sp>
                  <p:nvSpPr>
                    <p:cNvPr id="25636" name="Freeform 19">
                      <a:extLst>
                        <a:ext uri="{FF2B5EF4-FFF2-40B4-BE49-F238E27FC236}">
                          <a16:creationId xmlns:a16="http://schemas.microsoft.com/office/drawing/2014/main" id="{1AFF1450-04A3-4D69-9E54-ECE36A75DB5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91429" tIns="45714" rIns="91429" bIns="45714"/>
                    <a:lstStyle/>
                    <a:p>
                      <a:endParaRPr lang="en-US" sz="1633"/>
                    </a:p>
                  </p:txBody>
                </p:sp>
              </p:grpSp>
            </p:grpSp>
          </p:grpSp>
          <p:grpSp>
            <p:nvGrpSpPr>
              <p:cNvPr id="25623" name="Group 20">
                <a:extLst>
                  <a:ext uri="{FF2B5EF4-FFF2-40B4-BE49-F238E27FC236}">
                    <a16:creationId xmlns:a16="http://schemas.microsoft.com/office/drawing/2014/main" id="{5B38B01C-F229-447D-BABB-471106D905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5627" name="Oval 21">
                  <a:extLst>
                    <a:ext uri="{FF2B5EF4-FFF2-40B4-BE49-F238E27FC236}">
                      <a16:creationId xmlns:a16="http://schemas.microsoft.com/office/drawing/2014/main" id="{34D23594-1B3F-455F-A921-A16073D0C5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8" name="Picture 22">
                  <a:extLst>
                    <a:ext uri="{FF2B5EF4-FFF2-40B4-BE49-F238E27FC236}">
                      <a16:creationId xmlns:a16="http://schemas.microsoft.com/office/drawing/2014/main" id="{2EEB879E-3B9D-45FC-A2B4-07F7BD90636E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5624" name="Group 23">
                <a:extLst>
                  <a:ext uri="{FF2B5EF4-FFF2-40B4-BE49-F238E27FC236}">
                    <a16:creationId xmlns:a16="http://schemas.microsoft.com/office/drawing/2014/main" id="{1C8F3B33-AD45-478C-BDC8-CC8170E7E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5625" name="Oval 24">
                  <a:extLst>
                    <a:ext uri="{FF2B5EF4-FFF2-40B4-BE49-F238E27FC236}">
                      <a16:creationId xmlns:a16="http://schemas.microsoft.com/office/drawing/2014/main" id="{DBBC0679-1806-4D67-8304-FFD9AF0782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91429" tIns="45714" rIns="91429" bIns="45714" anchor="ctr"/>
                <a:lstStyle>
                  <a:lvl1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defTabSz="1008063" eaLnBrk="0" hangingPunct="0"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defTabSz="10080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800">
                      <a:solidFill>
                        <a:schemeClr val="bg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1814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5626" name="Picture 25">
                  <a:extLst>
                    <a:ext uri="{FF2B5EF4-FFF2-40B4-BE49-F238E27FC236}">
                      <a16:creationId xmlns:a16="http://schemas.microsoft.com/office/drawing/2014/main" id="{695C1CC9-C6A9-48DC-A6FE-CE787AC4E786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5608" name="Rectangle 26">
              <a:extLst>
                <a:ext uri="{FF2B5EF4-FFF2-40B4-BE49-F238E27FC236}">
                  <a16:creationId xmlns:a16="http://schemas.microsoft.com/office/drawing/2014/main" id="{DDDE5E05-2D49-4999-95B0-321AA17D86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120000">
              <a:off x="2868" y="2448"/>
              <a:ext cx="1426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5609" name="Rectangle 27">
              <a:extLst>
                <a:ext uri="{FF2B5EF4-FFF2-40B4-BE49-F238E27FC236}">
                  <a16:creationId xmlns:a16="http://schemas.microsoft.com/office/drawing/2014/main" id="{FF2128F6-14CF-4A42-8E74-AA4AE48C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" y="3238"/>
              <a:ext cx="1248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0" name="Line 28">
              <a:extLst>
                <a:ext uri="{FF2B5EF4-FFF2-40B4-BE49-F238E27FC236}">
                  <a16:creationId xmlns:a16="http://schemas.microsoft.com/office/drawing/2014/main" id="{71C6522B-0461-466B-BD69-5000A0F96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1" name="Rectangle 29">
              <a:extLst>
                <a:ext uri="{FF2B5EF4-FFF2-40B4-BE49-F238E27FC236}">
                  <a16:creationId xmlns:a16="http://schemas.microsoft.com/office/drawing/2014/main" id="{F56508A6-10B6-4BA3-AD80-63B5D4319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3670"/>
              <a:ext cx="13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2" name="Rectangle 30">
              <a:extLst>
                <a:ext uri="{FF2B5EF4-FFF2-40B4-BE49-F238E27FC236}">
                  <a16:creationId xmlns:a16="http://schemas.microsoft.com/office/drawing/2014/main" id="{E5D96428-2E93-464A-8FCB-59FE9EFF0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2" y="2160"/>
              <a:ext cx="13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5613" name="Rectangle 31">
              <a:extLst>
                <a:ext uri="{FF2B5EF4-FFF2-40B4-BE49-F238E27FC236}">
                  <a16:creationId xmlns:a16="http://schemas.microsoft.com/office/drawing/2014/main" id="{37F49550-DEC0-469E-86C8-7005A56D9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854"/>
              <a:ext cx="86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ja-JP" sz="1996" b="1" i="1">
                  <a:solidFill>
                    <a:schemeClr val="tx1"/>
                  </a:solidFill>
                  <a:latin typeface="Arial Black" panose="020B0A04020102020204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5614" name="Line 32">
              <a:extLst>
                <a:ext uri="{FF2B5EF4-FFF2-40B4-BE49-F238E27FC236}">
                  <a16:creationId xmlns:a16="http://schemas.microsoft.com/office/drawing/2014/main" id="{C12BEC5D-7C3B-4776-89A9-9D44338D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5" name="Line 33">
              <a:extLst>
                <a:ext uri="{FF2B5EF4-FFF2-40B4-BE49-F238E27FC236}">
                  <a16:creationId xmlns:a16="http://schemas.microsoft.com/office/drawing/2014/main" id="{FA348AAC-0804-4FDC-8F86-8CA9942B19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6" name="Rectangle 34">
              <a:extLst>
                <a:ext uri="{FF2B5EF4-FFF2-40B4-BE49-F238E27FC236}">
                  <a16:creationId xmlns:a16="http://schemas.microsoft.com/office/drawing/2014/main" id="{A3C5BD49-C774-4E9A-9B29-EA112A87E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" y="1838"/>
              <a:ext cx="1201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64" tIns="46033" rIns="92064" bIns="46033">
              <a:spAutoFit/>
            </a:bodyPr>
            <a:lstStyle>
              <a:lvl1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defTabSz="1008063" eaLnBrk="0" hangingPunct="0"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 sz="8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kumimoji="1" lang="en-US" altLang="ja-JP" sz="1633" b="1">
                  <a:solidFill>
                    <a:schemeClr val="tx1"/>
                  </a:solidFill>
                  <a:latin typeface="Times New Roman" panose="02020603050405020304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5617" name="Line 35">
              <a:extLst>
                <a:ext uri="{FF2B5EF4-FFF2-40B4-BE49-F238E27FC236}">
                  <a16:creationId xmlns:a16="http://schemas.microsoft.com/office/drawing/2014/main" id="{AB404DB0-5130-4577-ADBC-3F90CB3989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5618" name="Line 36">
              <a:extLst>
                <a:ext uri="{FF2B5EF4-FFF2-40B4-BE49-F238E27FC236}">
                  <a16:creationId xmlns:a16="http://schemas.microsoft.com/office/drawing/2014/main" id="{7261AA67-E903-4098-A647-E15486FFC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grpSp>
          <p:nvGrpSpPr>
            <p:cNvPr id="25619" name="Group 37">
              <a:extLst>
                <a:ext uri="{FF2B5EF4-FFF2-40B4-BE49-F238E27FC236}">
                  <a16:creationId xmlns:a16="http://schemas.microsoft.com/office/drawing/2014/main" id="{A03B6B5E-28B1-45D8-BC18-767B3FB09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5620" name="Line 38">
                <a:extLst>
                  <a:ext uri="{FF2B5EF4-FFF2-40B4-BE49-F238E27FC236}">
                    <a16:creationId xmlns:a16="http://schemas.microsoft.com/office/drawing/2014/main" id="{6315B84C-0041-450F-8A19-C0FEAF68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  <p:sp>
            <p:nvSpPr>
              <p:cNvPr id="25621" name="Line 39">
                <a:extLst>
                  <a:ext uri="{FF2B5EF4-FFF2-40B4-BE49-F238E27FC236}">
                    <a16:creationId xmlns:a16="http://schemas.microsoft.com/office/drawing/2014/main" id="{EC0E3959-EB6C-4891-9F79-1102BCF2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33"/>
              </a:p>
            </p:txBody>
          </p:sp>
        </p:grpSp>
      </p:grpSp>
      <p:sp>
        <p:nvSpPr>
          <p:cNvPr id="624680" name="Rectangle 40">
            <a:extLst>
              <a:ext uri="{FF2B5EF4-FFF2-40B4-BE49-F238E27FC236}">
                <a16:creationId xmlns:a16="http://schemas.microsoft.com/office/drawing/2014/main" id="{828AE3E1-9E6F-47B3-B8A5-145775315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61" y="229321"/>
            <a:ext cx="8762400" cy="832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/>
          <a:p>
            <a:pPr defTabSz="914414" eaLnBrk="0" hangingPunct="0">
              <a:defRPr/>
            </a:pP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12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8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5606" name="Rectangle 41">
            <a:extLst>
              <a:ext uri="{FF2B5EF4-FFF2-40B4-BE49-F238E27FC236}">
                <a16:creationId xmlns:a16="http://schemas.microsoft.com/office/drawing/2014/main" id="{22B733B0-7127-43E5-812D-49B490BFF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80" y="1103401"/>
            <a:ext cx="4343040" cy="1181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4" tIns="46033" rIns="92064" bIns="46033">
            <a:spAutoFit/>
          </a:bodyPr>
          <a:lstStyle>
            <a:lvl1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defTabSz="1008063" eaLnBrk="0" hangingPunct="0"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ja-JP" sz="2358">
                <a:solidFill>
                  <a:schemeClr val="tx1"/>
                </a:solidFill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7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458200" cy="838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lang="en-US" sz="3200" dirty="0"/>
              <a:t>Challenges in  the health service  Bangladesh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458200" cy="5410200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  <a:defRPr/>
            </a:pPr>
            <a:endParaRPr lang="en-US" sz="2000" b="1" dirty="0"/>
          </a:p>
          <a:p>
            <a:pPr algn="just">
              <a:defRPr/>
            </a:pPr>
            <a:r>
              <a:rPr lang="en-US" sz="2000" b="1" dirty="0"/>
              <a:t> Limited human resources and infra structure . </a:t>
            </a:r>
          </a:p>
          <a:p>
            <a:pPr algn="just">
              <a:defRPr/>
            </a:pPr>
            <a:r>
              <a:rPr lang="en-US" sz="2000" b="1" dirty="0"/>
              <a:t>Per capita health expenditure is low by the Govt.</a:t>
            </a:r>
          </a:p>
          <a:p>
            <a:pPr algn="just">
              <a:defRPr/>
            </a:pPr>
            <a:r>
              <a:rPr lang="en-US" sz="2000" b="1" dirty="0"/>
              <a:t>Out of pocket expenditure  is high but unused Govt. fund.</a:t>
            </a:r>
          </a:p>
          <a:p>
            <a:pPr algn="just">
              <a:defRPr/>
            </a:pPr>
            <a:r>
              <a:rPr lang="en-US" sz="2000" b="1" dirty="0"/>
              <a:t> In secured  hospital environment</a:t>
            </a:r>
          </a:p>
          <a:p>
            <a:pPr algn="just">
              <a:defRPr/>
            </a:pPr>
            <a:r>
              <a:rPr lang="en-US" sz="2000" b="1" dirty="0"/>
              <a:t> Waste management system is poor.</a:t>
            </a:r>
          </a:p>
          <a:p>
            <a:pPr algn="just">
              <a:defRPr/>
            </a:pPr>
            <a:r>
              <a:rPr lang="en-US" sz="2000" b="1" dirty="0"/>
              <a:t>In effective referral system</a:t>
            </a:r>
          </a:p>
          <a:p>
            <a:pPr algn="just">
              <a:defRPr/>
            </a:pPr>
            <a:r>
              <a:rPr lang="en-US" sz="2000" b="1" dirty="0"/>
              <a:t>High C-section rate.</a:t>
            </a:r>
          </a:p>
          <a:p>
            <a:pPr algn="just">
              <a:defRPr/>
            </a:pPr>
            <a:r>
              <a:rPr lang="en-US" sz="2000" b="1" dirty="0"/>
              <a:t>Primary health care is neglected in local govt area.</a:t>
            </a:r>
          </a:p>
          <a:p>
            <a:pPr algn="just">
              <a:defRPr/>
            </a:pPr>
            <a:r>
              <a:rPr lang="en-US" sz="2000" b="1" dirty="0"/>
              <a:t>Weak diagnostic facility in Govt. System. </a:t>
            </a:r>
          </a:p>
          <a:p>
            <a:pPr algn="just">
              <a:defRPr/>
            </a:pPr>
            <a:r>
              <a:rPr lang="en-US" sz="2000" b="1" dirty="0"/>
              <a:t>Loss of foreign currency due to medical tourism.</a:t>
            </a:r>
          </a:p>
          <a:p>
            <a:pPr algn="just">
              <a:defRPr/>
            </a:pPr>
            <a:r>
              <a:rPr lang="en-US" sz="2000" b="1" dirty="0"/>
              <a:t>Both Service providers and patient satisfaction rate is unsatisfactory.</a:t>
            </a:r>
          </a:p>
          <a:p>
            <a:pPr algn="just">
              <a:defRPr/>
            </a:pPr>
            <a:r>
              <a:rPr lang="en-US" sz="2000" b="1" dirty="0"/>
              <a:t>Community involvement is minimum.</a:t>
            </a:r>
          </a:p>
          <a:p>
            <a:pPr algn="just">
              <a:defRPr/>
            </a:pPr>
            <a:r>
              <a:rPr lang="en-US" sz="2000" b="1" dirty="0"/>
              <a:t>Division of the health, family planning nursing services.</a:t>
            </a:r>
          </a:p>
          <a:p>
            <a:pPr algn="just">
              <a:defRPr/>
            </a:pPr>
            <a:r>
              <a:rPr lang="en-US" sz="2000" b="1" dirty="0"/>
              <a:t>Health insurance system is weak.</a:t>
            </a:r>
          </a:p>
          <a:p>
            <a:pPr algn="just">
              <a:defRPr/>
            </a:pPr>
            <a:r>
              <a:rPr lang="en-US" sz="2000" b="1" dirty="0"/>
              <a:t>Visionary health policy not developed.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4846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7542</TotalTime>
  <Words>1818</Words>
  <Application>Microsoft Office PowerPoint</Application>
  <PresentationFormat>On-screen Show (4:3)</PresentationFormat>
  <Paragraphs>547</Paragraphs>
  <Slides>43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Albertus Extra Bold</vt:lpstr>
      <vt:lpstr>Andalus</vt:lpstr>
      <vt:lpstr>Arial</vt:lpstr>
      <vt:lpstr>Arial Black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 2</vt:lpstr>
      <vt:lpstr>Office Theme</vt:lpstr>
      <vt:lpstr>Chart</vt:lpstr>
      <vt:lpstr>ｸﾘｯﾌﾟ</vt:lpstr>
      <vt:lpstr>PowerPoint Presentation</vt:lpstr>
      <vt:lpstr>PowerPoint Presentation</vt:lpstr>
      <vt:lpstr>PowerPoint Presentation</vt:lpstr>
      <vt:lpstr>Challenges in  the health service  Bangladesh </vt:lpstr>
      <vt:lpstr>  Progress of Universal Health Coverage</vt:lpstr>
      <vt:lpstr>Progress of Universal Health Coverage</vt:lpstr>
      <vt:lpstr>Progress of Universal  Health Coverage</vt:lpstr>
      <vt:lpstr>Criteria Of C-J Model.</vt:lpstr>
      <vt:lpstr>Criteria of C-J Model.</vt:lpstr>
      <vt:lpstr>Criteria of C-J Model.</vt:lpstr>
      <vt:lpstr>Who should care!</vt:lpstr>
      <vt:lpstr>PowerPoint Presentation</vt:lpstr>
      <vt:lpstr>A Hospital with a Vision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All mother will take ANC &amp; PNC Care in the Health Complex(Minimum 5 Visit)</vt:lpstr>
      <vt:lpstr>All mother will deliver their baby in Hospital.</vt:lpstr>
      <vt:lpstr>All Caesarian Section Perform in Govt. Hospital.</vt:lpstr>
      <vt:lpstr>UHC,CHOWGACHA,JASHORE. </vt:lpstr>
      <vt:lpstr>Upazilla Health  Complex CHOWGACHA , JESSORE.</vt:lpstr>
      <vt:lpstr>Acheivement of Chowgacha UHC</vt:lpstr>
      <vt:lpstr>PowerPoint Presentation</vt:lpstr>
      <vt:lpstr>100 kh¨v wewkó m`i nvmcvZvj, wSbvB`n</vt:lpstr>
      <vt:lpstr>PowerPoint Presentation</vt:lpstr>
      <vt:lpstr>Changes in Pediatric Ward and EOC Ward </vt:lpstr>
      <vt:lpstr>PowerPoint Presentation</vt:lpstr>
      <vt:lpstr>Use of color code, alignment of picture &amp; continuous big cleaning day</vt:lpstr>
      <vt:lpstr>Innovative activities community supported manpower -  2</vt:lpstr>
      <vt:lpstr>Innovative activities of Hospital</vt:lpstr>
      <vt:lpstr>Innovative activities of Jhenaidah Sadar Hospital - 6</vt:lpstr>
      <vt:lpstr>PowerPoint Presentation</vt:lpstr>
      <vt:lpstr>PowerPoint Presentation</vt:lpstr>
      <vt:lpstr>PowerPoint Presentation</vt:lpstr>
      <vt:lpstr>PowerPoint Presentation</vt:lpstr>
      <vt:lpstr>Our usual solution:  We need more RESOURCES!!!!</vt:lpstr>
      <vt:lpstr>PowerPoint Presentation</vt:lpstr>
      <vt:lpstr>PowerPoint Presentation</vt:lpstr>
      <vt:lpstr>PowerPoint Presentation</vt:lpstr>
      <vt:lpstr>Thank You</vt:lpstr>
      <vt:lpstr>Challenges in  the health service  Bangladesh 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1063</cp:revision>
  <cp:lastPrinted>2017-03-18T23:47:54Z</cp:lastPrinted>
  <dcterms:created xsi:type="dcterms:W3CDTF">2013-05-05T09:56:19Z</dcterms:created>
  <dcterms:modified xsi:type="dcterms:W3CDTF">2023-09-23T00:25:56Z</dcterms:modified>
</cp:coreProperties>
</file>