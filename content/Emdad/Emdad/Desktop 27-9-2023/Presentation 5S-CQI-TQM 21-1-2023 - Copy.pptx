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0"/>
  </p:notesMasterIdLst>
  <p:handoutMasterIdLst>
    <p:handoutMasterId r:id="rId31"/>
  </p:handoutMasterIdLst>
  <p:sldIdLst>
    <p:sldId id="345" r:id="rId3"/>
    <p:sldId id="347" r:id="rId4"/>
    <p:sldId id="258" r:id="rId5"/>
    <p:sldId id="353" r:id="rId6"/>
    <p:sldId id="358" r:id="rId7"/>
    <p:sldId id="359" r:id="rId8"/>
    <p:sldId id="360" r:id="rId9"/>
    <p:sldId id="361" r:id="rId10"/>
    <p:sldId id="362" r:id="rId11"/>
    <p:sldId id="363" r:id="rId12"/>
    <p:sldId id="267" r:id="rId13"/>
    <p:sldId id="364" r:id="rId14"/>
    <p:sldId id="282" r:id="rId15"/>
    <p:sldId id="270" r:id="rId16"/>
    <p:sldId id="272" r:id="rId17"/>
    <p:sldId id="294" r:id="rId18"/>
    <p:sldId id="277" r:id="rId19"/>
    <p:sldId id="295" r:id="rId20"/>
    <p:sldId id="387" r:id="rId21"/>
    <p:sldId id="366" r:id="rId22"/>
    <p:sldId id="367" r:id="rId23"/>
    <p:sldId id="368" r:id="rId24"/>
    <p:sldId id="369" r:id="rId25"/>
    <p:sldId id="370" r:id="rId26"/>
    <p:sldId id="371" r:id="rId27"/>
    <p:sldId id="372" r:id="rId28"/>
    <p:sldId id="274" r:id="rId29"/>
  </p:sldIdLst>
  <p:sldSz cx="12192000" cy="6858000"/>
  <p:notesSz cx="6735763" cy="98663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636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-2988" y="-114"/>
      </p:cViewPr>
      <p:guideLst>
        <p:guide orient="horz" pos="3108"/>
        <p:guide pos="212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0F06115-0A93-41C4-A4C0-C020BAE282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7825" cy="495300"/>
          </a:xfrm>
          <a:prstGeom prst="rect">
            <a:avLst/>
          </a:prstGeom>
        </p:spPr>
        <p:txBody>
          <a:bodyPr vert="horz" lIns="92796" tIns="46398" rIns="92796" bIns="46398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EA7731-96F9-4FE7-8177-5888F24E7D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6350" y="0"/>
            <a:ext cx="2917825" cy="495300"/>
          </a:xfrm>
          <a:prstGeom prst="rect">
            <a:avLst/>
          </a:prstGeom>
        </p:spPr>
        <p:txBody>
          <a:bodyPr vert="horz" lIns="92796" tIns="46398" rIns="92796" bIns="46398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E359CDE-499B-4961-9F3E-C01FD113E291}" type="datetimeFigureOut">
              <a:rPr lang="en-US"/>
              <a:pPr>
                <a:defRPr/>
              </a:pPr>
              <a:t>1/21/2023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A2FF2D-5F1B-4274-8420-621326A03D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7825" cy="495300"/>
          </a:xfrm>
          <a:prstGeom prst="rect">
            <a:avLst/>
          </a:prstGeom>
        </p:spPr>
        <p:txBody>
          <a:bodyPr vert="horz" lIns="92796" tIns="46398" rIns="92796" bIns="46398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EF191D-44CD-496C-8A52-5C7601A942A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6350" y="9371013"/>
            <a:ext cx="2917825" cy="495300"/>
          </a:xfrm>
          <a:prstGeom prst="rect">
            <a:avLst/>
          </a:prstGeom>
        </p:spPr>
        <p:txBody>
          <a:bodyPr vert="horz" wrap="square" lIns="92796" tIns="46398" rIns="92796" bIns="4639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802CFC0-9710-4A1B-BF98-5374AECA17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3049B1-D565-485B-80D6-588E63A9FF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7825" cy="492125"/>
          </a:xfrm>
          <a:prstGeom prst="rect">
            <a:avLst/>
          </a:prstGeom>
        </p:spPr>
        <p:txBody>
          <a:bodyPr vert="horz" lIns="90754" tIns="45377" rIns="90754" bIns="45377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F89A84-8F80-4CA0-B7E8-A2F0E977A6B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16350" y="0"/>
            <a:ext cx="2917825" cy="492125"/>
          </a:xfrm>
          <a:prstGeom prst="rect">
            <a:avLst/>
          </a:prstGeom>
        </p:spPr>
        <p:txBody>
          <a:bodyPr vert="horz" lIns="90754" tIns="45377" rIns="90754" bIns="45377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9993789-E0FB-4CAC-9087-C5E7DE6A94C7}" type="datetimeFigureOut">
              <a:rPr lang="en-US"/>
              <a:pPr>
                <a:defRPr/>
              </a:pPr>
              <a:t>1/21/2023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15DA724-1DDF-4D0C-9D71-BB1E1519E4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0963" y="739775"/>
            <a:ext cx="6575425" cy="36988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54" tIns="45377" rIns="90754" bIns="45377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46F91D2-2CC5-401F-AC44-808C0D83F7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3100" y="4684713"/>
            <a:ext cx="5389563" cy="4441825"/>
          </a:xfrm>
          <a:prstGeom prst="rect">
            <a:avLst/>
          </a:prstGeom>
        </p:spPr>
        <p:txBody>
          <a:bodyPr vert="horz" lIns="90754" tIns="45377" rIns="90754" bIns="45377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AE460-7ACF-4C19-9E85-9F35B9EA7A4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7825" cy="493712"/>
          </a:xfrm>
          <a:prstGeom prst="rect">
            <a:avLst/>
          </a:prstGeom>
        </p:spPr>
        <p:txBody>
          <a:bodyPr vert="horz" lIns="90754" tIns="45377" rIns="90754" bIns="45377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819A9-C61A-419D-97A9-1086F2CF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16350" y="9371013"/>
            <a:ext cx="2917825" cy="493712"/>
          </a:xfrm>
          <a:prstGeom prst="rect">
            <a:avLst/>
          </a:prstGeom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822C428-6402-4990-826B-A3791A11F9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CEA24-FE1A-46D5-BD82-A9E01F200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86AB7-CA61-4346-93E9-EEBC657A4EE2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90E63-7B19-4784-8759-18BAEF5B4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55F0B-C2D1-41BB-A937-1FC495204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617459-6CDA-487B-B83E-ED50D6158A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0149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8E36D-0D4F-414F-BF63-29EFA4B0E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DBF540-FF93-487F-B2E3-E01365EDF550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A7B63-2F10-47C9-9BAB-BB83E51C5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7BEB8-BD1E-4869-8A37-25DFD8C54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6115A-6645-4784-A190-724C07624A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11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6CAF8-B2DD-4A93-A20C-DC258B4DB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BDBA78-D5A8-472C-BB1B-5D0CE34CD19D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4A59A-22D9-4A6B-9B5E-AA888F2BC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80D74-08CE-4092-B0E1-5A396C1EE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7BC483-260A-4823-A645-A99BA18291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2815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7923E1C-EF0A-4FC0-BC32-67DC3AD6D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86F9A9-F376-4DFA-B9CA-BC1457CB1C71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DFF86DD-3BB3-4CF0-BB3E-A706A22E3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DD859E6-FF7A-4866-ABF6-B1BA3ED4E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F4080A-A9AF-45F0-8D52-616BFF6E81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9630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E62DA8F-7BA2-4F8E-A685-761C5C169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985F18-EBE6-470B-8226-BA0EE70B7D26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4336C87-D60E-4277-8C28-739FCE1B7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2D9A962-42B0-4735-A7CB-8F2BCCDD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E07AA9-1580-43A7-90D0-DBC03D750B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7561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BD8583E-5ADB-4044-B018-BD3BF149D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6EE604-00C4-4D26-A7AD-AB138215EB05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3FB7886-0D95-4A6B-81D7-F8B7A86C9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A4E8CDB-7C72-4211-8698-D9052B903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EED23F-1D7D-4C5B-A78B-8C9DBBB81A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7036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354AE08-66E8-4114-9156-17826E117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9EF1B-C581-45B5-82C9-994DCCFF15AF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5782886-5E8D-4B25-B329-DE842D267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4A5F826-5657-4645-A0F6-D35CEE469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5B54FD-1140-4561-A78B-E96D1C9C8B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001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EE6CB6E-A67C-43C7-B00D-5E0139EE9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AEA089-1D9E-4CEC-92B5-75BD62338AE2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8F65A2D-4F2E-4A64-9175-5C01574BB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2045D6D-60B5-4964-82F7-7D1E9C6B6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4A2196-C4C3-44AB-9BB1-4D2AE099D1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5865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060699B-06CB-48DA-8B0C-6DEFA7D70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5F9326-8243-407A-8802-1DA542A51478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35A8BFE-2836-4606-8010-D8B53961A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F1C12E2-85C3-4277-ACC7-CF421BBE9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4936C-4CE4-4B67-A2D1-51FD8002F9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463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87F81-186E-4BCA-8392-17CBD7834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D23DB6-0145-40B1-BE02-0EDB16E23B5E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C1E45-0D2E-4976-A064-05BC42838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7A856-C8E4-4799-B758-91860ECDF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284865-171C-4DD9-BAE4-B4D847BC4F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0527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96CC9-65FF-42A3-BA62-F2647A18F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8BB1E-BFBD-4D05-8E08-2C259959E921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2C701-7E65-49D8-AC55-5B81F3548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9866C-8097-46AE-9C78-AA8413C41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F76019-5C64-4D0E-B1F0-87F3D38F247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03964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2B0919-9684-4400-BBCB-93DD4DAC2399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1/21/2023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8A5FD1-66CC-4960-9AA9-CFCD7D7A42E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633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F56CB-55B6-4D14-9725-674F6D56A04D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1/21/2023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0A73D5-DF41-47FD-9C4E-550254C7A4B8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73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5ED693-CBF4-4B11-B692-5D667AA2CB3D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1/21/2023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49D400-12B2-495B-B0AA-E66D23241C08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9062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E72D7A-37C2-424D-A26E-5BE9B16E7C07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1/21/2023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CB431F-B0D8-4241-9987-C913E6F4764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34234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1D85F-1C0C-4D39-987E-4B71CB38FB5A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1/21/2023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BFC59B-569A-4D59-8828-74E93A13751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9978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638C1F-CF3E-404F-95BB-501139BB908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1/21/2023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819A6D-4DD8-4520-9B2D-4891833E42A1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8122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6C27B9-B631-4C29-B8BA-7F2C07EEB03C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1/21/2023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D9C0A-2198-4BB4-BD2C-9C4CF030278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1683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3D8679-C261-410D-A1B5-966FA4914F2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1/21/2023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049D3-8E8E-4ACE-9B26-19F9E2A48002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9052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634041-8579-41D2-BA7E-D0C7DF620675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1/21/2023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FEBDEE-FB86-4827-AACA-C5B8174C112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8347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9D2217-7454-4056-AB51-D442E837963B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1/21/2023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43889-7143-4B61-8073-DB60027F39F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67532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DDE1D3-7726-4FA7-9EF2-57D304A95E18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1/21/2023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49B772-BC4B-46F4-B691-B65CE913A3B9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4586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13F95-13FA-4F6B-B2BA-4D6BC5C6EEC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725501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96AF8859-966F-464E-9D23-6F783179484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EC8C399F-BDA7-43DD-8F0D-D892B812F1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8D22E-30A7-425A-BF27-D1A798EA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166CB2A-B973-479C-B057-616A85D2CED2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36600-F01C-4BE4-9266-917954F56F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32351-211A-47E1-9F16-85AF07F345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B645862-10AF-4A95-A874-B4A1EE69A5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39136B6-CD83-4EC0-9CEB-09C776D1E1B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1/21/2023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454B987-C91B-4304-9BFF-446EA7CA19E4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7069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>
            <a:extLst>
              <a:ext uri="{FF2B5EF4-FFF2-40B4-BE49-F238E27FC236}">
                <a16:creationId xmlns:a16="http://schemas.microsoft.com/office/drawing/2014/main" id="{06151BAD-08EF-40CA-B3E6-2167AA1DF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731963"/>
            <a:ext cx="11582400" cy="1195387"/>
          </a:xfrm>
        </p:spPr>
        <p:txBody>
          <a:bodyPr/>
          <a:lstStyle/>
          <a:p>
            <a:pPr>
              <a:defRPr/>
            </a:pPr>
            <a:r>
              <a:rPr lang="en-US" altLang="en-US" sz="3600" b="1" dirty="0">
                <a:solidFill>
                  <a:srgbClr val="000000"/>
                </a:solidFill>
                <a:latin typeface="+mn-lt"/>
                <a:ea typeface="ヒラギノ丸ゴ ProN W4"/>
                <a:cs typeface="Arial Rounded MT Bold" pitchFamily="34" charset="0"/>
              </a:rPr>
              <a:t>Healthcare Quality Improvement </a:t>
            </a:r>
            <a:endParaRPr lang="en-US" sz="3600" dirty="0">
              <a:latin typeface="+mn-lt"/>
              <a:ea typeface="ヒラギノ丸ゴ ProN W4"/>
              <a:cs typeface="Arial Rounded MT Bold" pitchFamily="34" charset="0"/>
            </a:endParaRPr>
          </a:p>
        </p:txBody>
      </p:sp>
      <p:sp>
        <p:nvSpPr>
          <p:cNvPr id="4099" name="Subtitle 2">
            <a:extLst>
              <a:ext uri="{FF2B5EF4-FFF2-40B4-BE49-F238E27FC236}">
                <a16:creationId xmlns:a16="http://schemas.microsoft.com/office/drawing/2014/main" id="{C579DE08-F486-4DA7-8FBB-DFB7931E5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116338"/>
            <a:ext cx="8534400" cy="16891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3200" b="1" dirty="0"/>
              <a:t>MD </a:t>
            </a:r>
            <a:r>
              <a:rPr lang="en-US" altLang="en-US" sz="3200" b="1" dirty="0" err="1"/>
              <a:t>Khondokar</a:t>
            </a:r>
            <a:r>
              <a:rPr lang="en-US" altLang="en-US" sz="3200" b="1" dirty="0"/>
              <a:t> </a:t>
            </a:r>
            <a:r>
              <a:rPr lang="en-US" altLang="en-US" sz="3200" b="1" dirty="0" err="1"/>
              <a:t>Rezaul</a:t>
            </a:r>
            <a:r>
              <a:rPr lang="en-US" altLang="en-US" sz="3200" b="1"/>
              <a:t> Karim,</a:t>
            </a:r>
            <a:endParaRPr lang="en-US" altLang="en-US" sz="3200" dirty="0"/>
          </a:p>
          <a:p>
            <a:pPr>
              <a:spcBef>
                <a:spcPct val="0"/>
              </a:spcBef>
            </a:pPr>
            <a:r>
              <a:rPr lang="en-US" altLang="en-US" sz="3200" dirty="0"/>
              <a:t>Deputy Director, </a:t>
            </a:r>
          </a:p>
          <a:p>
            <a:pPr>
              <a:spcBef>
                <a:spcPct val="0"/>
              </a:spcBef>
            </a:pPr>
            <a:r>
              <a:rPr lang="en-US" altLang="en-US" sz="3200" dirty="0"/>
              <a:t>Health Economics Unit, HSD, MoHFW</a:t>
            </a:r>
          </a:p>
        </p:txBody>
      </p:sp>
      <p:pic>
        <p:nvPicPr>
          <p:cNvPr id="4100" name="Picture 3">
            <a:extLst>
              <a:ext uri="{FF2B5EF4-FFF2-40B4-BE49-F238E27FC236}">
                <a16:creationId xmlns:a16="http://schemas.microsoft.com/office/drawing/2014/main" id="{060EBE27-9DBF-4A47-AF45-C2626C6B0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200" y="277813"/>
            <a:ext cx="1533525" cy="132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4">
            <a:extLst>
              <a:ext uri="{FF2B5EF4-FFF2-40B4-BE49-F238E27FC236}">
                <a16:creationId xmlns:a16="http://schemas.microsoft.com/office/drawing/2014/main" id="{2F975CD1-84EB-4E0B-A5AE-CA9615D35B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8160" y="584201"/>
            <a:ext cx="151447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5">
            <a:extLst>
              <a:ext uri="{FF2B5EF4-FFF2-40B4-BE49-F238E27FC236}">
                <a16:creationId xmlns:a16="http://schemas.microsoft.com/office/drawing/2014/main" id="{8A55DB6C-2D7C-45CB-B25D-14A728F394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490" y="568351"/>
            <a:ext cx="1565275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69B9A4-61DD-4E11-AF14-1DF1CBD5D24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EF96555-CBCC-4528-8C6A-FF39BFB5E2FA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4104" name="Slide Number Placeholder 7">
            <a:extLst>
              <a:ext uri="{FF2B5EF4-FFF2-40B4-BE49-F238E27FC236}">
                <a16:creationId xmlns:a16="http://schemas.microsoft.com/office/drawing/2014/main" id="{9DC3297C-88FB-4F34-8E38-BF0274795F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58903972-9F3A-47EC-B5A1-A4AB3B54E6A3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CD49818A-E939-4989-B397-6AED07F24F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1938"/>
            <a:ext cx="9144000" cy="862012"/>
          </a:xfrm>
        </p:spPr>
        <p:txBody>
          <a:bodyPr/>
          <a:lstStyle/>
          <a:p>
            <a:r>
              <a:rPr lang="en-US" altLang="en-US" b="1"/>
              <a:t>What is quality? </a:t>
            </a:r>
            <a:endParaRPr lang="en-US" altLang="en-US"/>
          </a:p>
        </p:txBody>
      </p:sp>
      <p:sp>
        <p:nvSpPr>
          <p:cNvPr id="6147" name="Subtitle 2">
            <a:extLst>
              <a:ext uri="{FF2B5EF4-FFF2-40B4-BE49-F238E27FC236}">
                <a16:creationId xmlns:a16="http://schemas.microsoft.com/office/drawing/2014/main" id="{BE0480F3-AA32-4801-BDD1-A5361ADB7E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2150" y="1096963"/>
            <a:ext cx="10672763" cy="5343525"/>
          </a:xfrm>
        </p:spPr>
        <p:txBody>
          <a:bodyPr/>
          <a:lstStyle/>
          <a:p>
            <a:pPr algn="l"/>
            <a:endParaRPr lang="en-US" altLang="en-US" i="1" dirty="0"/>
          </a:p>
          <a:p>
            <a:pPr algn="l">
              <a:buFont typeface="Wingdings" panose="05000000000000000000" pitchFamily="2" charset="2"/>
              <a:buChar char="Ø"/>
            </a:pPr>
            <a:r>
              <a:rPr lang="en-US" altLang="en-US" i="1" dirty="0"/>
              <a:t>Quality consists of the degree to which health services for individuals and populations increase the likelihood of desired health outcomes. </a:t>
            </a:r>
          </a:p>
          <a:p>
            <a:pPr algn="l"/>
            <a:endParaRPr lang="en-US" altLang="en-US" i="1" dirty="0"/>
          </a:p>
          <a:p>
            <a:pPr algn="l">
              <a:buFont typeface="Wingdings" panose="05000000000000000000" pitchFamily="2" charset="2"/>
              <a:buChar char="Ø"/>
            </a:pPr>
            <a:r>
              <a:rPr lang="en-US" altLang="en-US" i="1" dirty="0"/>
              <a:t>The performance of quality </a:t>
            </a:r>
            <a:r>
              <a:rPr lang="en-US" altLang="en-US" dirty="0"/>
              <a:t>should be safe, affordable, and have the ability to produce an impact on morbidity, mortality, disability and malnutrition. </a:t>
            </a:r>
          </a:p>
          <a:p>
            <a:pPr algn="l"/>
            <a:endParaRPr lang="en-US" altLang="en-US" dirty="0"/>
          </a:p>
          <a:p>
            <a:pPr algn="l">
              <a:buFont typeface="Wingdings" panose="05000000000000000000" pitchFamily="2" charset="2"/>
              <a:buChar char="Ø"/>
            </a:pPr>
            <a:r>
              <a:rPr lang="en-US" altLang="en-US" dirty="0"/>
              <a:t>Quality health care means doing the right thing, at the right time, in the right way, for the right person—and having the best possible results.</a:t>
            </a:r>
          </a:p>
          <a:p>
            <a:pPr algn="l"/>
            <a:endParaRPr lang="en-US" altLang="en-US" dirty="0"/>
          </a:p>
          <a:p>
            <a:pPr algn="l"/>
            <a:endParaRPr lang="en-US" altLang="en-US" dirty="0"/>
          </a:p>
          <a:p>
            <a:pPr algn="l"/>
            <a:endParaRPr lang="en-US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85D89-8443-4AE2-B364-63B4B8758FC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5D78781-7E32-4EF9-9AFB-F2763D1202D5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6149" name="Slide Number Placeholder 4">
            <a:extLst>
              <a:ext uri="{FF2B5EF4-FFF2-40B4-BE49-F238E27FC236}">
                <a16:creationId xmlns:a16="http://schemas.microsoft.com/office/drawing/2014/main" id="{9D77D529-CE80-41CC-83A2-3E62B71AAA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14106A2-DD22-4744-A91C-2876C5962E1C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5D8A5BA7-E726-477F-B61C-63BAB1B09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50" y="500063"/>
            <a:ext cx="11069638" cy="7112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1" dirty="0">
                <a:latin typeface="+mn-lt"/>
              </a:rPr>
              <a:t>A working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88B39-C2B6-406A-AAF9-B36511949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475" y="1316038"/>
            <a:ext cx="11125200" cy="48609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Care that fulfils the </a:t>
            </a:r>
            <a:r>
              <a:rPr lang="en-US" i="1" dirty="0"/>
              <a:t>needs</a:t>
            </a:r>
            <a:r>
              <a:rPr lang="en-US" dirty="0"/>
              <a:t> and </a:t>
            </a:r>
            <a:r>
              <a:rPr lang="en-US" i="1" dirty="0"/>
              <a:t>expectations</a:t>
            </a:r>
            <a:r>
              <a:rPr lang="en-US" dirty="0"/>
              <a:t> of patient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EA4223-1628-4A61-B6F0-BC5EAF76709B}"/>
              </a:ext>
            </a:extLst>
          </p:cNvPr>
          <p:cNvGraphicFramePr>
            <a:graphicFrameLocks noGrp="1"/>
          </p:cNvGraphicFramePr>
          <p:nvPr/>
        </p:nvGraphicFramePr>
        <p:xfrm>
          <a:off x="527050" y="1828800"/>
          <a:ext cx="11014075" cy="3840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2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1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1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Needs</a:t>
                      </a:r>
                    </a:p>
                  </a:txBody>
                  <a:tcPr marL="91438" marR="91438" marT="45689" marB="456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Expectations</a:t>
                      </a:r>
                    </a:p>
                  </a:txBody>
                  <a:tcPr marL="91438" marR="91438" marT="45689" marB="4568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045">
                <a:tc>
                  <a:txBody>
                    <a:bodyPr/>
                    <a:lstStyle/>
                    <a:p>
                      <a:r>
                        <a:rPr lang="en-US" sz="2400" dirty="0"/>
                        <a:t>Must be EFFECTIVE</a:t>
                      </a:r>
                    </a:p>
                    <a:p>
                      <a:r>
                        <a:rPr lang="en-US" sz="2400" dirty="0"/>
                        <a:t>Should</a:t>
                      </a:r>
                      <a:r>
                        <a:rPr lang="en-US" sz="2400" baseline="0" dirty="0"/>
                        <a:t> be SAFE</a:t>
                      </a:r>
                      <a:endParaRPr lang="en-US" sz="2400" dirty="0"/>
                    </a:p>
                  </a:txBody>
                  <a:tcPr marL="91438" marR="91438" marT="45689" marB="4568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-Less waiting time                          -Clean bed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-Clean hospital                                -Clean Toilet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-Good behavior                              -Fan/AC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-Sitting arrangement                     -Well dressed doctors and 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-Safe food                                           nurses                                         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-Quiet / not noisy environment</a:t>
                      </a:r>
                    </a:p>
                    <a:p>
                      <a:r>
                        <a:rPr lang="en-US" sz="2400" dirty="0"/>
                        <a:t>-Safe drinking water</a:t>
                      </a:r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 marL="91438" marR="91438" marT="45689" marB="4568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FB77E-AFC2-424C-BBDC-1409BBE8E7D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29C5AE6-DFA8-4454-BC27-3F08D3F25C23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7184" name="Slide Number Placeholder 5">
            <a:extLst>
              <a:ext uri="{FF2B5EF4-FFF2-40B4-BE49-F238E27FC236}">
                <a16:creationId xmlns:a16="http://schemas.microsoft.com/office/drawing/2014/main" id="{E18C9CB2-8C8E-45E0-9FA6-F0AAFDDF1B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6339BDE-F53C-478B-AE07-DBE59C9B502F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42FE6B2A-95CD-45E6-8E7B-756BD7804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4563"/>
          </a:xfrm>
        </p:spPr>
        <p:txBody>
          <a:bodyPr/>
          <a:lstStyle/>
          <a:p>
            <a:r>
              <a:rPr lang="en-US" altLang="en-US" sz="4000" b="1"/>
              <a:t>Dimensions of Quality Healthcare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B975F-2364-467E-BD90-CDCD6E55AD7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BB23317-DC25-416B-9789-8B817ADB6951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9220" name="Slide Number Placeholder 4">
            <a:extLst>
              <a:ext uri="{FF2B5EF4-FFF2-40B4-BE49-F238E27FC236}">
                <a16:creationId xmlns:a16="http://schemas.microsoft.com/office/drawing/2014/main" id="{282C6243-714F-4311-9AFA-A11C6D2429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620C8A50-30B1-496C-B251-99EB2B35545B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9221" name="Picture 1">
            <a:extLst>
              <a:ext uri="{FF2B5EF4-FFF2-40B4-BE49-F238E27FC236}">
                <a16:creationId xmlns:a16="http://schemas.microsoft.com/office/drawing/2014/main" id="{664AE5C7-E9C9-4CDA-99D4-287DD455D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725" y="1309688"/>
            <a:ext cx="6564313" cy="494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AA9B2A60-B775-4BE7-93BD-6DC27E2AE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2600" y="2057400"/>
            <a:ext cx="8686800" cy="1371600"/>
          </a:xfrm>
        </p:spPr>
        <p:txBody>
          <a:bodyPr/>
          <a:lstStyle/>
          <a:p>
            <a:pPr eaLnBrk="1" hangingPunct="1"/>
            <a:r>
              <a:rPr lang="en-US" altLang="en-US" b="1" dirty="0"/>
              <a:t>5S-CQI-TQM</a:t>
            </a:r>
            <a:endParaRPr lang="en-US" alt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998A60-6EDF-414C-BDE8-4296517D2E8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F8DFDC7-40C3-4712-8799-0869AF890B63}" type="datetime3">
              <a:rPr lang="en-US"/>
              <a:pPr>
                <a:defRPr/>
              </a:pPr>
              <a:t>21 January 2023</a:t>
            </a:fld>
            <a:endParaRPr lang="en-US" dirty="0"/>
          </a:p>
        </p:txBody>
      </p:sp>
      <p:sp>
        <p:nvSpPr>
          <p:cNvPr id="20488" name="Slide Number Placeholder 7">
            <a:extLst>
              <a:ext uri="{FF2B5EF4-FFF2-40B4-BE49-F238E27FC236}">
                <a16:creationId xmlns:a16="http://schemas.microsoft.com/office/drawing/2014/main" id="{9809F7F0-3F65-4F37-952B-7F4D862172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3392A8F4-311A-42F6-BA81-7BBEAB8A2CF5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D84A03B6-D2EE-4D91-A301-D0CA2D18D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BwZnvm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C3E45654-BD3F-47F3-95DB-439005294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524000"/>
            <a:ext cx="8229600" cy="4572000"/>
          </a:xfrm>
        </p:spPr>
        <p:txBody>
          <a:bodyPr/>
          <a:lstStyle/>
          <a:p>
            <a:pPr eaLnBrk="1" hangingPunct="1"/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GB A¨v‡cÖvPwU g~jZt GKwU Rvcvbx e¨e¯’vcbv, †hwU cÖavbZ †m †`‡ki wkí ‡ÿ‡Î †hgb - U‡qvUv I Ab¨vb¨ †Kv¤úvbx e¨envi K‡i _v‡K| </a:t>
            </a:r>
          </a:p>
          <a:p>
            <a:pPr eaLnBrk="1" hangingPunct="1"/>
            <a:r>
              <a:rPr lang="en-US" altLang="en-US"/>
              <a:t>5S </a:t>
            </a:r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me©cÖ_g</a:t>
            </a:r>
            <a:r>
              <a:rPr lang="en-US" altLang="en-US"/>
              <a:t> </a:t>
            </a:r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D™¢veb K‡ib wek^L¨vZ Mvox ÓU‡qvUvÓ ‡Kv¤úvwbi dvDÛvi mvwKwR U‡qvWv|</a:t>
            </a:r>
            <a:endParaRPr lang="en-US" altLang="en-US"/>
          </a:p>
          <a:p>
            <a:pPr eaLnBrk="1" hangingPunct="1"/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Wvt wfgj Kviv›`v‡Mv`v, cwiPvjK, jsKv nmwcUvj, kÖxjsKv me©cÖ_g GB UzjwU Zvi nvmcvZv‡j e¨envi K‡ib| hw`I wZwb ïiæ‡Z Kg©x‡`i Øviv evavi m¤§yLxb nb| ZeyI wZwb AZ¨šÍ mdjZvi mv‡_ GB A¨v‡cÖvPwU cy‡iv nvmcvZvjwU‡Z ev¯Íevqb K‡ib|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17900-262C-4DD4-9C69-C663A746152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C71201A-FC87-4E5F-9ED8-AB0FA6C61645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21509" name="Slide Number Placeholder 4">
            <a:extLst>
              <a:ext uri="{FF2B5EF4-FFF2-40B4-BE49-F238E27FC236}">
                <a16:creationId xmlns:a16="http://schemas.microsoft.com/office/drawing/2014/main" id="{7ECCD285-775E-4782-A138-228E1C6C47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1E4A6BF-8A15-4C9E-BBED-74379B7FA7B0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B09157E7-119D-4754-9E9C-EDBF1BEC5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944562"/>
          </a:xfrm>
        </p:spPr>
        <p:txBody>
          <a:bodyPr/>
          <a:lstStyle/>
          <a:p>
            <a:pPr eaLnBrk="1" hangingPunct="1"/>
            <a:r>
              <a:rPr lang="en-US" altLang="en-US" b="1"/>
              <a:t>5S-CQI-TQM</a:t>
            </a:r>
            <a:endParaRPr lang="en-US" altLang="en-US"/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8806C8E7-160F-4480-9468-9BA37B60A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295400"/>
            <a:ext cx="8458200" cy="51816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chemeClr val="tx1"/>
              </a:buClr>
            </a:pPr>
            <a:r>
              <a:rPr lang="en-US" altLang="en-US">
                <a:ea typeface="SutonnyMJ" pitchFamily="2" charset="0"/>
                <a:cs typeface="SutonnyMJ" pitchFamily="2" charset="0"/>
              </a:rPr>
              <a:t>5S-CQI-TQM </a:t>
            </a:r>
            <a:r>
              <a:rPr lang="en-US" altLang="en-US">
                <a:latin typeface="SutonnyOMJ" panose="01010600010101010101" pitchFamily="2" charset="0"/>
                <a:ea typeface="Calibri" panose="020F0502020204030204" pitchFamily="34" charset="0"/>
                <a:cs typeface="SutonnyOMJ" panose="01010600010101010101" pitchFamily="2" charset="0"/>
              </a:rPr>
              <a:t>: </a:t>
            </a:r>
            <a:r>
              <a:rPr lang="en-US" altLang="en-US"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একটি পরিচালনা পদ্ধতি যা উ</a:t>
            </a:r>
            <a:r>
              <a:rPr lang="bn-BD" altLang="en-US"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ৎ</a:t>
            </a:r>
            <a:r>
              <a:rPr lang="en-US" altLang="en-US"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পাদনশিলতা ও মানসম্পন্ন উন্নতির জন্য প্রয়োজন</a:t>
            </a:r>
            <a:endParaRPr lang="en-US" altLang="en-US">
              <a:latin typeface="Nikosh" panose="02000000000000000000" pitchFamily="2" charset="0"/>
              <a:cs typeface="Nikosh" panose="02000000000000000000" pitchFamily="2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>
                <a:latin typeface="Nikosh" panose="02000000000000000000" pitchFamily="2" charset="0"/>
                <a:cs typeface="Nikosh" panose="02000000000000000000" pitchFamily="2" charset="0"/>
              </a:rPr>
              <a:t>এ প্রক্রিয়াটি ২০১১ সালে বাংলাদেশে ১০০ এর বেশী হাসপাতালে শুরু হয়েছিলো</a:t>
            </a:r>
            <a:endParaRPr lang="bn-BD" altLang="en-US">
              <a:latin typeface="Nikosh" panose="02000000000000000000" pitchFamily="2" charset="0"/>
              <a:cs typeface="Nikosh" panose="02000000000000000000" pitchFamily="2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bn-BD" altLang="en-US">
                <a:latin typeface="Nikosh" panose="02000000000000000000" pitchFamily="2" charset="0"/>
                <a:cs typeface="Nikosh" panose="02000000000000000000" pitchFamily="2" charset="0"/>
              </a:rPr>
              <a:t>এরপর কোয়ালিটি ইম্প্রভমেন্ট সেক্রেটারিয়েট ২০১৫ সাল হতে কার্যক্রম শুরু করে।</a:t>
            </a:r>
            <a:endParaRPr lang="en-US" altLang="en-US">
              <a:latin typeface="Nikosh" panose="02000000000000000000" pitchFamily="2" charset="0"/>
              <a:cs typeface="Nikosh" panose="02000000000000000000" pitchFamily="2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>
                <a:ea typeface="SutonnyMJ" pitchFamily="2" charset="0"/>
                <a:cs typeface="SutonnyMJ" pitchFamily="2" charset="0"/>
              </a:rPr>
              <a:t>5S-CQI-TQM</a:t>
            </a:r>
            <a:r>
              <a:rPr lang="en-US" altLang="en-US">
                <a:latin typeface="SutonnyOMJ" panose="01010600010101010101" pitchFamily="2" charset="0"/>
                <a:cs typeface="SutonnyOMJ" panose="01010600010101010101" pitchFamily="2" charset="0"/>
              </a:rPr>
              <a:t> </a:t>
            </a:r>
            <a:r>
              <a:rPr lang="en-US" altLang="en-US">
                <a:latin typeface="Nikosh" panose="02000000000000000000" pitchFamily="2" charset="0"/>
                <a:cs typeface="Nikosh" panose="02000000000000000000" pitchFamily="2" charset="0"/>
              </a:rPr>
              <a:t>ইহা একটি সরকারি কার্যক্রম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>
                <a:latin typeface="Nikosh" panose="02000000000000000000" pitchFamily="2" charset="0"/>
                <a:cs typeface="Nikosh" panose="02000000000000000000" pitchFamily="2" charset="0"/>
              </a:rPr>
              <a:t>সীমিত সম্পদের দেশগুলোর জন্য ইহা উপযুক্ত</a:t>
            </a:r>
          </a:p>
          <a:p>
            <a:pPr eaLnBrk="1" hangingPunct="1"/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7F2A5-AD08-4BA5-B40F-CB06DA53091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A8B14C5-B698-4957-82CE-21594F66F06D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22533" name="Slide Number Placeholder 4">
            <a:extLst>
              <a:ext uri="{FF2B5EF4-FFF2-40B4-BE49-F238E27FC236}">
                <a16:creationId xmlns:a16="http://schemas.microsoft.com/office/drawing/2014/main" id="{0B6402F6-0C12-44B4-B112-EAD6C30485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CD63A3E7-A6DD-48CD-BCF1-B246328C0375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0337C363-0D5A-4CB3-BEA4-A78103CED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944562"/>
          </a:xfrm>
        </p:spPr>
        <p:txBody>
          <a:bodyPr/>
          <a:lstStyle/>
          <a:p>
            <a:pPr eaLnBrk="1" hangingPunct="1"/>
            <a:r>
              <a:rPr lang="en-US" altLang="en-US" b="1"/>
              <a:t>5S-CQI-TQM</a:t>
            </a:r>
            <a:endParaRPr lang="en-US" altLang="en-US"/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6C9D9A56-BE92-472E-9515-6D8B4470D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0" y="1295400"/>
            <a:ext cx="8610600" cy="5181600"/>
          </a:xfrm>
        </p:spPr>
        <p:txBody>
          <a:bodyPr/>
          <a:lstStyle/>
          <a:p>
            <a:pPr eaLnBrk="1" hangingPunct="1"/>
            <a:r>
              <a:rPr lang="en-US" altLang="en-US" sz="3600">
                <a:latin typeface="SutonnyMJ" pitchFamily="2" charset="0"/>
                <a:ea typeface="SutonnyMJ" pitchFamily="2" charset="0"/>
                <a:cs typeface="SutonnyMJ" pitchFamily="2" charset="0"/>
              </a:rPr>
              <a:t>DbœZ Kg©cwi‡ek I fvj `jxq Kv‡Ri (</a:t>
            </a:r>
            <a:r>
              <a:rPr lang="en-US" altLang="en-US" sz="3600">
                <a:ea typeface="SutonnyMJ" pitchFamily="2" charset="0"/>
                <a:cs typeface="SutonnyMJ" pitchFamily="2" charset="0"/>
              </a:rPr>
              <a:t>teamwork) </a:t>
            </a:r>
            <a:r>
              <a:rPr lang="en-US" altLang="en-US" sz="3600">
                <a:latin typeface="SutonnyMJ" pitchFamily="2" charset="0"/>
                <a:ea typeface="SutonnyMJ" pitchFamily="2" charset="0"/>
                <a:cs typeface="SutonnyMJ" pitchFamily="2" charset="0"/>
              </a:rPr>
              <a:t>ga¨ w`‡q mdjZv AR©b Kiv hvq| </a:t>
            </a:r>
          </a:p>
          <a:p>
            <a:pPr eaLnBrk="1" hangingPunct="1"/>
            <a:r>
              <a:rPr lang="en-US" altLang="en-US" sz="3600">
                <a:latin typeface="SutonnyMJ" pitchFamily="2" charset="0"/>
                <a:ea typeface="SutonnyMJ" pitchFamily="2" charset="0"/>
                <a:cs typeface="SutonnyMJ" pitchFamily="2" charset="0"/>
              </a:rPr>
              <a:t>Kg© cwi‡e‡ki gv‡bvbœq‡bi ïiæUvB n‡”Q </a:t>
            </a:r>
            <a:r>
              <a:rPr lang="en-US" altLang="en-US" sz="3600">
                <a:ea typeface="SutonnyMJ" pitchFamily="2" charset="0"/>
                <a:cs typeface="SutonnyMJ" pitchFamily="2" charset="0"/>
              </a:rPr>
              <a:t>5S</a:t>
            </a:r>
            <a:r>
              <a:rPr lang="en-US" altLang="en-US" sz="3600">
                <a:latin typeface="SutonnyMJ" pitchFamily="2" charset="0"/>
                <a:ea typeface="SutonnyMJ" pitchFamily="2" charset="0"/>
                <a:cs typeface="SutonnyMJ" pitchFamily="2" charset="0"/>
              </a:rPr>
              <a:t> avibvi ev¯Íevqb| </a:t>
            </a:r>
          </a:p>
          <a:p>
            <a:pPr eaLnBrk="1" hangingPunct="1"/>
            <a:r>
              <a:rPr lang="en-US" altLang="en-US" sz="3600">
                <a:latin typeface="SutonnyMJ" pitchFamily="2" charset="0"/>
                <a:ea typeface="SutonnyMJ" pitchFamily="2" charset="0"/>
                <a:cs typeface="SutonnyMJ" pitchFamily="2" charset="0"/>
              </a:rPr>
              <a:t>Kg© cwi‡e‡ki Dbœq‡bi cvkvcvwk hw` </a:t>
            </a:r>
            <a:r>
              <a:rPr lang="en-US" altLang="en-US" sz="3600">
                <a:ea typeface="SutonnyMJ" pitchFamily="2" charset="0"/>
                <a:cs typeface="SutonnyMJ" pitchFamily="2" charset="0"/>
              </a:rPr>
              <a:t>Continuous Quality Improvement (CQI)</a:t>
            </a:r>
            <a:r>
              <a:rPr lang="en-US" altLang="en-US" sz="3600">
                <a:latin typeface="SutonnyMJ" pitchFamily="2" charset="0"/>
                <a:ea typeface="SutonnyMJ" pitchFamily="2" charset="0"/>
                <a:cs typeface="SutonnyMJ" pitchFamily="2" charset="0"/>
              </a:rPr>
              <a:t> cwiPvjbv Kiv hvq- Z‡eB </a:t>
            </a:r>
            <a:r>
              <a:rPr lang="en-US" altLang="en-US" sz="3600">
                <a:ea typeface="SutonnyMJ" pitchFamily="2" charset="0"/>
                <a:cs typeface="SutonnyMJ" pitchFamily="2" charset="0"/>
              </a:rPr>
              <a:t>Total Quality Management (TQM)</a:t>
            </a:r>
            <a:r>
              <a:rPr lang="en-US" altLang="en-US" sz="3600">
                <a:latin typeface="SutonnyMJ" pitchFamily="2" charset="0"/>
                <a:ea typeface="SutonnyMJ" pitchFamily="2" charset="0"/>
                <a:cs typeface="SutonnyMJ" pitchFamily="2" charset="0"/>
              </a:rPr>
              <a:t> AR©b Kiv m¤¢e|</a:t>
            </a:r>
          </a:p>
          <a:p>
            <a:pPr eaLnBrk="1" hangingPunct="1"/>
            <a:endParaRPr lang="en-US" altLang="en-US" sz="3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483D6-F422-4EEE-8F3F-7EAA9D5E7F8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8AAF62C-A387-44E6-B5EC-C6135C4C063A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23557" name="Slide Number Placeholder 4">
            <a:extLst>
              <a:ext uri="{FF2B5EF4-FFF2-40B4-BE49-F238E27FC236}">
                <a16:creationId xmlns:a16="http://schemas.microsoft.com/office/drawing/2014/main" id="{36E58B82-CD28-4181-BDA5-9C28BF413B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44B987C-A40B-4414-9883-6FD8E7238ABD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470D-C0C8-4DFD-B7B5-B4EB0EF0B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err="1">
                <a:latin typeface="SutonnyMJ" pitchFamily="2" charset="0"/>
                <a:cs typeface="SutonnyMJ" pitchFamily="2" charset="0"/>
              </a:rPr>
              <a:t>evsjv</a:t>
            </a:r>
            <a:r>
              <a:rPr lang="en-US" b="1" dirty="0">
                <a:latin typeface="SutonnyMJ" pitchFamily="2" charset="0"/>
                <a:cs typeface="SutonnyMJ" pitchFamily="2" charset="0"/>
              </a:rPr>
              <a:t>‡`‡k </a:t>
            </a:r>
            <a:r>
              <a:rPr lang="en-US" b="1" dirty="0">
                <a:cs typeface="SutonnyMJ" pitchFamily="2" charset="0"/>
              </a:rPr>
              <a:t>5S</a:t>
            </a:r>
            <a:r>
              <a:rPr lang="en-US" b="1" dirty="0">
                <a:latin typeface="SutonnyMJ" pitchFamily="2" charset="0"/>
                <a:cs typeface="SutonnyMJ" pitchFamily="2" charset="0"/>
              </a:rPr>
              <a:t>-</a:t>
            </a:r>
            <a:r>
              <a:rPr lang="en-US" b="1" dirty="0">
                <a:latin typeface="+mn-lt"/>
                <a:cs typeface="SutonnyMJ" pitchFamily="2" charset="0"/>
              </a:rPr>
              <a:t>CQI</a:t>
            </a:r>
            <a:r>
              <a:rPr lang="en-US" b="1" dirty="0">
                <a:latin typeface="SutonnyMJ" pitchFamily="2" charset="0"/>
                <a:cs typeface="SutonnyMJ" pitchFamily="2" charset="0"/>
              </a:rPr>
              <a:t>-</a:t>
            </a:r>
            <a:r>
              <a:rPr lang="en-US" b="1" dirty="0">
                <a:cs typeface="SutonnyMJ" pitchFamily="2" charset="0"/>
              </a:rPr>
              <a:t>TQM</a:t>
            </a:r>
            <a:r>
              <a:rPr lang="en-US" b="1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latin typeface="SutonnyMJ" pitchFamily="2" charset="0"/>
                <a:cs typeface="SutonnyMJ" pitchFamily="2" charset="0"/>
              </a:rPr>
              <a:t>Gi</a:t>
            </a:r>
            <a:r>
              <a:rPr lang="en-US" b="1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latin typeface="SutonnyMJ" pitchFamily="2" charset="0"/>
                <a:cs typeface="SutonnyMJ" pitchFamily="2" charset="0"/>
              </a:rPr>
              <a:t>bgybv</a:t>
            </a:r>
            <a:r>
              <a:rPr lang="en-US" b="1" dirty="0">
                <a:latin typeface="SutonnyMJ" pitchFamily="2" charset="0"/>
                <a:cs typeface="SutonnyMJ" pitchFamily="2" charset="0"/>
              </a:rPr>
              <a:t>: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38F4ACCF-2E86-4333-8B1E-E8FD56529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4953000"/>
          </a:xfrm>
        </p:spPr>
        <p:txBody>
          <a:bodyPr/>
          <a:lstStyle/>
          <a:p>
            <a:pPr eaLnBrk="1" hangingPunct="1"/>
            <a:r>
              <a:rPr lang="en-US" altLang="en-US">
                <a:latin typeface="Nikosh" panose="02000000000000000000" pitchFamily="2" charset="0"/>
                <a:cs typeface="Nikosh" panose="02000000000000000000" pitchFamily="2" charset="0"/>
              </a:rPr>
              <a:t>ঢাকা শহরের ঢাকা মেডিকেল কলেজ হাসপাতাল, শহীদ সোহরাওয়ার্দী মেডিকেল কলেজ হাসপাতাল, মুগদা মেডিকেল কলেজ হাসপাতাল, কুর্মিটোলা জেনারেল হাসপাতাল, স্যার সলিমুল্লাহ মেডিকেল কলেজ হাসপাতাল, সরকারী কর্মচারী হাসপাতাল, ও জাতীয় নাক, কান ও গলা ইন্সটিটিউট</a:t>
            </a:r>
          </a:p>
          <a:p>
            <a:pPr eaLnBrk="1" hangingPunct="1"/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mvZÿxiv, biwms`x, nweMÄ, </a:t>
            </a:r>
            <a:r>
              <a:rPr lang="en-US" altLang="en-US">
                <a:latin typeface="Nikosh" panose="02000000000000000000" pitchFamily="2" charset="0"/>
                <a:cs typeface="Nikosh" panose="02000000000000000000" pitchFamily="2" charset="0"/>
              </a:rPr>
              <a:t>রাঙ্গামাটি,</a:t>
            </a:r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>
                <a:latin typeface="Nikosh" panose="02000000000000000000" pitchFamily="2" charset="0"/>
                <a:cs typeface="Nikosh" panose="02000000000000000000" pitchFamily="2" charset="0"/>
              </a:rPr>
              <a:t>মৌলভীবাজার, পটুয়াখালী, জামালপুর, সিরাজগ</a:t>
            </a:r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Ä,</a:t>
            </a:r>
            <a:r>
              <a:rPr lang="en-US" altLang="en-US">
                <a:latin typeface="Nikosh" panose="02000000000000000000" pitchFamily="2" charset="0"/>
                <a:cs typeface="Nikosh" panose="02000000000000000000" pitchFamily="2" charset="0"/>
              </a:rPr>
              <a:t> নাটোর, </a:t>
            </a:r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cvebv, K·evRvi, Uv½vBj, RqcyinvU, </a:t>
            </a:r>
            <a:r>
              <a:rPr lang="en-US" altLang="en-US">
                <a:latin typeface="Nikosh" panose="02000000000000000000" pitchFamily="2" charset="0"/>
                <a:cs typeface="Nikosh" panose="02000000000000000000" pitchFamily="2" charset="0"/>
              </a:rPr>
              <a:t>ঝিনাইদহ, কুরিগ্রাম</a:t>
            </a:r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 †Rjv nvmcvZv</a:t>
            </a:r>
            <a:r>
              <a:rPr lang="en-US" altLang="en-US">
                <a:latin typeface="Nikosh" panose="02000000000000000000" pitchFamily="2" charset="0"/>
                <a:cs typeface="Nikosh" panose="02000000000000000000" pitchFamily="2" charset="0"/>
              </a:rPr>
              <a:t>ল ইত্যাদি।</a:t>
            </a:r>
          </a:p>
          <a:p>
            <a:pPr eaLnBrk="1" hangingPunct="1"/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cvebv †Rjvi Ck¦i`x I myRvbMi Dc‡Rjvq; Ges h‡kvi †Rjvi †PŠMvQv ¯^v¯’¨ Kg‡cø‡· GB Kg©KvÛ ev¯Íevqb ïiæ n‡q‡Q</a:t>
            </a:r>
          </a:p>
          <a:p>
            <a:pPr eaLnBrk="1" hangingPunct="1"/>
            <a:endParaRPr lang="en-US" altLang="en-US">
              <a:latin typeface="SutonnyMJ" pitchFamily="2" charset="0"/>
              <a:ea typeface="SutonnyMJ" pitchFamily="2" charset="0"/>
              <a:cs typeface="SutonnyMJ" pitchFamily="2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58794-BAEB-40BE-BB0B-3CC5EB71A7A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44CBD24-A53E-4FE8-A0C4-C7A97EC717A7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24581" name="Slide Number Placeholder 4">
            <a:extLst>
              <a:ext uri="{FF2B5EF4-FFF2-40B4-BE49-F238E27FC236}">
                <a16:creationId xmlns:a16="http://schemas.microsoft.com/office/drawing/2014/main" id="{543ACCBA-9CA3-46C2-96F0-7FC43BFD8B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299F9AC5-6879-439C-8B68-DEC93217166E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A09B7293-88ED-4312-9BAF-C3ED83589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5S-CQI-TQM </a:t>
            </a:r>
            <a:r>
              <a:rPr lang="en-US" altLang="en-US" b="1">
                <a:latin typeface="SutonnyMJ" pitchFamily="2" charset="0"/>
                <a:ea typeface="SutonnyMJ" pitchFamily="2" charset="0"/>
                <a:cs typeface="SutonnyMJ" pitchFamily="2" charset="0"/>
              </a:rPr>
              <a:t>Gi wZbwU avc:</a:t>
            </a:r>
            <a:endParaRPr lang="en-US" altLang="en-US">
              <a:latin typeface="SutonnyMJ" pitchFamily="2" charset="0"/>
              <a:ea typeface="SutonnyMJ" pitchFamily="2" charset="0"/>
              <a:cs typeface="SutonnyMJ" pitchFamily="2" charset="0"/>
            </a:endParaRP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7D8989BB-3ECF-4B8B-8C40-9FBDD3D3F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334000"/>
          </a:xfrm>
        </p:spPr>
        <p:txBody>
          <a:bodyPr/>
          <a:lstStyle/>
          <a:p>
            <a:pPr eaLnBrk="1" hangingPunct="1"/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cÖ_g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avc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: </a:t>
            </a:r>
            <a:r>
              <a:rPr lang="en-US" altLang="en-US" u="sng" dirty="0">
                <a:ea typeface="SutonnyMJ" pitchFamily="2" charset="0"/>
                <a:cs typeface="SutonnyMJ" pitchFamily="2" charset="0"/>
              </a:rPr>
              <a:t>5S</a:t>
            </a:r>
            <a:r>
              <a:rPr lang="en-US" altLang="en-US" u="sng" dirty="0">
                <a:latin typeface="SutonnyMJ" pitchFamily="2" charset="0"/>
                <a:ea typeface="SutonnyMJ" pitchFamily="2" charset="0"/>
                <a:cs typeface="SutonnyMJ" pitchFamily="2" charset="0"/>
              </a:rPr>
              <a:t> Gi </a:t>
            </a:r>
            <a:r>
              <a:rPr lang="en-US" altLang="en-US" u="sng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gva</a:t>
            </a:r>
            <a:r>
              <a:rPr lang="en-US" altLang="en-US" u="sng" dirty="0">
                <a:latin typeface="SutonnyMJ" pitchFamily="2" charset="0"/>
                <a:ea typeface="SutonnyMJ" pitchFamily="2" charset="0"/>
                <a:cs typeface="SutonnyMJ" pitchFamily="2" charset="0"/>
              </a:rPr>
              <a:t>¨‡g </a:t>
            </a:r>
            <a:r>
              <a:rPr lang="en-US" altLang="en-US" u="sng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nvmcvZv‡ji</a:t>
            </a:r>
            <a:r>
              <a:rPr lang="en-US" altLang="en-US" u="sng" dirty="0">
                <a:latin typeface="SutonnyMJ" pitchFamily="2" charset="0"/>
                <a:ea typeface="SutonnyMJ" pitchFamily="2" charset="0"/>
                <a:cs typeface="SutonnyMJ" pitchFamily="2" charset="0"/>
              </a:rPr>
              <a:t> Kg© </a:t>
            </a:r>
            <a:r>
              <a:rPr lang="en-US" altLang="en-US" u="sng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cwi‡e‡ki</a:t>
            </a:r>
            <a:r>
              <a:rPr lang="en-US" altLang="en-US" u="sng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u="sng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DbœwZ</a:t>
            </a:r>
            <a:r>
              <a:rPr lang="en-US" altLang="en-US" u="sng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u="sng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mvab</a:t>
            </a:r>
            <a:r>
              <a:rPr lang="en-US" altLang="en-US" u="sng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Kiv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, Kg©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cwi‡ek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Dbœqb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Uxg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>
                <a:ea typeface="SutonnyMJ" pitchFamily="2" charset="0"/>
                <a:cs typeface="SutonnyMJ" pitchFamily="2" charset="0"/>
              </a:rPr>
              <a:t>(WIT) 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Gi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gva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¨‡g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cwiPvwjZ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n‡e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| </a:t>
            </a:r>
            <a:r>
              <a:rPr lang="en-US" altLang="en-US" dirty="0">
                <a:ea typeface="SutonnyMJ" pitchFamily="2" charset="0"/>
                <a:cs typeface="SutonnyMJ" pitchFamily="2" charset="0"/>
              </a:rPr>
              <a:t>WIT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n‡e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>
                <a:ea typeface="SutonnyMJ" pitchFamily="2" charset="0"/>
                <a:cs typeface="SutonnyMJ" pitchFamily="2" charset="0"/>
              </a:rPr>
              <a:t>5S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Gi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g~j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PvwjKv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kw³| </a:t>
            </a:r>
            <a:r>
              <a:rPr lang="en-US" altLang="en-US" dirty="0">
                <a:ea typeface="SutonnyMJ" pitchFamily="2" charset="0"/>
                <a:cs typeface="SutonnyMJ" pitchFamily="2" charset="0"/>
              </a:rPr>
              <a:t>QIC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ev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gvb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Dbœqb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Uxg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>
                <a:ea typeface="SutonnyMJ" pitchFamily="2" charset="0"/>
                <a:cs typeface="SutonnyMJ" pitchFamily="2" charset="0"/>
              </a:rPr>
              <a:t>WIT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mg~‡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ni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mvwe©K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Z`viKx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I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cwiexÿb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Ki‡e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| </a:t>
            </a:r>
          </a:p>
          <a:p>
            <a:pPr eaLnBrk="1" hangingPunct="1"/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wØZxq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avc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: </a:t>
            </a:r>
            <a:r>
              <a:rPr lang="en-US" altLang="en-US" dirty="0">
                <a:ea typeface="SutonnyMJ" pitchFamily="2" charset="0"/>
                <a:cs typeface="SutonnyMJ" pitchFamily="2" charset="0"/>
              </a:rPr>
              <a:t>CQI- 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u="sng" dirty="0">
                <a:latin typeface="SutonnyMJ" pitchFamily="2" charset="0"/>
                <a:ea typeface="SutonnyMJ" pitchFamily="2" charset="0"/>
                <a:cs typeface="SutonnyMJ" pitchFamily="2" charset="0"/>
              </a:rPr>
              <a:t>µ</a:t>
            </a:r>
            <a:r>
              <a:rPr lang="en-US" altLang="en-US" u="sng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gvMZ</a:t>
            </a:r>
            <a:r>
              <a:rPr lang="en-US" altLang="en-US" u="sng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u="sng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gvb</a:t>
            </a:r>
            <a:r>
              <a:rPr lang="en-US" altLang="en-US" u="sng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u="sng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Dbœqb</a:t>
            </a:r>
            <a:r>
              <a:rPr lang="en-US" altLang="en-US" u="sng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u="sng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AR©b</a:t>
            </a:r>
            <a:r>
              <a:rPr lang="en-US" altLang="en-US" u="sng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ev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KvB‡Rb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-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hv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AskMÖnb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g~jK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Kvh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©µ‡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gi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gva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¨‡g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mgm¨v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mgvavb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mn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gvb-Dbœq†bi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avivevwnKZv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eRvq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ivLv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| </a:t>
            </a:r>
          </a:p>
          <a:p>
            <a:pPr eaLnBrk="1" hangingPunct="1"/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Z„Zxq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avc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:  </a:t>
            </a:r>
            <a:r>
              <a:rPr lang="en-US" altLang="en-US" dirty="0">
                <a:ea typeface="SutonnyMJ" pitchFamily="2" charset="0"/>
                <a:cs typeface="SutonnyMJ" pitchFamily="2" charset="0"/>
              </a:rPr>
              <a:t>TQM 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- </a:t>
            </a:r>
            <a:r>
              <a:rPr lang="en-US" altLang="en-US" u="sng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gvbm</a:t>
            </a:r>
            <a:r>
              <a:rPr lang="en-US" altLang="en-US" u="sng" dirty="0">
                <a:latin typeface="SutonnyMJ" pitchFamily="2" charset="0"/>
                <a:ea typeface="SutonnyMJ" pitchFamily="2" charset="0"/>
                <a:cs typeface="SutonnyMJ" pitchFamily="2" charset="0"/>
              </a:rPr>
              <a:t>¤§Z </a:t>
            </a:r>
            <a:r>
              <a:rPr lang="en-US" altLang="en-US" u="sng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mvwe©K</a:t>
            </a:r>
            <a:r>
              <a:rPr lang="en-US" altLang="en-US" u="sng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u="sng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e¨e</a:t>
            </a:r>
            <a:r>
              <a:rPr lang="en-US" altLang="en-US" u="sng" dirty="0">
                <a:latin typeface="SutonnyMJ" pitchFamily="2" charset="0"/>
                <a:ea typeface="SutonnyMJ" pitchFamily="2" charset="0"/>
                <a:cs typeface="SutonnyMJ" pitchFamily="2" charset="0"/>
              </a:rPr>
              <a:t>¯’</a:t>
            </a:r>
            <a:r>
              <a:rPr lang="en-US" altLang="en-US" u="sng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vcbv</a:t>
            </a:r>
            <a:r>
              <a:rPr lang="en-US" altLang="en-US" u="sng" dirty="0">
                <a:latin typeface="SutonnyMJ" pitchFamily="2" charset="0"/>
                <a:ea typeface="SutonnyMJ" pitchFamily="2" charset="0"/>
                <a:cs typeface="SutonnyMJ" pitchFamily="2" charset="0"/>
              </a:rPr>
              <a:t>, </a:t>
            </a:r>
            <a:r>
              <a:rPr lang="en-US" altLang="en-US" u="sng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ev</a:t>
            </a:r>
            <a:r>
              <a:rPr lang="en-US" altLang="en-US" u="sng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u="sng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mwVK</a:t>
            </a:r>
            <a:r>
              <a:rPr lang="en-US" altLang="en-US" u="sng" dirty="0">
                <a:latin typeface="SutonnyMJ" pitchFamily="2" charset="0"/>
                <a:ea typeface="SutonnyMJ" pitchFamily="2" charset="0"/>
                <a:cs typeface="SutonnyMJ" pitchFamily="2" charset="0"/>
              </a:rPr>
              <a:t> †</a:t>
            </a:r>
            <a:r>
              <a:rPr lang="en-US" altLang="en-US" u="sng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bZ„Z</a:t>
            </a:r>
            <a:r>
              <a:rPr lang="en-US" altLang="en-US" u="sng" dirty="0">
                <a:latin typeface="SutonnyMJ" pitchFamily="2" charset="0"/>
                <a:ea typeface="SutonnyMJ" pitchFamily="2" charset="0"/>
                <a:cs typeface="SutonnyMJ" pitchFamily="2" charset="0"/>
              </a:rPr>
              <a:t>¡, </a:t>
            </a:r>
            <a:r>
              <a:rPr lang="en-US" altLang="en-US" u="sng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BwZevPK</a:t>
            </a:r>
            <a:r>
              <a:rPr lang="en-US" altLang="en-US" u="sng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u="sng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gvbwmKZv</a:t>
            </a:r>
            <a:r>
              <a:rPr lang="en-US" altLang="en-US" u="sng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u="sng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Ges</a:t>
            </a:r>
            <a:r>
              <a:rPr lang="en-US" altLang="en-US" u="sng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msMV‡bi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ms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¯‹…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wZ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ˆ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Zixi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gva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¨‡g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mxwgZ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m¤ú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‡`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i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m‡e©v”P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e¨envi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wb‡ðZ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dirty="0" err="1">
                <a:latin typeface="SutonnyMJ" pitchFamily="2" charset="0"/>
                <a:ea typeface="SutonnyMJ" pitchFamily="2" charset="0"/>
                <a:cs typeface="SutonnyMJ" pitchFamily="2" charset="0"/>
              </a:rPr>
              <a:t>Ki‡e</a:t>
            </a:r>
            <a:r>
              <a:rPr lang="en-US" altLang="en-US" dirty="0">
                <a:latin typeface="SutonnyMJ" pitchFamily="2" charset="0"/>
                <a:ea typeface="SutonnyMJ" pitchFamily="2" charset="0"/>
                <a:cs typeface="SutonnyMJ" pitchFamily="2" charset="0"/>
              </a:rPr>
              <a:t>|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75624-9496-40E3-923F-532FC5B8990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54129F4-0B2D-4B4C-ABFA-5DDFBCE9D803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25605" name="Slide Number Placeholder 4">
            <a:extLst>
              <a:ext uri="{FF2B5EF4-FFF2-40B4-BE49-F238E27FC236}">
                <a16:creationId xmlns:a16="http://schemas.microsoft.com/office/drawing/2014/main" id="{000A815B-918D-4B68-91DC-7A64F32EFE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EA4895FC-70D4-4A3E-9ED1-4A0AA2CC7DB3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Content Placeholder 3">
            <a:extLst>
              <a:ext uri="{FF2B5EF4-FFF2-40B4-BE49-F238E27FC236}">
                <a16:creationId xmlns:a16="http://schemas.microsoft.com/office/drawing/2014/main" id="{93F0647C-689B-46B6-8EC8-C23A28631C4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17688" y="261938"/>
            <a:ext cx="8539162" cy="632777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6BB0E-D733-44E1-8911-2198DB9832A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AD4A759-0B62-4013-915A-50A00F4D629A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26628" name="Slide Number Placeholder 4">
            <a:extLst>
              <a:ext uri="{FF2B5EF4-FFF2-40B4-BE49-F238E27FC236}">
                <a16:creationId xmlns:a16="http://schemas.microsoft.com/office/drawing/2014/main" id="{108EC0A4-D486-4D38-A688-3839D6E5D9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4D2DA96C-2E5A-4766-B2B8-1C092C7C148C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7BCF16D1-8BEE-41A0-B482-BF2E3EA06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ea typeface="Times New Roman" panose="02020603050405020304" pitchFamily="18" charset="0"/>
                <a:cs typeface="Nikosh" panose="02000000000000000000" pitchFamily="2" charset="0"/>
              </a:rPr>
              <a:t>5S-CQI-TQM </a:t>
            </a:r>
            <a:r>
              <a:rPr lang="en-US" altLang="en-US" b="1">
                <a:latin typeface="SutonnyMJ" pitchFamily="2" charset="0"/>
                <a:ea typeface="Times New Roman" panose="02020603050405020304" pitchFamily="18" charset="0"/>
                <a:cs typeface="SutonnyMJ" pitchFamily="2" charset="0"/>
              </a:rPr>
              <a:t>ev¯Íevq‡bi 4wU ch©vq:</a:t>
            </a:r>
            <a:endParaRPr lang="en-US" alt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44A016-8BE1-4C8E-996B-42603916168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81200" y="1295400"/>
          <a:ext cx="8305800" cy="4821238"/>
        </p:xfrm>
        <a:graphic>
          <a:graphicData uri="http://schemas.openxmlformats.org/drawingml/2006/table">
            <a:tbl>
              <a:tblPr/>
              <a:tblGrid>
                <a:gridCol w="461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2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ch©vq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SutonnyMJ" pitchFamily="2" charset="0"/>
                        <a:ea typeface="Times New Roman" panose="02020603050405020304" pitchFamily="18" charset="0"/>
                        <a:cs typeface="SutonnyMJ" pitchFamily="2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AvbygvwbK mgq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SutonnyMJ" pitchFamily="2" charset="0"/>
                        <a:ea typeface="Times New Roman" panose="02020603050405020304" pitchFamily="18" charset="0"/>
                        <a:cs typeface="SutonnyMJ" pitchFamily="2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Kg©Kv‡Ûi D`vniY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SutonnyMJ" pitchFamily="2" charset="0"/>
                        <a:ea typeface="Times New Roman" panose="02020603050405020304" pitchFamily="18" charset="0"/>
                        <a:cs typeface="SutonnyMJ" pitchFamily="2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01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kumimoji="0" lang="en-US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cÖ¯‘wZ g~jK ch©vq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(Preparatory Phase)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1 gvm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utonnyMJ" pitchFamily="2" charset="0"/>
                        <a:ea typeface="Times New Roman" panose="02020603050405020304" pitchFamily="18" charset="0"/>
                        <a:cs typeface="SutonnyMJ" pitchFamily="2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avibv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cÖ`vb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SutonnyMJ" pitchFamily="2" charset="0"/>
                          <a:ea typeface="+mn-ea"/>
                          <a:cs typeface="+mn-cs"/>
                        </a:rPr>
                        <a:t>Z_¨ </a:t>
                      </a: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weZib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cÖwkÿb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QIC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MVb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,  </a:t>
                      </a: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cwiw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¯’</a:t>
                      </a: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wZ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we‡kølb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(Situation Analysis) ,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Afxó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GjvKv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Target area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) </a:t>
                      </a: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wbe©vPb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5S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avibv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cÖ`vb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BZ¨vw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`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utonnyMJ" pitchFamily="2" charset="0"/>
                        <a:ea typeface="Times New Roman" panose="02020603050405020304" pitchFamily="18" charset="0"/>
                        <a:cs typeface="SutonnyMJ" pitchFamily="2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06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m~Pbvg~jK ev cÖv_wgK ch©vq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(Introductory Phase)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6 gvm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utonnyMJ" pitchFamily="2" charset="0"/>
                        <a:ea typeface="Times New Roman" panose="02020603050405020304" pitchFamily="18" charset="0"/>
                        <a:cs typeface="SutonnyMJ" pitchFamily="2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Kg©KZ©v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 / </a:t>
                      </a: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Kg©Pvix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‡`</a:t>
                      </a: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cÖwkÿb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,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 WIT </a:t>
                      </a: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MVb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, 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utonnyMJ" pitchFamily="2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বাছাই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, </a:t>
                      </a: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গুছানো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 ও </a:t>
                      </a: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পরিচ্ছন্নতা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কাজের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 </a:t>
                      </a: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Nikosh" panose="02000000000000000000" pitchFamily="2" charset="0"/>
                          <a:cs typeface="Nikosh" panose="02000000000000000000" pitchFamily="2" charset="0"/>
                        </a:rPr>
                        <a:t>অনুশীলন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Nikosh" panose="02000000000000000000" pitchFamily="2" charset="0"/>
                        <a:cs typeface="Nikosh" panose="02000000000000000000" pitchFamily="2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04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0" lang="en-US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ev¯Íevqb ch©vq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(Implementation Phase)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2 eQi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utonnyMJ" pitchFamily="2" charset="0"/>
                        <a:ea typeface="Times New Roman" panose="02020603050405020304" pitchFamily="18" charset="0"/>
                        <a:cs typeface="SutonnyMJ" pitchFamily="2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Sort, Set, Shine and Monitoring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04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kumimoji="0" lang="en-US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iÿbv‡eÿb ch©vq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(Maintenance Phase)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Pjgvb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utonnyMJ" pitchFamily="2" charset="0"/>
                        <a:ea typeface="Times New Roman" panose="02020603050405020304" pitchFamily="18" charset="0"/>
                        <a:cs typeface="SutonnyMJ" pitchFamily="2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cyi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¯‹vi </a:t>
                      </a: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cÖ`vb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, (</a:t>
                      </a: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evwl©K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SutonnyMJ" pitchFamily="2" charset="0"/>
                          <a:cs typeface="Arial" panose="020B0604020202020204" pitchFamily="34" charset="0"/>
                        </a:rPr>
                        <a:t>)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utonnyMJ" pitchFamily="2" charset="0"/>
                        <a:ea typeface="Times New Roman" panose="02020603050405020304" pitchFamily="18" charset="0"/>
                        <a:cs typeface="SutonnyMJ" pitchFamily="2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8C7DA-0754-492E-9B92-2B032E09972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CFB813A-3485-44EB-B961-F18ADC6C4CE1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27684" name="Slide Number Placeholder 5">
            <a:extLst>
              <a:ext uri="{FF2B5EF4-FFF2-40B4-BE49-F238E27FC236}">
                <a16:creationId xmlns:a16="http://schemas.microsoft.com/office/drawing/2014/main" id="{762B71EA-1D3A-4DF9-9280-1D3C0C9F64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5CECF1B-1F48-4B02-A43A-33614579AA82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61BD3465-F7D0-4AB9-83A6-75AA7E011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382000" cy="944562"/>
          </a:xfrm>
        </p:spPr>
        <p:txBody>
          <a:bodyPr/>
          <a:lstStyle/>
          <a:p>
            <a:pPr eaLnBrk="1" hangingPunct="1"/>
            <a:r>
              <a:rPr lang="en-US" altLang="en-US" b="1"/>
              <a:t> 			</a:t>
            </a:r>
            <a:r>
              <a:rPr lang="en-US" altLang="en-US" sz="3600" b="1"/>
              <a:t>QI Process	  	(cont) </a:t>
            </a:r>
            <a:endParaRPr lang="en-US" altLang="en-US"/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DFE7E819-3738-496B-9F59-1BB82DEF5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1295400"/>
            <a:ext cx="8458200" cy="5410200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b="1"/>
              <a:t>1. Organizational Level QIC Structures (District-QIC)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64E9D-6B5E-4423-9B2B-345DA08682F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34BAFB4-729B-455B-95F6-F3511FD891EA}" type="datetime5">
              <a:rPr lang="en-US"/>
              <a:pPr>
                <a:defRPr/>
              </a:pPr>
              <a:t>21-Jan-23</a:t>
            </a:fld>
            <a:endParaRPr lang="en-US"/>
          </a:p>
        </p:txBody>
      </p:sp>
      <p:sp>
        <p:nvSpPr>
          <p:cNvPr id="14341" name="Slide Number Placeholder 5">
            <a:extLst>
              <a:ext uri="{FF2B5EF4-FFF2-40B4-BE49-F238E27FC236}">
                <a16:creationId xmlns:a16="http://schemas.microsoft.com/office/drawing/2014/main" id="{0F19A134-7BD0-4E32-AA1D-4970CD766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AAE1EB74-9DF6-44F1-9007-19BC2C7563A3}" type="slidenum">
              <a:rPr lang="en-US" altLang="en-US" sz="1200" smtClean="0">
                <a:solidFill>
                  <a:srgbClr val="045C75"/>
                </a:solidFill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200">
              <a:solidFill>
                <a:srgbClr val="045C75"/>
              </a:solidFill>
              <a:latin typeface="Arial" panose="020B0604020202020204" pitchFamily="34" charset="0"/>
            </a:endParaRPr>
          </a:p>
        </p:txBody>
      </p:sp>
      <p:pic>
        <p:nvPicPr>
          <p:cNvPr id="14342" name="Picture 7">
            <a:extLst>
              <a:ext uri="{FF2B5EF4-FFF2-40B4-BE49-F238E27FC236}">
                <a16:creationId xmlns:a16="http://schemas.microsoft.com/office/drawing/2014/main" id="{E6FB47B8-C32B-4653-8566-316E941C4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985963"/>
            <a:ext cx="8201025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A4205125-5BAF-43B0-9359-2052967F1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944562"/>
          </a:xfrm>
        </p:spPr>
        <p:txBody>
          <a:bodyPr/>
          <a:lstStyle/>
          <a:p>
            <a:pPr eaLnBrk="1" hangingPunct="1"/>
            <a:r>
              <a:rPr lang="en-US" altLang="en-US" b="1"/>
              <a:t> 			QI Process	  	</a:t>
            </a:r>
            <a:endParaRPr lang="en-US" altLang="en-US"/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BE92F964-37D0-455F-81D1-E8A7526AE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295400"/>
            <a:ext cx="8763000" cy="5410200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b="1"/>
              <a:t>2. Facility Level QIC Structures (District Hospital QIC)</a:t>
            </a:r>
          </a:p>
        </p:txBody>
      </p:sp>
      <p:sp>
        <p:nvSpPr>
          <p:cNvPr id="15364" name="Slide Number Placeholder 5">
            <a:extLst>
              <a:ext uri="{FF2B5EF4-FFF2-40B4-BE49-F238E27FC236}">
                <a16:creationId xmlns:a16="http://schemas.microsoft.com/office/drawing/2014/main" id="{DB0966FD-AF40-4611-945D-EB94D4808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F349FED-2E05-4283-A76D-63B75F1518BC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D9FE4-AACE-43C6-9414-54D73B839C8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34BAFB4-729B-455B-95F6-F3511FD891EA}" type="datetime5">
              <a:rPr lang="en-US"/>
              <a:pPr>
                <a:defRPr/>
              </a:pPr>
              <a:t>21-Jan-23</a:t>
            </a:fld>
            <a:endParaRPr lang="en-US"/>
          </a:p>
        </p:txBody>
      </p:sp>
      <p:pic>
        <p:nvPicPr>
          <p:cNvPr id="15366" name="Picture 7">
            <a:extLst>
              <a:ext uri="{FF2B5EF4-FFF2-40B4-BE49-F238E27FC236}">
                <a16:creationId xmlns:a16="http://schemas.microsoft.com/office/drawing/2014/main" id="{ED153134-2D06-4BD6-A3B1-47A8FBDAF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133600"/>
            <a:ext cx="7416800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8456493C-C1A2-4FE7-BDC4-51BE8FC91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600" b="1"/>
              <a:t>QI Process</a:t>
            </a:r>
          </a:p>
        </p:txBody>
      </p:sp>
      <p:sp>
        <p:nvSpPr>
          <p:cNvPr id="16387" name="Slide Number Placeholder 5">
            <a:extLst>
              <a:ext uri="{FF2B5EF4-FFF2-40B4-BE49-F238E27FC236}">
                <a16:creationId xmlns:a16="http://schemas.microsoft.com/office/drawing/2014/main" id="{6BDDD3FE-F6B6-4532-8BE3-A48BCC465A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67629778-DA45-46AC-9C1A-BC8420935BDB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16388" name="Picture 7">
            <a:extLst>
              <a:ext uri="{FF2B5EF4-FFF2-40B4-BE49-F238E27FC236}">
                <a16:creationId xmlns:a16="http://schemas.microsoft.com/office/drawing/2014/main" id="{92B56FF4-9C02-42F0-B395-689969569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768475"/>
            <a:ext cx="8229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Rectangle 1">
            <a:extLst>
              <a:ext uri="{FF2B5EF4-FFF2-40B4-BE49-F238E27FC236}">
                <a16:creationId xmlns:a16="http://schemas.microsoft.com/office/drawing/2014/main" id="{E8997457-AF3A-4D11-AA67-8A6FC43CF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925" y="1428750"/>
            <a:ext cx="6305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400" b="1"/>
              <a:t>3. Facility Level QIC Structures (UHC QIC)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9D3A0443-78DE-4E5B-A823-A7B17EE31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pPr algn="ctr"/>
            <a:r>
              <a:rPr lang="en-US" altLang="en-US" sz="3600" b="1"/>
              <a:t>QI Process</a:t>
            </a:r>
          </a:p>
        </p:txBody>
      </p:sp>
      <p:sp>
        <p:nvSpPr>
          <p:cNvPr id="17411" name="Slide Number Placeholder 5">
            <a:extLst>
              <a:ext uri="{FF2B5EF4-FFF2-40B4-BE49-F238E27FC236}">
                <a16:creationId xmlns:a16="http://schemas.microsoft.com/office/drawing/2014/main" id="{9A5CF462-C52B-40F3-9AA4-3B12EB325F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25D117B6-A7A4-419A-A65D-B7A0F62E7F7C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17412" name="Picture 1">
            <a:extLst>
              <a:ext uri="{FF2B5EF4-FFF2-40B4-BE49-F238E27FC236}">
                <a16:creationId xmlns:a16="http://schemas.microsoft.com/office/drawing/2014/main" id="{59C24FC9-45EE-439D-A033-ED828D9E07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575" y="2406650"/>
            <a:ext cx="959485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Rectangle 7">
            <a:extLst>
              <a:ext uri="{FF2B5EF4-FFF2-40B4-BE49-F238E27FC236}">
                <a16:creationId xmlns:a16="http://schemas.microsoft.com/office/drawing/2014/main" id="{CD9DD946-7927-4873-A467-6E2552913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638" y="1836738"/>
            <a:ext cx="77755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400" b="1"/>
              <a:t>4. Facility Level QIC Structures (District MCWC QIC)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24393E9F-11B4-4516-8580-7EF90C0D5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112713"/>
            <a:ext cx="8229600" cy="688975"/>
          </a:xfrm>
        </p:spPr>
        <p:txBody>
          <a:bodyPr/>
          <a:lstStyle/>
          <a:p>
            <a:r>
              <a:rPr lang="en-US" altLang="en-US" sz="3600" b="1"/>
              <a:t>Composition of WIT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0303775A-26B9-4104-BF32-664577E1E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en-US" altLang="en-US"/>
          </a:p>
          <a:p>
            <a:endParaRPr lang="en-US" altLang="en-US"/>
          </a:p>
        </p:txBody>
      </p:sp>
      <p:sp>
        <p:nvSpPr>
          <p:cNvPr id="18436" name="Slide Number Placeholder 5">
            <a:extLst>
              <a:ext uri="{FF2B5EF4-FFF2-40B4-BE49-F238E27FC236}">
                <a16:creationId xmlns:a16="http://schemas.microsoft.com/office/drawing/2014/main" id="{77AD3B43-C15E-4AF1-BD7C-B363A06A36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45E9033C-E687-465D-9FC3-88BD66F2DE80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AA9B5A-89B7-4AB1-979C-0832BACAD699}"/>
              </a:ext>
            </a:extLst>
          </p:cNvPr>
          <p:cNvGraphicFramePr>
            <a:graphicFrameLocks noGrp="1"/>
          </p:cNvGraphicFramePr>
          <p:nvPr/>
        </p:nvGraphicFramePr>
        <p:xfrm>
          <a:off x="1981200" y="981075"/>
          <a:ext cx="8229600" cy="4633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971">
                <a:tc>
                  <a:txBody>
                    <a:bodyPr/>
                    <a:lstStyle/>
                    <a:p>
                      <a:r>
                        <a:rPr lang="en-US" sz="2800" dirty="0"/>
                        <a:t>Position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Person</a:t>
                      </a:r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971">
                <a:tc>
                  <a:txBody>
                    <a:bodyPr/>
                    <a:lstStyle/>
                    <a:p>
                      <a:r>
                        <a:rPr lang="en-US" sz="2800" dirty="0"/>
                        <a:t>Facilitator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MO and above</a:t>
                      </a:r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0388">
                <a:tc>
                  <a:txBody>
                    <a:bodyPr/>
                    <a:lstStyle/>
                    <a:p>
                      <a:r>
                        <a:rPr lang="en-US" sz="2800" dirty="0"/>
                        <a:t>Team leader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Nursing In charge / SSN / Any</a:t>
                      </a:r>
                      <a:r>
                        <a:rPr lang="en-US" sz="2800" baseline="0" dirty="0"/>
                        <a:t> one suitable for the section</a:t>
                      </a:r>
                      <a:endParaRPr lang="en-US" sz="2800" dirty="0"/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3669">
                <a:tc>
                  <a:txBody>
                    <a:bodyPr/>
                    <a:lstStyle/>
                    <a:p>
                      <a:r>
                        <a:rPr lang="en-US" sz="2800" dirty="0"/>
                        <a:t>Member secretary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SSN (Sub- In Charge) / </a:t>
                      </a:r>
                    </a:p>
                    <a:p>
                      <a:r>
                        <a:rPr lang="en-US" sz="2800" dirty="0"/>
                        <a:t>Any</a:t>
                      </a:r>
                      <a:r>
                        <a:rPr lang="en-US" sz="2800" baseline="0" dirty="0"/>
                        <a:t> one suitable for the section</a:t>
                      </a:r>
                      <a:endParaRPr lang="en-US" sz="2800" dirty="0"/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971">
                <a:tc>
                  <a:txBody>
                    <a:bodyPr/>
                    <a:lstStyle/>
                    <a:p>
                      <a:r>
                        <a:rPr lang="en-US" sz="2800" dirty="0"/>
                        <a:t>Member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SSN/ MLSS / Aya / Ward boy</a:t>
                      </a:r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971">
                <a:tc>
                  <a:txBody>
                    <a:bodyPr/>
                    <a:lstStyle/>
                    <a:p>
                      <a:r>
                        <a:rPr lang="en-US" sz="2800" dirty="0"/>
                        <a:t>Member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SSN/ MLSS / Aya / Ward boy</a:t>
                      </a:r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1971">
                <a:tc>
                  <a:txBody>
                    <a:bodyPr/>
                    <a:lstStyle/>
                    <a:p>
                      <a:r>
                        <a:rPr lang="en-US" sz="2800" dirty="0"/>
                        <a:t>Member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Cleaner</a:t>
                      </a:r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48DF0CBE-2B8D-4AA9-AD82-3E751B602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096962"/>
          </a:xfrm>
        </p:spPr>
        <p:txBody>
          <a:bodyPr/>
          <a:lstStyle/>
          <a:p>
            <a:r>
              <a:rPr lang="en-US" altLang="en-US" sz="3600" b="1"/>
              <a:t>Roles and responsibilities of  WIT:</a:t>
            </a:r>
            <a:endParaRPr lang="en-US" altLang="en-US" sz="3600"/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8BBB60F7-3A1E-42FE-A3B5-FD0B6A29E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219200"/>
            <a:ext cx="8229600" cy="49069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en-US" altLang="en-US"/>
          </a:p>
          <a:p>
            <a:r>
              <a:rPr lang="en-US" altLang="en-US"/>
              <a:t>5S implementation</a:t>
            </a:r>
          </a:p>
          <a:p>
            <a:r>
              <a:rPr lang="en-US" altLang="en-US"/>
              <a:t>Holding regular meetings (Weekly)</a:t>
            </a:r>
          </a:p>
          <a:p>
            <a:r>
              <a:rPr lang="en-US" altLang="en-US"/>
              <a:t>Preparing action plan (Monthly)</a:t>
            </a:r>
          </a:p>
          <a:p>
            <a:r>
              <a:rPr lang="en-US" altLang="en-US"/>
              <a:t>Taking pictures to demonstrate changes (before and after) in their respective sections</a:t>
            </a:r>
          </a:p>
        </p:txBody>
      </p:sp>
      <p:sp>
        <p:nvSpPr>
          <p:cNvPr id="19460" name="Slide Number Placeholder 4">
            <a:extLst>
              <a:ext uri="{FF2B5EF4-FFF2-40B4-BE49-F238E27FC236}">
                <a16:creationId xmlns:a16="http://schemas.microsoft.com/office/drawing/2014/main" id="{CD9492CE-F8D6-486F-B94F-4F9B896292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AB89702-DFCD-4BCD-A2A9-814AECD29A6C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AA9B2A60-B775-4BE7-93BD-6DC27E2AE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2600" y="2057400"/>
            <a:ext cx="8686800" cy="1371600"/>
          </a:xfrm>
        </p:spPr>
        <p:txBody>
          <a:bodyPr/>
          <a:lstStyle/>
          <a:p>
            <a:pPr eaLnBrk="1" hangingPunct="1"/>
            <a:r>
              <a:rPr lang="en-US" altLang="en-US" b="1" dirty="0"/>
              <a:t>Tools </a:t>
            </a:r>
            <a:r>
              <a:rPr lang="en-US" altLang="en-US" b="1"/>
              <a:t>of 5S</a:t>
            </a:r>
            <a:endParaRPr lang="en-US" alt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998A60-6EDF-414C-BDE8-4296517D2E8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F8DFDC7-40C3-4712-8799-0869AF890B63}" type="datetime3">
              <a:rPr lang="en-US"/>
              <a:pPr>
                <a:defRPr/>
              </a:pPr>
              <a:t>21 January 2023</a:t>
            </a:fld>
            <a:endParaRPr lang="en-US" dirty="0"/>
          </a:p>
        </p:txBody>
      </p:sp>
      <p:sp>
        <p:nvSpPr>
          <p:cNvPr id="20488" name="Slide Number Placeholder 7">
            <a:extLst>
              <a:ext uri="{FF2B5EF4-FFF2-40B4-BE49-F238E27FC236}">
                <a16:creationId xmlns:a16="http://schemas.microsoft.com/office/drawing/2014/main" id="{9809F7F0-3F65-4F37-952B-7F4D862172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3392A8F4-311A-42F6-BA81-7BBEAB8A2CF5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009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B7B7A9-9BF4-457E-9DE8-955AFBAACA65}"/>
              </a:ext>
            </a:extLst>
          </p:cNvPr>
          <p:cNvSpPr/>
          <p:nvPr/>
        </p:nvSpPr>
        <p:spPr>
          <a:xfrm>
            <a:off x="1524000" y="1143000"/>
            <a:ext cx="129540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u="sng" dirty="0"/>
              <a:t>TAGGING </a:t>
            </a:r>
            <a:endParaRPr lang="en-US" b="1" u="sng" dirty="0"/>
          </a:p>
        </p:txBody>
      </p:sp>
      <p:pic>
        <p:nvPicPr>
          <p:cNvPr id="29699" name="Picture 4">
            <a:extLst>
              <a:ext uri="{FF2B5EF4-FFF2-40B4-BE49-F238E27FC236}">
                <a16:creationId xmlns:a16="http://schemas.microsoft.com/office/drawing/2014/main" id="{5EE229F8-64DF-48D5-866B-175D438CA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0"/>
            <a:ext cx="2286000" cy="3352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00" name="Picture 5">
            <a:extLst>
              <a:ext uri="{FF2B5EF4-FFF2-40B4-BE49-F238E27FC236}">
                <a16:creationId xmlns:a16="http://schemas.microsoft.com/office/drawing/2014/main" id="{508BC768-F668-444C-BA11-7322C1351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0"/>
            <a:ext cx="23622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01" name="Picture 6">
            <a:extLst>
              <a:ext uri="{FF2B5EF4-FFF2-40B4-BE49-F238E27FC236}">
                <a16:creationId xmlns:a16="http://schemas.microsoft.com/office/drawing/2014/main" id="{365FBE62-10D9-4195-A6B4-CC2322DEE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0"/>
            <a:ext cx="2362200" cy="3352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BE6DA29-F3D2-4F8D-8781-32156364F024}"/>
              </a:ext>
            </a:extLst>
          </p:cNvPr>
          <p:cNvSpPr/>
          <p:nvPr/>
        </p:nvSpPr>
        <p:spPr>
          <a:xfrm>
            <a:off x="1524000" y="4572000"/>
            <a:ext cx="129540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u="sng" dirty="0"/>
              <a:t>LABELING </a:t>
            </a:r>
            <a:endParaRPr lang="en-US" b="1" u="sng" dirty="0"/>
          </a:p>
        </p:txBody>
      </p:sp>
      <p:pic>
        <p:nvPicPr>
          <p:cNvPr id="29703" name="Picture 8">
            <a:extLst>
              <a:ext uri="{FF2B5EF4-FFF2-40B4-BE49-F238E27FC236}">
                <a16:creationId xmlns:a16="http://schemas.microsoft.com/office/drawing/2014/main" id="{C144406F-4289-4C69-939E-9542D4D54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657600"/>
            <a:ext cx="35814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4" name="Picture 9" descr="store 1">
            <a:extLst>
              <a:ext uri="{FF2B5EF4-FFF2-40B4-BE49-F238E27FC236}">
                <a16:creationId xmlns:a16="http://schemas.microsoft.com/office/drawing/2014/main" id="{3B8C6FDC-8820-4652-83F3-C4138C7E3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3657600"/>
            <a:ext cx="35814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6D37FD-80FE-496A-86D5-73583A756BE8}"/>
              </a:ext>
            </a:extLst>
          </p:cNvPr>
          <p:cNvSpPr/>
          <p:nvPr/>
        </p:nvSpPr>
        <p:spPr>
          <a:xfrm>
            <a:off x="1279525" y="1066800"/>
            <a:ext cx="1539875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u="sng" dirty="0"/>
              <a:t>SYMBOLING </a:t>
            </a:r>
            <a:endParaRPr lang="en-US" b="1" u="sng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F2290A-5CCC-49A7-8325-5A614B9453D6}"/>
              </a:ext>
            </a:extLst>
          </p:cNvPr>
          <p:cNvSpPr/>
          <p:nvPr/>
        </p:nvSpPr>
        <p:spPr>
          <a:xfrm>
            <a:off x="1524000" y="44958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u="sng" dirty="0"/>
              <a:t>DIRRECTION</a:t>
            </a:r>
            <a:r>
              <a:rPr lang="en-US" sz="2000" b="1" u="sng" dirty="0"/>
              <a:t> </a:t>
            </a:r>
            <a:endParaRPr lang="en-US" b="1" u="sng" dirty="0"/>
          </a:p>
        </p:txBody>
      </p:sp>
      <p:pic>
        <p:nvPicPr>
          <p:cNvPr id="30724" name="Picture 3">
            <a:extLst>
              <a:ext uri="{FF2B5EF4-FFF2-40B4-BE49-F238E27FC236}">
                <a16:creationId xmlns:a16="http://schemas.microsoft.com/office/drawing/2014/main" id="{CDA4FD95-0EED-4203-B8F7-0542E6C61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0"/>
            <a:ext cx="3733800" cy="307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5" name="Picture 4">
            <a:extLst>
              <a:ext uri="{FF2B5EF4-FFF2-40B4-BE49-F238E27FC236}">
                <a16:creationId xmlns:a16="http://schemas.microsoft.com/office/drawing/2014/main" id="{2788E715-8C93-48BD-9420-FE10BB5B1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581400"/>
            <a:ext cx="37338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6" name="Picture 10">
            <a:extLst>
              <a:ext uri="{FF2B5EF4-FFF2-40B4-BE49-F238E27FC236}">
                <a16:creationId xmlns:a16="http://schemas.microsoft.com/office/drawing/2014/main" id="{E1FC3071-0F57-4BAF-BA32-B172D041D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3581400"/>
            <a:ext cx="3352800" cy="32766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27" name="Picture 39">
            <a:extLst>
              <a:ext uri="{FF2B5EF4-FFF2-40B4-BE49-F238E27FC236}">
                <a16:creationId xmlns:a16="http://schemas.microsoft.com/office/drawing/2014/main" id="{821D57FB-BB60-47D0-9756-0BBB416B0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0"/>
            <a:ext cx="32766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1">
            <a:extLst>
              <a:ext uri="{FF2B5EF4-FFF2-40B4-BE49-F238E27FC236}">
                <a16:creationId xmlns:a16="http://schemas.microsoft.com/office/drawing/2014/main" id="{571B2EEA-C6C1-41A6-93C5-732F6359E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0"/>
            <a:ext cx="34290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C7C0FD1-C1B5-47DC-8657-3FFBD3DB18D0}"/>
              </a:ext>
            </a:extLst>
          </p:cNvPr>
          <p:cNvSpPr/>
          <p:nvPr/>
        </p:nvSpPr>
        <p:spPr>
          <a:xfrm>
            <a:off x="1524000" y="10668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u="sng" dirty="0"/>
              <a:t>ALIGNMENT</a:t>
            </a:r>
            <a:r>
              <a:rPr lang="en-US" sz="2000" b="1" u="sng" dirty="0"/>
              <a:t> </a:t>
            </a:r>
            <a:endParaRPr lang="en-US" b="1" u="sng" dirty="0"/>
          </a:p>
        </p:txBody>
      </p:sp>
      <p:pic>
        <p:nvPicPr>
          <p:cNvPr id="31748" name="Picture 4" descr="DSC_7810">
            <a:extLst>
              <a:ext uri="{FF2B5EF4-FFF2-40B4-BE49-F238E27FC236}">
                <a16:creationId xmlns:a16="http://schemas.microsoft.com/office/drawing/2014/main" id="{FEA88819-B6DA-4AC7-960C-38988D153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0"/>
            <a:ext cx="35814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9" name="Picture 4">
            <a:extLst>
              <a:ext uri="{FF2B5EF4-FFF2-40B4-BE49-F238E27FC236}">
                <a16:creationId xmlns:a16="http://schemas.microsoft.com/office/drawing/2014/main" id="{2536F8B9-0E89-4749-80B8-937E20A35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352800"/>
            <a:ext cx="5486400" cy="3352800"/>
          </a:xfrm>
          <a:prstGeom prst="rect">
            <a:avLst/>
          </a:prstGeom>
          <a:noFill/>
          <a:ln w="76200">
            <a:solidFill>
              <a:srgbClr val="FFFF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5559402-7E33-45B9-B1A5-460F1D08A74E}"/>
              </a:ext>
            </a:extLst>
          </p:cNvPr>
          <p:cNvSpPr/>
          <p:nvPr/>
        </p:nvSpPr>
        <p:spPr>
          <a:xfrm>
            <a:off x="1524000" y="45720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u="sng" dirty="0"/>
              <a:t>LEFT TO RIGHT ORDER</a:t>
            </a:r>
            <a:r>
              <a:rPr lang="en-US" sz="2000" b="1" u="sng" dirty="0"/>
              <a:t> </a:t>
            </a:r>
            <a:endParaRPr lang="en-US" b="1" u="sng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13BD42-646A-4795-B8DC-DEE8488E5B69}"/>
              </a:ext>
            </a:extLst>
          </p:cNvPr>
          <p:cNvSpPr/>
          <p:nvPr/>
        </p:nvSpPr>
        <p:spPr>
          <a:xfrm>
            <a:off x="1524000" y="49530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u="sng" dirty="0"/>
              <a:t>TOP TO BOTTOM ORDER</a:t>
            </a:r>
            <a:endParaRPr lang="en-US" b="1" u="sng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61B97D-805B-427C-A53A-99B39652115C}"/>
              </a:ext>
            </a:extLst>
          </p:cNvPr>
          <p:cNvSpPr/>
          <p:nvPr/>
        </p:nvSpPr>
        <p:spPr>
          <a:xfrm>
            <a:off x="1524000" y="11430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u="sng" dirty="0"/>
              <a:t>ASCENDING ORDER</a:t>
            </a:r>
            <a:endParaRPr lang="en-US" sz="1400" b="1" u="sng" dirty="0"/>
          </a:p>
        </p:txBody>
      </p:sp>
      <p:pic>
        <p:nvPicPr>
          <p:cNvPr id="32772" name="Picture 3">
            <a:extLst>
              <a:ext uri="{FF2B5EF4-FFF2-40B4-BE49-F238E27FC236}">
                <a16:creationId xmlns:a16="http://schemas.microsoft.com/office/drawing/2014/main" id="{CC840C82-F55E-41DB-862A-296D270E58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581400"/>
            <a:ext cx="54102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3" name="Picture 4">
            <a:extLst>
              <a:ext uri="{FF2B5EF4-FFF2-40B4-BE49-F238E27FC236}">
                <a16:creationId xmlns:a16="http://schemas.microsoft.com/office/drawing/2014/main" id="{E75F1FC0-4877-43DB-BE95-16E8D2F06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28" r="-223" b="-655"/>
          <a:stretch>
            <a:fillRect/>
          </a:stretch>
        </p:blipFill>
        <p:spPr bwMode="auto">
          <a:xfrm>
            <a:off x="2971800" y="0"/>
            <a:ext cx="54864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AC3CB4-92E1-4687-8B18-5D941B57EBBA}"/>
              </a:ext>
            </a:extLst>
          </p:cNvPr>
          <p:cNvSpPr/>
          <p:nvPr/>
        </p:nvSpPr>
        <p:spPr>
          <a:xfrm>
            <a:off x="1524000" y="11430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u="sng" dirty="0"/>
              <a:t>ZONES</a:t>
            </a:r>
            <a:endParaRPr lang="en-US" sz="1200" b="1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15A285-3933-4C85-929D-3E63955A9F1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1800" y="0"/>
            <a:ext cx="3733800" cy="3276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3796" name="Picture 3">
            <a:extLst>
              <a:ext uri="{FF2B5EF4-FFF2-40B4-BE49-F238E27FC236}">
                <a16:creationId xmlns:a16="http://schemas.microsoft.com/office/drawing/2014/main" id="{78307AFD-4B53-41D7-A30E-3947EFA10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0"/>
            <a:ext cx="3581400" cy="32766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C0EC4EE-EDF9-494B-992A-CA01A3B579EC}"/>
              </a:ext>
            </a:extLst>
          </p:cNvPr>
          <p:cNvSpPr/>
          <p:nvPr/>
        </p:nvSpPr>
        <p:spPr>
          <a:xfrm>
            <a:off x="1524000" y="48768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b="1" u="sng" dirty="0"/>
              <a:t>INSTRUCTIONS</a:t>
            </a:r>
            <a:endParaRPr lang="en-US" sz="1000" b="1" u="sng" dirty="0"/>
          </a:p>
        </p:txBody>
      </p:sp>
      <p:pic>
        <p:nvPicPr>
          <p:cNvPr id="33798" name="Content Placeholder 2">
            <a:extLst>
              <a:ext uri="{FF2B5EF4-FFF2-40B4-BE49-F238E27FC236}">
                <a16:creationId xmlns:a16="http://schemas.microsoft.com/office/drawing/2014/main" id="{E4A2185C-8A07-4BE6-86E4-758A037BD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3810000"/>
            <a:ext cx="35814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9" name="Picture 3" descr="DSC03681">
            <a:extLst>
              <a:ext uri="{FF2B5EF4-FFF2-40B4-BE49-F238E27FC236}">
                <a16:creationId xmlns:a16="http://schemas.microsoft.com/office/drawing/2014/main" id="{00F066E7-C390-4142-A89E-3C69CBFAE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810000"/>
            <a:ext cx="37338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174433-2CAF-44B0-9365-F3FDB5069CB8}"/>
              </a:ext>
            </a:extLst>
          </p:cNvPr>
          <p:cNvSpPr/>
          <p:nvPr/>
        </p:nvSpPr>
        <p:spPr>
          <a:xfrm>
            <a:off x="1524000" y="11430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u="sng" dirty="0"/>
              <a:t>NUMBERING</a:t>
            </a:r>
            <a:endParaRPr lang="en-US" sz="1050" b="1" u="sng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21584F-3DCA-495E-8A43-0EEF691D2C96}"/>
              </a:ext>
            </a:extLst>
          </p:cNvPr>
          <p:cNvSpPr/>
          <p:nvPr/>
        </p:nvSpPr>
        <p:spPr>
          <a:xfrm>
            <a:off x="1524000" y="48768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b="1" u="sng" dirty="0"/>
              <a:t>COLOUR CODE</a:t>
            </a:r>
            <a:endParaRPr lang="en-US" sz="1100" b="1" u="sng" dirty="0"/>
          </a:p>
        </p:txBody>
      </p:sp>
      <p:pic>
        <p:nvPicPr>
          <p:cNvPr id="34820" name="Picture 3" descr="DSC02850">
            <a:extLst>
              <a:ext uri="{FF2B5EF4-FFF2-40B4-BE49-F238E27FC236}">
                <a16:creationId xmlns:a16="http://schemas.microsoft.com/office/drawing/2014/main" id="{5D49AA9D-858B-4607-AA55-FFB6492CE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76200"/>
            <a:ext cx="64008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1" name="Picture 168">
            <a:extLst>
              <a:ext uri="{FF2B5EF4-FFF2-40B4-BE49-F238E27FC236}">
                <a16:creationId xmlns:a16="http://schemas.microsoft.com/office/drawing/2014/main" id="{F4FE2764-BD50-4F25-ABA0-ECA6FD08B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355975"/>
            <a:ext cx="3581400" cy="350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4822" name="Picture 2">
            <a:extLst>
              <a:ext uri="{FF2B5EF4-FFF2-40B4-BE49-F238E27FC236}">
                <a16:creationId xmlns:a16="http://schemas.microsoft.com/office/drawing/2014/main" id="{FA8BF36E-2FD5-4652-A344-B6B01D628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3352800"/>
            <a:ext cx="34290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6503E1-BC0A-4141-856A-7673983891D4}"/>
              </a:ext>
            </a:extLst>
          </p:cNvPr>
          <p:cNvSpPr/>
          <p:nvPr/>
        </p:nvSpPr>
        <p:spPr>
          <a:xfrm>
            <a:off x="1524000" y="11430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u="sng" dirty="0"/>
              <a:t>X &amp; Y AXIS</a:t>
            </a:r>
            <a:endParaRPr lang="en-US" sz="1200" b="1" u="sng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3A89C2-3633-4073-8E50-FF6FF251B8CD}"/>
              </a:ext>
            </a:extLst>
          </p:cNvPr>
          <p:cNvSpPr/>
          <p:nvPr/>
        </p:nvSpPr>
        <p:spPr>
          <a:xfrm>
            <a:off x="1524000" y="41910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u="sng" dirty="0"/>
              <a:t>NUMBERING</a:t>
            </a:r>
            <a:endParaRPr lang="en-US" sz="1050" b="1" u="sng" dirty="0"/>
          </a:p>
        </p:txBody>
      </p:sp>
      <p:pic>
        <p:nvPicPr>
          <p:cNvPr id="35844" name="Picture 2">
            <a:extLst>
              <a:ext uri="{FF2B5EF4-FFF2-40B4-BE49-F238E27FC236}">
                <a16:creationId xmlns:a16="http://schemas.microsoft.com/office/drawing/2014/main" id="{A1D4D734-F5C3-4F3E-BD9A-2F8B2D386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52400"/>
            <a:ext cx="35814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7" descr="DSC03761">
            <a:extLst>
              <a:ext uri="{FF2B5EF4-FFF2-40B4-BE49-F238E27FC236}">
                <a16:creationId xmlns:a16="http://schemas.microsoft.com/office/drawing/2014/main" id="{93D5CC96-EDC9-4E81-84BC-0EF78279D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52400"/>
            <a:ext cx="3505200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5846" name="Picture 18">
            <a:extLst>
              <a:ext uri="{FF2B5EF4-FFF2-40B4-BE49-F238E27FC236}">
                <a16:creationId xmlns:a16="http://schemas.microsoft.com/office/drawing/2014/main" id="{51853543-CEF2-460F-B3F0-F56B8A7FF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429000"/>
            <a:ext cx="35814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7" name="Picture 13">
            <a:extLst>
              <a:ext uri="{FF2B5EF4-FFF2-40B4-BE49-F238E27FC236}">
                <a16:creationId xmlns:a16="http://schemas.microsoft.com/office/drawing/2014/main" id="{FD652B16-9BF8-46C8-9A7A-DB339F32E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429000"/>
            <a:ext cx="35814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9616" y="5013176"/>
            <a:ext cx="3823320" cy="1080120"/>
          </a:xfrm>
        </p:spPr>
        <p:txBody>
          <a:bodyPr/>
          <a:lstStyle/>
          <a:p>
            <a:pPr marL="0" indent="0">
              <a:buNone/>
            </a:pPr>
            <a:r>
              <a:rPr lang="en-US" sz="4400" dirty="0">
                <a:solidFill>
                  <a:srgbClr val="00B0F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12777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9318</TotalTime>
  <Words>1048</Words>
  <Application>Microsoft Office PowerPoint</Application>
  <PresentationFormat>Widescreen</PresentationFormat>
  <Paragraphs>155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Arial</vt:lpstr>
      <vt:lpstr>Calibri</vt:lpstr>
      <vt:lpstr>Calibri Light</vt:lpstr>
      <vt:lpstr>Nikosh</vt:lpstr>
      <vt:lpstr>SutonnyMJ</vt:lpstr>
      <vt:lpstr>SutonnyOMJ</vt:lpstr>
      <vt:lpstr>Wingdings</vt:lpstr>
      <vt:lpstr>Office Theme</vt:lpstr>
      <vt:lpstr>1_Office Theme</vt:lpstr>
      <vt:lpstr>Healthcare Quality Improvement </vt:lpstr>
      <vt:lpstr>What is quality? </vt:lpstr>
      <vt:lpstr>A working definition</vt:lpstr>
      <vt:lpstr>Dimensions of Quality Healthcare</vt:lpstr>
      <vt:lpstr>5S-CQI-TQM</vt:lpstr>
      <vt:lpstr>BwZnvm</vt:lpstr>
      <vt:lpstr>5S-CQI-TQM</vt:lpstr>
      <vt:lpstr>5S-CQI-TQM</vt:lpstr>
      <vt:lpstr>evsjv‡`‡k 5S-CQI-TQM Gi bgybv:</vt:lpstr>
      <vt:lpstr>5S-CQI-TQM Gi wZbwU avc:</vt:lpstr>
      <vt:lpstr>PowerPoint Presentation</vt:lpstr>
      <vt:lpstr>5S-CQI-TQM ev¯Íevq‡bi 4wU ch©vq:</vt:lpstr>
      <vt:lpstr>    QI Process    (cont) </vt:lpstr>
      <vt:lpstr>    QI Process    </vt:lpstr>
      <vt:lpstr>QI Process</vt:lpstr>
      <vt:lpstr>QI Process</vt:lpstr>
      <vt:lpstr>Composition of WIT</vt:lpstr>
      <vt:lpstr>Roles and responsibilities of  WIT:</vt:lpstr>
      <vt:lpstr>Tools of 5S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quality? What is health Care Quality?</dc:title>
  <dc:creator>Harun Rashid1</dc:creator>
  <cp:lastModifiedBy>MD EMDADUL HAQUE</cp:lastModifiedBy>
  <cp:revision>154</cp:revision>
  <cp:lastPrinted>2018-03-08T10:51:05Z</cp:lastPrinted>
  <dcterms:created xsi:type="dcterms:W3CDTF">2018-03-07T07:19:23Z</dcterms:created>
  <dcterms:modified xsi:type="dcterms:W3CDTF">2023-01-21T04:01:13Z</dcterms:modified>
</cp:coreProperties>
</file>