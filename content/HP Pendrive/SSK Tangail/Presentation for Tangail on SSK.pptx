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31"/>
  </p:notesMasterIdLst>
  <p:handoutMasterIdLst>
    <p:handoutMasterId r:id="rId32"/>
  </p:handoutMasterIdLst>
  <p:sldIdLst>
    <p:sldId id="256" r:id="rId2"/>
    <p:sldId id="275" r:id="rId3"/>
    <p:sldId id="276" r:id="rId4"/>
    <p:sldId id="295" r:id="rId5"/>
    <p:sldId id="296" r:id="rId6"/>
    <p:sldId id="277" r:id="rId7"/>
    <p:sldId id="278" r:id="rId8"/>
    <p:sldId id="279" r:id="rId9"/>
    <p:sldId id="280" r:id="rId10"/>
    <p:sldId id="258" r:id="rId11"/>
    <p:sldId id="266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67" r:id="rId27"/>
    <p:sldId id="268" r:id="rId28"/>
    <p:sldId id="272" r:id="rId29"/>
    <p:sldId id="270" r:id="rId3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handoutMaster" Target="handoutMasters/handout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E:\Cloud%20Drives\Dropbox\Working%20folder\icddrb\Working%20projects\SSK%20evaluation\Presentation\Dessemination\Poverty%20and%20Impovershiment%20v2.xlsx" TargetMode="External" /><Relationship Id="rId1" Type="http://schemas.openxmlformats.org/officeDocument/2006/relationships/themeOverride" Target="../theme/themeOverrid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E9-4FFF-A5FD-E5822C740274}"/>
              </c:ext>
            </c:extLst>
          </c:dPt>
          <c:dPt>
            <c:idx val="2"/>
            <c:invertIfNegative val="0"/>
            <c:bubble3D val="0"/>
            <c:spPr>
              <a:solidFill>
                <a:srgbClr val="FF6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E9-4FFF-A5FD-E5822C740274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cust"/>
            <c:noEndCap val="0"/>
            <c:plus>
              <c:numRef>
                <c:f>'reg.odds'!$L$187:$L$189</c:f>
                <c:numCache>
                  <c:formatCode>General</c:formatCode>
                  <c:ptCount val="3"/>
                  <c:pt idx="0">
                    <c:v>195.31400000000008</c:v>
                  </c:pt>
                  <c:pt idx="1">
                    <c:v>251.63100000000031</c:v>
                  </c:pt>
                  <c:pt idx="2">
                    <c:v>136.03900000000019</c:v>
                  </c:pt>
                </c:numCache>
              </c:numRef>
            </c:plus>
            <c:minus>
              <c:numRef>
                <c:f>'reg.odds'!$K$187:$K$189</c:f>
                <c:numCache>
                  <c:formatCode>General</c:formatCode>
                  <c:ptCount val="3"/>
                  <c:pt idx="0">
                    <c:v>195.31400000000008</c:v>
                  </c:pt>
                  <c:pt idx="1">
                    <c:v>251.63099999999986</c:v>
                  </c:pt>
                  <c:pt idx="2">
                    <c:v>136.03899999999987</c:v>
                  </c:pt>
                </c:numCache>
              </c:numRef>
            </c:minus>
            <c:spPr>
              <a:noFill/>
              <a:ln w="1905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multiLvlStrRef>
              <c:f>'reg.odds'!$C$203:$D$205</c:f>
              <c:multiLvlStrCache>
                <c:ptCount val="3"/>
                <c:lvl>
                  <c:pt idx="0">
                    <c:v>Used card</c:v>
                  </c:pt>
                  <c:pt idx="1">
                    <c:v>Didn't use/get card</c:v>
                  </c:pt>
                  <c:pt idx="2">
                    <c:v>BPL</c:v>
                  </c:pt>
                </c:lvl>
                <c:lvl>
                  <c:pt idx="0">
                    <c:v>Intervention</c:v>
                  </c:pt>
                  <c:pt idx="2">
                    <c:v>Comparison</c:v>
                  </c:pt>
                </c:lvl>
              </c:multiLvlStrCache>
            </c:multiLvlStrRef>
          </c:cat>
          <c:val>
            <c:numRef>
              <c:f>'reg.odds'!$F$203:$F$205</c:f>
              <c:numCache>
                <c:formatCode>_(* #,##0_);_(* \(#,##0\);_(* "-"??_);_(@_)</c:formatCode>
                <c:ptCount val="3"/>
                <c:pt idx="0">
                  <c:v>992.91470000000004</c:v>
                </c:pt>
                <c:pt idx="1">
                  <c:v>2391.9850000000001</c:v>
                </c:pt>
                <c:pt idx="2">
                  <c:v>2063.0639999999999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E9-4FFF-A5FD-E5822C740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417680"/>
        <c:axId val="181417288"/>
      </c:barChart>
      <c:catAx>
        <c:axId val="18141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1417288"/>
        <c:crosses val="autoZero"/>
        <c:auto val="1"/>
        <c:lblAlgn val="ctr"/>
        <c:lblOffset val="100"/>
        <c:noMultiLvlLbl val="0"/>
      </c:catAx>
      <c:valAx>
        <c:axId val="181417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OOPE (in BDT)</a:t>
                </a:r>
              </a:p>
            </c:rich>
          </c:tx>
          <c:layout>
            <c:manualLayout>
              <c:xMode val="edge"/>
              <c:yMode val="edge"/>
              <c:x val="6.2421972534332133E-3"/>
              <c:y val="0.23238918051910298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141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 b="1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 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 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 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 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99C68A4-E0D7-4812-8591-F451975BF1CE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31E6B73-9E08-435A-BB35-DA42491F0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07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F9064-FD2B-434B-825D-5CFA38DAFC0E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C7FA4-6290-44EA-993D-DE0CB1452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1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C7FA4-6290-44EA-993D-DE0CB14521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0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6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551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51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47E8C4F-8A87-4C0B-8A62-CDCE988BEF43}" type="slidenum">
              <a:rPr lang="en-US" altLang="en-US">
                <a:solidFill>
                  <a:srgbClr val="000000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/>
              <a:t>19</a:t>
            </a:fld>
            <a:endParaRPr lang="en-US" altLang="en-US">
              <a:solidFill>
                <a:srgbClr val="000000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</p:spTree>
    <p:extLst>
      <p:ext uri="{BB962C8B-B14F-4D97-AF65-F5344CB8AC3E}">
        <p14:creationId xmlns:p14="http://schemas.microsoft.com/office/powerpoint/2010/main" val="2378033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3314C2F-B4A4-421B-A724-7ADFC194CCB5}" type="slidenum">
              <a:rPr lang="en-US" altLang="en-US">
                <a:solidFill>
                  <a:srgbClr val="000000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/>
              <a:t>20</a:t>
            </a:fld>
            <a:endParaRPr lang="en-US" altLang="en-US">
              <a:solidFill>
                <a:srgbClr val="000000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</p:spTree>
    <p:extLst>
      <p:ext uri="{BB962C8B-B14F-4D97-AF65-F5344CB8AC3E}">
        <p14:creationId xmlns:p14="http://schemas.microsoft.com/office/powerpoint/2010/main" val="612677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81E2E0D-7281-49D0-8B43-575982A960F3}" type="slidenum">
              <a:rPr lang="en-US" altLang="en-US">
                <a:solidFill>
                  <a:srgbClr val="000000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/>
              <a:t>21</a:t>
            </a:fld>
            <a:endParaRPr lang="en-US" altLang="en-US">
              <a:solidFill>
                <a:srgbClr val="000000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</p:spTree>
    <p:extLst>
      <p:ext uri="{BB962C8B-B14F-4D97-AF65-F5344CB8AC3E}">
        <p14:creationId xmlns:p14="http://schemas.microsoft.com/office/powerpoint/2010/main" val="2143083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FFB7A28-3FF4-4B10-A0C7-1C2D650369AF}" type="slidenum">
              <a:rPr lang="en-US" altLang="en-US">
                <a:solidFill>
                  <a:srgbClr val="000000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/>
              <a:t>22</a:t>
            </a:fld>
            <a:endParaRPr lang="en-US" altLang="en-US">
              <a:solidFill>
                <a:srgbClr val="000000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</p:spTree>
    <p:extLst>
      <p:ext uri="{BB962C8B-B14F-4D97-AF65-F5344CB8AC3E}">
        <p14:creationId xmlns:p14="http://schemas.microsoft.com/office/powerpoint/2010/main" val="36647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1F960EE-9ED5-40C8-BAC9-0F839BBF96A4}" type="slidenum">
              <a:rPr lang="en-US" altLang="en-US">
                <a:solidFill>
                  <a:srgbClr val="000000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/>
              <a:t>23</a:t>
            </a:fld>
            <a:endParaRPr lang="en-US" altLang="en-US">
              <a:solidFill>
                <a:srgbClr val="000000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</p:spTree>
    <p:extLst>
      <p:ext uri="{BB962C8B-B14F-4D97-AF65-F5344CB8AC3E}">
        <p14:creationId xmlns:p14="http://schemas.microsoft.com/office/powerpoint/2010/main" val="81897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9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7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6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6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0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8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0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5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74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9024D-52A1-401A-A614-4D1641CDE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33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210300"/>
            <a:ext cx="12192000" cy="647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213" y="6359525"/>
            <a:ext cx="15176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33388" y="6383338"/>
            <a:ext cx="341312" cy="32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fld id="{0AE03EBD-0517-4C6D-914B-53F6841F7CD9}" type="slidenum">
              <a:rPr lang="en-GB" altLang="en-US" sz="800" b="1" smtClean="0">
                <a:solidFill>
                  <a:srgbClr val="CCCCCC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‹#›</a:t>
            </a:fld>
            <a:endParaRPr lang="en-GB" altLang="en-US" sz="800" b="1">
              <a:solidFill>
                <a:srgbClr val="CCCCCC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6218238"/>
            <a:ext cx="20923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60000" y="504000"/>
            <a:ext cx="10272000" cy="576000"/>
          </a:xfrm>
        </p:spPr>
        <p:txBody>
          <a:bodyPr/>
          <a:lstStyle>
            <a:lvl1pPr marL="0" indent="0" algn="l">
              <a:buNone/>
              <a:defRPr sz="3000" b="1">
                <a:solidFill>
                  <a:schemeClr val="accent1"/>
                </a:solidFill>
              </a:defRPr>
            </a:lvl1pPr>
            <a:lvl2pPr marL="457200" indent="0" algn="l">
              <a:buNone/>
              <a:defRPr sz="3200" b="1">
                <a:solidFill>
                  <a:schemeClr val="accent1"/>
                </a:solidFill>
              </a:defRPr>
            </a:lvl2pPr>
            <a:lvl3pPr marL="914400" indent="0" algn="l">
              <a:buNone/>
              <a:defRPr sz="3200" b="1">
                <a:solidFill>
                  <a:schemeClr val="accent1"/>
                </a:solidFill>
              </a:defRPr>
            </a:lvl3pPr>
            <a:lvl4pPr marL="1371600" indent="0" algn="l">
              <a:buNone/>
              <a:defRPr sz="3200" b="1">
                <a:solidFill>
                  <a:schemeClr val="accent1"/>
                </a:solidFill>
              </a:defRPr>
            </a:lvl4pPr>
            <a:lvl5pPr marL="1828800" indent="0" algn="l">
              <a:buNone/>
              <a:defRPr sz="3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60967" y="1620000"/>
            <a:ext cx="10270067" cy="4327451"/>
          </a:xfrm>
        </p:spPr>
        <p:txBody>
          <a:bodyPr/>
          <a:lstStyle>
            <a:lvl1pPr marL="0" indent="0">
              <a:buFont typeface="Arial" charset="0"/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6126202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800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82821-D0EE-450C-86D2-C4A1039F8E24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7CF67-A485-41EC-872E-700DBBD95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1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jpeg" /><Relationship Id="rId5" Type="http://schemas.openxmlformats.org/officeDocument/2006/relationships/image" Target="../media/image5.jpeg" /><Relationship Id="rId4" Type="http://schemas.openxmlformats.org/officeDocument/2006/relationships/image" Target="../media/image4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1.vml" /><Relationship Id="rId6" Type="http://schemas.openxmlformats.org/officeDocument/2006/relationships/image" Target="../media/image7.png" /><Relationship Id="rId5" Type="http://schemas.openxmlformats.org/officeDocument/2006/relationships/image" Target="../media/image8.png" /><Relationship Id="rId4" Type="http://schemas.openxmlformats.org/officeDocument/2006/relationships/oleObject" Target="../embeddings/oleObject1.bin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2.vml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jpg" /><Relationship Id="rId4" Type="http://schemas.openxmlformats.org/officeDocument/2006/relationships/image" Target="../media/image12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 /><Relationship Id="rId13" Type="http://schemas.openxmlformats.org/officeDocument/2006/relationships/image" Target="../media/image28.jpeg" /><Relationship Id="rId3" Type="http://schemas.openxmlformats.org/officeDocument/2006/relationships/image" Target="../media/image18.jpeg" /><Relationship Id="rId7" Type="http://schemas.openxmlformats.org/officeDocument/2006/relationships/image" Target="../media/image22.png" /><Relationship Id="rId12" Type="http://schemas.openxmlformats.org/officeDocument/2006/relationships/image" Target="../media/image27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11" Type="http://schemas.openxmlformats.org/officeDocument/2006/relationships/image" Target="../media/image26.png" /><Relationship Id="rId5" Type="http://schemas.openxmlformats.org/officeDocument/2006/relationships/image" Target="../media/image20.png" /><Relationship Id="rId10" Type="http://schemas.openxmlformats.org/officeDocument/2006/relationships/image" Target="../media/image25.png" /><Relationship Id="rId4" Type="http://schemas.openxmlformats.org/officeDocument/2006/relationships/image" Target="../media/image19.png" /><Relationship Id="rId9" Type="http://schemas.openxmlformats.org/officeDocument/2006/relationships/image" Target="../media/image24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3.vml" /><Relationship Id="rId5" Type="http://schemas.openxmlformats.org/officeDocument/2006/relationships/image" Target="../media/image30.png" /><Relationship Id="rId4" Type="http://schemas.openxmlformats.org/officeDocument/2006/relationships/oleObject" Target="../embeddings/oleObject3.bin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4.vml" /><Relationship Id="rId5" Type="http://schemas.openxmlformats.org/officeDocument/2006/relationships/image" Target="../media/image31.png" /><Relationship Id="rId4" Type="http://schemas.openxmlformats.org/officeDocument/2006/relationships/oleObject" Target="../embeddings/oleObject4.bin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5.vml" /><Relationship Id="rId5" Type="http://schemas.openxmlformats.org/officeDocument/2006/relationships/image" Target="../media/image32.png" /><Relationship Id="rId4" Type="http://schemas.openxmlformats.org/officeDocument/2006/relationships/oleObject" Target="../embeddings/oleObject5.bin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13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4.jpe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 /><Relationship Id="rId2" Type="http://schemas.openxmlformats.org/officeDocument/2006/relationships/image" Target="../media/image35.jpe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 /><Relationship Id="rId2" Type="http://schemas.openxmlformats.org/officeDocument/2006/relationships/image" Target="../media/image37.jpeg" /><Relationship Id="rId1" Type="http://schemas.openxmlformats.org/officeDocument/2006/relationships/slideLayout" Target="../slideLayouts/slideLayout1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96135"/>
            <a:ext cx="12192000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tabLst>
                <a:tab pos="1060450" algn="l"/>
                <a:tab pos="3337560" algn="ctr"/>
              </a:tabLst>
            </a:pPr>
            <a:r>
              <a:rPr lang="bn-IN" sz="4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সুরক্ষা কর্মসূচি</a:t>
            </a:r>
            <a:r>
              <a:rPr lang="en-US" sz="4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4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4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001632" y="4482667"/>
            <a:ext cx="430039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" algn="l"/>
                <a:tab pos="1060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9700" algn="l"/>
                <a:tab pos="1060450" algn="l"/>
              </a:tabLst>
            </a:pPr>
            <a:r>
              <a:rPr kumimoji="0" lang="bn-IN" sz="24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অর্থনীতি ইউনিট</a:t>
            </a:r>
            <a:endParaRPr kumimoji="0" 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0" marR="0" lvl="0" indent="0" algn="ctr" defTabSz="914400" rtl="0" eaLnBrk="0" fontAlgn="base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9700" algn="l"/>
                <a:tab pos="1060450" algn="l"/>
              </a:tabLst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kumimoji="0" lang="bn-IN" sz="24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সেবা বিভাগ</a:t>
            </a:r>
            <a:endParaRPr kumimoji="0" lang="en-US" sz="240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bn-IN" sz="2400" dirty="0">
                <a:solidFill>
                  <a:srgbClr val="7030A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ও পরিবার কল্যাণ মন্ত্রণালয়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9700" algn="l"/>
                <a:tab pos="1060450" algn="l"/>
              </a:tabLst>
            </a:pPr>
            <a:endParaRPr kumimoji="0" 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9363CA-415A-491C-A499-F6B99C5FCC3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38" y="621102"/>
            <a:ext cx="1123530" cy="101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C:\Users\Hp\Desktop\HEU\HEU_Website\logo-1.jpg">
            <a:extLst>
              <a:ext uri="{FF2B5EF4-FFF2-40B4-BE49-F238E27FC236}">
                <a16:creationId xmlns:a16="http://schemas.microsoft.com/office/drawing/2014/main" id="{368EC61A-026F-11C1-2A56-2C4249BF0C3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982" y="621102"/>
            <a:ext cx="1112546" cy="1080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PM receives Vaccine Hero award at UN HQ | Dhaka Tribun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594" y="1849320"/>
            <a:ext cx="3978811" cy="252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agram&#10;&#10;Description automatically generated with low confid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313" y="4482667"/>
            <a:ext cx="129222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5909955"/>
            <a:ext cx="12192000" cy="365125"/>
          </a:xfrm>
        </p:spPr>
        <p:txBody>
          <a:bodyPr/>
          <a:lstStyle/>
          <a:p>
            <a:pPr algn="ctr"/>
            <a:fld id="{7D896410-AC86-4E4F-8189-932F6B451300}" type="datetime3"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 April 2023</a:t>
            </a:fld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91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2667000" y="533400"/>
            <a:ext cx="670560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bn-BD" sz="4800" dirty="0"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পটভূমি</a:t>
            </a:r>
            <a:endParaRPr lang="en-US" altLang="en-US" sz="4800" dirty="0">
              <a:latin typeface="Calisto MT" panose="02040603050505030304" pitchFamily="18" charset="0"/>
            </a:endParaRPr>
          </a:p>
        </p:txBody>
      </p:sp>
      <p:sp>
        <p:nvSpPr>
          <p:cNvPr id="9219" name="TextBox 5"/>
          <p:cNvSpPr txBox="1">
            <a:spLocks noChangeArrowheads="1"/>
          </p:cNvSpPr>
          <p:nvPr/>
        </p:nvSpPr>
        <p:spPr bwMode="auto">
          <a:xfrm>
            <a:off x="990600" y="2209800"/>
            <a:ext cx="10515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450"/>
              </a:spcAft>
              <a:buFont typeface="Arial" panose="020B0604020202020204" pitchFamily="34" charset="0"/>
              <a:buBlip>
                <a:blip r:embed="rId3"/>
              </a:buBlip>
            </a:pPr>
            <a:r>
              <a:rPr lang="bn-BD" altLang="en-US">
                <a:latin typeface="Nikosh" panose="02000000000000000000" pitchFamily="2" charset="0"/>
                <a:cs typeface="Nikosh" panose="02000000000000000000" pitchFamily="2" charset="0"/>
              </a:rPr>
              <a:t>গণপ্রজাতন্ত্রী বাংলাদেশের সংবিধানের অনুচ্ছেদ ১৫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BD" altLang="en-US">
                <a:latin typeface="Nikosh" panose="02000000000000000000" pitchFamily="2" charset="0"/>
                <a:cs typeface="Nikosh" panose="02000000000000000000" pitchFamily="2" charset="0"/>
              </a:rPr>
              <a:t>ক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)</a:t>
            </a:r>
            <a:r>
              <a:rPr lang="bn-BD" altLang="en-US">
                <a:latin typeface="Nikosh" panose="02000000000000000000" pitchFamily="2" charset="0"/>
                <a:cs typeface="Nikosh" panose="02000000000000000000" pitchFamily="2" charset="0"/>
              </a:rPr>
              <a:t> অনুসারে চিকিৎসাসহ জীবনধারণের মৌলিক উপকরণের ব্যবস্থা করা রাষ্ট্রের অন্যতম মৌলিক দায়িত্ব হিসাবে স্বীকৃত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;</a:t>
            </a:r>
          </a:p>
        </p:txBody>
      </p:sp>
      <p:sp>
        <p:nvSpPr>
          <p:cNvPr id="922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4F502D9-A354-4689-A325-63CBF08A8DEF}" type="datetime1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4/12/2023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922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5F4E23D-D783-4B66-BF59-656F2CDF73E5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41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990600" y="533400"/>
            <a:ext cx="10591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7030A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 খাতে সরকারের বাজেট বরাদ্দ: ২০০০-২০০১ থেকে ২০২২-২০২৩</a:t>
            </a:r>
          </a:p>
        </p:txBody>
      </p:sp>
      <p:sp>
        <p:nvSpPr>
          <p:cNvPr id="1126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010AA609-1796-4C1F-99D2-CF20B6BF92EA}" type="datetime1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4/12/2023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126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98394B5-FD34-4007-8EFE-D5741D5795C3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269" name="Chart 8"/>
          <p:cNvGraphicFramePr>
            <a:graphicFrameLocks/>
          </p:cNvGraphicFramePr>
          <p:nvPr/>
        </p:nvGraphicFramePr>
        <p:xfrm>
          <a:off x="990600" y="1138238"/>
          <a:ext cx="10160000" cy="398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hart" r:id="rId4" imgW="10169009" imgH="3993226" progId="Excel.Chart.8">
                  <p:embed/>
                </p:oleObj>
              </mc:Choice>
              <mc:Fallback>
                <p:oleObj name="Chart" r:id="rId4" imgW="10169009" imgH="3993226" progId="Excel.Chart.8">
                  <p:embed/>
                  <p:pic>
                    <p:nvPicPr>
                      <p:cNvPr id="11269" name="Char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138238"/>
                        <a:ext cx="10160000" cy="398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Box 5"/>
          <p:cNvSpPr txBox="1">
            <a:spLocks noChangeArrowheads="1"/>
          </p:cNvSpPr>
          <p:nvPr/>
        </p:nvSpPr>
        <p:spPr bwMode="auto">
          <a:xfrm>
            <a:off x="460375" y="5110163"/>
            <a:ext cx="10661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450"/>
              </a:spcAft>
              <a:buFont typeface="Arial" panose="020B0604020202020204" pitchFamily="34" charset="0"/>
              <a:buBlip>
                <a:blip r:embed="rId6"/>
              </a:buBlip>
            </a:pP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২০০০-২০০১ সালে স্বাস্থ্য খাতে বাজেট বরাদ্দ ছিল ২,৬৮৯.০ কোটি টাকা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 (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ম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োট বাজেট 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৩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৮,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৫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২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৪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ক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োটি)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, যা ২০২</a:t>
            </a:r>
            <a:r>
              <a:rPr lang="en-US" altLang="en-US" sz="2400">
                <a:latin typeface="NikoshBAN" pitchFamily="2" charset="0"/>
                <a:cs typeface="Nikosh" panose="02000000000000000000" pitchFamily="2" charset="0"/>
              </a:rPr>
              <a:t>১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-২০২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২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 সালে দাঁড়ায় 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৩৬,৮৬৩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 কোটি টাকা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 (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ম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োট বাজেট ৬,৭৮,০৬৪ ক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ো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ট</a:t>
            </a:r>
            <a:r>
              <a:rPr lang="as-IN" altLang="en-US" sz="2400">
                <a:latin typeface="Nikosh" panose="02000000000000000000" pitchFamily="2" charset="0"/>
                <a:cs typeface="Nikosh" panose="02000000000000000000" pitchFamily="2" charset="0"/>
              </a:rPr>
              <a:t>ি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)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। অর্থাৎ গত ২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২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 বছরে স্বাস্থ্য খাতে বরাদ্দ বৃদ্ধি পেয়েছে 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প্রায় 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১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৪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 গু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ন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endParaRPr lang="en-US" altLang="en-US" sz="240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96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1605" y="1986243"/>
            <a:ext cx="1088226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6196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n-IN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জাতির পিতা বঙ্গবন্ধু শেখ মুজিবুর রহমান সুখী সমৃদ্ধ সোনার বাংলা গঠনের পরিকল্পনা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অনুযায়ী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বর্তমান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সরকার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গ্রামীণ দরিদ্র ও প্রান্তিক মানুষের স্বাস্থ্য সেবা নিশ্চিত করার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বিভিন্ন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উদ্যোগ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গ্রহণ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করেছে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</a:p>
          <a:p>
            <a:pPr marL="461963" indent="-461963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বহূমুখী কার্যক্রমের ফলে সরকারি স্বাস্থ্য সেবার গুণগত মান ও পরিধি সম্প্রসারিত হয়েছে এবং স্বাস্থ্য খাতে বিভিন্ন জাতীয় ও আন্তর্জাতিক লক্ষ্যমাত্রা অর্জিত হয়েছে</a:t>
            </a:r>
            <a:r>
              <a:rPr lang="hi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461963" indent="-461963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এতদসত্বেও অসংক্রামক ও ব্যয়বহুল রোগের প্রাদুর্ভাব বৃদ্ধি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নতুন নতুন চিকিৎসা পদ্ধতির উদ্ভাবন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ডায়াগনস্টিক সেবার সম্প্রসারণ ও ব্যবহার বৃদ্ধির কারণে চিকিৎসা ব্যয় বৃদ্ধি পেয়েছে</a:t>
            </a:r>
            <a:r>
              <a:rPr lang="hi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56" y="9415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প্রেক্ষাপট</a:t>
            </a:r>
            <a:endParaRPr lang="en-US" sz="3600" dirty="0">
              <a:solidFill>
                <a:srgbClr val="C0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44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8063" y="1566952"/>
            <a:ext cx="1014893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61963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বর্ণিত প্রেক্ষাপটে দেশের সকল জনগোষ্ঠীর সাশ্রয়ী মূল্যে চিকিৎসা সেবা নিশ্চিত করার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লক্ষ্যে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স্বাস্থ্যখাতে অর্থায়ন কৌশলপত্র ২০১২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-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৩২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(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Nikosh" panose="02000000000000000000" pitchFamily="2" charset="0"/>
              </a:rPr>
              <a:t>Health Care Financing Strategy 2012-2032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 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প্রণীত হয়েছে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এবং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কৌশলপত্র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অনুযায়ী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২০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১৬ সালে টাঙ্গাইল জেলার কালিহাতী এবং পরবর্তীতে একই জেলার মধুপুর ও ঘাটাইল উপজেলায় পরীক্ষামূলকভাবে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‘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সুরক্ষা কর্মসূচি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)’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চালু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করা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হয়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 </a:t>
            </a:r>
          </a:p>
          <a:p>
            <a:pPr marL="461963" indent="-461963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পর্যায়ক্রমে টাঙ্গাইল জেলার সকল উপজেলায় এবং ঢাকার দু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’</a:t>
            </a:r>
            <a:r>
              <a:rPr lang="bn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টি সিটি করপোরেশনসহ আরও ৬টি জেলায় এই কার্যক্রম সম্প্রসারণের উদ্যোগ গ্রহণ করা হয়</a:t>
            </a:r>
            <a:r>
              <a:rPr lang="hi-IN" sz="2400" dirty="0">
                <a:solidFill>
                  <a:schemeClr val="tx2">
                    <a:lumMod val="50000"/>
                  </a:schemeClr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0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8896350" cy="706438"/>
          </a:xfrm>
        </p:spPr>
        <p:txBody>
          <a:bodyPr/>
          <a:lstStyle/>
          <a:p>
            <a:pPr algn="ctr" eaLnBrk="1" hangingPunct="1"/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২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০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২০ 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ল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ে 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থ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য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খ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ে 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অ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থ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য়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ে</a:t>
            </a:r>
            <a:r>
              <a:rPr lang="as-IN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r>
              <a:rPr lang="en-US" altLang="en-US" sz="4000" b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উৎসসমূহ</a:t>
            </a:r>
            <a:endParaRPr lang="en-US" altLang="en-US" sz="4000" b="1">
              <a:solidFill>
                <a:srgbClr val="000000"/>
              </a:solidFill>
              <a:latin typeface="Calisto MT" panose="02040603050505030304" pitchFamily="18" charset="0"/>
            </a:endParaRPr>
          </a:p>
        </p:txBody>
      </p:sp>
      <p:sp>
        <p:nvSpPr>
          <p:cNvPr id="13315" name="Date Placeholder 6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D9083E5-31CB-4451-9BF6-E0A890F882F9}" type="datetime1">
              <a:rPr lang="en-US" altLang="en-US" sz="1200" smtClean="0">
                <a:solidFill>
                  <a:srgbClr val="898989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4/12/2023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316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AAB4685-E678-4098-A4EB-D12ED78BFB94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317" name="Title 1"/>
          <p:cNvSpPr txBox="1">
            <a:spLocks noChangeArrowheads="1"/>
          </p:cNvSpPr>
          <p:nvPr/>
        </p:nvSpPr>
        <p:spPr bwMode="auto">
          <a:xfrm>
            <a:off x="2438400" y="5957888"/>
            <a:ext cx="479266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alibri Light" panose="020F0302020204030204" pitchFamily="34" charset="0"/>
                <a:ea typeface="ヒラギノ角ゴ Pro W3"/>
                <a:cs typeface="ヒラギノ角ゴ Pro W3"/>
              </a:rPr>
              <a:t>Source: Bangladesh National Health Accounts 1997-2020</a:t>
            </a:r>
          </a:p>
        </p:txBody>
      </p:sp>
      <p:graphicFrame>
        <p:nvGraphicFramePr>
          <p:cNvPr id="13318" name="Chart 8"/>
          <p:cNvGraphicFramePr>
            <a:graphicFrameLocks/>
          </p:cNvGraphicFramePr>
          <p:nvPr/>
        </p:nvGraphicFramePr>
        <p:xfrm>
          <a:off x="1981200" y="1295400"/>
          <a:ext cx="8178800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Chart" r:id="rId3" imgW="8187638" imgH="4487045" progId="Excel.Chart.8">
                  <p:embed/>
                </p:oleObj>
              </mc:Choice>
              <mc:Fallback>
                <p:oleObj name="Chart" r:id="rId3" imgW="8187638" imgH="4487045" progId="Excel.Chart.8">
                  <p:embed/>
                  <p:pic>
                    <p:nvPicPr>
                      <p:cNvPr id="13318" name="Char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95400"/>
                        <a:ext cx="8178800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730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90A99C8-376F-409C-A4C4-2A54760A3DA7}" type="datetime3">
              <a:rPr lang="en-US" smtClean="0"/>
              <a:pPr>
                <a:defRPr/>
              </a:pPr>
              <a:t>12 April 2023</a:t>
            </a:fld>
            <a:endParaRPr lang="en-US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E2D529A-9FA5-4DA4-8E2C-ACDDD8C52B0F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95400" y="-50800"/>
            <a:ext cx="88138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>
              <a:defRPr/>
            </a:pPr>
            <a:r>
              <a:rPr lang="en-GB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নিজ</a:t>
            </a:r>
            <a:r>
              <a:rPr lang="en-GB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GB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পকেট</a:t>
            </a:r>
            <a:r>
              <a:rPr lang="en-GB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GB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থেকে</a:t>
            </a:r>
            <a:r>
              <a:rPr lang="en-GB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GB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GB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GB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ব্যয়</a:t>
            </a:r>
            <a:endParaRPr lang="en-US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439400" cy="4386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1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বছর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সরকারী</a:t>
                      </a:r>
                      <a:r>
                        <a:rPr lang="en-GB" sz="2000" baseline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baseline="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অর্থায়নে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বেসরকারী</a:t>
                      </a: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এনজিও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/>
                      </a:pPr>
                      <a:r>
                        <a:rPr lang="en-GB" sz="2000" dirty="0" err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নিজ</a:t>
                      </a:r>
                      <a:r>
                        <a:rPr lang="en-GB" sz="20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পকেট</a:t>
                      </a:r>
                      <a:r>
                        <a:rPr lang="en-GB" sz="20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থেকে</a:t>
                      </a:r>
                      <a:r>
                        <a:rPr lang="en-GB" sz="20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স্বাস্থ্য</a:t>
                      </a:r>
                      <a:r>
                        <a:rPr lang="en-GB" sz="2000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ব্যয়</a:t>
                      </a:r>
                      <a:endParaRPr lang="en-US" sz="2000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উন্নয়ন</a:t>
                      </a:r>
                      <a:r>
                        <a:rPr lang="en-GB" sz="2000" baseline="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baseline="0" dirty="0" err="1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সহযোগীদের</a:t>
                      </a:r>
                      <a:r>
                        <a:rPr lang="en-GB" sz="2000" baseline="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GB" sz="2000" baseline="0" dirty="0" err="1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অর্থায়ন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১৯৯৭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২০০২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৩২%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২০০৭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৬১%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২০১২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৬২%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৮%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২০১৫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২০১৬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৬৭%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২০১৭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২০১৮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৫৪%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২০১৯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৬৬%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Nikosh" panose="02000000000000000000" pitchFamily="2" charset="0"/>
                          <a:ea typeface="+mn-ea"/>
                          <a:cs typeface="Nikosh" panose="02000000000000000000" pitchFamily="2" charset="0"/>
                        </a:rPr>
                        <a:t>২০২০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৬৯%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৫%</a:t>
                      </a:r>
                      <a:endParaRPr lang="en-US" sz="20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46988" y="4060825"/>
            <a:ext cx="685800" cy="1066800"/>
          </a:xfrm>
          <a:prstGeom prst="rect">
            <a:avLst/>
          </a:prstGeom>
          <a:noFill/>
          <a:ln w="666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9000" y="4056063"/>
            <a:ext cx="762000" cy="1066800"/>
          </a:xfrm>
          <a:prstGeom prst="rect">
            <a:avLst/>
          </a:prstGeom>
          <a:noFill/>
          <a:ln w="666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5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idx="1"/>
          </p:nvPr>
        </p:nvSpPr>
        <p:spPr>
          <a:xfrm>
            <a:off x="990600" y="1676400"/>
            <a:ext cx="10591800" cy="4267200"/>
          </a:xfrm>
        </p:spPr>
        <p:txBody>
          <a:bodyPr lIns="68580" tIns="34290" rIns="68580" bIns="34290" anchor="ctr"/>
          <a:lstStyle/>
          <a:p>
            <a:pPr marL="803275" lvl="1" indent="-346075" eaLnBrk="1" hangingPunct="1">
              <a:lnSpc>
                <a:spcPct val="100000"/>
              </a:lnSpc>
              <a:spcBef>
                <a:spcPts val="600"/>
              </a:spcBef>
              <a:buClr>
                <a:srgbClr val="B13F9A"/>
              </a:buClr>
              <a:buSzPct val="73000"/>
              <a:buFont typeface="Wingdings 2" panose="05020102010507070707" pitchFamily="18" charset="2"/>
              <a:buChar char=""/>
            </a:pPr>
            <a:r>
              <a:rPr lang="en-US" altLang="en-US" sz="3200">
                <a:latin typeface="Nikosh" panose="02000000000000000000" pitchFamily="2" charset="0"/>
                <a:cs typeface="Nikosh" panose="02000000000000000000" pitchFamily="2" charset="0"/>
              </a:rPr>
              <a:t>প্রতি বছর আনুমানিক ১৬.৪ শতাংশ পরিবার প্রয়োজন থাকা সত্ত্বেও স্বাস্থ্য সেবা গ্রহণ থেকে বিরত থাকে (বিশ্বব্যাংক, ২০১৯);</a:t>
            </a:r>
          </a:p>
          <a:p>
            <a:pPr marL="803275" lvl="1" indent="-346075" eaLnBrk="1" hangingPunct="1">
              <a:lnSpc>
                <a:spcPct val="100000"/>
              </a:lnSpc>
              <a:spcBef>
                <a:spcPts val="600"/>
              </a:spcBef>
              <a:buClr>
                <a:srgbClr val="B13F9A"/>
              </a:buClr>
              <a:buSzPct val="73000"/>
              <a:buFont typeface="Wingdings 2" panose="05020102010507070707" pitchFamily="18" charset="2"/>
              <a:buChar char=""/>
            </a:pPr>
            <a:r>
              <a:rPr lang="en-US" altLang="en-US" sz="3200">
                <a:latin typeface="Nikosh" panose="02000000000000000000" pitchFamily="2" charset="0"/>
                <a:cs typeface="Nikosh" panose="02000000000000000000" pitchFamily="2" charset="0"/>
              </a:rPr>
              <a:t>চিকিৎসা গ্রহণকারী ২৪.৪% (মোট আয়ের ১০% ভিত্তিতে) পরিবার  বিপর্যয়মূলক স্বাস্থ্য ব্যয়ের (</a:t>
            </a:r>
            <a:r>
              <a:rPr lang="en-US" altLang="en-US" sz="2800">
                <a:latin typeface="Nikosh" panose="02000000000000000000" pitchFamily="2" charset="0"/>
                <a:cs typeface="Nikosh" panose="02000000000000000000" pitchFamily="2" charset="0"/>
              </a:rPr>
              <a:t>catastrophic health expenditure</a:t>
            </a:r>
            <a:r>
              <a:rPr lang="en-US" altLang="en-US" sz="3200">
                <a:latin typeface="Nikosh" panose="02000000000000000000" pitchFamily="2" charset="0"/>
                <a:cs typeface="Nikosh" panose="02000000000000000000" pitchFamily="2" charset="0"/>
              </a:rPr>
              <a:t>) সম্মুখীন হয়।</a:t>
            </a:r>
          </a:p>
        </p:txBody>
      </p:sp>
      <p:sp>
        <p:nvSpPr>
          <p:cNvPr id="15363" name="Date Placeholder 2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AA7B8A51-EA79-4017-9B75-17861D99C80E}" type="datetime1">
              <a:rPr lang="en-US" altLang="en-US" sz="1200" smtClean="0">
                <a:solidFill>
                  <a:srgbClr val="898989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4/12/2023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536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F1EBDBB-5C45-4D9B-A3E4-ECE73F8586CA}" type="slidenum">
              <a:rPr lang="en-US" altLang="en-US" sz="12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409700" y="914400"/>
            <a:ext cx="9372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উচ্চ </a:t>
            </a:r>
            <a:r>
              <a:rPr lang="en-US" altLang="en-US" sz="40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OOP 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এর 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ি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ূ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ভ</a:t>
            </a:r>
            <a:r>
              <a:rPr lang="as-IN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en-US" altLang="en-US" sz="480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</a:t>
            </a:r>
          </a:p>
        </p:txBody>
      </p:sp>
    </p:spTree>
    <p:extLst>
      <p:ext uri="{BB962C8B-B14F-4D97-AF65-F5344CB8AC3E}">
        <p14:creationId xmlns:p14="http://schemas.microsoft.com/office/powerpoint/2010/main" val="258920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2286000" y="2895600"/>
            <a:ext cx="67056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bn-BD" sz="6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এসএসকে’র পরিচিতি</a:t>
            </a:r>
          </a:p>
        </p:txBody>
      </p:sp>
      <p:sp>
        <p:nvSpPr>
          <p:cNvPr id="1638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08F3CF27-9365-48CB-8DB5-F4E014C7842B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638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437457C-8968-49DF-B93B-20DF729662BE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1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0936" y="293630"/>
            <a:ext cx="11416676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bn-BD" sz="4400" b="1" dirty="0">
                <a:solidFill>
                  <a:srgbClr val="C00000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উদ্দেশ্যসমূহ </a:t>
            </a:r>
            <a:r>
              <a:rPr lang="bn-IN" sz="4400" b="1" dirty="0">
                <a:solidFill>
                  <a:srgbClr val="C00000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 </a:t>
            </a:r>
            <a:endParaRPr lang="en-US" sz="4400" b="1" dirty="0">
              <a:solidFill>
                <a:srgbClr val="C00000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 সেবা গ্রহণের ক্ষেত্রে দরিদ্র জনগোষ্ঠীর জন্য বিদ্যমান আর্থিক প্রতিবন্ধকতাসমূহ </a:t>
            </a:r>
            <a:r>
              <a:rPr lang="en-US" sz="2400" dirty="0" err="1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দূরীকরণ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;</a:t>
            </a: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চিকিৎসার বিপর্যয়মূলক ব্যয় থেকে দরিদ্র জনগোষ্ঠীকে রক্ষা করা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;</a:t>
            </a: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স্বাস্থ্যখাতে কার্যকরি উন্নয়নের লক্ষ্যে পর্যায়ক্রমে স্থানীয় হাসপাতাল কর্তৃপক্ষের আর্থিক ও প্রশাসনিক ক্ষমতা বৃদ্ধি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করা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;</a:t>
            </a: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</a:t>
            </a:r>
            <a:r>
              <a:rPr lang="en-US" sz="2400" dirty="0" err="1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সেবা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প্রদানে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দক্ষতা অর্জন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bn-IN" sz="2400" dirty="0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স্বচ্ছতা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বৃদ্ধি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bn-IN" sz="2400" dirty="0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মান উন্নয়ন এবং বিশেষত 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দাবী প্রক্রিয়াকরণ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Nikosh" panose="02000000000000000000" pitchFamily="2" charset="0"/>
              </a:rPr>
              <a:t>Claim Management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 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এবং ইলেক্ট্রনিক উপায়ে রোগীর </a:t>
            </a:r>
            <a:r>
              <a:rPr lang="en-US" sz="2400" dirty="0" err="1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তথ্য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সহ সকল রেকর্ড সংরক্ষণ ইত্যাদি ক্ষেত্রে তথ্য প্রযুক্তির ব্যবহার নিশ্চিত করা; এবং</a:t>
            </a:r>
            <a:endParaRPr lang="en-US" sz="2400" dirty="0"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প্রথম ধাপে শুধু দরিদ্র জনগোষ্ঠীকে অন্তর্ভুক্ত করা হলেও এই কর্মসূচির সুদূর প্রসারী উদ্দেশ্য হচ্ছে পর্যায়ক্রমে স্বাস্থ্য অর্থায়ন কৌশলপত্রে </a:t>
            </a:r>
            <a:r>
              <a:rPr lang="bn-IN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উল্লিখিত 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অপরাপর 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(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আনুষ্ঠানিক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/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চাকুরিজীবী ও অনানুষ্ঠানিক খাতে কর্মরত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) 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জনগোষ্ঠীকে 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(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যারা সেবা গ্রহণের জন্য নির্দিষ্ট অর্থ প্রদানে সক্ষম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) 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এই কর্মসূচির আওতায় আনা</a:t>
            </a:r>
            <a:r>
              <a:rPr lang="hi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। 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পাইলটিং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-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এর মাধ্যমে অর্জিত অভিজ্ঞতা কাজে লাগিয়ে সকল শ্রেণির মানুষের জন্য সারাদেশে সামাজিক স্বাস্থ্য বীমা চালু করা।</a:t>
            </a:r>
            <a:endParaRPr lang="en-US" sz="2400" dirty="0"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30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05"/>
          <a:stretch/>
        </p:blipFill>
        <p:spPr>
          <a:xfrm>
            <a:off x="6026574" y="797977"/>
            <a:ext cx="5147482" cy="52134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01"/>
          <a:stretch/>
        </p:blipFill>
        <p:spPr>
          <a:xfrm>
            <a:off x="904115" y="4597951"/>
            <a:ext cx="5036024" cy="13179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3" b="45467"/>
          <a:stretch/>
        </p:blipFill>
        <p:spPr>
          <a:xfrm>
            <a:off x="753989" y="797977"/>
            <a:ext cx="3002508" cy="8839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89" y="1718093"/>
            <a:ext cx="5186150" cy="267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6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DBA28AB-3F3A-44E9-BBC3-5F583DF14A6B}" type="slidenum">
              <a:rPr lang="en-US" altLang="en-US" sz="1200">
                <a:solidFill>
                  <a:srgbClr val="B5A788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B5A788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43000" y="228600"/>
            <a:ext cx="9677400" cy="91440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9pPr>
            <a:extLst/>
          </a:lstStyle>
          <a:p>
            <a:pPr algn="ctr">
              <a:defRPr/>
            </a:pPr>
            <a:r>
              <a:rPr lang="en-US" sz="4000" dirty="0" err="1">
                <a:latin typeface="Nikosh" pitchFamily="2" charset="0"/>
                <a:cs typeface="Nikosh" pitchFamily="2" charset="0"/>
              </a:rPr>
              <a:t>এসএসকের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000" dirty="0" err="1">
                <a:latin typeface="Nikosh" pitchFamily="2" charset="0"/>
                <a:cs typeface="Nikosh" pitchFamily="2" charset="0"/>
              </a:rPr>
              <a:t>রূপরেখা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(</a:t>
            </a:r>
            <a:r>
              <a:rPr lang="en-US" sz="3600" dirty="0">
                <a:latin typeface="Nikosh" pitchFamily="2" charset="0"/>
                <a:cs typeface="Nikosh" pitchFamily="2" charset="0"/>
              </a:rPr>
              <a:t>Overview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)</a:t>
            </a:r>
            <a:endParaRPr lang="en-US" altLang="en-US" sz="40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1EA0A9D-9332-4D2F-8663-1C62D7265126}" type="datetime3">
              <a:rPr lang="en-US" smtClean="0"/>
              <a:pPr>
                <a:defRPr/>
              </a:pPr>
              <a:t>12 April 2023</a:t>
            </a:fld>
            <a:endParaRPr lang="en-US"/>
          </a:p>
        </p:txBody>
      </p:sp>
      <p:pic>
        <p:nvPicPr>
          <p:cNvPr id="20485" name="Picture 3" descr="Text, letter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2281238"/>
            <a:ext cx="307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28600" y="2514600"/>
            <a:ext cx="830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6875" indent="-3968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Tx/>
              <a:buBlip>
                <a:blip r:embed="rId3"/>
              </a:buBlip>
            </a:pPr>
            <a:r>
              <a:rPr lang="bn-BD" altLang="en-US" sz="2200">
                <a:latin typeface="Nikosh" panose="02000000000000000000" pitchFamily="2" charset="0"/>
                <a:cs typeface="Nikosh" panose="02000000000000000000" pitchFamily="2" charset="0"/>
              </a:rPr>
              <a:t>প্রতিটি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BPL</a:t>
            </a:r>
            <a:r>
              <a:rPr lang="en-US" altLang="en-US" sz="220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200">
                <a:latin typeface="Nikosh" panose="02000000000000000000" pitchFamily="2" charset="0"/>
                <a:cs typeface="Nikosh" panose="02000000000000000000" pitchFamily="2" charset="0"/>
              </a:rPr>
              <a:t>পরিবারকে একটি করে এসএসকে কার্ড প্রদান করা </a:t>
            </a:r>
            <a:r>
              <a:rPr lang="as-IN" altLang="en-US" sz="2200">
                <a:latin typeface="Nikosh" panose="02000000000000000000" pitchFamily="2" charset="0"/>
                <a:cs typeface="Nikosh" panose="02000000000000000000" pitchFamily="2" charset="0"/>
              </a:rPr>
              <a:t>হ</a:t>
            </a:r>
            <a:r>
              <a:rPr lang="en-US" altLang="en-US" sz="2200">
                <a:latin typeface="Nikosh" panose="02000000000000000000" pitchFamily="2" charset="0"/>
                <a:cs typeface="Nikosh" panose="02000000000000000000" pitchFamily="2" charset="0"/>
              </a:rPr>
              <a:t>য়;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30200" y="1295400"/>
            <a:ext cx="8305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6875" indent="-3968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Tx/>
              <a:buBlip>
                <a:blip r:embed="rId3"/>
              </a:buBlip>
            </a:pPr>
            <a:r>
              <a:rPr lang="bn-BD" altLang="en-US" sz="2200">
                <a:latin typeface="Nikosh" panose="02000000000000000000" pitchFamily="2" charset="0"/>
                <a:cs typeface="Nikosh" panose="02000000000000000000" pitchFamily="2" charset="0"/>
              </a:rPr>
              <a:t>বর্তমানে শুধুমাত্র হাসপাতালে অন্ত:বিভাগীয় সেবাগ্রহণের ক্ষেত্রে বেনিফিট প্যাকেজভুক্ত </a:t>
            </a:r>
            <a:r>
              <a:rPr lang="en-US" altLang="en-US" sz="2200">
                <a:latin typeface="Nikosh" panose="02000000000000000000" pitchFamily="2" charset="0"/>
                <a:cs typeface="Nikosh" panose="02000000000000000000" pitchFamily="2" charset="0"/>
              </a:rPr>
              <a:t>১১০</a:t>
            </a:r>
            <a:r>
              <a:rPr lang="bn-BD" altLang="en-US" sz="2200">
                <a:latin typeface="Nikosh" panose="02000000000000000000" pitchFamily="2" charset="0"/>
                <a:cs typeface="Nikosh" panose="02000000000000000000" pitchFamily="2" charset="0"/>
              </a:rPr>
              <a:t>টি রোগের বিনামূল্যে চিকিৎসা সেবা (রোগ নির্ণয়, ঔষধ, রেফারেলের ক্ষেত্রে পরিবহন খরচ ইত্যাদি) প্রদান করা হচ্ছে</a:t>
            </a:r>
            <a:r>
              <a:rPr lang="en-US" altLang="en-US" sz="2200">
                <a:latin typeface="Nikosh" panose="02000000000000000000" pitchFamily="2" charset="0"/>
                <a:cs typeface="Nikosh" panose="02000000000000000000" pitchFamily="2" charset="0"/>
              </a:rPr>
              <a:t>;</a:t>
            </a:r>
          </a:p>
        </p:txBody>
      </p:sp>
      <p:sp>
        <p:nvSpPr>
          <p:cNvPr id="11" name="Content Placeholder 2"/>
          <p:cNvSpPr txBox="1">
            <a:spLocks noChangeArrowheads="1"/>
          </p:cNvSpPr>
          <p:nvPr/>
        </p:nvSpPr>
        <p:spPr bwMode="auto">
          <a:xfrm>
            <a:off x="249238" y="3200400"/>
            <a:ext cx="7523162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6875" indent="-3968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Blip>
                <a:blip r:embed="rId3"/>
              </a:buBlip>
            </a:pPr>
            <a:r>
              <a:rPr lang="bn-BD" altLang="en-US" sz="2200">
                <a:latin typeface="Nikosh" panose="02000000000000000000" pitchFamily="2" charset="0"/>
                <a:cs typeface="Nikosh" panose="02000000000000000000" pitchFamily="2" charset="0"/>
              </a:rPr>
              <a:t>প্রতিটি পরিবারের জন্য বার্ষিক ১,০০০ (এক হাজার) টাকা প্রিমিয়াম নির্ধারণ করা হয়েছে, যা সম্পূর্ণ সরকারি কোষাগার হতে প্রদান করা হচ্ছে</a:t>
            </a:r>
            <a:r>
              <a:rPr lang="en-US" altLang="en-US" sz="2200">
                <a:latin typeface="Nikosh" panose="02000000000000000000" pitchFamily="2" charset="0"/>
                <a:cs typeface="Nikosh" panose="02000000000000000000" pitchFamily="2" charset="0"/>
              </a:rPr>
              <a:t>;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25425" y="4191000"/>
            <a:ext cx="75231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3225" indent="-4032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Blip>
                <a:blip r:embed="rId3"/>
              </a:buBlip>
            </a:pPr>
            <a:r>
              <a:rPr lang="bn-BD" altLang="en-US" sz="2000">
                <a:latin typeface="Nikosh" panose="02000000000000000000" pitchFamily="2" charset="0"/>
                <a:cs typeface="Nikosh" panose="02000000000000000000" pitchFamily="2" charset="0"/>
              </a:rPr>
              <a:t>বছরে পরিবার প্রতি সর্বোচ্চ ৫০,০০০ (পঞ্চাশ হাজার) টাকার স্বাস্থ্য সেবা প্রদান করা হয়ে থাকে</a:t>
            </a:r>
            <a:r>
              <a:rPr lang="en-US" altLang="en-US" sz="2000">
                <a:latin typeface="Nikosh" panose="02000000000000000000" pitchFamily="2" charset="0"/>
                <a:cs typeface="Nikosh" panose="020000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7928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6755742-9C5D-4E6B-8093-37D4F35F5571}" type="slidenum">
              <a:rPr lang="en-US" altLang="en-US" sz="1200">
                <a:solidFill>
                  <a:srgbClr val="B5A788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B5A788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43000" y="403225"/>
            <a:ext cx="9677400" cy="91440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9pPr>
            <a:extLst/>
          </a:lstStyle>
          <a:p>
            <a:pPr algn="ctr">
              <a:defRPr/>
            </a:pPr>
            <a:r>
              <a:rPr lang="en-US" sz="4000" dirty="0" err="1">
                <a:latin typeface="Nikosh" pitchFamily="2" charset="0"/>
                <a:cs typeface="Nikosh" pitchFamily="2" charset="0"/>
              </a:rPr>
              <a:t>এসএসকের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000" dirty="0" err="1">
                <a:latin typeface="Nikosh" pitchFamily="2" charset="0"/>
                <a:cs typeface="Nikosh" pitchFamily="2" charset="0"/>
              </a:rPr>
              <a:t>রূপরেখা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(</a:t>
            </a:r>
            <a:r>
              <a:rPr lang="as-IN" sz="4000" dirty="0">
                <a:latin typeface="Nikosh" pitchFamily="2" charset="0"/>
                <a:cs typeface="Nikosh" pitchFamily="2" charset="0"/>
              </a:rPr>
              <a:t>২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)</a:t>
            </a:r>
            <a:endParaRPr lang="en-US" altLang="en-US" sz="4000" b="1" dirty="0"/>
          </a:p>
        </p:txBody>
      </p:sp>
      <p:sp>
        <p:nvSpPr>
          <p:cNvPr id="30724" name="Content Placeholder 2"/>
          <p:cNvSpPr txBox="1">
            <a:spLocks noChangeArrowheads="1"/>
          </p:cNvSpPr>
          <p:nvPr/>
        </p:nvSpPr>
        <p:spPr bwMode="auto">
          <a:xfrm>
            <a:off x="384175" y="3038475"/>
            <a:ext cx="677862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6875" indent="-3968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Blip>
                <a:blip r:embed="rId2"/>
              </a:buBlip>
            </a:pP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উপজেলা হাসপাতাল হচ্ছে সেবা প্রদানের প্রবেশদ্বার এবং সেখানে একটি এসএসকে বুথ আছে, প্রয়োজনীয় ক্ষেত্রে জেলা হাসপাতালে রেফার করা হয়।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1B1BA1-BD30-447D-B991-CF1A19E1C3DA}" type="datetime3">
              <a:rPr lang="en-US" smtClean="0"/>
              <a:pPr>
                <a:defRPr/>
              </a:pPr>
              <a:t>12 April 2023</a:t>
            </a:fld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" y="1657350"/>
            <a:ext cx="6858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3225" indent="-4032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Blip>
                <a:blip r:embed="rId2"/>
              </a:buBlip>
            </a:pP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প্রাথমিকভাবে সরকারি স্বাস্থ্য সেবাকেন্দ্র থেকে সেবা প্রদান করা হচ্ছে এবং পরবর্তীতে বেসরকারী </a:t>
            </a:r>
            <a:r>
              <a:rPr lang="bn-BD" altLang="en-US" sz="200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en-US" altLang="en-US" sz="1800">
                <a:latin typeface="Nikosh" panose="02000000000000000000" pitchFamily="2" charset="0"/>
                <a:cs typeface="Nikosh" panose="02000000000000000000" pitchFamily="2" charset="0"/>
              </a:rPr>
              <a:t>Private hospitals/clinics</a:t>
            </a:r>
            <a:r>
              <a:rPr lang="en-US" altLang="en-US" sz="2000">
                <a:latin typeface="Nikosh" panose="02000000000000000000" pitchFamily="2" charset="0"/>
                <a:cs typeface="Nikosh" panose="02000000000000000000" pitchFamily="2" charset="0"/>
              </a:rPr>
              <a:t>) </a:t>
            </a:r>
            <a:r>
              <a:rPr lang="bn-BD" altLang="en-US" sz="2400">
                <a:latin typeface="Nikosh" panose="02000000000000000000" pitchFamily="2" charset="0"/>
                <a:cs typeface="Nikosh" panose="02000000000000000000" pitchFamily="2" charset="0"/>
              </a:rPr>
              <a:t>ও এনজিও হাসপাতালকে এ কার্যক্রমে অন্তর্ভুক্ত করা হবে, এবং</a:t>
            </a: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;</a:t>
            </a:r>
          </a:p>
        </p:txBody>
      </p:sp>
      <p:pic>
        <p:nvPicPr>
          <p:cNvPr id="2151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57350"/>
            <a:ext cx="40386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86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0302C86-5BED-42C2-B60F-995727FAC331}" type="slidenum">
              <a:rPr lang="en-US" altLang="en-US" sz="1200">
                <a:solidFill>
                  <a:srgbClr val="B5A788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B5A788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436563"/>
            <a:ext cx="9677400" cy="91440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9pPr>
            <a:extLst/>
          </a:lstStyle>
          <a:p>
            <a:pPr algn="ctr">
              <a:defRPr/>
            </a:pPr>
            <a:r>
              <a:rPr lang="en-US" sz="5400" dirty="0" err="1">
                <a:solidFill>
                  <a:srgbClr val="7030A0"/>
                </a:solidFill>
                <a:latin typeface="Nikosh" pitchFamily="2" charset="0"/>
                <a:cs typeface="Nikosh" pitchFamily="2" charset="0"/>
              </a:rPr>
              <a:t>এসএসকের</a:t>
            </a:r>
            <a:r>
              <a:rPr lang="en-US" sz="5400" dirty="0">
                <a:solidFill>
                  <a:srgbClr val="7030A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5400" dirty="0" err="1">
                <a:solidFill>
                  <a:srgbClr val="7030A0"/>
                </a:solidFill>
                <a:latin typeface="Nikosh" pitchFamily="2" charset="0"/>
                <a:cs typeface="Nikosh" pitchFamily="2" charset="0"/>
              </a:rPr>
              <a:t>রূপরেখা</a:t>
            </a:r>
            <a:r>
              <a:rPr lang="en-US" sz="5400" dirty="0">
                <a:solidFill>
                  <a:srgbClr val="7030A0"/>
                </a:solidFill>
                <a:latin typeface="Nikosh" pitchFamily="2" charset="0"/>
                <a:cs typeface="Nikosh" pitchFamily="2" charset="0"/>
              </a:rPr>
              <a:t> (৩)</a:t>
            </a:r>
            <a:endParaRPr lang="en-US" altLang="en-US" sz="5400" b="1" dirty="0">
              <a:solidFill>
                <a:srgbClr val="7030A0"/>
              </a:solidFill>
            </a:endParaRPr>
          </a:p>
        </p:txBody>
      </p:sp>
      <p:sp>
        <p:nvSpPr>
          <p:cNvPr id="22532" name="Content Placeholder 2"/>
          <p:cNvSpPr txBox="1">
            <a:spLocks noChangeArrowheads="1"/>
          </p:cNvSpPr>
          <p:nvPr/>
        </p:nvSpPr>
        <p:spPr bwMode="auto">
          <a:xfrm>
            <a:off x="609600" y="1808163"/>
            <a:ext cx="6172200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6875" indent="-3968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Tx/>
              <a:buBlip>
                <a:blip r:embed="rId2"/>
              </a:buBlip>
            </a:pP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স্বাস্থ্য সেবা নেয়ার ক্ষেত্রে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তার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সুবিধাভোগী দরিদ্র পরিবারসমূহের নিজস্ব পকেট হতে ব্যয় 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)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এবং স্বাস্থ্য ব্যয়জনিত আর্থিক বিপর্যয় 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)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উল্লেখযোগ্য হারে হ্রাস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করতে সক্ষম হওয়ায় সরকার ইতোমধ্যে টাঙ্গাইল জেলার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সকল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উপজেলায়, ঢাকা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উত্তর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দক্ষিন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সিটি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কর্পোরেশন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এবং দেশের আরো ৬ (ছয়) টি জেলায় (বরগুনা, বরিশাল, লক্ষ্মীপুর, মানিকগঞ্জ, লালমনিরহাট ও কুড়িগ্রাম) এসএসকে কার্যক্রম সম্প্রসারণের সিদ্ধান্ত গ্রহণ করেছে। সম্প্রসারিত এলাকায় এসএসকে প্রস্তুতি</a:t>
            </a:r>
            <a:r>
              <a:rPr lang="en-US" alt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মূলক</a:t>
            </a:r>
            <a:r>
              <a:rPr lang="en-US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sz="2400" dirty="0">
                <a:latin typeface="Nikosh" panose="02000000000000000000" pitchFamily="2" charset="0"/>
                <a:cs typeface="Nikosh" panose="02000000000000000000" pitchFamily="2" charset="0"/>
              </a:rPr>
              <a:t>কার্যক্রম চলমান রয়েছে।</a:t>
            </a:r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827213"/>
            <a:ext cx="458470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23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553700" y="6196013"/>
            <a:ext cx="457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8D9E6DB-C9AE-44ED-9308-9584D27767D7}" type="slidenum">
              <a:rPr lang="en-US" altLang="en-US" sz="1200">
                <a:solidFill>
                  <a:srgbClr val="B5A788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B5A788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  <p:pic>
        <p:nvPicPr>
          <p:cNvPr id="5" name="Picture 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1719263"/>
            <a:ext cx="7318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3" y="1708150"/>
            <a:ext cx="914400" cy="696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urved Connector 6"/>
          <p:cNvCxnSpPr/>
          <p:nvPr/>
        </p:nvCxnSpPr>
        <p:spPr bwMode="auto">
          <a:xfrm rot="10800000" flipV="1">
            <a:off x="4714875" y="2481263"/>
            <a:ext cx="1716088" cy="1250950"/>
          </a:xfrm>
          <a:prstGeom prst="curved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 flipV="1">
            <a:off x="7466013" y="2008188"/>
            <a:ext cx="1463675" cy="13716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Picture 4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3" y="2417763"/>
            <a:ext cx="36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363" y="4157663"/>
            <a:ext cx="914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urved Connector 10"/>
          <p:cNvCxnSpPr/>
          <p:nvPr/>
        </p:nvCxnSpPr>
        <p:spPr bwMode="auto">
          <a:xfrm>
            <a:off x="8259763" y="4310063"/>
            <a:ext cx="914400" cy="963612"/>
          </a:xfrm>
          <a:prstGeom prst="curvedConnector2">
            <a:avLst/>
          </a:prstGeom>
          <a:ln w="28575">
            <a:solidFill>
              <a:srgbClr val="00B050"/>
            </a:solidFill>
            <a:prstDash val="dash"/>
            <a:headEnd type="none" w="med" len="med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605088" y="228600"/>
            <a:ext cx="7948612" cy="647700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9pPr>
            <a:extLst/>
          </a:lstStyle>
          <a:p>
            <a:pPr algn="ctr">
              <a:defRPr/>
            </a:pPr>
            <a:r>
              <a:rPr lang="en-US" sz="4800" dirty="0" err="1">
                <a:latin typeface="Nikosh" pitchFamily="2" charset="0"/>
                <a:cs typeface="Nikosh" pitchFamily="2" charset="0"/>
              </a:rPr>
              <a:t>সেবা</a:t>
            </a:r>
            <a:r>
              <a:rPr lang="en-US" sz="48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800" dirty="0" err="1"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48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800" dirty="0" err="1">
                <a:latin typeface="Nikosh" pitchFamily="2" charset="0"/>
                <a:cs typeface="Nikosh" pitchFamily="2" charset="0"/>
              </a:rPr>
              <a:t>পদ্ধতি</a:t>
            </a:r>
            <a:endParaRPr lang="en-US" sz="48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13" name="Picture 2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1674813"/>
            <a:ext cx="91440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288" y="1795463"/>
            <a:ext cx="549275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91320">
            <a:off x="8528844" y="4491831"/>
            <a:ext cx="64135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663" y="1643063"/>
            <a:ext cx="91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963" y="1695450"/>
            <a:ext cx="9144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3" y="3548063"/>
            <a:ext cx="9144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963" y="2938463"/>
            <a:ext cx="736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363" y="5273675"/>
            <a:ext cx="914400" cy="712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/>
          <p:cNvCxnSpPr/>
          <p:nvPr/>
        </p:nvCxnSpPr>
        <p:spPr bwMode="auto">
          <a:xfrm>
            <a:off x="3154363" y="2047875"/>
            <a:ext cx="685800" cy="9525"/>
          </a:xfrm>
          <a:prstGeom prst="straightConnector1">
            <a:avLst/>
          </a:prstGeom>
          <a:ln w="28575"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 bwMode="auto">
          <a:xfrm flipV="1">
            <a:off x="4754563" y="3471863"/>
            <a:ext cx="1920875" cy="533400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Curved Connector 22"/>
          <p:cNvCxnSpPr/>
          <p:nvPr/>
        </p:nvCxnSpPr>
        <p:spPr bwMode="auto">
          <a:xfrm>
            <a:off x="4754563" y="4305300"/>
            <a:ext cx="2560637" cy="161925"/>
          </a:xfrm>
          <a:prstGeom prst="curvedConnector3">
            <a:avLst>
              <a:gd name="adj1" fmla="val 50000"/>
            </a:avLst>
          </a:prstGeom>
          <a:ln w="28575">
            <a:solidFill>
              <a:srgbClr val="00B05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662363" y="2405063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উপজেলা স্বাস্থ্য কমপ্লেক্স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408363" y="4406900"/>
            <a:ext cx="11890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আউটডোর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6523038" y="3792538"/>
            <a:ext cx="1279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পরামর্শ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6475413" y="2333625"/>
            <a:ext cx="1279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এসএসকে বুথ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2219325" y="2405063"/>
            <a:ext cx="1189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পরিবার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7435850" y="5713413"/>
            <a:ext cx="152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জেলা হাসপাতাল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27525" y="4530725"/>
            <a:ext cx="310832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SutonnyBanglaOMJ"/>
                <a:cs typeface="SutonnyBanglaOMJ"/>
              </a:rPr>
              <a:t> </a:t>
            </a: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৭৮টি রোগের বেনিফিট প্যাকেজ</a:t>
            </a:r>
            <a:endParaRPr lang="en-US" altLang="en-US" sz="1400">
              <a:latin typeface="Nikosh" panose="02000000000000000000" pitchFamily="2" charset="0"/>
              <a:ea typeface="SutonnyBanglaOMJ"/>
              <a:cs typeface="Nikosh" panose="02000000000000000000" pitchFamily="2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400">
              <a:latin typeface="Arial" panose="020B0604020202020204" pitchFamily="34" charset="0"/>
              <a:ea typeface="SutonnyBanglaOMJ"/>
              <a:cs typeface="SutonnyBanglaOMJ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 rot="3195424">
            <a:off x="8518525" y="4348163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Nikosh" panose="02000000000000000000" pitchFamily="2" charset="0"/>
                <a:ea typeface="SutonnyBanglaOMJ"/>
                <a:cs typeface="Nikosh" panose="02000000000000000000" pitchFamily="2" charset="0"/>
              </a:rPr>
              <a:t>পরিবহন খরচ</a:t>
            </a:r>
          </a:p>
        </p:txBody>
      </p:sp>
      <p:sp>
        <p:nvSpPr>
          <p:cNvPr id="23582" name="Slide Number Placeholder 1"/>
          <p:cNvSpPr txBox="1">
            <a:spLocks/>
          </p:cNvSpPr>
          <p:nvPr/>
        </p:nvSpPr>
        <p:spPr bwMode="auto">
          <a:xfrm>
            <a:off x="9864725" y="62468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17D413D9-1C4D-493A-B5CC-C6E72DAD49AE}" type="slidenum">
              <a:rPr lang="en-US" altLang="en-US" sz="1200">
                <a:solidFill>
                  <a:srgbClr val="B5A788"/>
                </a:solidFill>
                <a:latin typeface="Gill Sans MT" panose="020B0502020104020203" pitchFamily="34" charset="0"/>
                <a:ea typeface="SutonnyBanglaOMJ"/>
                <a:cs typeface="SutonnyBanglaOMJ"/>
              </a:rPr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B5A788"/>
              </a:solidFill>
              <a:latin typeface="Gill Sans MT" panose="020B0502020104020203" pitchFamily="34" charset="0"/>
              <a:ea typeface="SutonnyBanglaOMJ"/>
              <a:cs typeface="SutonnyBanglaOMJ"/>
            </a:endParaRP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8394700" y="2398713"/>
            <a:ext cx="873125" cy="175895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D6BEBC-BB96-44F6-8086-A7B907BE9EA2}" type="datetime3">
              <a:rPr lang="en-US" smtClean="0"/>
              <a:pPr>
                <a:defRPr/>
              </a:pPr>
              <a:t>12 April 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  <p:bldP spid="24" grpId="4"/>
      <p:bldP spid="24" grpId="5"/>
      <p:bldP spid="24" grpId="6"/>
      <p:bldP spid="25" grpId="0"/>
      <p:bldP spid="25" grpId="1"/>
      <p:bldP spid="25" grpId="2"/>
      <p:bldP spid="25" grpId="3"/>
      <p:bldP spid="25" grpId="4"/>
      <p:bldP spid="26" grpId="0"/>
      <p:bldP spid="26" grpId="1"/>
      <p:bldP spid="26" grpId="2"/>
      <p:bldP spid="26" grpId="3"/>
      <p:bldP spid="27" grpId="0"/>
      <p:bldP spid="27" grpId="1"/>
      <p:bldP spid="27" grpId="2"/>
      <p:bldP spid="27" grpId="3"/>
      <p:bldP spid="27" grpId="4"/>
      <p:bldP spid="27" grpId="5"/>
      <p:bldP spid="28" grpId="0"/>
      <p:bldP spid="28" grpId="1"/>
      <p:bldP spid="28" grpId="2"/>
      <p:bldP spid="28" grpId="3"/>
      <p:bldP spid="28" grpId="4"/>
      <p:bldP spid="28" grpId="5"/>
      <p:bldP spid="28" grpId="6"/>
      <p:bldP spid="28" grpId="7"/>
      <p:bldP spid="29" grpId="0"/>
      <p:bldP spid="30" grpId="0"/>
      <p:bldP spid="30" grpId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9601200" cy="73501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 err="1">
                <a:solidFill>
                  <a:schemeClr val="accent5">
                    <a:lumMod val="75000"/>
                  </a:schemeClr>
                </a:solidFill>
                <a:latin typeface="Nikosh" pitchFamily="2" charset="0"/>
                <a:cs typeface="Nikosh" pitchFamily="2" charset="0"/>
              </a:rPr>
              <a:t>কর্মসূচির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altLang="en-US" sz="4000" dirty="0" err="1">
                <a:solidFill>
                  <a:schemeClr val="accent5">
                    <a:lumMod val="75000"/>
                  </a:schemeClr>
                </a:solidFill>
                <a:latin typeface="Nikosh" pitchFamily="2" charset="0"/>
                <a:cs typeface="Nikosh" pitchFamily="2" charset="0"/>
              </a:rPr>
              <a:t>ব্যবস্থাপনা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  <a:latin typeface="Calisto MT" pitchFamily="18" charset="0"/>
                <a:cs typeface="Nikosh" pitchFamily="2" charset="0"/>
              </a:rPr>
              <a:t>(Management of the Scheme)</a:t>
            </a:r>
            <a:endParaRPr lang="en-US" altLang="en-US" sz="4000" dirty="0">
              <a:solidFill>
                <a:schemeClr val="accent5">
                  <a:lumMod val="75000"/>
                </a:schemeClr>
              </a:solidFill>
              <a:latin typeface="Calisto MT" pitchFamily="18" charset="0"/>
              <a:cs typeface="Nikosh" pitchFamily="2" charset="0"/>
            </a:endParaRP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11430000" cy="3810000"/>
          </a:xfrm>
        </p:spPr>
        <p:txBody>
          <a:bodyPr rtlCol="0">
            <a:normAutofit/>
          </a:bodyPr>
          <a:lstStyle/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bn-BD" altLang="en-US" dirty="0">
                <a:solidFill>
                  <a:prstClr val="black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আন্তঃমন্ত্রণালয়</a:t>
            </a:r>
            <a:r>
              <a:rPr lang="en-US" altLang="en-US" dirty="0">
                <a:solidFill>
                  <a:prstClr val="black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altLang="en-US" dirty="0">
                <a:solidFill>
                  <a:prstClr val="black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এডভাইজারি কমিটি</a:t>
            </a:r>
            <a:r>
              <a:rPr lang="en-US" altLang="en-US" dirty="0">
                <a:solidFill>
                  <a:prstClr val="black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: </a:t>
            </a:r>
            <a:r>
              <a:rPr lang="en-US" alt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Health Financing National Advisory Committee (HF-NAC) 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ওয়ার্কিং কমিটি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: </a:t>
            </a:r>
            <a:r>
              <a:rPr lang="en-US" alt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Health Financing Technical Working Group (HF-TWG)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সেল </a:t>
            </a:r>
            <a:r>
              <a:rPr lang="as-IN" altLang="en-US" sz="2200" dirty="0">
                <a:solidFill>
                  <a:prstClr val="black"/>
                </a:solidFill>
                <a:latin typeface="Times New Roman" pitchFamily="18" charset="0"/>
                <a:cs typeface="Nikosh" panose="02000000000000000000" pitchFamily="2" charset="0"/>
              </a:rPr>
              <a:t>(</a:t>
            </a:r>
            <a:r>
              <a:rPr lang="en-US" alt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SSK Cell)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স্কীম অপারেটর </a:t>
            </a:r>
            <a:r>
              <a:rPr lang="as-IN" altLang="en-US" sz="2200" dirty="0">
                <a:solidFill>
                  <a:prstClr val="black"/>
                </a:solidFill>
                <a:latin typeface="Times New Roman" pitchFamily="18" charset="0"/>
                <a:cs typeface="Nikosh" panose="02000000000000000000" pitchFamily="2" charset="0"/>
              </a:rPr>
              <a:t>(</a:t>
            </a:r>
            <a:r>
              <a:rPr lang="en-US" alt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Scheme Operator)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উপজেলা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হাসপাতাল</a:t>
            </a: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স্বাস্থ্য সুরক্ষা কমিটি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জেলা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সদর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হাসপাতাল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as-I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 সুরক্ষা কমিটি</a:t>
            </a:r>
            <a:endParaRPr lang="en-US" altLang="en-US" sz="2600" dirty="0">
              <a:solidFill>
                <a:schemeClr val="tx1">
                  <a:lumMod val="75000"/>
                  <a:lumOff val="2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458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73D0F6E-E053-422D-9555-A31B55DA3783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458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77C7975-F2D3-4C8B-A355-B034A3C01D46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4648200" cy="288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949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>
          <a:xfrm>
            <a:off x="1295400" y="533400"/>
            <a:ext cx="9601200" cy="735013"/>
          </a:xfrm>
        </p:spPr>
        <p:txBody>
          <a:bodyPr/>
          <a:lstStyle/>
          <a:p>
            <a:pPr algn="ctr" eaLnBrk="1" hangingPunct="1"/>
            <a:r>
              <a:rPr lang="en-US" altLang="en-US" sz="4000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স্কীম অপারেটর এর ভূমিকা </a:t>
            </a:r>
            <a:endParaRPr lang="en-US" altLang="en-US" sz="4000">
              <a:solidFill>
                <a:srgbClr val="000000"/>
              </a:solidFill>
              <a:latin typeface="Calisto MT" panose="02040603050505030304" pitchFamily="18" charset="0"/>
              <a:cs typeface="Nikosh" panose="02000000000000000000" pitchFamily="2" charset="0"/>
            </a:endParaRP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10058400" cy="3810000"/>
          </a:xfrm>
        </p:spPr>
        <p:txBody>
          <a:bodyPr rtlCol="0">
            <a:normAutofit/>
          </a:bodyPr>
          <a:lstStyle/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সদস্য এবং স্বাস্থ্য কার্ড ব্যবস্থাপনা: স্কীমের অধীন সুবিধাভোগীদের নিবন্ধন করা, স্বাস্থ্য কার্ড ইস্যু ও বিলি করা এবং এসএসকে সদস্যপদ নবায়ন এবং ড্যাটাবেইজ হালনাগাদকরণ;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বুথ পরিচালনা করা: সুবিধাভোগীদের যাচাই ও তাদের হাসপাতাল থেকে সেবা প্রাপ্তিতে সহায়তা প্রদান;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চিকিৎসা প্রদান পরবর্তী পূর্নভরণ দাবী (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Claim) 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প্রস্তুত কাজে 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হ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ল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ে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সহায়তা প্রদান;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তথ্যাদির গুণগতমান ব্যবস্থাপনা (</a:t>
            </a: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Data Quality Management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) 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এবং প্রতারণা চিহ্নিত করার কাজে (</a:t>
            </a: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Fraud detection activities</a:t>
            </a:r>
            <a:r>
              <a:rPr lang="en-US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) </a:t>
            </a: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সেলকে সহায়তা প্রদান;</a:t>
            </a:r>
          </a:p>
          <a:p>
            <a:pPr marL="396875" indent="-3968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Blip>
                <a:blip r:embed="rId2"/>
              </a:buBlip>
              <a:defRPr/>
            </a:pPr>
            <a:r>
              <a:rPr lang="as-IN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কার্যক্রম মনিটরিং এবং এ সংক্রান্ত প্রতিবেদন নিয়মিতভাবে এসএসকে সেলে প্রেরণ। 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76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A8993AB-DB6E-4859-8285-B2EDA0DB9869}" type="datetime1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4/12/2023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76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FD2127F-23A8-47A2-AB38-5C4C6F275BB7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44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2133600" y="2209800"/>
            <a:ext cx="8001000" cy="1938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bn-BD" sz="6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এসএসকে’র </a:t>
            </a:r>
            <a:r>
              <a:rPr lang="en-US" sz="6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বাস্তবায়ন</a:t>
            </a:r>
            <a:r>
              <a:rPr lang="en-US" sz="6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, </a:t>
            </a:r>
            <a:r>
              <a:rPr lang="bn-BD" sz="6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Nikosh" panose="02000000000000000000" pitchFamily="2" charset="0"/>
                <a:ea typeface="SutonnyBanglaOMJ" pitchFamily="2" charset="0"/>
                <a:cs typeface="Nikosh" panose="02000000000000000000" pitchFamily="2" charset="0"/>
              </a:rPr>
              <a:t>অগ্রগতি ও প্রভাব</a:t>
            </a:r>
          </a:p>
        </p:txBody>
      </p:sp>
      <p:sp>
        <p:nvSpPr>
          <p:cNvPr id="2867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DA31266-B5E3-4B91-935E-9FD7BD1B83C0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867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10E42EF-AB25-490C-9AD1-B758EA45B771}" type="slidenum">
              <a:rPr lang="en-US" altLang="en-US" sz="1400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60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>
          <a:xfrm>
            <a:off x="547688" y="127000"/>
            <a:ext cx="10958512" cy="1016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Aft>
                <a:spcPts val="450"/>
              </a:spcAft>
            </a:pPr>
            <a:r>
              <a:rPr lang="as-IN" altLang="en-US" sz="28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হাসপাতালে অন্ত</a:t>
            </a:r>
            <a:r>
              <a:rPr lang="en-US" altLang="en-US" sz="28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ঃ</a:t>
            </a:r>
            <a:r>
              <a:rPr lang="as-IN" altLang="en-US" sz="28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বিভাগীয় সেবাগ্রহণের ক্ষেত্রে গরীব জনসাধারণের জন্য বিদ্যমান আর্থিক প্রতিবন্ধকতাসমূহ দূর করা</a:t>
            </a:r>
            <a:endParaRPr lang="en-US" altLang="en-US" sz="2800">
              <a:solidFill>
                <a:srgbClr val="7030A0"/>
              </a:solidFill>
              <a:latin typeface="Nikosh" panose="02000000000000000000" pitchFamily="2" charset="0"/>
              <a:ea typeface="NikoshBAN" pitchFamily="2" charset="0"/>
              <a:cs typeface="Nikosh" panose="02000000000000000000" pitchFamily="2" charset="0"/>
            </a:endParaRPr>
          </a:p>
        </p:txBody>
      </p:sp>
      <p:sp>
        <p:nvSpPr>
          <p:cNvPr id="30723" name="Date Placeholder 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6E14D8A-6927-4BD1-A8F9-8D969418C76E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072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83AAC25-0F19-4657-96EB-660C7E64C316}" type="slidenum">
              <a:rPr lang="en-US" altLang="en-US" sz="1000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990600"/>
          <a:ext cx="10668000" cy="508511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6598">
                <a:tc gridSpan="6">
                  <a:txBody>
                    <a:bodyPr/>
                    <a:lstStyle/>
                    <a:p>
                      <a:pPr marL="685800" marR="0" lvl="0" indent="-68580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তালিকাভুক্ত পরিবার ও অন্ত</a:t>
                      </a:r>
                      <a:r>
                        <a:rPr lang="en-US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ঃ</a:t>
                      </a:r>
                      <a:r>
                        <a:rPr lang="as-IN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বিভাগীয় সেবা গ্রহণকারীর সংখ্যা</a:t>
                      </a:r>
                      <a:endParaRPr lang="en-US" sz="2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78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63500" marR="0" indent="-266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990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kern="1200" dirty="0" err="1">
                          <a:solidFill>
                            <a:schemeClr val="tx1"/>
                          </a:solidFill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অর্থবছর</a:t>
                      </a:r>
                      <a:endParaRPr lang="en-US" sz="2300" b="0" kern="1200" dirty="0">
                        <a:solidFill>
                          <a:schemeClr val="tx1"/>
                        </a:solidFill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তালিকাভুক্ত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পরিবারের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(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ক্রমপুঞ্জিভুত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3500" marR="0" indent="-266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এসএসকে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বুথে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আগত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প্রার্থীর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অন্তঃবিভাগীয়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গ্রহণকারীর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আগত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প্রার্থী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ও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অন্তঃবিভাগীয়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গ্রহণকারীর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হার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(%)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34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২০১৬-২০১৭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২৫,৭০৯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৬,০৭২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৪৮৫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৮.০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34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২০১৭-২০১৮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৭৩,৬৪৬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১৬,৪৩৯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২,২৭৬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১৩.৮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34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২০১৮-২০১৯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৮১,৫২৮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৩২,৭৫১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৬,৪৬৮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১৯.৭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34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২০১৯-২০২০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৮১,৬১৯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,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৯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৫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৬,৩৫১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২.৫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২০২০-২০২১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300" b="1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৮১,৬১৯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০,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,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৯.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3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৩১ </a:t>
                      </a:r>
                      <a:r>
                        <a:rPr lang="en-US" sz="2300" b="0" dirty="0" err="1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ডিসেম্বর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 ২০২২</a:t>
                      </a:r>
                      <a:endParaRPr lang="en-US" sz="1800" b="0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300" b="1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১৫৮,৬৭৬</a:t>
                      </a:r>
                      <a:endParaRPr lang="as-IN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৫৩,২৫৭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১৯,৩১৬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৩৬.২৭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34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মোট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s-IN" sz="23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১৪৪,১০২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৪১,০২৪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৮.৪৭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155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>
          <a:xfrm>
            <a:off x="547688" y="127000"/>
            <a:ext cx="10958512" cy="1016000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100000"/>
              </a:lnSpc>
              <a:spcAft>
                <a:spcPts val="450"/>
              </a:spcAft>
            </a:pPr>
            <a:r>
              <a:rPr lang="as-IN" altLang="en-US" sz="32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হাসপাতালে অন্ত</a:t>
            </a:r>
            <a:r>
              <a:rPr lang="en-US" altLang="en-US" sz="32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ঃ</a:t>
            </a:r>
            <a:r>
              <a:rPr lang="as-IN" altLang="en-US" sz="32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বিভাগীয় সেবাগ্রহণের ক্ষেত্রে গরীব জনসাধারণের জন্য বিদ্যমান আর্থিক প্রতিবন্ধকতাসমূহ দূর করা</a:t>
            </a:r>
            <a:endParaRPr lang="en-US" altLang="en-US" sz="3200" b="1">
              <a:solidFill>
                <a:srgbClr val="7030A0"/>
              </a:solidFill>
              <a:latin typeface="Nikosh" panose="02000000000000000000" pitchFamily="2" charset="0"/>
              <a:ea typeface="NikoshBAN" pitchFamily="2" charset="0"/>
              <a:cs typeface="Nikosh" panose="02000000000000000000" pitchFamily="2" charset="0"/>
            </a:endParaRPr>
          </a:p>
        </p:txBody>
      </p:sp>
      <p:sp>
        <p:nvSpPr>
          <p:cNvPr id="32771" name="Date Placeholder 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42099B9-EB87-4F4F-953C-E93B1575617B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277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0BCA4A2-8E03-4FC8-9E6D-9F8CBC383507}" type="slidenum">
              <a:rPr lang="en-US" altLang="en-US" sz="1000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143000"/>
          <a:ext cx="10668000" cy="530542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7295">
                <a:tc gridSpan="6">
                  <a:txBody>
                    <a:bodyPr/>
                    <a:lstStyle/>
                    <a:p>
                      <a:pPr marL="685800" marR="0" lvl="0" indent="-68580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তালিকাভুক্ত পরিবার ও অন্ত</a:t>
                      </a:r>
                      <a:r>
                        <a:rPr lang="en-US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ঃ</a:t>
                      </a:r>
                      <a:r>
                        <a:rPr lang="as-IN" sz="2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বিভাগীয় সেবা গ্রহণকারীর সংখ্যা</a:t>
                      </a:r>
                      <a:endParaRPr lang="en-US" sz="28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78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63500" marR="0" indent="-266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204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kern="1200" dirty="0" err="1">
                          <a:solidFill>
                            <a:schemeClr val="tx1"/>
                          </a:solidFill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অর্থবছর</a:t>
                      </a:r>
                      <a:endParaRPr lang="en-US" sz="2300" b="0" kern="1200" dirty="0">
                        <a:solidFill>
                          <a:schemeClr val="tx1"/>
                        </a:solidFill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তালিকাভুক্ত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পরিবারের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(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ক্রমপুঞ্জিভুত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3500" marR="0" indent="-266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এসএসকে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বুথে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আগত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প্রার্থীর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অন্তঃবিভাগীয়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গ্রহণকারীর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সংখ্যা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আগত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প্রার্থী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ও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অন্তঃবিভাগীয়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সেবা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গ্রহণকারীর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হার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 (%)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722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২০১৬-২০১৭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২৫,৭০৯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৬,০৭২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৪৮৫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৮.০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722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২০১৭-২০১৮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৭৩,৬৪৬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১৬,৪৩৯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২,২৭৬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১৩.৮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722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২০১৮-২০১৯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৮১,৫২৮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৩২,৭৫১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৬,৪৬৮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১৯.৭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722">
                <a:tc gridSpan="2">
                  <a:txBody>
                    <a:bodyPr/>
                    <a:lstStyle/>
                    <a:p>
                      <a:pPr marL="685800" marR="0" indent="-6858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২০১৯-২০২০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৮১,৬১৯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,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৯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৫</a:t>
                      </a: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৬,৩৫১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</a:t>
                      </a:r>
                      <a:r>
                        <a:rPr lang="en-US" sz="23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২.৫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72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২০২০-২০২১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300" b="1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৮১,৬১৯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০,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,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৯.</a:t>
                      </a: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863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২০২১-২০২২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(৩০ </a:t>
                      </a:r>
                      <a:r>
                        <a:rPr lang="en-US" sz="1800" b="0" dirty="0" err="1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এপ্রিল</a:t>
                      </a:r>
                      <a:r>
                        <a:rPr lang="en-US" sz="18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পর্যন্ত</a:t>
                      </a:r>
                      <a:r>
                        <a:rPr lang="en-US" sz="1800" b="0" dirty="0">
                          <a:effectLst/>
                          <a:latin typeface="Nikosh" panose="02000000000000000000" pitchFamily="2" charset="0"/>
                          <a:ea typeface="Calibri"/>
                          <a:cs typeface="Nikosh" panose="02000000000000000000" pitchFamily="2" charset="0"/>
                        </a:rPr>
                        <a:t>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300" b="1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১০৪,১১৩</a:t>
                      </a:r>
                      <a:endParaRPr lang="as-IN" sz="2300" b="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২২,৩২১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৯,০৯৭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৪০.৮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80"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মোট</a:t>
                      </a:r>
                      <a:endParaRPr lang="en-US" sz="2300" b="0" dirty="0">
                        <a:effectLst/>
                        <a:latin typeface="Nikosh" panose="02000000000000000000" pitchFamily="2" charset="0"/>
                        <a:ea typeface="Calibri"/>
                        <a:cs typeface="Nikosh" panose="02000000000000000000" pitchFamily="2" charset="0"/>
                      </a:endParaRPr>
                    </a:p>
                  </a:txBody>
                  <a:tcPr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s-IN" sz="23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১১৩,১৬৬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৩০,৮০৫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s-IN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</a:t>
                      </a:r>
                      <a:r>
                        <a:rPr lang="en-US" sz="23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৭.২</a:t>
                      </a:r>
                      <a:endParaRPr lang="en-US" sz="23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99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11049000" cy="609600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spcAft>
                <a:spcPts val="450"/>
              </a:spcAft>
            </a:pPr>
            <a:r>
              <a:rPr lang="en-US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 </a:t>
            </a:r>
            <a:r>
              <a:rPr lang="as-IN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হাসপাতা</a:t>
            </a:r>
            <a:r>
              <a:rPr lang="en-US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লভিত্তিক</a:t>
            </a:r>
            <a:r>
              <a:rPr lang="as-IN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 অন্ত</a:t>
            </a:r>
            <a:r>
              <a:rPr lang="en-US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ঃ</a:t>
            </a:r>
            <a:r>
              <a:rPr lang="as-IN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বিভাগীয় সেবাগ্রহণের</a:t>
            </a:r>
            <a:r>
              <a:rPr lang="en-US" altLang="en-US" sz="24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 হার</a:t>
            </a:r>
          </a:p>
        </p:txBody>
      </p:sp>
      <p:sp>
        <p:nvSpPr>
          <p:cNvPr id="34819" name="Date Placeholder 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C812B41F-605C-4E73-9400-E0AEB23D8CA5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482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416A9B7-6581-43A9-8510-DBBA7B428DCA}" type="slidenum">
              <a:rPr lang="en-US" altLang="en-US" sz="1600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4821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452563"/>
          <a:ext cx="10434638" cy="450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Chart" r:id="rId4" imgW="10437257" imgH="4505334" progId="Excel.Chart.8">
                  <p:embed/>
                </p:oleObj>
              </mc:Choice>
              <mc:Fallback>
                <p:oleObj name="Chart" r:id="rId4" imgW="10437257" imgH="4505334" progId="Excel.Chart.8">
                  <p:embed/>
                  <p:pic>
                    <p:nvPicPr>
                      <p:cNvPr id="34821" name="Content Placeholder 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452563"/>
                        <a:ext cx="10434638" cy="450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901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11049000" cy="914400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spcAft>
                <a:spcPts val="450"/>
              </a:spcAft>
            </a:pPr>
            <a:r>
              <a:rPr lang="en-US" altLang="en-US" sz="3600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 সুবিধাভোগীদের উপজেলাভিত্তিক লিঙ্গ বিভাগজন</a:t>
            </a:r>
          </a:p>
        </p:txBody>
      </p:sp>
      <p:sp>
        <p:nvSpPr>
          <p:cNvPr id="36867" name="Date Placeholder 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08DE5D2F-6A2C-4459-BF5B-75246649541A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686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E9D801D-3D88-40B5-80C7-2B7368600FDD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6869" name="Content Placeholder 7"/>
          <p:cNvGraphicFramePr>
            <a:graphicFrameLocks noGrp="1"/>
          </p:cNvGraphicFramePr>
          <p:nvPr>
            <p:ph idx="1"/>
          </p:nvPr>
        </p:nvGraphicFramePr>
        <p:xfrm>
          <a:off x="817563" y="1320800"/>
          <a:ext cx="10617200" cy="492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Chart" r:id="rId4" imgW="10620152" imgH="4938188" progId="Excel.Chart.8">
                  <p:embed/>
                </p:oleObj>
              </mc:Choice>
              <mc:Fallback>
                <p:oleObj name="Chart" r:id="rId4" imgW="10620152" imgH="4938188" progId="Excel.Chart.8">
                  <p:embed/>
                  <p:pic>
                    <p:nvPicPr>
                      <p:cNvPr id="36869" name="Content Placeholder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1320800"/>
                        <a:ext cx="10617200" cy="492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1733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11049000" cy="1112838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spcAft>
                <a:spcPts val="450"/>
              </a:spcAft>
            </a:pPr>
            <a:r>
              <a:rPr lang="en-US" altLang="en-US" sz="32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 এসএসকে সুবিধাভোগীদের ক্ষেত্রে নারীদের প্রাধান্য: ২০১৬-১৭ হতে ২০২০-২১</a:t>
            </a:r>
          </a:p>
        </p:txBody>
      </p:sp>
      <p:sp>
        <p:nvSpPr>
          <p:cNvPr id="38915" name="Date Placeholder 4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0A49D7F6-8E4F-4A9A-A5F4-0ACBADFA769A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891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54A9CD0-A0CE-41C0-9694-9D9500FAB9C5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8917" name="Chart 7"/>
          <p:cNvGraphicFramePr>
            <a:graphicFrameLocks/>
          </p:cNvGraphicFramePr>
          <p:nvPr/>
        </p:nvGraphicFramePr>
        <p:xfrm>
          <a:off x="1168400" y="2006600"/>
          <a:ext cx="9855200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Chart" r:id="rId4" imgW="9864183" imgH="3913971" progId="Excel.Chart.8">
                  <p:embed/>
                </p:oleObj>
              </mc:Choice>
              <mc:Fallback>
                <p:oleObj name="Chart" r:id="rId4" imgW="9864183" imgH="3913971" progId="Excel.Chart.8">
                  <p:embed/>
                  <p:pic>
                    <p:nvPicPr>
                      <p:cNvPr id="38917" name="Char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2006600"/>
                        <a:ext cx="9855200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7250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1441451" y="1295400"/>
          <a:ext cx="9499600" cy="4264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0963" name="Group 5"/>
          <p:cNvGrpSpPr>
            <a:grpSpLocks/>
          </p:cNvGrpSpPr>
          <p:nvPr/>
        </p:nvGrpSpPr>
        <p:grpSpPr bwMode="auto">
          <a:xfrm>
            <a:off x="3925888" y="2144713"/>
            <a:ext cx="5961062" cy="293687"/>
            <a:chOff x="264894" y="0"/>
            <a:chExt cx="3649270" cy="265991"/>
          </a:xfrm>
        </p:grpSpPr>
        <p:sp>
          <p:nvSpPr>
            <p:cNvPr id="6" name="TextBox 5"/>
            <p:cNvSpPr txBox="1"/>
            <p:nvPr/>
          </p:nvSpPr>
          <p:spPr>
            <a:xfrm>
              <a:off x="264894" y="44571"/>
              <a:ext cx="811489" cy="214231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600" b="1" dirty="0">
                  <a:solidFill>
                    <a:prstClr val="black"/>
                  </a:solidFill>
                </a:rPr>
                <a:t>n = 372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1714" y="18691"/>
              <a:ext cx="1045703" cy="247300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600" b="1" dirty="0">
                  <a:solidFill>
                    <a:prstClr val="black"/>
                  </a:solidFill>
                </a:rPr>
                <a:t>n = 798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02575" y="0"/>
              <a:ext cx="911589" cy="224295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600" b="1" dirty="0">
                  <a:solidFill>
                    <a:prstClr val="black"/>
                  </a:solidFill>
                </a:rPr>
                <a:t>n = 1,145</a:t>
              </a:r>
            </a:p>
          </p:txBody>
        </p:sp>
      </p:grpSp>
      <p:sp>
        <p:nvSpPr>
          <p:cNvPr id="40964" name="Title 1"/>
          <p:cNvSpPr txBox="1">
            <a:spLocks noChangeArrowheads="1"/>
          </p:cNvSpPr>
          <p:nvPr/>
        </p:nvSpPr>
        <p:spPr bwMode="auto">
          <a:xfrm>
            <a:off x="571500" y="342900"/>
            <a:ext cx="11049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FontTx/>
              <a:buNone/>
            </a:pPr>
            <a:r>
              <a:rPr lang="as-IN" altLang="en-US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দরিদ্র জনগোষ্ঠীর স্বাস্থ্য সেবা প্রাপ্তির ক্ষেত্রে নিজস্ব ব্যয় </a:t>
            </a:r>
            <a:r>
              <a:rPr lang="as-IN" altLang="en-US" sz="20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(</a:t>
            </a:r>
            <a:r>
              <a:rPr lang="en-US" altLang="en-US" sz="2000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OOP) </a:t>
            </a:r>
            <a:r>
              <a:rPr lang="as-IN" altLang="en-US" b="1">
                <a:solidFill>
                  <a:srgbClr val="7030A0"/>
                </a:solidFill>
                <a:latin typeface="Nikosh" panose="02000000000000000000" pitchFamily="2" charset="0"/>
                <a:ea typeface="NikoshBAN" pitchFamily="2" charset="0"/>
                <a:cs typeface="Nikosh" panose="02000000000000000000" pitchFamily="2" charset="0"/>
              </a:rPr>
              <a:t>হ্রাসকরণ</a:t>
            </a:r>
          </a:p>
        </p:txBody>
      </p:sp>
    </p:spTree>
    <p:extLst>
      <p:ext uri="{BB962C8B-B14F-4D97-AF65-F5344CB8AC3E}">
        <p14:creationId xmlns:p14="http://schemas.microsoft.com/office/powerpoint/2010/main" val="3024963845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0972800" cy="914400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এসএসকে’র সামগ্রীক প্রভাব: বেড ওকুপেন</a:t>
            </a:r>
            <a:r>
              <a:rPr lang="as-IN" altLang="en-US">
                <a:latin typeface="Nikosh" panose="02000000000000000000" pitchFamily="2" charset="0"/>
                <a:cs typeface="Nikosh" panose="02000000000000000000" pitchFamily="2" charset="0"/>
              </a:rPr>
              <a:t>্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স</a:t>
            </a:r>
            <a:r>
              <a:rPr lang="as-IN" altLang="en-US">
                <a:latin typeface="Nikosh" panose="02000000000000000000" pitchFamily="2" charset="0"/>
                <a:cs typeface="Nikosh" panose="02000000000000000000" pitchFamily="2" charset="0"/>
              </a:rPr>
              <a:t>ি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র </a:t>
            </a:r>
            <a:r>
              <a:rPr lang="as-IN" altLang="en-US">
                <a:latin typeface="Nikosh" panose="02000000000000000000" pitchFamily="2" charset="0"/>
                <a:cs typeface="Nikosh" panose="02000000000000000000" pitchFamily="2" charset="0"/>
              </a:rPr>
              <a:t>হ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া</a:t>
            </a:r>
            <a:r>
              <a:rPr lang="as-IN" altLang="en-US">
                <a:latin typeface="Nikosh" panose="02000000000000000000" pitchFamily="2" charset="0"/>
                <a:cs typeface="Nikosh" panose="02000000000000000000" pitchFamily="2" charset="0"/>
              </a:rPr>
              <a:t>র</a:t>
            </a:r>
            <a:endParaRPr lang="en-US" altLang="en-US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14400" y="1536700"/>
          <a:ext cx="10210800" cy="3151187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8493">
                <a:tc>
                  <a:txBody>
                    <a:bodyPr/>
                    <a:lstStyle/>
                    <a:p>
                      <a:pPr algn="l" fontAlgn="ctr"/>
                      <a:r>
                        <a:rPr lang="as-IN" sz="2800" b="1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উপজেলা স্বাস্থ্য কমপ্লেক্স </a:t>
                      </a:r>
                      <a:r>
                        <a:rPr lang="as-IN" sz="2400" b="1" u="none" strike="noStrike" dirty="0">
                          <a:effectLst/>
                          <a:latin typeface="Times New Roman" pitchFamily="18" charset="0"/>
                          <a:cs typeface="Nikosh" panose="02000000000000000000" pitchFamily="2" charset="0"/>
                        </a:rPr>
                        <a:t>(</a:t>
                      </a:r>
                      <a:r>
                        <a:rPr lang="en-US" sz="2400" b="1" u="none" strike="noStrike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UHC)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633" marR="12633" marT="947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২০১৭</a:t>
                      </a:r>
                      <a:endParaRPr lang="en-US" sz="28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২০১৮</a:t>
                      </a:r>
                      <a:endParaRPr lang="en-US" sz="28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২০১৯</a:t>
                      </a:r>
                      <a:endParaRPr lang="en-US" sz="28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২০২০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8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এসএসকে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পাইলটভুক্ত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৩টি </a:t>
                      </a:r>
                      <a:r>
                        <a:rPr lang="en-US" sz="24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UHC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এর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গড়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বেড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ওকুপেন্সি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endParaRPr lang="en-US" sz="28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৮৮.৮</a:t>
                      </a:r>
                      <a:endParaRPr lang="en-US" sz="28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১০০.৫</a:t>
                      </a:r>
                      <a:endParaRPr lang="en-US" sz="28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১১১.৯</a:t>
                      </a:r>
                      <a:endParaRPr lang="en-US" sz="28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৬৬.৫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8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অন্যান্য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৭টি </a:t>
                      </a:r>
                      <a:r>
                        <a:rPr lang="en-US" sz="24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UHC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এর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গড়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বেড</a:t>
                      </a:r>
                      <a:r>
                        <a:rPr lang="en-US" sz="2800" b="1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en-US" sz="2800" b="1" dirty="0" err="1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ওকুপেন্সি</a:t>
                      </a:r>
                      <a:endParaRPr lang="en-US" sz="2800" b="1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৬৪.৮</a:t>
                      </a:r>
                      <a:endParaRPr lang="en-US" sz="280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৬৩.৪</a:t>
                      </a:r>
                      <a:endParaRPr lang="en-US" sz="28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৭৩.৬</a:t>
                      </a:r>
                      <a:endParaRPr lang="en-US" sz="2800" dirty="0">
                        <a:effectLst/>
                        <a:latin typeface="Nikosh" panose="02000000000000000000" pitchFamily="2" charset="0"/>
                        <a:ea typeface="Calibri" panose="020F0502020204030204" pitchFamily="34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Nikosh" panose="02000000000000000000" pitchFamily="2" charset="0"/>
                          <a:ea typeface="Calibri" panose="020F0502020204030204" pitchFamily="34" charset="0"/>
                          <a:cs typeface="Nikosh" panose="02000000000000000000" pitchFamily="2" charset="0"/>
                        </a:rPr>
                        <a:t>৫৬.৮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013" name="Date Placeholder 3"/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60E7FD7-B9CC-4EED-9CEB-3811A63B4E30}" type="datetime3">
              <a:rPr lang="en-US" altLang="en-US" sz="1000" smtClean="0">
                <a:latin typeface="Arial" panose="020B06040202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 April 2023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4201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317EFC0-C579-491B-AA31-1DDEA2ABF32A}" type="slidenum"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2015" name="Title 1"/>
          <p:cNvSpPr txBox="1">
            <a:spLocks noChangeArrowheads="1"/>
          </p:cNvSpPr>
          <p:nvPr/>
        </p:nvSpPr>
        <p:spPr bwMode="auto">
          <a:xfrm>
            <a:off x="914400" y="4953000"/>
            <a:ext cx="10607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Nikosh" panose="02000000000000000000" pitchFamily="2" charset="0"/>
                <a:cs typeface="Nikosh" panose="02000000000000000000" pitchFamily="2" charset="0"/>
              </a:rPr>
              <a:t>২০১৯ সালে অন্যান্য ৭টি উপজেলা হাসপাতালের তুলনায় এসএসকে পাইলটভুক্ত ৩টি হাসপাতালে বেড অকুপেন্সির হার ৩৮.৮ ভাগ বেশী ছিল।  কোভিড মহামারিকালীন ২০২০ সালে বেড অকুপেন্সি হ্রাস পেলেও এসএসকে পাইলটভুক্ত হাসপাতালে এ হার ১০ ভাগ বেশী।</a:t>
            </a:r>
          </a:p>
        </p:txBody>
      </p:sp>
    </p:spTree>
    <p:extLst>
      <p:ext uri="{BB962C8B-B14F-4D97-AF65-F5344CB8AC3E}">
        <p14:creationId xmlns:p14="http://schemas.microsoft.com/office/powerpoint/2010/main" val="375137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68" y="402767"/>
            <a:ext cx="5565724" cy="3130720"/>
          </a:xfrm>
        </p:spPr>
      </p:pic>
      <p:sp>
        <p:nvSpPr>
          <p:cNvPr id="5" name="TextBox 4"/>
          <p:cNvSpPr txBox="1"/>
          <p:nvPr/>
        </p:nvSpPr>
        <p:spPr>
          <a:xfrm>
            <a:off x="2720115" y="3603517"/>
            <a:ext cx="2193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দরিদ্র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পরিবার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রেজিস্ট্রেশন</a:t>
            </a:r>
            <a:endParaRPr lang="en-US" sz="2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6" name="Picture 2" descr="Diagram&#10;&#10;Description automatically generated with low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596" y="4283985"/>
            <a:ext cx="1759789" cy="16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26490" y="5988583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: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সর্বজনীন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সুরক্ষা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বাস্তবায়নের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প্রথম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ধাপ</a:t>
            </a:r>
            <a:endParaRPr lang="en-US" sz="2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308" y="597491"/>
            <a:ext cx="3786649" cy="50488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2632" y="5788528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কার্ডহাতে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সুবিধাভোগী</a:t>
            </a:r>
            <a:endParaRPr lang="en-US" sz="2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7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art Placeholder 3" descr="DSC03598.JPG"/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-154484" y="984119"/>
            <a:ext cx="5713045" cy="4865337"/>
          </a:xfrm>
          <a:prstGeom prst="rect">
            <a:avLst/>
          </a:prstGeom>
        </p:spPr>
      </p:pic>
      <p:pic>
        <p:nvPicPr>
          <p:cNvPr id="7" name="Picture 6" descr="DSC03589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0554" y="1268046"/>
            <a:ext cx="6606540" cy="42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39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4" descr="http://app.dghs.gov.bd/hrm/uploads/kalihati@uhfpo.dghs.gov.bd.jp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459" name="Picture 5" descr="C:\Users\User\Documents\kalihati@uhfpo.dghs.gov.b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037" y="644236"/>
            <a:ext cx="5432661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316" y="651164"/>
            <a:ext cx="5746175" cy="47936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4775" y="5771536"/>
            <a:ext cx="324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চালুর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পূর্বের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ছবি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3210" y="5771536"/>
            <a:ext cx="324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চালুর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পরবর্তী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800" b="1" dirty="0" err="1">
                <a:latin typeface="Nikosh" panose="02000000000000000000" pitchFamily="2" charset="0"/>
                <a:cs typeface="Nikosh" panose="02000000000000000000" pitchFamily="2" charset="0"/>
              </a:rPr>
              <a:t>ছবি</a:t>
            </a:r>
            <a:r>
              <a:rPr lang="en-US" sz="2800" b="1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5101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" y="4722643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চিকিৎসা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নিয়ে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চিন্তার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শেষ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সুরক্ষায়</a:t>
            </a:r>
            <a:r>
              <a:rPr lang="en-US" sz="4000" dirty="0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বাংলাদেশ</a:t>
            </a:r>
            <a:endParaRPr lang="en-US" sz="4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6" name="Picture 5" descr="C:\Users\ASUS\Downloads\Edit Pic (1)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216" y="913877"/>
            <a:ext cx="6107566" cy="35329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975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  <a:fontScheme name="Arial">
    <a:maj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</TotalTime>
  <Words>1436</Words>
  <Application>Microsoft Office PowerPoint</Application>
  <PresentationFormat>Widescreen</PresentationFormat>
  <Paragraphs>275</Paragraphs>
  <Slides>29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২০২০ সালে স্বাস্থ্য খাতে অর্থায়নের উৎসসমূহ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কর্মসূচির ব্যবস্থাপনা (Management of the Scheme)</vt:lpstr>
      <vt:lpstr>স্কীম অপারেটর এর ভূমিকা </vt:lpstr>
      <vt:lpstr>PowerPoint Presentation</vt:lpstr>
      <vt:lpstr>হাসপাতালে অন্তঃবিভাগীয় সেবাগ্রহণের ক্ষেত্রে গরীব জনসাধারণের জন্য বিদ্যমান আর্থিক প্রতিবন্ধকতাসমূহ দূর করা</vt:lpstr>
      <vt:lpstr>হাসপাতালে অন্তঃবিভাগীয় সেবাগ্রহণের ক্ষেত্রে গরীব জনসাধারণের জন্য বিদ্যমান আর্থিক প্রতিবন্ধকতাসমূহ দূর করা</vt:lpstr>
      <vt:lpstr> হাসপাতালভিত্তিক অন্তঃবিভাগীয় সেবাগ্রহণের হার</vt:lpstr>
      <vt:lpstr> সুবিধাভোগীদের উপজেলাভিত্তিক লিঙ্গ বিভাগজন</vt:lpstr>
      <vt:lpstr> এসএসকে সুবিধাভোগীদের ক্ষেত্রে নারীদের প্রাধান্য: ২০১৬-১৭ হতে ২০২০-২১</vt:lpstr>
      <vt:lpstr>PowerPoint Presentation</vt:lpstr>
      <vt:lpstr>এসএসকে’র সামগ্রীক প্রভাব: বেড ওকুপেন্সির হার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Azmal Kabir</dc:creator>
  <cp:lastModifiedBy>Unknown User</cp:lastModifiedBy>
  <cp:revision>81</cp:revision>
  <cp:lastPrinted>2023-04-03T09:19:33Z</cp:lastPrinted>
  <dcterms:created xsi:type="dcterms:W3CDTF">2023-04-02T06:16:44Z</dcterms:created>
  <dcterms:modified xsi:type="dcterms:W3CDTF">2023-04-12T00:40:06Z</dcterms:modified>
</cp:coreProperties>
</file>