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51"/>
  </p:notesMasterIdLst>
  <p:sldIdLst>
    <p:sldId id="385" r:id="rId2"/>
    <p:sldId id="527" r:id="rId3"/>
    <p:sldId id="512" r:id="rId4"/>
    <p:sldId id="526" r:id="rId5"/>
    <p:sldId id="384" r:id="rId6"/>
    <p:sldId id="518" r:id="rId7"/>
    <p:sldId id="531" r:id="rId8"/>
    <p:sldId id="520" r:id="rId9"/>
    <p:sldId id="361" r:id="rId10"/>
    <p:sldId id="378" r:id="rId11"/>
    <p:sldId id="452" r:id="rId12"/>
    <p:sldId id="515" r:id="rId13"/>
    <p:sldId id="516" r:id="rId14"/>
    <p:sldId id="447" r:id="rId15"/>
    <p:sldId id="469" r:id="rId16"/>
    <p:sldId id="513" r:id="rId17"/>
    <p:sldId id="390" r:id="rId18"/>
    <p:sldId id="434" r:id="rId19"/>
    <p:sldId id="451" r:id="rId20"/>
    <p:sldId id="391" r:id="rId21"/>
    <p:sldId id="510" r:id="rId22"/>
    <p:sldId id="376" r:id="rId23"/>
    <p:sldId id="477" r:id="rId24"/>
    <p:sldId id="480" r:id="rId25"/>
    <p:sldId id="481" r:id="rId26"/>
    <p:sldId id="484" r:id="rId27"/>
    <p:sldId id="351" r:id="rId28"/>
    <p:sldId id="488" r:id="rId29"/>
    <p:sldId id="490" r:id="rId30"/>
    <p:sldId id="492" r:id="rId31"/>
    <p:sldId id="323" r:id="rId32"/>
    <p:sldId id="495" r:id="rId33"/>
    <p:sldId id="496" r:id="rId34"/>
    <p:sldId id="372" r:id="rId35"/>
    <p:sldId id="514" r:id="rId36"/>
    <p:sldId id="412" r:id="rId37"/>
    <p:sldId id="293" r:id="rId38"/>
    <p:sldId id="500" r:id="rId39"/>
    <p:sldId id="487" r:id="rId40"/>
    <p:sldId id="507" r:id="rId41"/>
    <p:sldId id="509" r:id="rId42"/>
    <p:sldId id="522" r:id="rId43"/>
    <p:sldId id="523" r:id="rId44"/>
    <p:sldId id="524" r:id="rId45"/>
    <p:sldId id="530" r:id="rId46"/>
    <p:sldId id="528" r:id="rId47"/>
    <p:sldId id="525" r:id="rId48"/>
    <p:sldId id="262" r:id="rId49"/>
    <p:sldId id="511" r:id="rId50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1459" autoAdjust="0"/>
  </p:normalViewPr>
  <p:slideViewPr>
    <p:cSldViewPr>
      <p:cViewPr varScale="1">
        <p:scale>
          <a:sx n="62" d="100"/>
          <a:sy n="62" d="100"/>
        </p:scale>
        <p:origin x="179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34.jpeg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36.jpeg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1F-44CA-84E8-7BF74E19B8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8364800"/>
        <c:axId val="288370688"/>
      </c:barChart>
      <c:catAx>
        <c:axId val="288364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288370688"/>
        <c:crosses val="autoZero"/>
        <c:auto val="1"/>
        <c:lblAlgn val="ctr"/>
        <c:lblOffset val="100"/>
        <c:noMultiLvlLbl val="0"/>
      </c:catAx>
      <c:valAx>
        <c:axId val="28837068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883648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A4-4B43-9B3D-389D9FD40D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A4-4B43-9B3D-389D9FD40DB4}"/>
                </c:ext>
              </c:extLst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5A4-4B43-9B3D-389D9FD40DB4}"/>
                </c:ext>
              </c:extLst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A4-4B43-9B3D-389D9FD40DB4}"/>
                </c:ext>
              </c:extLst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5A4-4B43-9B3D-389D9FD40D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A4-4B43-9B3D-389D9FD40D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40000"/>
        <c:axId val="14270464"/>
      </c:barChart>
      <c:catAx>
        <c:axId val="1424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270464"/>
        <c:crosses val="autoZero"/>
        <c:auto val="1"/>
        <c:lblAlgn val="ctr"/>
        <c:lblOffset val="100"/>
        <c:noMultiLvlLbl val="0"/>
      </c:catAx>
      <c:valAx>
        <c:axId val="142704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42400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080-4FAD-9110-D7C256A3E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80-4FAD-9110-D7C256A3E8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080-4FAD-9110-D7C256A3E8CF}"/>
                </c:ext>
              </c:extLst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80-4FAD-9110-D7C256A3E8CF}"/>
                </c:ext>
              </c:extLst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080-4FAD-9110-D7C256A3E8CF}"/>
                </c:ext>
              </c:extLst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80-4FAD-9110-D7C256A3E8CF}"/>
                </c:ext>
              </c:extLst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080-4FAD-9110-D7C256A3E8CF}"/>
                </c:ext>
              </c:extLst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080-4FAD-9110-D7C256A3E8CF}"/>
                </c:ext>
              </c:extLst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080-4FAD-9110-D7C256A3E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080-4FAD-9110-D7C256A3E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0569984"/>
        <c:axId val="200571520"/>
      </c:barChart>
      <c:catAx>
        <c:axId val="200569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00571520"/>
        <c:crosses val="autoZero"/>
        <c:auto val="1"/>
        <c:lblAlgn val="ctr"/>
        <c:lblOffset val="100"/>
        <c:noMultiLvlLbl val="0"/>
      </c:catAx>
      <c:valAx>
        <c:axId val="2005715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05699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36-415A-9D8B-B1D9EAB3B4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36-415A-9D8B-B1D9EAB3B4DF}"/>
                </c:ext>
              </c:extLst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36-415A-9D8B-B1D9EAB3B4DF}"/>
                </c:ext>
              </c:extLst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F36-415A-9D8B-B1D9EAB3B4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F36-415A-9D8B-B1D9EAB3B4DF}"/>
                </c:ext>
              </c:extLst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36-415A-9D8B-B1D9EAB3B4DF}"/>
                </c:ext>
              </c:extLst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F36-415A-9D8B-B1D9EAB3B4D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F36-415A-9D8B-B1D9EAB3B4DF}"/>
                </c:ext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F36-415A-9D8B-B1D9EAB3B4DF}"/>
                </c:ext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F36-415A-9D8B-B1D9EAB3B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5630848"/>
        <c:axId val="225632640"/>
      </c:barChart>
      <c:catAx>
        <c:axId val="2256308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2640"/>
        <c:crosses val="autoZero"/>
        <c:auto val="1"/>
        <c:lblAlgn val="ctr"/>
        <c:lblOffset val="100"/>
        <c:noMultiLvlLbl val="0"/>
      </c:catAx>
      <c:valAx>
        <c:axId val="2256326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08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21154-DD83-45F1-A0A6-59611F8D3B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B9751C-3B62-4B33-81E9-C11B694D9446}">
      <dgm:prSet/>
      <dgm:spPr/>
      <dgm:t>
        <a:bodyPr/>
        <a:lstStyle/>
        <a:p>
          <a:pPr rtl="0"/>
          <a:r>
            <a:rPr lang="en-GB" dirty="0"/>
            <a:t>Central oxygen system 	- 1</a:t>
          </a:r>
        </a:p>
      </dgm:t>
    </dgm:pt>
    <dgm:pt modelId="{9B18A42C-0BA2-41CC-BAE1-B8A7E351EFFF}" type="parTrans" cxnId="{62419439-C95E-4013-B6C7-5500B1C5694B}">
      <dgm:prSet/>
      <dgm:spPr/>
      <dgm:t>
        <a:bodyPr/>
        <a:lstStyle/>
        <a:p>
          <a:endParaRPr lang="en-GB"/>
        </a:p>
      </dgm:t>
    </dgm:pt>
    <dgm:pt modelId="{443683C2-1AE6-4A81-954A-430C3F3E2BBF}" type="sibTrans" cxnId="{62419439-C95E-4013-B6C7-5500B1C5694B}">
      <dgm:prSet/>
      <dgm:spPr/>
      <dgm:t>
        <a:bodyPr/>
        <a:lstStyle/>
        <a:p>
          <a:endParaRPr lang="en-GB"/>
        </a:p>
      </dgm:t>
    </dgm:pt>
    <dgm:pt modelId="{64DC4C56-D733-4353-AC4A-B55F22024702}">
      <dgm:prSet/>
      <dgm:spPr/>
      <dgm:t>
        <a:bodyPr/>
        <a:lstStyle/>
        <a:p>
          <a:pPr rtl="0"/>
          <a:r>
            <a:rPr lang="en-GB" dirty="0"/>
            <a:t>High flow nasal cannula	- 5</a:t>
          </a:r>
        </a:p>
      </dgm:t>
    </dgm:pt>
    <dgm:pt modelId="{94CF4D94-4818-47AB-A823-23F05697EF76}" type="parTrans" cxnId="{1C21FFBF-CD23-4AD6-BC05-5B0C85A96AB1}">
      <dgm:prSet/>
      <dgm:spPr/>
      <dgm:t>
        <a:bodyPr/>
        <a:lstStyle/>
        <a:p>
          <a:endParaRPr lang="en-GB"/>
        </a:p>
      </dgm:t>
    </dgm:pt>
    <dgm:pt modelId="{22EE8EEA-169C-4E6C-B0C9-DB93B9C4DD7E}" type="sibTrans" cxnId="{1C21FFBF-CD23-4AD6-BC05-5B0C85A96AB1}">
      <dgm:prSet/>
      <dgm:spPr/>
      <dgm:t>
        <a:bodyPr/>
        <a:lstStyle/>
        <a:p>
          <a:endParaRPr lang="en-GB"/>
        </a:p>
      </dgm:t>
    </dgm:pt>
    <dgm:pt modelId="{E72DC5B8-FF43-4864-9B3D-4D5C1B7EED89}">
      <dgm:prSet/>
      <dgm:spPr/>
      <dgm:t>
        <a:bodyPr/>
        <a:lstStyle/>
        <a:p>
          <a:pPr rtl="0"/>
          <a:r>
            <a:rPr lang="en-GB" dirty="0"/>
            <a:t>Oxygen concentrator	- 3</a:t>
          </a:r>
        </a:p>
      </dgm:t>
    </dgm:pt>
    <dgm:pt modelId="{60AC6C80-5308-42B7-8CAB-57F51CF8DC3B}" type="parTrans" cxnId="{5259394A-7032-4B5C-BF39-A634876A54AF}">
      <dgm:prSet/>
      <dgm:spPr/>
      <dgm:t>
        <a:bodyPr/>
        <a:lstStyle/>
        <a:p>
          <a:endParaRPr lang="en-GB"/>
        </a:p>
      </dgm:t>
    </dgm:pt>
    <dgm:pt modelId="{42A4E20B-61DC-4E71-B5AF-2DC120041BD5}" type="sibTrans" cxnId="{5259394A-7032-4B5C-BF39-A634876A54AF}">
      <dgm:prSet/>
      <dgm:spPr/>
      <dgm:t>
        <a:bodyPr/>
        <a:lstStyle/>
        <a:p>
          <a:endParaRPr lang="en-GB"/>
        </a:p>
      </dgm:t>
    </dgm:pt>
    <dgm:pt modelId="{7DD33E70-A5C1-4937-BEC7-5E7B423E1466}">
      <dgm:prSet/>
      <dgm:spPr/>
      <dgm:t>
        <a:bodyPr/>
        <a:lstStyle/>
        <a:p>
          <a:pPr rtl="0"/>
          <a:r>
            <a:rPr lang="en-GB"/>
            <a:t>Large oxygen cylinder	- 48 </a:t>
          </a:r>
        </a:p>
      </dgm:t>
    </dgm:pt>
    <dgm:pt modelId="{F23E8BF4-6635-4CE1-B4D1-75836B6E3820}" type="parTrans" cxnId="{D6F0057D-13F8-4622-B4BF-12290B61476E}">
      <dgm:prSet/>
      <dgm:spPr/>
      <dgm:t>
        <a:bodyPr/>
        <a:lstStyle/>
        <a:p>
          <a:endParaRPr lang="en-GB"/>
        </a:p>
      </dgm:t>
    </dgm:pt>
    <dgm:pt modelId="{BCA29651-9E81-4C0B-AF05-D9A7DCFBD21B}" type="sibTrans" cxnId="{D6F0057D-13F8-4622-B4BF-12290B61476E}">
      <dgm:prSet/>
      <dgm:spPr/>
      <dgm:t>
        <a:bodyPr/>
        <a:lstStyle/>
        <a:p>
          <a:endParaRPr lang="en-GB"/>
        </a:p>
      </dgm:t>
    </dgm:pt>
    <dgm:pt modelId="{A7355A04-39B4-4540-B677-910EA43D0274}">
      <dgm:prSet/>
      <dgm:spPr/>
      <dgm:t>
        <a:bodyPr/>
        <a:lstStyle/>
        <a:p>
          <a:pPr rtl="0"/>
          <a:r>
            <a:rPr lang="en-GB"/>
            <a:t>C-PAP machine		- 1</a:t>
          </a:r>
        </a:p>
      </dgm:t>
    </dgm:pt>
    <dgm:pt modelId="{28BD80BD-2CD1-4232-AA94-CC254F351732}" type="parTrans" cxnId="{6CEEB0CF-E32C-4283-9DF0-F7A284838672}">
      <dgm:prSet/>
      <dgm:spPr/>
      <dgm:t>
        <a:bodyPr/>
        <a:lstStyle/>
        <a:p>
          <a:endParaRPr lang="en-GB"/>
        </a:p>
      </dgm:t>
    </dgm:pt>
    <dgm:pt modelId="{4060D010-324E-41D9-8B8F-14000C1D486F}" type="sibTrans" cxnId="{6CEEB0CF-E32C-4283-9DF0-F7A284838672}">
      <dgm:prSet/>
      <dgm:spPr/>
      <dgm:t>
        <a:bodyPr/>
        <a:lstStyle/>
        <a:p>
          <a:endParaRPr lang="en-GB"/>
        </a:p>
      </dgm:t>
    </dgm:pt>
    <dgm:pt modelId="{65BCF39B-F011-41D6-A1FA-228244CE055A}">
      <dgm:prSet/>
      <dgm:spPr/>
      <dgm:t>
        <a:bodyPr/>
        <a:lstStyle/>
        <a:p>
          <a:pPr rtl="0"/>
          <a:r>
            <a:rPr lang="en-GB" dirty="0"/>
            <a:t>Pick-up </a:t>
          </a:r>
          <a:r>
            <a:rPr lang="en-GB" dirty="0" err="1"/>
            <a:t>caverd</a:t>
          </a:r>
          <a:r>
            <a:rPr lang="en-GB" dirty="0"/>
            <a:t> van	- 1</a:t>
          </a:r>
        </a:p>
      </dgm:t>
    </dgm:pt>
    <dgm:pt modelId="{EBBDA495-D9FA-4A07-AB7C-7A8E4E6778F2}" type="parTrans" cxnId="{932C2C0E-B530-4391-958A-0FAA2E10CDA1}">
      <dgm:prSet/>
      <dgm:spPr/>
      <dgm:t>
        <a:bodyPr/>
        <a:lstStyle/>
        <a:p>
          <a:endParaRPr lang="en-GB"/>
        </a:p>
      </dgm:t>
    </dgm:pt>
    <dgm:pt modelId="{7A4617D4-940A-482D-B3B9-37EF771E04AD}" type="sibTrans" cxnId="{932C2C0E-B530-4391-958A-0FAA2E10CDA1}">
      <dgm:prSet/>
      <dgm:spPr/>
      <dgm:t>
        <a:bodyPr/>
        <a:lstStyle/>
        <a:p>
          <a:endParaRPr lang="en-GB"/>
        </a:p>
      </dgm:t>
    </dgm:pt>
    <dgm:pt modelId="{8FEB2AA0-3F4F-423C-AD91-5B9785EE46C4}" type="pres">
      <dgm:prSet presAssocID="{D2121154-DD83-45F1-A0A6-59611F8D3BD3}" presName="linear" presStyleCnt="0">
        <dgm:presLayoutVars>
          <dgm:animLvl val="lvl"/>
          <dgm:resizeHandles val="exact"/>
        </dgm:presLayoutVars>
      </dgm:prSet>
      <dgm:spPr/>
    </dgm:pt>
    <dgm:pt modelId="{CE2622F9-F07C-4B23-BC93-E0F03E146D01}" type="pres">
      <dgm:prSet presAssocID="{4FB9751C-3B62-4B33-81E9-C11B694D944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422F2F0-9A12-494F-BE7C-65E95988AA28}" type="pres">
      <dgm:prSet presAssocID="{443683C2-1AE6-4A81-954A-430C3F3E2BBF}" presName="spacer" presStyleCnt="0"/>
      <dgm:spPr/>
    </dgm:pt>
    <dgm:pt modelId="{336BD10C-9BB5-469F-8BD4-A3494E0C75E9}" type="pres">
      <dgm:prSet presAssocID="{64DC4C56-D733-4353-AC4A-B55F2202470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24B8033-A930-4A9F-B82E-3557B060E25F}" type="pres">
      <dgm:prSet presAssocID="{22EE8EEA-169C-4E6C-B0C9-DB93B9C4DD7E}" presName="spacer" presStyleCnt="0"/>
      <dgm:spPr/>
    </dgm:pt>
    <dgm:pt modelId="{A893A7A7-CC28-4404-AD1A-6638F1AA5451}" type="pres">
      <dgm:prSet presAssocID="{E72DC5B8-FF43-4864-9B3D-4D5C1B7EED8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14B8B32-0DAE-4CF1-8EC1-BCC1541F7B61}" type="pres">
      <dgm:prSet presAssocID="{42A4E20B-61DC-4E71-B5AF-2DC120041BD5}" presName="spacer" presStyleCnt="0"/>
      <dgm:spPr/>
    </dgm:pt>
    <dgm:pt modelId="{CD71DDF5-A775-4A4F-B429-2F449530DD1D}" type="pres">
      <dgm:prSet presAssocID="{7DD33E70-A5C1-4937-BEC7-5E7B423E146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2A511F5-86EF-44B9-976B-BE435FBA14C1}" type="pres">
      <dgm:prSet presAssocID="{BCA29651-9E81-4C0B-AF05-D9A7DCFBD21B}" presName="spacer" presStyleCnt="0"/>
      <dgm:spPr/>
    </dgm:pt>
    <dgm:pt modelId="{DD6FDA14-5D81-4D91-815D-EF411B6DA3BB}" type="pres">
      <dgm:prSet presAssocID="{A7355A04-39B4-4540-B677-910EA43D027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38473C0-9027-4523-83A9-D05A403B38F5}" type="pres">
      <dgm:prSet presAssocID="{4060D010-324E-41D9-8B8F-14000C1D486F}" presName="spacer" presStyleCnt="0"/>
      <dgm:spPr/>
    </dgm:pt>
    <dgm:pt modelId="{6325200D-4401-4F68-8132-B7BA410A12E6}" type="pres">
      <dgm:prSet presAssocID="{65BCF39B-F011-41D6-A1FA-228244CE055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6B70F0D-D991-4F23-B3ED-CA085642F39A}" type="presOf" srcId="{E72DC5B8-FF43-4864-9B3D-4D5C1B7EED89}" destId="{A893A7A7-CC28-4404-AD1A-6638F1AA5451}" srcOrd="0" destOrd="0" presId="urn:microsoft.com/office/officeart/2005/8/layout/vList2"/>
    <dgm:cxn modelId="{932C2C0E-B530-4391-958A-0FAA2E10CDA1}" srcId="{D2121154-DD83-45F1-A0A6-59611F8D3BD3}" destId="{65BCF39B-F011-41D6-A1FA-228244CE055A}" srcOrd="5" destOrd="0" parTransId="{EBBDA495-D9FA-4A07-AB7C-7A8E4E6778F2}" sibTransId="{7A4617D4-940A-482D-B3B9-37EF771E04AD}"/>
    <dgm:cxn modelId="{62419439-C95E-4013-B6C7-5500B1C5694B}" srcId="{D2121154-DD83-45F1-A0A6-59611F8D3BD3}" destId="{4FB9751C-3B62-4B33-81E9-C11B694D9446}" srcOrd="0" destOrd="0" parTransId="{9B18A42C-0BA2-41CC-BAE1-B8A7E351EFFF}" sibTransId="{443683C2-1AE6-4A81-954A-430C3F3E2BBF}"/>
    <dgm:cxn modelId="{5259394A-7032-4B5C-BF39-A634876A54AF}" srcId="{D2121154-DD83-45F1-A0A6-59611F8D3BD3}" destId="{E72DC5B8-FF43-4864-9B3D-4D5C1B7EED89}" srcOrd="2" destOrd="0" parTransId="{60AC6C80-5308-42B7-8CAB-57F51CF8DC3B}" sibTransId="{42A4E20B-61DC-4E71-B5AF-2DC120041BD5}"/>
    <dgm:cxn modelId="{373FCE52-73B9-49B0-A601-FC538D901F71}" type="presOf" srcId="{4FB9751C-3B62-4B33-81E9-C11B694D9446}" destId="{CE2622F9-F07C-4B23-BC93-E0F03E146D01}" srcOrd="0" destOrd="0" presId="urn:microsoft.com/office/officeart/2005/8/layout/vList2"/>
    <dgm:cxn modelId="{0990D07C-AA34-45DC-B6B6-F0315F264DE0}" type="presOf" srcId="{65BCF39B-F011-41D6-A1FA-228244CE055A}" destId="{6325200D-4401-4F68-8132-B7BA410A12E6}" srcOrd="0" destOrd="0" presId="urn:microsoft.com/office/officeart/2005/8/layout/vList2"/>
    <dgm:cxn modelId="{D6F0057D-13F8-4622-B4BF-12290B61476E}" srcId="{D2121154-DD83-45F1-A0A6-59611F8D3BD3}" destId="{7DD33E70-A5C1-4937-BEC7-5E7B423E1466}" srcOrd="3" destOrd="0" parTransId="{F23E8BF4-6635-4CE1-B4D1-75836B6E3820}" sibTransId="{BCA29651-9E81-4C0B-AF05-D9A7DCFBD21B}"/>
    <dgm:cxn modelId="{12176390-5032-4B2D-948D-98A3D3DDF0E7}" type="presOf" srcId="{7DD33E70-A5C1-4937-BEC7-5E7B423E1466}" destId="{CD71DDF5-A775-4A4F-B429-2F449530DD1D}" srcOrd="0" destOrd="0" presId="urn:microsoft.com/office/officeart/2005/8/layout/vList2"/>
    <dgm:cxn modelId="{1C21FFBF-CD23-4AD6-BC05-5B0C85A96AB1}" srcId="{D2121154-DD83-45F1-A0A6-59611F8D3BD3}" destId="{64DC4C56-D733-4353-AC4A-B55F22024702}" srcOrd="1" destOrd="0" parTransId="{94CF4D94-4818-47AB-A823-23F05697EF76}" sibTransId="{22EE8EEA-169C-4E6C-B0C9-DB93B9C4DD7E}"/>
    <dgm:cxn modelId="{A27635C4-06F5-46C3-8571-556DC641687D}" type="presOf" srcId="{D2121154-DD83-45F1-A0A6-59611F8D3BD3}" destId="{8FEB2AA0-3F4F-423C-AD91-5B9785EE46C4}" srcOrd="0" destOrd="0" presId="urn:microsoft.com/office/officeart/2005/8/layout/vList2"/>
    <dgm:cxn modelId="{6CEEB0CF-E32C-4283-9DF0-F7A284838672}" srcId="{D2121154-DD83-45F1-A0A6-59611F8D3BD3}" destId="{A7355A04-39B4-4540-B677-910EA43D0274}" srcOrd="4" destOrd="0" parTransId="{28BD80BD-2CD1-4232-AA94-CC254F351732}" sibTransId="{4060D010-324E-41D9-8B8F-14000C1D486F}"/>
    <dgm:cxn modelId="{07AB95DA-426D-49AF-B8F0-BB93A51EC17C}" type="presOf" srcId="{A7355A04-39B4-4540-B677-910EA43D0274}" destId="{DD6FDA14-5D81-4D91-815D-EF411B6DA3BB}" srcOrd="0" destOrd="0" presId="urn:microsoft.com/office/officeart/2005/8/layout/vList2"/>
    <dgm:cxn modelId="{70957FDF-E2F0-4CD6-B609-744C73881C9A}" type="presOf" srcId="{64DC4C56-D733-4353-AC4A-B55F22024702}" destId="{336BD10C-9BB5-469F-8BD4-A3494E0C75E9}" srcOrd="0" destOrd="0" presId="urn:microsoft.com/office/officeart/2005/8/layout/vList2"/>
    <dgm:cxn modelId="{F99E9DE0-D70D-45AC-8ADF-E35B5106A0C9}" type="presParOf" srcId="{8FEB2AA0-3F4F-423C-AD91-5B9785EE46C4}" destId="{CE2622F9-F07C-4B23-BC93-E0F03E146D01}" srcOrd="0" destOrd="0" presId="urn:microsoft.com/office/officeart/2005/8/layout/vList2"/>
    <dgm:cxn modelId="{3595AB8A-97E4-4E46-8673-7AC717F8D9C6}" type="presParOf" srcId="{8FEB2AA0-3F4F-423C-AD91-5B9785EE46C4}" destId="{5422F2F0-9A12-494F-BE7C-65E95988AA28}" srcOrd="1" destOrd="0" presId="urn:microsoft.com/office/officeart/2005/8/layout/vList2"/>
    <dgm:cxn modelId="{343D90CF-8A07-4BB9-A763-8FE7504F6591}" type="presParOf" srcId="{8FEB2AA0-3F4F-423C-AD91-5B9785EE46C4}" destId="{336BD10C-9BB5-469F-8BD4-A3494E0C75E9}" srcOrd="2" destOrd="0" presId="urn:microsoft.com/office/officeart/2005/8/layout/vList2"/>
    <dgm:cxn modelId="{9B6927FF-1922-4AAA-80CA-883B4E07FE2A}" type="presParOf" srcId="{8FEB2AA0-3F4F-423C-AD91-5B9785EE46C4}" destId="{424B8033-A930-4A9F-B82E-3557B060E25F}" srcOrd="3" destOrd="0" presId="urn:microsoft.com/office/officeart/2005/8/layout/vList2"/>
    <dgm:cxn modelId="{D46AFF8A-B758-4642-B835-B05F0CC0D3D6}" type="presParOf" srcId="{8FEB2AA0-3F4F-423C-AD91-5B9785EE46C4}" destId="{A893A7A7-CC28-4404-AD1A-6638F1AA5451}" srcOrd="4" destOrd="0" presId="urn:microsoft.com/office/officeart/2005/8/layout/vList2"/>
    <dgm:cxn modelId="{23A2C807-2BB5-4B0F-B85A-F1E8C6C3E4DE}" type="presParOf" srcId="{8FEB2AA0-3F4F-423C-AD91-5B9785EE46C4}" destId="{E14B8B32-0DAE-4CF1-8EC1-BCC1541F7B61}" srcOrd="5" destOrd="0" presId="urn:microsoft.com/office/officeart/2005/8/layout/vList2"/>
    <dgm:cxn modelId="{3F3F7C00-935B-4A6B-A8C6-1793C881F6B2}" type="presParOf" srcId="{8FEB2AA0-3F4F-423C-AD91-5B9785EE46C4}" destId="{CD71DDF5-A775-4A4F-B429-2F449530DD1D}" srcOrd="6" destOrd="0" presId="urn:microsoft.com/office/officeart/2005/8/layout/vList2"/>
    <dgm:cxn modelId="{DAB80BA0-9BF6-4273-9026-48DB621BFE55}" type="presParOf" srcId="{8FEB2AA0-3F4F-423C-AD91-5B9785EE46C4}" destId="{D2A511F5-86EF-44B9-976B-BE435FBA14C1}" srcOrd="7" destOrd="0" presId="urn:microsoft.com/office/officeart/2005/8/layout/vList2"/>
    <dgm:cxn modelId="{EBF75664-93DB-42CF-91E2-FE7C25F65C86}" type="presParOf" srcId="{8FEB2AA0-3F4F-423C-AD91-5B9785EE46C4}" destId="{DD6FDA14-5D81-4D91-815D-EF411B6DA3BB}" srcOrd="8" destOrd="0" presId="urn:microsoft.com/office/officeart/2005/8/layout/vList2"/>
    <dgm:cxn modelId="{8FFCFBC3-2EAE-4501-8559-9F6F3FF7AEF1}" type="presParOf" srcId="{8FEB2AA0-3F4F-423C-AD91-5B9785EE46C4}" destId="{738473C0-9027-4523-83A9-D05A403B38F5}" srcOrd="9" destOrd="0" presId="urn:microsoft.com/office/officeart/2005/8/layout/vList2"/>
    <dgm:cxn modelId="{C11046FF-2215-4CCC-A511-C995391826B5}" type="presParOf" srcId="{8FEB2AA0-3F4F-423C-AD91-5B9785EE46C4}" destId="{6325200D-4401-4F68-8132-B7BA410A12E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D80E6-6809-4689-8355-F701AC1280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ADC0028-4587-4C12-AA1F-B3FE2A794B1F}">
      <dgm:prSet/>
      <dgm:spPr/>
      <dgm:t>
        <a:bodyPr/>
        <a:lstStyle/>
        <a:p>
          <a:pPr rtl="0"/>
          <a:r>
            <a:rPr lang="en-GB"/>
            <a:t>Prime minister’s relief fund.</a:t>
          </a:r>
        </a:p>
      </dgm:t>
    </dgm:pt>
    <dgm:pt modelId="{E19D67D5-7399-49ED-A7B2-9C91EE799442}" type="parTrans" cxnId="{4B3FD876-976C-4D1F-9A0A-DC02CC469A5D}">
      <dgm:prSet/>
      <dgm:spPr/>
      <dgm:t>
        <a:bodyPr/>
        <a:lstStyle/>
        <a:p>
          <a:endParaRPr lang="en-GB"/>
        </a:p>
      </dgm:t>
    </dgm:pt>
    <dgm:pt modelId="{82C1AC1D-23BE-437F-9111-5EAFCF5A8265}" type="sibTrans" cxnId="{4B3FD876-976C-4D1F-9A0A-DC02CC469A5D}">
      <dgm:prSet/>
      <dgm:spPr/>
      <dgm:t>
        <a:bodyPr/>
        <a:lstStyle/>
        <a:p>
          <a:endParaRPr lang="en-GB"/>
        </a:p>
      </dgm:t>
    </dgm:pt>
    <dgm:pt modelId="{C7F08E02-3120-4CA8-A96A-519ADF4B41D8}">
      <dgm:prSet/>
      <dgm:spPr/>
      <dgm:t>
        <a:bodyPr/>
        <a:lstStyle/>
        <a:p>
          <a:pPr rtl="0"/>
          <a:r>
            <a:rPr lang="en-GB"/>
            <a:t>MP, Jhenaidah-2.</a:t>
          </a:r>
        </a:p>
      </dgm:t>
    </dgm:pt>
    <dgm:pt modelId="{BB701834-38DE-4D50-9138-BE36B0AF13DF}" type="parTrans" cxnId="{C683CF76-4F5A-4BD5-B3CF-99F9F4583627}">
      <dgm:prSet/>
      <dgm:spPr/>
      <dgm:t>
        <a:bodyPr/>
        <a:lstStyle/>
        <a:p>
          <a:endParaRPr lang="en-GB"/>
        </a:p>
      </dgm:t>
    </dgm:pt>
    <dgm:pt modelId="{0E880F49-9502-4518-9AFB-CD8A2E5B7765}" type="sibTrans" cxnId="{C683CF76-4F5A-4BD5-B3CF-99F9F4583627}">
      <dgm:prSet/>
      <dgm:spPr/>
      <dgm:t>
        <a:bodyPr/>
        <a:lstStyle/>
        <a:p>
          <a:endParaRPr lang="en-GB"/>
        </a:p>
      </dgm:t>
    </dgm:pt>
    <dgm:pt modelId="{5AD6B90F-9083-408E-A794-2991B86BCF5D}">
      <dgm:prSet/>
      <dgm:spPr/>
      <dgm:t>
        <a:bodyPr/>
        <a:lstStyle/>
        <a:p>
          <a:pPr rtl="0"/>
          <a:r>
            <a:rPr lang="en-GB" dirty="0"/>
            <a:t>Mayor, </a:t>
          </a:r>
          <a:r>
            <a:rPr lang="en-GB" dirty="0" err="1"/>
            <a:t>Jhenaidah</a:t>
          </a:r>
          <a:r>
            <a:rPr lang="en-GB" dirty="0"/>
            <a:t> </a:t>
          </a:r>
          <a:r>
            <a:rPr lang="en-GB" dirty="0" err="1"/>
            <a:t>pourosova</a:t>
          </a:r>
          <a:r>
            <a:rPr lang="en-GB" dirty="0"/>
            <a:t>.</a:t>
          </a:r>
        </a:p>
      </dgm:t>
    </dgm:pt>
    <dgm:pt modelId="{577E4D54-DCA5-4A0B-9949-71EA6EB100C7}" type="parTrans" cxnId="{9869E879-9D20-4E3A-88E6-F824C3755487}">
      <dgm:prSet/>
      <dgm:spPr/>
      <dgm:t>
        <a:bodyPr/>
        <a:lstStyle/>
        <a:p>
          <a:endParaRPr lang="en-GB"/>
        </a:p>
      </dgm:t>
    </dgm:pt>
    <dgm:pt modelId="{7A0C1DEE-6724-4C3E-AE5C-E612B1393D4E}" type="sibTrans" cxnId="{9869E879-9D20-4E3A-88E6-F824C3755487}">
      <dgm:prSet/>
      <dgm:spPr/>
      <dgm:t>
        <a:bodyPr/>
        <a:lstStyle/>
        <a:p>
          <a:endParaRPr lang="en-GB"/>
        </a:p>
      </dgm:t>
    </dgm:pt>
    <dgm:pt modelId="{3FEE24C6-CE85-45B8-850E-D4EE6860F9D3}">
      <dgm:prSet/>
      <dgm:spPr/>
      <dgm:t>
        <a:bodyPr/>
        <a:lstStyle/>
        <a:p>
          <a:pPr rtl="0"/>
          <a:r>
            <a:rPr lang="en-GB"/>
            <a:t>Jaheedi Foundation.</a:t>
          </a:r>
        </a:p>
      </dgm:t>
    </dgm:pt>
    <dgm:pt modelId="{7C0C76C5-C115-4C2D-95CE-FA5D79831362}" type="parTrans" cxnId="{2E4F4598-2F9B-4133-A67F-97FF67AC1EBE}">
      <dgm:prSet/>
      <dgm:spPr/>
      <dgm:t>
        <a:bodyPr/>
        <a:lstStyle/>
        <a:p>
          <a:endParaRPr lang="en-GB"/>
        </a:p>
      </dgm:t>
    </dgm:pt>
    <dgm:pt modelId="{29A33AD3-BD5D-4782-B1F2-0C3D712012DE}" type="sibTrans" cxnId="{2E4F4598-2F9B-4133-A67F-97FF67AC1EBE}">
      <dgm:prSet/>
      <dgm:spPr/>
      <dgm:t>
        <a:bodyPr/>
        <a:lstStyle/>
        <a:p>
          <a:endParaRPr lang="en-GB"/>
        </a:p>
      </dgm:t>
    </dgm:pt>
    <dgm:pt modelId="{26F90953-42C6-43BF-A499-FBB77A723DD6}">
      <dgm:prSet/>
      <dgm:spPr/>
      <dgm:t>
        <a:bodyPr/>
        <a:lstStyle/>
        <a:p>
          <a:pPr rtl="0"/>
          <a:r>
            <a:rPr lang="en-GB"/>
            <a:t>Navana group.</a:t>
          </a:r>
        </a:p>
      </dgm:t>
    </dgm:pt>
    <dgm:pt modelId="{CC2B5356-6A02-4CC1-9B7F-99E5A93503D3}" type="parTrans" cxnId="{3B23A490-8A96-483B-ACD5-66CD6701BE45}">
      <dgm:prSet/>
      <dgm:spPr/>
      <dgm:t>
        <a:bodyPr/>
        <a:lstStyle/>
        <a:p>
          <a:endParaRPr lang="en-GB"/>
        </a:p>
      </dgm:t>
    </dgm:pt>
    <dgm:pt modelId="{50511D2C-A017-43E8-879B-2BED343D6967}" type="sibTrans" cxnId="{3B23A490-8A96-483B-ACD5-66CD6701BE45}">
      <dgm:prSet/>
      <dgm:spPr/>
      <dgm:t>
        <a:bodyPr/>
        <a:lstStyle/>
        <a:p>
          <a:endParaRPr lang="en-GB"/>
        </a:p>
      </dgm:t>
    </dgm:pt>
    <dgm:pt modelId="{8DEF001F-9526-425D-A304-364FD2A32D09}" type="pres">
      <dgm:prSet presAssocID="{E5ED80E6-6809-4689-8355-F701AC128059}" presName="linear" presStyleCnt="0">
        <dgm:presLayoutVars>
          <dgm:animLvl val="lvl"/>
          <dgm:resizeHandles val="exact"/>
        </dgm:presLayoutVars>
      </dgm:prSet>
      <dgm:spPr/>
    </dgm:pt>
    <dgm:pt modelId="{F322EB3B-4393-4F62-9896-6CAC1D8C7C9F}" type="pres">
      <dgm:prSet presAssocID="{6ADC0028-4587-4C12-AA1F-B3FE2A794B1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0E5320E-11AB-43A7-9D24-5AB88107839E}" type="pres">
      <dgm:prSet presAssocID="{82C1AC1D-23BE-437F-9111-5EAFCF5A8265}" presName="spacer" presStyleCnt="0"/>
      <dgm:spPr/>
    </dgm:pt>
    <dgm:pt modelId="{4957D60D-9A48-45C1-BAC6-F3D37092E3B1}" type="pres">
      <dgm:prSet presAssocID="{C7F08E02-3120-4CA8-A96A-519ADF4B41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280F85-D5B7-45C3-A4D2-BA70B77BB121}" type="pres">
      <dgm:prSet presAssocID="{0E880F49-9502-4518-9AFB-CD8A2E5B7765}" presName="spacer" presStyleCnt="0"/>
      <dgm:spPr/>
    </dgm:pt>
    <dgm:pt modelId="{648756C2-CBEA-4503-B679-343ADD8DA048}" type="pres">
      <dgm:prSet presAssocID="{5AD6B90F-9083-408E-A794-2991B86BCF5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B1360F5-7A90-451C-918B-9DE1897A5330}" type="pres">
      <dgm:prSet presAssocID="{7A0C1DEE-6724-4C3E-AE5C-E612B1393D4E}" presName="spacer" presStyleCnt="0"/>
      <dgm:spPr/>
    </dgm:pt>
    <dgm:pt modelId="{67D1A4F1-4413-4A6E-B170-3E78BE79127C}" type="pres">
      <dgm:prSet presAssocID="{3FEE24C6-CE85-45B8-850E-D4EE6860F9D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780C74-FC6D-47EF-8E2B-33A4236B1781}" type="pres">
      <dgm:prSet presAssocID="{29A33AD3-BD5D-4782-B1F2-0C3D712012DE}" presName="spacer" presStyleCnt="0"/>
      <dgm:spPr/>
    </dgm:pt>
    <dgm:pt modelId="{CA20AB46-4D56-4B7A-B508-C9C3AA679FFD}" type="pres">
      <dgm:prSet presAssocID="{26F90953-42C6-43BF-A499-FBB77A723DD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608C05-F76C-4BC4-808F-58E3AAC2A141}" type="presOf" srcId="{5AD6B90F-9083-408E-A794-2991B86BCF5D}" destId="{648756C2-CBEA-4503-B679-343ADD8DA048}" srcOrd="0" destOrd="0" presId="urn:microsoft.com/office/officeart/2005/8/layout/vList2"/>
    <dgm:cxn modelId="{65A7431F-9DA0-46BB-9168-2F44F4CC767C}" type="presOf" srcId="{26F90953-42C6-43BF-A499-FBB77A723DD6}" destId="{CA20AB46-4D56-4B7A-B508-C9C3AA679FFD}" srcOrd="0" destOrd="0" presId="urn:microsoft.com/office/officeart/2005/8/layout/vList2"/>
    <dgm:cxn modelId="{8DBFDD37-C88B-46AA-9C34-4215E6B03565}" type="presOf" srcId="{3FEE24C6-CE85-45B8-850E-D4EE6860F9D3}" destId="{67D1A4F1-4413-4A6E-B170-3E78BE79127C}" srcOrd="0" destOrd="0" presId="urn:microsoft.com/office/officeart/2005/8/layout/vList2"/>
    <dgm:cxn modelId="{EBA1F962-DE1F-4CA0-A704-5B8D17731EBB}" type="presOf" srcId="{6ADC0028-4587-4C12-AA1F-B3FE2A794B1F}" destId="{F322EB3B-4393-4F62-9896-6CAC1D8C7C9F}" srcOrd="0" destOrd="0" presId="urn:microsoft.com/office/officeart/2005/8/layout/vList2"/>
    <dgm:cxn modelId="{15AB3E72-8E1A-42C7-A158-AA43911A699E}" type="presOf" srcId="{E5ED80E6-6809-4689-8355-F701AC128059}" destId="{8DEF001F-9526-425D-A304-364FD2A32D09}" srcOrd="0" destOrd="0" presId="urn:microsoft.com/office/officeart/2005/8/layout/vList2"/>
    <dgm:cxn modelId="{C683CF76-4F5A-4BD5-B3CF-99F9F4583627}" srcId="{E5ED80E6-6809-4689-8355-F701AC128059}" destId="{C7F08E02-3120-4CA8-A96A-519ADF4B41D8}" srcOrd="1" destOrd="0" parTransId="{BB701834-38DE-4D50-9138-BE36B0AF13DF}" sibTransId="{0E880F49-9502-4518-9AFB-CD8A2E5B7765}"/>
    <dgm:cxn modelId="{4B3FD876-976C-4D1F-9A0A-DC02CC469A5D}" srcId="{E5ED80E6-6809-4689-8355-F701AC128059}" destId="{6ADC0028-4587-4C12-AA1F-B3FE2A794B1F}" srcOrd="0" destOrd="0" parTransId="{E19D67D5-7399-49ED-A7B2-9C91EE799442}" sibTransId="{82C1AC1D-23BE-437F-9111-5EAFCF5A8265}"/>
    <dgm:cxn modelId="{9869E879-9D20-4E3A-88E6-F824C3755487}" srcId="{E5ED80E6-6809-4689-8355-F701AC128059}" destId="{5AD6B90F-9083-408E-A794-2991B86BCF5D}" srcOrd="2" destOrd="0" parTransId="{577E4D54-DCA5-4A0B-9949-71EA6EB100C7}" sibTransId="{7A0C1DEE-6724-4C3E-AE5C-E612B1393D4E}"/>
    <dgm:cxn modelId="{3B23A490-8A96-483B-ACD5-66CD6701BE45}" srcId="{E5ED80E6-6809-4689-8355-F701AC128059}" destId="{26F90953-42C6-43BF-A499-FBB77A723DD6}" srcOrd="4" destOrd="0" parTransId="{CC2B5356-6A02-4CC1-9B7F-99E5A93503D3}" sibTransId="{50511D2C-A017-43E8-879B-2BED343D6967}"/>
    <dgm:cxn modelId="{2E4F4598-2F9B-4133-A67F-97FF67AC1EBE}" srcId="{E5ED80E6-6809-4689-8355-F701AC128059}" destId="{3FEE24C6-CE85-45B8-850E-D4EE6860F9D3}" srcOrd="3" destOrd="0" parTransId="{7C0C76C5-C115-4C2D-95CE-FA5D79831362}" sibTransId="{29A33AD3-BD5D-4782-B1F2-0C3D712012DE}"/>
    <dgm:cxn modelId="{845972D5-FF1F-464E-9CD9-9A302F6CEB2D}" type="presOf" srcId="{C7F08E02-3120-4CA8-A96A-519ADF4B41D8}" destId="{4957D60D-9A48-45C1-BAC6-F3D37092E3B1}" srcOrd="0" destOrd="0" presId="urn:microsoft.com/office/officeart/2005/8/layout/vList2"/>
    <dgm:cxn modelId="{CF0C3DDD-B73F-4E55-AE3B-54E16F4843CC}" type="presParOf" srcId="{8DEF001F-9526-425D-A304-364FD2A32D09}" destId="{F322EB3B-4393-4F62-9896-6CAC1D8C7C9F}" srcOrd="0" destOrd="0" presId="urn:microsoft.com/office/officeart/2005/8/layout/vList2"/>
    <dgm:cxn modelId="{23C31C32-BF97-4DED-901F-860C129C4E38}" type="presParOf" srcId="{8DEF001F-9526-425D-A304-364FD2A32D09}" destId="{60E5320E-11AB-43A7-9D24-5AB88107839E}" srcOrd="1" destOrd="0" presId="urn:microsoft.com/office/officeart/2005/8/layout/vList2"/>
    <dgm:cxn modelId="{791F724C-155C-4F3E-8D23-923B3F40FA4C}" type="presParOf" srcId="{8DEF001F-9526-425D-A304-364FD2A32D09}" destId="{4957D60D-9A48-45C1-BAC6-F3D37092E3B1}" srcOrd="2" destOrd="0" presId="urn:microsoft.com/office/officeart/2005/8/layout/vList2"/>
    <dgm:cxn modelId="{1CE2B9C1-5EE7-4513-A2CA-F920C8759861}" type="presParOf" srcId="{8DEF001F-9526-425D-A304-364FD2A32D09}" destId="{16280F85-D5B7-45C3-A4D2-BA70B77BB121}" srcOrd="3" destOrd="0" presId="urn:microsoft.com/office/officeart/2005/8/layout/vList2"/>
    <dgm:cxn modelId="{DC8916F9-5C36-43D2-AA49-0EE4DFF0A206}" type="presParOf" srcId="{8DEF001F-9526-425D-A304-364FD2A32D09}" destId="{648756C2-CBEA-4503-B679-343ADD8DA048}" srcOrd="4" destOrd="0" presId="urn:microsoft.com/office/officeart/2005/8/layout/vList2"/>
    <dgm:cxn modelId="{BDBAD711-9103-449F-8553-8C9B56046EED}" type="presParOf" srcId="{8DEF001F-9526-425D-A304-364FD2A32D09}" destId="{9B1360F5-7A90-451C-918B-9DE1897A5330}" srcOrd="5" destOrd="0" presId="urn:microsoft.com/office/officeart/2005/8/layout/vList2"/>
    <dgm:cxn modelId="{3ABA51A7-8EB2-40D3-8E03-5DBA386ACE52}" type="presParOf" srcId="{8DEF001F-9526-425D-A304-364FD2A32D09}" destId="{67D1A4F1-4413-4A6E-B170-3E78BE79127C}" srcOrd="6" destOrd="0" presId="urn:microsoft.com/office/officeart/2005/8/layout/vList2"/>
    <dgm:cxn modelId="{A19C42B1-0EFB-4C8E-8EFA-02F8E9572AB2}" type="presParOf" srcId="{8DEF001F-9526-425D-A304-364FD2A32D09}" destId="{C3780C74-FC6D-47EF-8E2B-33A4236B1781}" srcOrd="7" destOrd="0" presId="urn:microsoft.com/office/officeart/2005/8/layout/vList2"/>
    <dgm:cxn modelId="{98A7B389-529E-400D-BD18-D3F90A22E2A0}" type="presParOf" srcId="{8DEF001F-9526-425D-A304-364FD2A32D09}" destId="{CA20AB46-4D56-4B7A-B508-C9C3AA679F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6F7FE-2300-4A17-A15B-6A7F7491AD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2E5693D-0EFD-458E-98CF-DCA495A2118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rtl="0"/>
          <a:r>
            <a:rPr lang="en-GB" dirty="0"/>
            <a:t>Value – Nearly 52 Lac taka </a:t>
          </a:r>
        </a:p>
      </dgm:t>
    </dgm:pt>
    <dgm:pt modelId="{204FC4FA-25E8-412D-8193-19DEFA885865}" type="parTrans" cxnId="{86008C12-7CFE-4652-B54F-3578BBD24D01}">
      <dgm:prSet/>
      <dgm:spPr/>
      <dgm:t>
        <a:bodyPr/>
        <a:lstStyle/>
        <a:p>
          <a:endParaRPr lang="en-GB"/>
        </a:p>
      </dgm:t>
    </dgm:pt>
    <dgm:pt modelId="{C9FCD6DB-3844-458E-97C2-E98846834BC0}" type="sibTrans" cxnId="{86008C12-7CFE-4652-B54F-3578BBD24D01}">
      <dgm:prSet/>
      <dgm:spPr/>
      <dgm:t>
        <a:bodyPr/>
        <a:lstStyle/>
        <a:p>
          <a:endParaRPr lang="en-GB"/>
        </a:p>
      </dgm:t>
    </dgm:pt>
    <dgm:pt modelId="{5EF4972E-4643-43E2-B3AB-113B9B2E4FEA}" type="pres">
      <dgm:prSet presAssocID="{3316F7FE-2300-4A17-A15B-6A7F7491AD5C}" presName="linear" presStyleCnt="0">
        <dgm:presLayoutVars>
          <dgm:animLvl val="lvl"/>
          <dgm:resizeHandles val="exact"/>
        </dgm:presLayoutVars>
      </dgm:prSet>
      <dgm:spPr/>
    </dgm:pt>
    <dgm:pt modelId="{EDA508CE-5441-40F4-BF43-22D7E4368061}" type="pres">
      <dgm:prSet presAssocID="{F2E5693D-0EFD-458E-98CF-DCA495A21184}" presName="parentText" presStyleLbl="node1" presStyleIdx="0" presStyleCnt="1" custLinFactNeighborY="8174">
        <dgm:presLayoutVars>
          <dgm:chMax val="0"/>
          <dgm:bulletEnabled val="1"/>
        </dgm:presLayoutVars>
      </dgm:prSet>
      <dgm:spPr/>
    </dgm:pt>
  </dgm:ptLst>
  <dgm:cxnLst>
    <dgm:cxn modelId="{86008C12-7CFE-4652-B54F-3578BBD24D01}" srcId="{3316F7FE-2300-4A17-A15B-6A7F7491AD5C}" destId="{F2E5693D-0EFD-458E-98CF-DCA495A21184}" srcOrd="0" destOrd="0" parTransId="{204FC4FA-25E8-412D-8193-19DEFA885865}" sibTransId="{C9FCD6DB-3844-458E-97C2-E98846834BC0}"/>
    <dgm:cxn modelId="{B5A0FD4C-DE4D-4A6B-B0E5-52F7990ED734}" type="presOf" srcId="{3316F7FE-2300-4A17-A15B-6A7F7491AD5C}" destId="{5EF4972E-4643-43E2-B3AB-113B9B2E4FEA}" srcOrd="0" destOrd="0" presId="urn:microsoft.com/office/officeart/2005/8/layout/vList2"/>
    <dgm:cxn modelId="{A1EC6AA3-8D11-4E09-A469-A60F78FCD857}" type="presOf" srcId="{F2E5693D-0EFD-458E-98CF-DCA495A21184}" destId="{EDA508CE-5441-40F4-BF43-22D7E4368061}" srcOrd="0" destOrd="0" presId="urn:microsoft.com/office/officeart/2005/8/layout/vList2"/>
    <dgm:cxn modelId="{224BBAE5-C656-472F-BABC-76B7509ECAB4}" type="presParOf" srcId="{5EF4972E-4643-43E2-B3AB-113B9B2E4FEA}" destId="{EDA508CE-5441-40F4-BF43-22D7E43680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22F9-F07C-4B23-BC93-E0F03E146D01}">
      <dsp:nvSpPr>
        <dsp:cNvPr id="0" name=""/>
        <dsp:cNvSpPr/>
      </dsp:nvSpPr>
      <dsp:spPr>
        <a:xfrm>
          <a:off x="0" y="1804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Central oxygen system 	- 1</a:t>
          </a:r>
        </a:p>
      </dsp:txBody>
      <dsp:txXfrm>
        <a:off x="19904" y="37951"/>
        <a:ext cx="4379792" cy="367937"/>
      </dsp:txXfrm>
    </dsp:sp>
    <dsp:sp modelId="{336BD10C-9BB5-469F-8BD4-A3494E0C75E9}">
      <dsp:nvSpPr>
        <dsp:cNvPr id="0" name=""/>
        <dsp:cNvSpPr/>
      </dsp:nvSpPr>
      <dsp:spPr>
        <a:xfrm>
          <a:off x="0" y="474752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High flow nasal cannula	- 5</a:t>
          </a:r>
        </a:p>
      </dsp:txBody>
      <dsp:txXfrm>
        <a:off x="19904" y="494656"/>
        <a:ext cx="4379792" cy="367937"/>
      </dsp:txXfrm>
    </dsp:sp>
    <dsp:sp modelId="{A893A7A7-CC28-4404-AD1A-6638F1AA5451}">
      <dsp:nvSpPr>
        <dsp:cNvPr id="0" name=""/>
        <dsp:cNvSpPr/>
      </dsp:nvSpPr>
      <dsp:spPr>
        <a:xfrm>
          <a:off x="0" y="93145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Oxygen concentrator	- 3</a:t>
          </a:r>
        </a:p>
      </dsp:txBody>
      <dsp:txXfrm>
        <a:off x="19904" y="951361"/>
        <a:ext cx="4379792" cy="367937"/>
      </dsp:txXfrm>
    </dsp:sp>
    <dsp:sp modelId="{CD71DDF5-A775-4A4F-B429-2F449530DD1D}">
      <dsp:nvSpPr>
        <dsp:cNvPr id="0" name=""/>
        <dsp:cNvSpPr/>
      </dsp:nvSpPr>
      <dsp:spPr>
        <a:xfrm>
          <a:off x="0" y="138816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Large oxygen cylinder	- 48 </a:t>
          </a:r>
        </a:p>
      </dsp:txBody>
      <dsp:txXfrm>
        <a:off x="19904" y="1408067"/>
        <a:ext cx="4379792" cy="367937"/>
      </dsp:txXfrm>
    </dsp:sp>
    <dsp:sp modelId="{DD6FDA14-5D81-4D91-815D-EF411B6DA3BB}">
      <dsp:nvSpPr>
        <dsp:cNvPr id="0" name=""/>
        <dsp:cNvSpPr/>
      </dsp:nvSpPr>
      <dsp:spPr>
        <a:xfrm>
          <a:off x="0" y="1844868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C-PAP machine		- 1</a:t>
          </a:r>
        </a:p>
      </dsp:txBody>
      <dsp:txXfrm>
        <a:off x="19904" y="1864772"/>
        <a:ext cx="4379792" cy="367937"/>
      </dsp:txXfrm>
    </dsp:sp>
    <dsp:sp modelId="{6325200D-4401-4F68-8132-B7BA410A12E6}">
      <dsp:nvSpPr>
        <dsp:cNvPr id="0" name=""/>
        <dsp:cNvSpPr/>
      </dsp:nvSpPr>
      <dsp:spPr>
        <a:xfrm>
          <a:off x="0" y="230157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Pick-up </a:t>
          </a:r>
          <a:r>
            <a:rPr lang="en-GB" sz="1700" kern="1200" dirty="0" err="1"/>
            <a:t>caverd</a:t>
          </a:r>
          <a:r>
            <a:rPr lang="en-GB" sz="1700" kern="1200" dirty="0"/>
            <a:t> van	- 1</a:t>
          </a:r>
        </a:p>
      </dsp:txBody>
      <dsp:txXfrm>
        <a:off x="19904" y="2321477"/>
        <a:ext cx="4379792" cy="367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2EB3B-4393-4F62-9896-6CAC1D8C7C9F}">
      <dsp:nvSpPr>
        <dsp:cNvPr id="0" name=""/>
        <dsp:cNvSpPr/>
      </dsp:nvSpPr>
      <dsp:spPr>
        <a:xfrm>
          <a:off x="0" y="77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Prime minister’s relief fund.</a:t>
          </a:r>
        </a:p>
      </dsp:txBody>
      <dsp:txXfrm>
        <a:off x="17563" y="25325"/>
        <a:ext cx="4232073" cy="324648"/>
      </dsp:txXfrm>
    </dsp:sp>
    <dsp:sp modelId="{4957D60D-9A48-45C1-BAC6-F3D37092E3B1}">
      <dsp:nvSpPr>
        <dsp:cNvPr id="0" name=""/>
        <dsp:cNvSpPr/>
      </dsp:nvSpPr>
      <dsp:spPr>
        <a:xfrm>
          <a:off x="0" y="41073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MP, Jhenaidah-2.</a:t>
          </a:r>
        </a:p>
      </dsp:txBody>
      <dsp:txXfrm>
        <a:off x="17563" y="428300"/>
        <a:ext cx="4232073" cy="324648"/>
      </dsp:txXfrm>
    </dsp:sp>
    <dsp:sp modelId="{648756C2-CBEA-4503-B679-343ADD8DA048}">
      <dsp:nvSpPr>
        <dsp:cNvPr id="0" name=""/>
        <dsp:cNvSpPr/>
      </dsp:nvSpPr>
      <dsp:spPr>
        <a:xfrm>
          <a:off x="0" y="81371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Mayor, </a:t>
          </a:r>
          <a:r>
            <a:rPr lang="en-GB" sz="1500" kern="1200" dirty="0" err="1"/>
            <a:t>Jhenaidah</a:t>
          </a:r>
          <a:r>
            <a:rPr lang="en-GB" sz="1500" kern="1200" dirty="0"/>
            <a:t> </a:t>
          </a:r>
          <a:r>
            <a:rPr lang="en-GB" sz="1500" kern="1200" dirty="0" err="1"/>
            <a:t>pourosova</a:t>
          </a:r>
          <a:r>
            <a:rPr lang="en-GB" sz="1500" kern="1200" dirty="0"/>
            <a:t>.</a:t>
          </a:r>
        </a:p>
      </dsp:txBody>
      <dsp:txXfrm>
        <a:off x="17563" y="831275"/>
        <a:ext cx="4232073" cy="324648"/>
      </dsp:txXfrm>
    </dsp:sp>
    <dsp:sp modelId="{67D1A4F1-4413-4A6E-B170-3E78BE79127C}">
      <dsp:nvSpPr>
        <dsp:cNvPr id="0" name=""/>
        <dsp:cNvSpPr/>
      </dsp:nvSpPr>
      <dsp:spPr>
        <a:xfrm>
          <a:off x="0" y="121668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Jaheedi Foundation.</a:t>
          </a:r>
        </a:p>
      </dsp:txBody>
      <dsp:txXfrm>
        <a:off x="17563" y="1234250"/>
        <a:ext cx="4232073" cy="324648"/>
      </dsp:txXfrm>
    </dsp:sp>
    <dsp:sp modelId="{CA20AB46-4D56-4B7A-B508-C9C3AA679FFD}">
      <dsp:nvSpPr>
        <dsp:cNvPr id="0" name=""/>
        <dsp:cNvSpPr/>
      </dsp:nvSpPr>
      <dsp:spPr>
        <a:xfrm>
          <a:off x="0" y="16196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Navana group.</a:t>
          </a:r>
        </a:p>
      </dsp:txBody>
      <dsp:txXfrm>
        <a:off x="17563" y="1637225"/>
        <a:ext cx="4232073" cy="324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508CE-5441-40F4-BF43-22D7E4368061}">
      <dsp:nvSpPr>
        <dsp:cNvPr id="0" name=""/>
        <dsp:cNvSpPr/>
      </dsp:nvSpPr>
      <dsp:spPr>
        <a:xfrm>
          <a:off x="0" y="254619"/>
          <a:ext cx="3962400" cy="647595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Value – Nearly 52 Lac taka </a:t>
          </a:r>
        </a:p>
      </dsp:txBody>
      <dsp:txXfrm>
        <a:off x="31613" y="286232"/>
        <a:ext cx="3899174" cy="58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928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430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4563" y="746125"/>
            <a:ext cx="4968875" cy="372745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202"/>
            <a:ext cx="5483225" cy="447556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49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93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4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57066" indent="-291179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64717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30604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96491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62377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28264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94151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960038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0EF894-5C7A-4186-AC86-C2AA879455C3}" type="slidenum">
              <a:rPr lang="en-US" altLang="en-US">
                <a:latin typeface="Arial" panose="020B0604020202020204" pitchFamily="34" charset="0"/>
              </a:rPr>
              <a:pPr/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60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56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41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86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2023/1/7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7" Type="http://schemas.openxmlformats.org/officeDocument/2006/relationships/image" Target="../media/image44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jpeg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.jpeg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4" Type="http://schemas.openxmlformats.org/officeDocument/2006/relationships/image" Target="../media/image7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jpeg"/><Relationship Id="rId4" Type="http://schemas.openxmlformats.org/officeDocument/2006/relationships/image" Target="../media/image7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-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615677"/>
              </p:ext>
            </p:extLst>
          </p:nvPr>
        </p:nvGraphicFramePr>
        <p:xfrm>
          <a:off x="144439" y="1295400"/>
          <a:ext cx="8823562" cy="462379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343400" y="6026060"/>
            <a:ext cx="461133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903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SEARC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6310072"/>
              </p:ext>
            </p:extLst>
          </p:nvPr>
        </p:nvGraphicFramePr>
        <p:xfrm>
          <a:off x="840105" y="1410155"/>
          <a:ext cx="7543800" cy="454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1063229"/>
            <a:ext cx="6172200" cy="762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2700" b="1" dirty="0"/>
              <a:t>A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354115" y="2371725"/>
            <a:ext cx="2343150" cy="97155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200" b="1" dirty="0"/>
              <a:t>Maximum utilization of Govt.</a:t>
            </a:r>
          </a:p>
          <a:p>
            <a:pPr algn="ctr" eaLnBrk="0" hangingPunct="0"/>
            <a:r>
              <a:rPr lang="en-US" sz="1200" b="1" dirty="0"/>
              <a:t>resources with </a:t>
            </a:r>
          </a:p>
          <a:p>
            <a:pPr algn="ctr" eaLnBrk="0" hangingPunct="0"/>
            <a:r>
              <a:rPr lang="en-US" sz="1200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354115" y="4686300"/>
            <a:ext cx="2400300" cy="914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200" b="1" dirty="0"/>
              <a:t>Providing Effective  services </a:t>
            </a:r>
          </a:p>
          <a:p>
            <a:pPr algn="ctr" eaLnBrk="0" hangingPunct="0"/>
            <a:r>
              <a:rPr lang="en-US" sz="1200" b="1" dirty="0"/>
              <a:t>through improved </a:t>
            </a:r>
          </a:p>
          <a:p>
            <a:pPr algn="ctr" eaLnBrk="0" hangingPunct="0"/>
            <a:r>
              <a:rPr lang="en-US" sz="1200" b="1" dirty="0"/>
              <a:t>management system.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2228850" y="2686050"/>
            <a:ext cx="1885950" cy="3429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150269" y="4972050"/>
            <a:ext cx="1828800" cy="3429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354115" y="3571875"/>
            <a:ext cx="2400300" cy="914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200" b="1" dirty="0"/>
              <a:t>Integrated approach of </a:t>
            </a:r>
          </a:p>
          <a:p>
            <a:pPr algn="ctr" eaLnBrk="0" hangingPunct="0"/>
            <a:r>
              <a:rPr lang="en-US" sz="1200" b="1" dirty="0"/>
              <a:t>Administration, Community</a:t>
            </a:r>
          </a:p>
          <a:p>
            <a:pPr algn="ctr" eaLnBrk="0" hangingPunct="0"/>
            <a:r>
              <a:rPr lang="en-US" sz="12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139553" y="3857625"/>
            <a:ext cx="1828800" cy="3429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102807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161887455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84187"/>
            <a:ext cx="7772400" cy="1470025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33600"/>
            <a:ext cx="8839200" cy="4572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3349"/>
              </p:ext>
            </p:extLst>
          </p:nvPr>
        </p:nvGraphicFramePr>
        <p:xfrm>
          <a:off x="324394" y="2264092"/>
          <a:ext cx="8229600" cy="4109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606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9093571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62594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498318">
                <a:tc>
                  <a:txBody>
                    <a:bodyPr/>
                    <a:lstStyle/>
                    <a:p>
                      <a:r>
                        <a:rPr lang="en-IN" dirty="0"/>
                        <a:t>  Criteria  of C-J  Model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Best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Weak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705483">
                <a:tc>
                  <a:txBody>
                    <a:bodyPr/>
                    <a:lstStyle/>
                    <a:p>
                      <a:r>
                        <a:rPr lang="en-IN" dirty="0"/>
                        <a:t> 1.Cycle stand close to the main gate.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498318">
                <a:tc>
                  <a:txBody>
                    <a:bodyPr/>
                    <a:lstStyle/>
                    <a:p>
                      <a:r>
                        <a:rPr lang="en-IN" dirty="0"/>
                        <a:t>2.Health Education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705483">
                <a:tc>
                  <a:txBody>
                    <a:bodyPr/>
                    <a:lstStyle/>
                    <a:p>
                      <a:r>
                        <a:rPr lang="en-IN" dirty="0"/>
                        <a:t>3.Cleanliness &amp;  beautification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705483">
                <a:tc>
                  <a:txBody>
                    <a:bodyPr/>
                    <a:lstStyle/>
                    <a:p>
                      <a:r>
                        <a:rPr lang="en-IN" dirty="0"/>
                        <a:t>4.Separation of patients  in out door &amp; indoor.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498318">
                <a:tc>
                  <a:txBody>
                    <a:bodyPr/>
                    <a:lstStyle/>
                    <a:p>
                      <a:r>
                        <a:rPr lang="en-IN" dirty="0"/>
                        <a:t>5.</a:t>
                      </a:r>
                      <a:r>
                        <a:rPr lang="en-IN" baseline="0" dirty="0"/>
                        <a:t>B</a:t>
                      </a:r>
                      <a:r>
                        <a:rPr lang="en-IN" dirty="0"/>
                        <a:t>lood  </a:t>
                      </a:r>
                      <a:r>
                        <a:rPr lang="en-IN" dirty="0" err="1"/>
                        <a:t>doner</a:t>
                      </a:r>
                      <a:r>
                        <a:rPr lang="en-IN" dirty="0"/>
                        <a:t> list with  24/7 B.T facility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4983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6.Birth- death recording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32907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698624"/>
          <a:ext cx="8305800" cy="468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07281843"/>
                    </a:ext>
                  </a:extLst>
                </a:gridCol>
              </a:tblGrid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Criteria  of C-J  Model.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Good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Week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7. Reception</a:t>
                      </a:r>
                      <a:r>
                        <a:rPr lang="en-IN" sz="1800" baseline="0" dirty="0"/>
                        <a:t> Desk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8 . Developed Emergency</a:t>
                      </a:r>
                      <a:r>
                        <a:rPr lang="en-IN" sz="1800" baseline="0" dirty="0"/>
                        <a:t>  Dept.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9. 5S</a:t>
                      </a:r>
                      <a:r>
                        <a:rPr lang="en-IN" sz="1800" baseline="0" dirty="0"/>
                        <a:t> –KAIZEN implementation.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10. Community</a:t>
                      </a:r>
                      <a:r>
                        <a:rPr lang="en-IN" sz="1800" baseline="0" dirty="0"/>
                        <a:t> Participation.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11. Hospital</a:t>
                      </a:r>
                      <a:r>
                        <a:rPr lang="en-IN" sz="1800" baseline="0" dirty="0"/>
                        <a:t> activities Display</a:t>
                      </a:r>
                      <a:endParaRPr lang="en-IN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GB" sz="1800" dirty="0"/>
                        <a:t>12. Corner based service.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13.Cash counter for receiving Govt. money.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1531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949089"/>
              </p:ext>
            </p:extLst>
          </p:nvPr>
        </p:nvGraphicFramePr>
        <p:xfrm>
          <a:off x="152400" y="2057400"/>
          <a:ext cx="8534400" cy="4724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82331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  <a:gridCol w="1081684">
                  <a:extLst>
                    <a:ext uri="{9D8B030D-6E8A-4147-A177-3AD203B41FA5}">
                      <a16:colId xmlns:a16="http://schemas.microsoft.com/office/drawing/2014/main" val="968595212"/>
                    </a:ext>
                  </a:extLst>
                </a:gridCol>
              </a:tblGrid>
              <a:tr h="550821">
                <a:tc>
                  <a:txBody>
                    <a:bodyPr/>
                    <a:lstStyle/>
                    <a:p>
                      <a:r>
                        <a:rPr lang="en-IN" sz="1800" dirty="0"/>
                        <a:t>Criteria  of C-J   Model.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Good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Week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14.Devolped</a:t>
                      </a:r>
                      <a:r>
                        <a:rPr lang="en-IN" sz="1800" baseline="0" dirty="0"/>
                        <a:t> maternal health/labour word.</a:t>
                      </a:r>
                      <a:endParaRPr lang="en-GB" sz="18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15.Devolped</a:t>
                      </a:r>
                      <a:r>
                        <a:rPr lang="en-IN" sz="1800" baseline="0" dirty="0"/>
                        <a:t> paediatric health</a:t>
                      </a:r>
                      <a:endParaRPr lang="en-GB" sz="18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17. Power point Presentation &amp;Video on UHC</a:t>
                      </a:r>
                      <a:endParaRPr lang="en-GB" sz="18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18.Knowledge about 7</a:t>
                      </a:r>
                      <a:r>
                        <a:rPr lang="en-GB" sz="1800" baseline="30000" dirty="0"/>
                        <a:t>th</a:t>
                      </a:r>
                      <a:r>
                        <a:rPr lang="en-GB" sz="1800" dirty="0"/>
                        <a:t> 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6729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381000"/>
            <a:ext cx="7543800" cy="13906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600" b="1" dirty="0"/>
              <a:t>Background History  of </a:t>
            </a:r>
            <a:r>
              <a:rPr lang="en-US" sz="3600" b="1" dirty="0" err="1"/>
              <a:t>Chowgacha</a:t>
            </a:r>
            <a:r>
              <a:rPr lang="en-US" sz="3600" b="1" dirty="0"/>
              <a:t> Health </a:t>
            </a:r>
            <a:r>
              <a:rPr lang="en-US" sz="3600" b="1" dirty="0" err="1"/>
              <a:t>Complex,Model</a:t>
            </a:r>
            <a:endParaRPr lang="en-US" sz="36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71650"/>
            <a:ext cx="8001000" cy="510812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dirty="0"/>
              <a:t>       *</a:t>
            </a:r>
            <a:r>
              <a:rPr lang="en-US" sz="1800" b="1" dirty="0" err="1"/>
              <a:t>Choowgacha</a:t>
            </a:r>
            <a:r>
              <a:rPr lang="en-US" sz="1800" b="1" dirty="0"/>
              <a:t> UHC Model  starts in 1985 and effectively in Feb. 1996. 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endParaRPr lang="en-US" sz="1800" b="1" dirty="0"/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u="sng" dirty="0"/>
              <a:t>         *From January 1995 to 1997 </a:t>
            </a:r>
            <a:r>
              <a:rPr lang="en-US" sz="1800" b="1" u="sng" dirty="0">
                <a:solidFill>
                  <a:srgbClr val="0000FF"/>
                </a:solidFill>
              </a:rPr>
              <a:t>JICA</a:t>
            </a:r>
            <a:r>
              <a:rPr lang="en-US" sz="1800" b="1" u="sng" dirty="0"/>
              <a:t>  by Frontline MCH Program to  by giving technical and logistic supports.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endParaRPr lang="en-US" sz="1800" b="1" u="sng" dirty="0"/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u="sng" dirty="0"/>
              <a:t>        * From 1998 </a:t>
            </a:r>
            <a:r>
              <a:rPr lang="en-US" sz="1800" b="1" u="sng" dirty="0">
                <a:solidFill>
                  <a:srgbClr val="0000FF"/>
                </a:solidFill>
              </a:rPr>
              <a:t>DGHS</a:t>
            </a:r>
            <a:r>
              <a:rPr lang="en-US" sz="1800" b="1" u="sng" dirty="0"/>
              <a:t> &amp; </a:t>
            </a:r>
            <a:r>
              <a:rPr lang="en-US" sz="1800" b="1" u="sng" dirty="0">
                <a:solidFill>
                  <a:srgbClr val="0000FF"/>
                </a:solidFill>
              </a:rPr>
              <a:t>UNICEF</a:t>
            </a:r>
            <a:r>
              <a:rPr lang="en-US" sz="1800" b="1" u="sng" dirty="0"/>
              <a:t> have continued the support.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endParaRPr lang="en-US" sz="1800" b="1" u="sng" dirty="0"/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endParaRPr lang="en-US" sz="18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sz="1800" b="1" dirty="0">
                <a:solidFill>
                  <a:srgbClr val="0000FF"/>
                </a:solidFill>
              </a:rPr>
              <a:t>&lt;4 Special activities&gt;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1800" b="1" dirty="0">
                <a:solidFill>
                  <a:srgbClr val="0000FF"/>
                </a:solidFill>
              </a:rPr>
              <a:t>ANC-Corner</a:t>
            </a:r>
            <a:endParaRPr lang="en-US" sz="18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1800" b="1" dirty="0">
                <a:solidFill>
                  <a:srgbClr val="0000FF"/>
                </a:solidFill>
              </a:rPr>
              <a:t>Basic EOC service</a:t>
            </a:r>
            <a:r>
              <a:rPr lang="en-US" sz="18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1800" b="1" dirty="0">
                <a:solidFill>
                  <a:srgbClr val="0000FF"/>
                </a:solidFill>
              </a:rPr>
              <a:t>Under 5 corner for under 5 children</a:t>
            </a:r>
            <a:r>
              <a:rPr lang="en-US" sz="18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1800" b="1" dirty="0">
                <a:solidFill>
                  <a:srgbClr val="0000FF"/>
                </a:solidFill>
              </a:rPr>
              <a:t>Monthly birth and death record</a:t>
            </a:r>
            <a:endParaRPr lang="en-US" sz="1800" b="1" dirty="0"/>
          </a:p>
          <a:p>
            <a:pPr marL="0" indent="0">
              <a:lnSpc>
                <a:spcPct val="80000"/>
              </a:lnSpc>
              <a:buNone/>
            </a:pPr>
            <a:r>
              <a:rPr lang="en-US" sz="1350" b="1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6764012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794095"/>
            <a:ext cx="3248553" cy="2193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85725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1586446"/>
            <a:ext cx="3072205" cy="2071154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33" y="3758665"/>
            <a:ext cx="307220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1600200"/>
            <a:ext cx="95619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733800"/>
            <a:ext cx="1427535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50-bedded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0" y="3810000"/>
            <a:ext cx="1311578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31-bedded UHC</a:t>
            </a:r>
            <a:endParaRPr lang="en-US" sz="1350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1586447"/>
            <a:ext cx="3286014" cy="204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1581009"/>
            <a:ext cx="93373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73780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1295401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Blood donation program stared in 16 December, 1996 in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UHC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on ‘Importance of birth &amp; death registration and prevention of early marriage’ at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Degree College in 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guest.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2000675"/>
            <a:ext cx="3623930" cy="513638"/>
          </a:xfrm>
        </p:spPr>
        <p:txBody>
          <a:bodyPr>
            <a:normAutofit fontScale="77500" lnSpcReduction="20000"/>
          </a:bodyPr>
          <a:lstStyle/>
          <a:p>
            <a:r>
              <a:rPr lang="en-US" sz="2100" dirty="0"/>
              <a:t>Cycle stand near the entrance</a:t>
            </a:r>
            <a:r>
              <a:rPr lang="en-US" dirty="0"/>
              <a:t>	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91885"/>
            <a:ext cx="4127500" cy="2800350"/>
          </a:xfrm>
        </p:spPr>
      </p:pic>
      <p:sp>
        <p:nvSpPr>
          <p:cNvPr id="9" name="Rectangle 8"/>
          <p:cNvSpPr/>
          <p:nvPr/>
        </p:nvSpPr>
        <p:spPr>
          <a:xfrm>
            <a:off x="1295400" y="5107209"/>
            <a:ext cx="47244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“</a:t>
            </a:r>
            <a:r>
              <a:rPr lang="en-US" sz="1700" b="1" dirty="0" err="1"/>
              <a:t>Pushti</a:t>
            </a:r>
            <a:r>
              <a:rPr lang="en-US" sz="1700" b="1" dirty="0"/>
              <a:t> Tray” – Nutritional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9800" y="1046013"/>
            <a:ext cx="601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Chowgacha Health Complex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49825"/>
            <a:ext cx="3962399" cy="24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1548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276600" y="2819400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Citizen Charter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838200"/>
            <a:ext cx="3441700" cy="516255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846618"/>
            <a:ext cx="3429000" cy="51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0754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775857" y="1285910"/>
            <a:ext cx="3962400" cy="471487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Labour</a:t>
            </a:r>
            <a:r>
              <a:rPr lang="en-US" sz="1800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1066800" y="5791200"/>
            <a:ext cx="3972508" cy="471487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Rest room for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/>
              <a:t>TOTAL</a:t>
            </a:r>
            <a:r>
              <a:rPr lang="en-US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sz="2000" dirty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228600" y="4168568"/>
            <a:ext cx="4724400" cy="1474509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/>
              <a:t>Secretary of MOHFW A.K.M. </a:t>
            </a:r>
            <a:r>
              <a:rPr lang="en-US" altLang="en-US" sz="1400" b="1" dirty="0" err="1"/>
              <a:t>Zaforullah</a:t>
            </a:r>
            <a:r>
              <a:rPr lang="en-US" altLang="en-US" sz="1400" b="1" dirty="0"/>
              <a:t> Khan </a:t>
            </a:r>
          </a:p>
          <a:p>
            <a:pPr algn="ctr"/>
            <a:r>
              <a:rPr lang="en-US" altLang="en-US" sz="1400" b="1" dirty="0"/>
              <a:t>declared “</a:t>
            </a:r>
            <a:r>
              <a:rPr lang="en-US" altLang="en-US" sz="1400" b="1" dirty="0" err="1"/>
              <a:t>Chowgacha</a:t>
            </a:r>
            <a:r>
              <a:rPr lang="en-US" altLang="en-US" sz="1400" b="1" dirty="0"/>
              <a:t> UHC model” in DSF</a:t>
            </a:r>
          </a:p>
          <a:p>
            <a:pPr algn="ctr"/>
            <a:r>
              <a:rPr lang="en-US" altLang="en-US" sz="1400" b="1" dirty="0"/>
              <a:t> voucher distribution ceremony on 20 June-2008</a:t>
            </a:r>
          </a:p>
        </p:txBody>
      </p:sp>
      <p:pic>
        <p:nvPicPr>
          <p:cNvPr id="13315" name="Picture 4" descr="IMGP23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2472"/>
            <a:ext cx="3651324" cy="320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11358" y="1295400"/>
            <a:ext cx="4337124" cy="1730895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400" b="1" dirty="0"/>
              <a:t>Honorable Health Minister Prof </a:t>
            </a:r>
            <a:r>
              <a:rPr lang="en-US" sz="1400" b="1" dirty="0">
                <a:latin typeface="+mn-lt"/>
              </a:rPr>
              <a:t>Dr. </a:t>
            </a:r>
            <a:r>
              <a:rPr lang="en-US" sz="1400" b="1" dirty="0" err="1">
                <a:latin typeface="+mn-lt"/>
              </a:rPr>
              <a:t>Ruhul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Haque</a:t>
            </a:r>
            <a:endParaRPr lang="en-US" sz="1400" b="1" dirty="0">
              <a:latin typeface="+mn-lt"/>
            </a:endParaRPr>
          </a:p>
          <a:p>
            <a:pPr algn="ctr"/>
            <a:r>
              <a:rPr lang="en-US" sz="1400" b="1" dirty="0">
                <a:latin typeface="+mn-lt"/>
              </a:rPr>
              <a:t> MP with WHO Representative handing over </a:t>
            </a:r>
          </a:p>
          <a:p>
            <a:pPr algn="ctr"/>
            <a:r>
              <a:rPr lang="en-US" sz="1400" b="1" dirty="0">
                <a:latin typeface="+mn-lt"/>
              </a:rPr>
              <a:t>money and gift of voucher scheme of </a:t>
            </a:r>
            <a:r>
              <a:rPr lang="en-US" sz="1400" b="1" dirty="0"/>
              <a:t>DSF</a:t>
            </a:r>
            <a:endParaRPr lang="en-US" altLang="en-US" sz="1400" b="1" dirty="0"/>
          </a:p>
        </p:txBody>
      </p:sp>
      <p:pic>
        <p:nvPicPr>
          <p:cNvPr id="6" name="Picture 4" descr="Razzak_Remove (Mama)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38004"/>
            <a:ext cx="3790749" cy="2837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0"/>
            <a:ext cx="621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Visit by Dignitaries – UHC Chowgacha</a:t>
            </a:r>
          </a:p>
        </p:txBody>
      </p:sp>
      <p:sp>
        <p:nvSpPr>
          <p:cNvPr id="8" name="Left Arrow 7"/>
          <p:cNvSpPr/>
          <p:nvPr/>
        </p:nvSpPr>
        <p:spPr>
          <a:xfrm>
            <a:off x="4113545" y="171787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Arrow 9"/>
          <p:cNvSpPr/>
          <p:nvPr/>
        </p:nvSpPr>
        <p:spPr>
          <a:xfrm rot="10800000">
            <a:off x="4546092" y="4684335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230255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220200" cy="79102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Acheivement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72" y="791028"/>
            <a:ext cx="9178471" cy="6066971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awarded for EPI in 1988,” Best </a:t>
            </a:r>
            <a:r>
              <a:rPr lang="en-US" sz="2400" b="1" dirty="0" err="1"/>
              <a:t>PerformanceAward</a:t>
            </a:r>
            <a:r>
              <a:rPr lang="en-US" sz="2400" b="1" dirty="0"/>
              <a:t>” in </a:t>
            </a:r>
            <a:r>
              <a:rPr lang="en-US" sz="2400" b="1" dirty="0">
                <a:solidFill>
                  <a:srgbClr val="FF0000"/>
                </a:solidFill>
              </a:rPr>
              <a:t>EOC form 2005 to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 2014 &amp;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Health Ministers Award 2017, 2018 &amp; 2020,2022.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In </a:t>
            </a:r>
            <a:r>
              <a:rPr lang="en-US" sz="2400" b="1" dirty="0">
                <a:solidFill>
                  <a:srgbClr val="FF0000"/>
                </a:solidFill>
              </a:rPr>
              <a:t>2008</a:t>
            </a:r>
            <a:r>
              <a:rPr lang="en-US" sz="2400" b="1" dirty="0"/>
              <a:t>, </a:t>
            </a:r>
            <a:r>
              <a:rPr lang="en-US" sz="2400" b="1" dirty="0" err="1"/>
              <a:t>Chowgacha</a:t>
            </a:r>
            <a:r>
              <a:rPr lang="en-US" sz="2400" b="1" dirty="0"/>
              <a:t> Health Complex declared as the “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24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 Health Complex by the M0HFW</a:t>
            </a:r>
            <a:endParaRPr lang="en-US" sz="24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 became the </a:t>
            </a:r>
            <a:r>
              <a:rPr lang="en-US" sz="2400" b="1" dirty="0">
                <a:solidFill>
                  <a:srgbClr val="FF0000"/>
                </a:solidFill>
              </a:rPr>
              <a:t>best EOC center having 41(11+30)  with 98.4%(4413) hospital delivery rate in 2011.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The UHC starts upgrade to 100  bedded hospital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model is being replicated throughout the country by DGHS, MOH &amp; FW since 2016 by the order of Prime Ministers office</a:t>
            </a:r>
          </a:p>
        </p:txBody>
      </p:sp>
    </p:spTree>
    <p:extLst>
      <p:ext uri="{BB962C8B-B14F-4D97-AF65-F5344CB8AC3E}">
        <p14:creationId xmlns:p14="http://schemas.microsoft.com/office/powerpoint/2010/main" val="140766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105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/>
          </a:p>
          <a:p>
            <a:pPr algn="just">
              <a:defRPr/>
            </a:pPr>
            <a:r>
              <a:rPr lang="en-US" sz="3000" b="1" dirty="0" err="1"/>
              <a:t>Insecured</a:t>
            </a:r>
            <a:r>
              <a:rPr lang="en-US" sz="3000" b="1" dirty="0"/>
              <a:t>  hospital environment.</a:t>
            </a:r>
          </a:p>
          <a:p>
            <a:pPr algn="just">
              <a:defRPr/>
            </a:pPr>
            <a:r>
              <a:rPr lang="en-US" sz="3000" b="1" dirty="0"/>
              <a:t>Performance of all activities was very low.</a:t>
            </a:r>
          </a:p>
          <a:p>
            <a:pPr algn="just">
              <a:defRPr/>
            </a:pPr>
            <a:r>
              <a:rPr lang="en-US" sz="3000" b="1" dirty="0"/>
              <a:t>Very limited support staff.</a:t>
            </a:r>
          </a:p>
          <a:p>
            <a:pPr algn="just">
              <a:defRPr/>
            </a:pPr>
            <a:r>
              <a:rPr lang="en-US" sz="3000" b="1" dirty="0"/>
              <a:t>3 doctors including RMO was suspended. </a:t>
            </a:r>
          </a:p>
          <a:p>
            <a:pPr algn="just">
              <a:defRPr/>
            </a:pPr>
            <a:r>
              <a:rPr lang="en-US" sz="3000" b="1" dirty="0"/>
              <a:t>48 Non-gov. staff. demanding money from the patients.</a:t>
            </a:r>
          </a:p>
          <a:p>
            <a:pPr algn="just">
              <a:defRPr/>
            </a:pPr>
            <a:r>
              <a:rPr lang="en-US" sz="3000" b="1" dirty="0"/>
              <a:t>Waste management system was poor.</a:t>
            </a:r>
          </a:p>
          <a:p>
            <a:pPr algn="just">
              <a:defRPr/>
            </a:pPr>
            <a:r>
              <a:rPr lang="en-US" sz="3000" b="1" dirty="0"/>
              <a:t>Monitoring meeting was not performed regularl</a:t>
            </a:r>
            <a:r>
              <a:rPr lang="en-US" sz="2800" b="1" dirty="0"/>
              <a:t>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35536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19100" y="609600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572270648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3068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645567418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   </a:t>
            </a:r>
            <a:r>
              <a:rPr lang="en-US" b="1" dirty="0">
                <a:solidFill>
                  <a:srgbClr val="0070C0"/>
                </a:solidFill>
              </a:rPr>
              <a:t>Emergency + Outdoor visit</a:t>
            </a:r>
            <a:r>
              <a:rPr lang="en-US" dirty="0"/>
              <a:t>,       </a:t>
            </a:r>
            <a:r>
              <a:rPr lang="en-US" dirty="0">
                <a:solidFill>
                  <a:srgbClr val="C00000"/>
                </a:solidFill>
              </a:rPr>
              <a:t>Indoor (admission)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0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/>
              <a:t>Total ANC and Delivery in Jhenaidah District Hospital 2011-2019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802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ea typeface="Calibri"/>
                <a:cs typeface="Vrinda"/>
              </a:rPr>
              <a:t>3 best performing </a:t>
            </a:r>
            <a:r>
              <a:rPr lang="en-US" sz="2800" b="1" dirty="0" err="1">
                <a:ea typeface="Calibri"/>
                <a:cs typeface="Vrinda"/>
              </a:rPr>
              <a:t>EmOC</a:t>
            </a:r>
            <a:r>
              <a:rPr lang="en-US" sz="2800" b="1" dirty="0">
                <a:ea typeface="Calibri"/>
                <a:cs typeface="Vrinda"/>
              </a:rPr>
              <a:t> Hospital in Khulna division - 2017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26131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Ward and EOC Ward </a:t>
            </a:r>
          </a:p>
        </p:txBody>
      </p:sp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45100" y="782955"/>
            <a:ext cx="3589753" cy="274510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04800" y="782955"/>
            <a:ext cx="3789183" cy="272750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3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</a:p>
        </p:txBody>
      </p:sp>
    </p:spTree>
    <p:extLst>
      <p:ext uri="{BB962C8B-B14F-4D97-AF65-F5344CB8AC3E}">
        <p14:creationId xmlns:p14="http://schemas.microsoft.com/office/powerpoint/2010/main" val="192547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799"/>
            <a:ext cx="4424362" cy="2996821"/>
          </a:xfrm>
        </p:spPr>
      </p:pic>
      <p:pic>
        <p:nvPicPr>
          <p:cNvPr id="7577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4495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38600"/>
            <a:ext cx="449897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4259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community supported manpower -  2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88813" y="4038600"/>
            <a:ext cx="864339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Guard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8817" y="685800"/>
            <a:ext cx="14671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Trolley man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8112949" y="685800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Cleaner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689756" y="4038600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Nursing aid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57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52112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401048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73" y="4185782"/>
            <a:ext cx="4067270" cy="252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Administrator &amp; Mayor in Sadar Hospital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870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>
                <a:solidFill>
                  <a:srgbClr val="FF0000"/>
                </a:solidFill>
              </a:rPr>
              <a:t>Perticipation</a:t>
            </a:r>
            <a:r>
              <a:rPr lang="en-US" sz="1500" b="1" dirty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5691266" y="3850856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A3BB88F7-AC78-4669-9407-FFB2212920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479" y="954520"/>
            <a:ext cx="3847874" cy="25961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A6D52DD-003A-4D35-984E-B94CFFD4555C}"/>
              </a:ext>
            </a:extLst>
          </p:cNvPr>
          <p:cNvSpPr/>
          <p:nvPr/>
        </p:nvSpPr>
        <p:spPr>
          <a:xfrm>
            <a:off x="4957563" y="582377"/>
            <a:ext cx="3651705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DC, </a:t>
            </a:r>
            <a:r>
              <a:rPr lang="en-US" sz="1500" b="1" dirty="0" err="1">
                <a:solidFill>
                  <a:srgbClr val="FF0000"/>
                </a:solidFill>
              </a:rPr>
              <a:t>Jhenaidah</a:t>
            </a:r>
            <a:r>
              <a:rPr lang="en-US" sz="1500" b="1" dirty="0">
                <a:solidFill>
                  <a:srgbClr val="FF0000"/>
                </a:solidFill>
              </a:rPr>
              <a:t> Visited </a:t>
            </a:r>
            <a:r>
              <a:rPr lang="en-US" sz="1500" b="1" dirty="0" err="1">
                <a:solidFill>
                  <a:srgbClr val="FF0000"/>
                </a:solidFill>
              </a:rPr>
              <a:t>Sadar</a:t>
            </a:r>
            <a:r>
              <a:rPr lang="en-US" sz="1500" b="1" dirty="0">
                <a:solidFill>
                  <a:srgbClr val="FF0000"/>
                </a:solidFill>
              </a:rPr>
              <a:t> Hospital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44816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946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670561"/>
            <a:ext cx="4047260" cy="2698173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70561"/>
            <a:ext cx="4402282" cy="2698173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642361"/>
            <a:ext cx="4402282" cy="31242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642361"/>
            <a:ext cx="4047259" cy="31242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DA632E-D6A3-42BC-B01B-A055C1EBB13F}"/>
              </a:ext>
            </a:extLst>
          </p:cNvPr>
          <p:cNvSpPr txBox="1">
            <a:spLocks/>
          </p:cNvSpPr>
          <p:nvPr/>
        </p:nvSpPr>
        <p:spPr>
          <a:xfrm>
            <a:off x="152399" y="43210"/>
            <a:ext cx="8847859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Innovation in Medicine Ward</a:t>
            </a:r>
          </a:p>
        </p:txBody>
      </p:sp>
    </p:spTree>
    <p:extLst>
      <p:ext uri="{BB962C8B-B14F-4D97-AF65-F5344CB8AC3E}">
        <p14:creationId xmlns:p14="http://schemas.microsoft.com/office/powerpoint/2010/main" val="133199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3074" name="Picture 2" descr="F:\Hospital Picture\New 2022\IMG_5268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62000"/>
            <a:ext cx="4419600" cy="2819400"/>
          </a:xfrm>
          <a:prstGeom prst="rect">
            <a:avLst/>
          </a:prstGeom>
          <a:noFill/>
        </p:spPr>
      </p:pic>
      <p:pic>
        <p:nvPicPr>
          <p:cNvPr id="3077" name="Picture 5" descr="F:\Hospital Picture\New 2022\IMG_5270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685800"/>
            <a:ext cx="4489450" cy="2909888"/>
          </a:xfrm>
          <a:prstGeom prst="rect">
            <a:avLst/>
          </a:prstGeom>
          <a:noFill/>
        </p:spPr>
      </p:pic>
      <p:pic>
        <p:nvPicPr>
          <p:cNvPr id="3081" name="Picture 9" descr="C:\Users\USER\Desktop\rsz_1img_5277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657600"/>
            <a:ext cx="4419600" cy="3200400"/>
          </a:xfrm>
          <a:prstGeom prst="rect">
            <a:avLst/>
          </a:prstGeom>
          <a:noFill/>
        </p:spPr>
      </p:pic>
      <p:pic>
        <p:nvPicPr>
          <p:cNvPr id="1026" name="Picture 2" descr="C:\Users\USER\Desktop\Screenshot_1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95800" y="3657601"/>
            <a:ext cx="4648200" cy="3200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904043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5">
            <a:extLst>
              <a:ext uri="{FF2B5EF4-FFF2-40B4-BE49-F238E27FC236}">
                <a16:creationId xmlns:a16="http://schemas.microsoft.com/office/drawing/2014/main" id="{879CCA2B-0EFA-40EE-A405-083B9857D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688079"/>
            <a:ext cx="4451959" cy="2844284"/>
          </a:xfrm>
          <a:prstGeom prst="rect">
            <a:avLst/>
          </a:prstGeom>
          <a:noFill/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38411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1" y="3657599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4842113" y="3915261"/>
            <a:ext cx="404469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Pcikup</a:t>
            </a:r>
            <a:r>
              <a:rPr lang="en-US" b="1" dirty="0">
                <a:solidFill>
                  <a:srgbClr val="FF0000"/>
                </a:solidFill>
              </a:rPr>
              <a:t> van by </a:t>
            </a:r>
            <a:r>
              <a:rPr lang="en-US" b="1" dirty="0" err="1">
                <a:solidFill>
                  <a:srgbClr val="FF0000"/>
                </a:solidFill>
              </a:rPr>
              <a:t>Jahedee</a:t>
            </a:r>
            <a:r>
              <a:rPr lang="en-US" b="1" dirty="0">
                <a:solidFill>
                  <a:srgbClr val="FF0000"/>
                </a:solidFill>
              </a:rPr>
              <a:t> Foundation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Extension </a:t>
            </a:r>
            <a:r>
              <a:rPr lang="en-US" b="1" dirty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305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1. Active Community Participation in health service is an example in Bangladesh.</a:t>
            </a:r>
          </a:p>
          <a:p>
            <a:pPr marL="0" algn="just">
              <a:defRPr/>
            </a:pPr>
            <a:r>
              <a:rPr lang="en-US" sz="2000" dirty="0"/>
              <a:t> </a:t>
            </a:r>
          </a:p>
          <a:p>
            <a:pPr marL="0" algn="just">
              <a:defRPr/>
            </a:pPr>
            <a:r>
              <a:rPr lang="en-US" sz="2000" b="1" dirty="0"/>
              <a:t>2. Improved   performance  of all IPD &amp; OPD services.</a:t>
            </a:r>
          </a:p>
          <a:p>
            <a:pPr marL="0">
              <a:defRPr/>
            </a:pPr>
            <a:endParaRPr lang="en-US" sz="2000" b="1" dirty="0"/>
          </a:p>
          <a:p>
            <a:pPr marL="0">
              <a:defRPr/>
            </a:pPr>
            <a:r>
              <a:rPr lang="en-US" sz="2000" b="1" dirty="0"/>
              <a:t>3. Improved cleanliness and beautification of campus.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4.. The hospital is awarded 7 times from 2013 to 2020. </a:t>
            </a:r>
            <a:endParaRPr lang="en-US" sz="2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5. Improved Security &amp; financial management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8.The hospital is upgraded to 250 bedded General Hospital with post creation in 2021.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7. Replication of C- J Model by DGHS in 20 District hospital &amp; 40 UHC.</a:t>
            </a:r>
          </a:p>
          <a:p>
            <a:pPr marL="0" algn="just">
              <a:defRPr/>
            </a:pPr>
            <a:r>
              <a:rPr lang="en-US" sz="2000" b="1" dirty="0"/>
              <a:t> </a:t>
            </a:r>
          </a:p>
          <a:p>
            <a:pPr marL="0" algn="just"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66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71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A4BC-8525-4EEB-B12A-B9E74D66F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1"/>
            <a:ext cx="7772400" cy="838200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2700" b="1" dirty="0"/>
              <a:t>7th Five Year Plan, Health, Nutrition and Population Target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A224D-FBD7-4615-A81A-D241A6E7F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524000"/>
            <a:ext cx="7772400" cy="4953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4E81D3-7098-4160-B448-0E2EFC6A2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781318"/>
              </p:ext>
            </p:extLst>
          </p:nvPr>
        </p:nvGraphicFramePr>
        <p:xfrm>
          <a:off x="457200" y="950340"/>
          <a:ext cx="8077200" cy="5298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0490598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133118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30428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9636225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05302822"/>
                    </a:ext>
                  </a:extLst>
                </a:gridCol>
              </a:tblGrid>
              <a:tr h="10805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2022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845806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life expectancy at birth (in year)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70.4 (SVRS 2013)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546600"/>
                  </a:ext>
                </a:extLst>
              </a:tr>
              <a:tr h="6139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Under five mortality rate (per 1000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46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2334868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Infant (0-1 </a:t>
                      </a:r>
                      <a:r>
                        <a:rPr lang="en-GB" sz="16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yr</a:t>
                      </a: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) mortality rate (per 1000 live births)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38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3982229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Maternal mortality ratio (per 100000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170 (MMEIG 2013)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96337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ratio of underweight children under 5 years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32.6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646935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stunting in under 5 years children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36.1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703974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fertility rate (children per head of every woman of reproductive age)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2.3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15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64015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FA4A883-3C96-4EE0-8381-49912B31C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918485"/>
              </p:ext>
            </p:extLst>
          </p:nvPr>
        </p:nvGraphicFramePr>
        <p:xfrm>
          <a:off x="609600" y="457200"/>
          <a:ext cx="8153400" cy="5964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4163680596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579610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9449429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41929515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38225704"/>
                    </a:ext>
                  </a:extLst>
                </a:gridCol>
              </a:tblGrid>
              <a:tr h="7770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Contraceptive prevalence rate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62.4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311156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Immunization coverage among Children under the age of one year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78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18188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childbirth (%) delivery by trained person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42.1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031442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of institutional delivery according to wealth status (ratio of highest and lowest fifth)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15:69.5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1:3.5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319560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Tuberculosis identification rate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53 (GTR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01630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Neonatal mortality rate per 1000 live birth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 (2014)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911778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wasting rate of children aged under five years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5877409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Ante-natal Health Care (ANC) 4</a:t>
                      </a:r>
                      <a:r>
                        <a:rPr lang="en-GB" sz="1600" baseline="300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visit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09798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13643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8A62065-D262-4C8B-AA7F-FA5E49DED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167771"/>
              </p:ext>
            </p:extLst>
          </p:nvPr>
        </p:nvGraphicFramePr>
        <p:xfrm>
          <a:off x="762000" y="457200"/>
          <a:ext cx="8077200" cy="592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65044690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3299152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63992833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605533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82910588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2022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9115656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Exclusive Breastfeeding infant under 6 months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55.3 (2014)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240276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Adolescent fertility rate (15-19) per 1000 married couple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1005158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Deaths due to NCD per ten thousand population (30 - 69 years)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3266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18.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Heart disease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18.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5430159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Cancer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727304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Diabetes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4353527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BD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BD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Chronic respiratory illness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BD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7903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87164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A4BC-8525-4EEB-B12A-B9E74D66F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1"/>
            <a:ext cx="7772400" cy="838200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2700" b="1" dirty="0"/>
              <a:t>8th Five Year Plan, Health, Nutrition and Population Target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A224D-FBD7-4615-A81A-D241A6E7F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524000"/>
            <a:ext cx="7772400" cy="4953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4E81D3-7098-4160-B448-0E2EFC6A2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898508"/>
              </p:ext>
            </p:extLst>
          </p:nvPr>
        </p:nvGraphicFramePr>
        <p:xfrm>
          <a:off x="457200" y="950340"/>
          <a:ext cx="8077200" cy="5333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0490598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133118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30428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9636225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05302822"/>
                    </a:ext>
                  </a:extLst>
                </a:gridCol>
              </a:tblGrid>
              <a:tr h="10805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Year2019)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8th Five-Year Plan is only by 2025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845806"/>
                  </a:ext>
                </a:extLst>
              </a:tr>
              <a:tr h="6361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life expectancy at birth (in year)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72.6 (SVRS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546600"/>
                  </a:ext>
                </a:extLst>
              </a:tr>
              <a:tr h="6139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Under five mortality rate (per 1000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2334868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Infant (0-1,year) mortality rate (per 1000 live births)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21(SVRS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3982229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Maternal mortality ratio (per 100000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165 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96337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ratio of underweight children under 5 years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32.6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646935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stunting in under 5 years children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28%(MICS- 2019)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703974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fertility rate (children per head of every woman of reproductive age)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2.04(SVRS- 2019)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15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50876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FA4A883-3C96-4EE0-8381-49912B31C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257472"/>
              </p:ext>
            </p:extLst>
          </p:nvPr>
        </p:nvGraphicFramePr>
        <p:xfrm>
          <a:off x="609600" y="457200"/>
          <a:ext cx="8153400" cy="5964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4163680596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579610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9449429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41929515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38225704"/>
                    </a:ext>
                  </a:extLst>
                </a:gridCol>
              </a:tblGrid>
              <a:tr h="7770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Contraceptive prevalence rate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63.4 (SVRS 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311156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Immunization coverage among Children under the age of one year(%)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98(%)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18188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childbirth (%) delivery by trained person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59 (MICS- 2019)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0314428"/>
                  </a:ext>
                </a:extLst>
              </a:tr>
              <a:tr h="795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of institutional delivery according to wealth status (ratio of highest and lowest fifth)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1:3 (BDHS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1:1.5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319560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Tuberculosis </a:t>
                      </a:r>
                      <a:r>
                        <a:rPr lang="en-GB" sz="160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incidance 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/1,00,000 pop.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221(GTR-2019)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01630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Neonatal mortality rate per 1000 live birth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 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911778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Mortality rate by NCD(Cardiovascular, Cancer </a:t>
                      </a:r>
                      <a:r>
                        <a:rPr lang="en-GB" sz="1600" dirty="0" err="1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Diabetis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GB" sz="1600" dirty="0" err="1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Chorinicrespiratory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illness)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Vrinda" panose="020B0502040204020203" pitchFamily="34" charset="0"/>
                        </a:rPr>
                        <a:t>21.6(WHO-2019)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Vrinda" panose="020B0502040204020203" pitchFamily="34" charset="0"/>
                        </a:rPr>
                        <a:t>16.8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5877409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Ante-natal Health Care (ANC) 4</a:t>
                      </a:r>
                      <a:r>
                        <a:rPr lang="en-GB" sz="1600" baseline="300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visit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09798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62607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59A3C3C-9BC5-42FF-9216-C3CC642A9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201814"/>
              </p:ext>
            </p:extLst>
          </p:nvPr>
        </p:nvGraphicFramePr>
        <p:xfrm>
          <a:off x="381000" y="1143000"/>
          <a:ext cx="8153400" cy="4419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756354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31830248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9339227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545994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969277320"/>
                    </a:ext>
                  </a:extLst>
                </a:gridCol>
              </a:tblGrid>
              <a:tr h="10343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2025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0305934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Mortality in road traffic accidents (per 100,000 population)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675594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19a.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9016653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 b.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Women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1628612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Smoker's rate (every 100,000 population) in 15+ years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4165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75676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5041983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Community support in COVID -19 Management-2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1158834"/>
          <a:ext cx="4419600" cy="2727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4876800" y="4708091"/>
          <a:ext cx="4267199" cy="198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4876800" y="1920834"/>
          <a:ext cx="3962400" cy="1050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846615" y="3909139"/>
            <a:ext cx="4317856" cy="815261"/>
            <a:chOff x="0" y="8342"/>
            <a:chExt cx="3962399" cy="1034280"/>
          </a:xfrm>
        </p:grpSpPr>
        <p:sp>
          <p:nvSpPr>
            <p:cNvPr id="14" name="Rounded Rectangle 13"/>
            <p:cNvSpPr/>
            <p:nvPr/>
          </p:nvSpPr>
          <p:spPr>
            <a:xfrm>
              <a:off x="0" y="8342"/>
              <a:ext cx="3962399" cy="1034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/>
            <p:nvPr/>
          </p:nvSpPr>
          <p:spPr>
            <a:xfrm>
              <a:off x="50489" y="58831"/>
              <a:ext cx="3861421" cy="9333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l" defTabSz="1155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600" b="1" kern="1200" dirty="0"/>
                <a:t>Source of Donation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35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7043</TotalTime>
  <Words>1932</Words>
  <Application>Microsoft Office PowerPoint</Application>
  <PresentationFormat>On-screen Show (4:3)</PresentationFormat>
  <Paragraphs>537</Paragraphs>
  <Slides>49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3" baseType="lpstr">
      <vt:lpstr>Albertus Extra Bold</vt:lpstr>
      <vt:lpstr>Andalus</vt:lpstr>
      <vt:lpstr>Arial</vt:lpstr>
      <vt:lpstr>Berlin Sans FB</vt:lpstr>
      <vt:lpstr>Book Antiqua</vt:lpstr>
      <vt:lpstr>Calibri</vt:lpstr>
      <vt:lpstr>Century Schoolbook</vt:lpstr>
      <vt:lpstr>Courier New</vt:lpstr>
      <vt:lpstr>NikoshBAN</vt:lpstr>
      <vt:lpstr>SutonnyMJ</vt:lpstr>
      <vt:lpstr>Times New Roman</vt:lpstr>
      <vt:lpstr>Wingdings 2</vt:lpstr>
      <vt:lpstr>Office Theme</vt:lpstr>
      <vt:lpstr>Chart</vt:lpstr>
      <vt:lpstr>PowerPoint Presentation</vt:lpstr>
      <vt:lpstr>PowerPoint Presentation</vt:lpstr>
      <vt:lpstr>PowerPoint Presentation</vt:lpstr>
      <vt:lpstr>A Hospital with a Vision …</vt:lpstr>
      <vt:lpstr>PowerPoint Presentation</vt:lpstr>
      <vt:lpstr>Criteria Of C-J Model.</vt:lpstr>
      <vt:lpstr>Criteria of C-J Model.</vt:lpstr>
      <vt:lpstr>Criteria of C-J Model.</vt:lpstr>
      <vt:lpstr>Background History  of Chowgacha Health Complex,Model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PowerPoint Presentation</vt:lpstr>
      <vt:lpstr>Acheivement of Chowgacha UHC</vt:lpstr>
      <vt:lpstr>100 kh¨v wewkó m`i nvmcvZvj, wSbvB`n</vt:lpstr>
      <vt:lpstr>Challenges of the hospital in 2012</vt:lpstr>
      <vt:lpstr>PowerPoint Presentation</vt:lpstr>
      <vt:lpstr>Emergency + Out Door &amp; Indoor  Service 1998 to 2019</vt:lpstr>
      <vt:lpstr>Total ANC and Delivery in Jhenaidah District Hospital 2011-2019</vt:lpstr>
      <vt:lpstr>3 best performing EmOC Hospital in Khulna division - 2017</vt:lpstr>
      <vt:lpstr>PowerPoint Presentation</vt:lpstr>
      <vt:lpstr>Changes in Pediatric Ward and EOC Ward </vt:lpstr>
      <vt:lpstr>PowerPoint Presentation</vt:lpstr>
      <vt:lpstr>Use of color code, alignment of picture &amp; continuous big cleaning day</vt:lpstr>
      <vt:lpstr>Innovative activities of Jhenaidah Sadar Hospital - 1</vt:lpstr>
      <vt:lpstr>Innovative activities community supported manpower -  2</vt:lpstr>
      <vt:lpstr>Involvement of MP, District Administrator &amp; Mayor in Sadar Hospital</vt:lpstr>
      <vt:lpstr>PowerPoint Presentation</vt:lpstr>
      <vt:lpstr>PowerPoint Presentation</vt:lpstr>
      <vt:lpstr>PowerPoint Presentation</vt:lpstr>
      <vt:lpstr>Innovative activities of Jhenaidah Sadar Hospital - 6</vt:lpstr>
      <vt:lpstr>PowerPoint Presentation</vt:lpstr>
      <vt:lpstr>PowerPoint Presentation</vt:lpstr>
      <vt:lpstr>Thank You</vt:lpstr>
      <vt:lpstr> 7th Five Year Plan, Health, Nutrition and Population Target </vt:lpstr>
      <vt:lpstr>PowerPoint Presentation</vt:lpstr>
      <vt:lpstr>PowerPoint Presentation</vt:lpstr>
      <vt:lpstr> 8th Five Year Plan, Health, Nutrition and Population Target </vt:lpstr>
      <vt:lpstr>PowerPoint Presentation</vt:lpstr>
      <vt:lpstr>PowerPoint Presentation</vt:lpstr>
      <vt:lpstr>Our usual solution:  We need more RESOURCES!!!!</vt:lpstr>
      <vt:lpstr>Community support in COVID -19 Management-2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MD EMDADUL HAQUE</cp:lastModifiedBy>
  <cp:revision>970</cp:revision>
  <cp:lastPrinted>2017-03-18T23:47:54Z</cp:lastPrinted>
  <dcterms:created xsi:type="dcterms:W3CDTF">2013-05-05T09:56:19Z</dcterms:created>
  <dcterms:modified xsi:type="dcterms:W3CDTF">2023-01-07T03:37:57Z</dcterms:modified>
</cp:coreProperties>
</file>