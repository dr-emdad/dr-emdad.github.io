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37"/>
  </p:notesMasterIdLst>
  <p:sldIdLst>
    <p:sldId id="385" r:id="rId2"/>
    <p:sldId id="527" r:id="rId3"/>
    <p:sldId id="512" r:id="rId4"/>
    <p:sldId id="532" r:id="rId5"/>
    <p:sldId id="452" r:id="rId6"/>
    <p:sldId id="515" r:id="rId7"/>
    <p:sldId id="516" r:id="rId8"/>
    <p:sldId id="447" r:id="rId9"/>
    <p:sldId id="469" r:id="rId10"/>
    <p:sldId id="357" r:id="rId11"/>
    <p:sldId id="513" r:id="rId12"/>
    <p:sldId id="390" r:id="rId13"/>
    <p:sldId id="538" r:id="rId14"/>
    <p:sldId id="539" r:id="rId15"/>
    <p:sldId id="541" r:id="rId16"/>
    <p:sldId id="391" r:id="rId17"/>
    <p:sldId id="533" r:id="rId18"/>
    <p:sldId id="535" r:id="rId19"/>
    <p:sldId id="536" r:id="rId20"/>
    <p:sldId id="376" r:id="rId21"/>
    <p:sldId id="488" r:id="rId22"/>
    <p:sldId id="490" r:id="rId23"/>
    <p:sldId id="492" r:id="rId24"/>
    <p:sldId id="323" r:id="rId25"/>
    <p:sldId id="496" r:id="rId26"/>
    <p:sldId id="495" r:id="rId27"/>
    <p:sldId id="500" r:id="rId28"/>
    <p:sldId id="514" r:id="rId29"/>
    <p:sldId id="487" r:id="rId30"/>
    <p:sldId id="262" r:id="rId31"/>
    <p:sldId id="341" r:id="rId32"/>
    <p:sldId id="521" r:id="rId33"/>
    <p:sldId id="522" r:id="rId34"/>
    <p:sldId id="509" r:id="rId35"/>
    <p:sldId id="540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0446" autoAdjust="0"/>
  </p:normalViewPr>
  <p:slideViewPr>
    <p:cSldViewPr>
      <p:cViewPr varScale="1">
        <p:scale>
          <a:sx n="61" d="100"/>
          <a:sy n="61" d="100"/>
        </p:scale>
        <p:origin x="182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en-GB" dirty="0"/>
            <a:t>Expansion.</a:t>
          </a:r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en-US" dirty="0"/>
            <a:t>Community participation &amp; </a:t>
          </a:r>
          <a:r>
            <a:rPr lang="en-US" dirty="0" err="1"/>
            <a:t>comette</a:t>
          </a:r>
          <a:r>
            <a:rPr lang="en-US" dirty="0"/>
            <a:t> formation</a:t>
          </a:r>
          <a:r>
            <a:rPr lang="bn-IN" dirty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/>
            <a:t>Staff increase :44</a:t>
          </a:r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en-US" dirty="0"/>
            <a:t>Security</a:t>
          </a:r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en-GB" dirty="0"/>
            <a:t>Corruption  prevention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en-US" dirty="0"/>
            <a:t>Cleaning &amp;beautification</a:t>
          </a:r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US" dirty="0"/>
            <a:t>Best UHC</a:t>
          </a:r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</dgm:pt>
    <dgm:pt modelId="{D046EDB0-D1C9-407A-A55E-5858E1E5D4AF}" type="pres">
      <dgm:prSet presAssocID="{4F97281A-802C-4000-8D2A-66142CFFCE3C}" presName="sibTransFirstNode" presStyleLbl="bgShp" presStyleIdx="0" presStyleCnt="1"/>
      <dgm:spPr/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</dgm:pt>
    <dgm:pt modelId="{C4FF0D0D-74E1-473C-A1E9-CFD413B11028}" type="pres">
      <dgm:prSet presAssocID="{610D7153-D836-425E-ABAB-41B69166C8FA}" presName="nodeFollowingNodes" presStyleLbl="node1" presStyleIdx="4" presStyleCnt="7" custRadScaleRad="99591" custRadScaleInc="-114317">
        <dgm:presLayoutVars>
          <dgm:bulletEnabled val="1"/>
        </dgm:presLayoutVars>
      </dgm:prSet>
      <dgm:spPr/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313915" y="93300"/>
          <a:ext cx="4585807" cy="4585807"/>
        </a:xfrm>
        <a:prstGeom prst="circularArrow">
          <a:avLst>
            <a:gd name="adj1" fmla="val 5544"/>
            <a:gd name="adj2" fmla="val 330680"/>
            <a:gd name="adj3" fmla="val 14545437"/>
            <a:gd name="adj4" fmla="val 1693328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1908018" y="126834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Best UHC</a:t>
          </a:r>
        </a:p>
      </dsp:txBody>
      <dsp:txXfrm>
        <a:off x="1942131" y="160947"/>
        <a:ext cx="1329375" cy="630574"/>
      </dsp:txXfrm>
    </dsp:sp>
    <dsp:sp modelId="{CB4F0E61-DC7F-4119-ABA9-796676CB2FA1}">
      <dsp:nvSpPr>
        <dsp:cNvPr id="0" name=""/>
        <dsp:cNvSpPr/>
      </dsp:nvSpPr>
      <dsp:spPr>
        <a:xfrm>
          <a:off x="441971" y="852167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Expansion.</a:t>
          </a:r>
        </a:p>
      </dsp:txBody>
      <dsp:txXfrm>
        <a:off x="476084" y="886280"/>
        <a:ext cx="1329375" cy="630574"/>
      </dsp:txXfrm>
    </dsp:sp>
    <dsp:sp modelId="{57FC54FE-E97C-4F29-92CF-2A7248720E8D}">
      <dsp:nvSpPr>
        <dsp:cNvPr id="0" name=""/>
        <dsp:cNvSpPr/>
      </dsp:nvSpPr>
      <dsp:spPr>
        <a:xfrm>
          <a:off x="3814549" y="2364251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Community participation &amp; </a:t>
          </a:r>
          <a:r>
            <a:rPr lang="en-US" sz="1200" kern="1200" dirty="0" err="1"/>
            <a:t>comette</a:t>
          </a:r>
          <a:r>
            <a:rPr lang="en-US" sz="1200" kern="1200" dirty="0"/>
            <a:t> formation</a:t>
          </a:r>
          <a:r>
            <a:rPr lang="bn-IN" sz="1200" kern="1200" dirty="0"/>
            <a:t> </a:t>
          </a:r>
          <a:endParaRPr lang="en-US" sz="1200" kern="1200" dirty="0"/>
        </a:p>
      </dsp:txBody>
      <dsp:txXfrm>
        <a:off x="3848662" y="2398364"/>
        <a:ext cx="1329375" cy="630574"/>
      </dsp:txXfrm>
    </dsp:sp>
    <dsp:sp modelId="{E2E5C2CC-16B6-414F-A1E4-8C9432894059}">
      <dsp:nvSpPr>
        <dsp:cNvPr id="0" name=""/>
        <dsp:cNvSpPr/>
      </dsp:nvSpPr>
      <dsp:spPr>
        <a:xfrm>
          <a:off x="932773" y="3814047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Staff increase :44</a:t>
          </a:r>
        </a:p>
      </dsp:txBody>
      <dsp:txXfrm>
        <a:off x="966886" y="3848160"/>
        <a:ext cx="1329375" cy="630574"/>
      </dsp:txXfrm>
    </dsp:sp>
    <dsp:sp modelId="{C4FF0D0D-74E1-473C-A1E9-CFD413B11028}">
      <dsp:nvSpPr>
        <dsp:cNvPr id="0" name=""/>
        <dsp:cNvSpPr/>
      </dsp:nvSpPr>
      <dsp:spPr>
        <a:xfrm>
          <a:off x="2753468" y="3836894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Security</a:t>
          </a:r>
        </a:p>
      </dsp:txBody>
      <dsp:txXfrm>
        <a:off x="2787581" y="3871007"/>
        <a:ext cx="1329375" cy="630574"/>
      </dsp:txXfrm>
    </dsp:sp>
    <dsp:sp modelId="{8D24C1E3-835B-4535-A9EB-AB5FCDF4505F}">
      <dsp:nvSpPr>
        <dsp:cNvPr id="0" name=""/>
        <dsp:cNvSpPr/>
      </dsp:nvSpPr>
      <dsp:spPr>
        <a:xfrm>
          <a:off x="289" y="2285323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Corruption  prevention </a:t>
          </a:r>
          <a:endParaRPr lang="en-US" sz="1200" kern="1200" dirty="0"/>
        </a:p>
      </dsp:txBody>
      <dsp:txXfrm>
        <a:off x="34402" y="2319436"/>
        <a:ext cx="1329375" cy="630574"/>
      </dsp:txXfrm>
    </dsp:sp>
    <dsp:sp modelId="{8173D7A6-1922-458F-9222-CB9A92415CD8}">
      <dsp:nvSpPr>
        <dsp:cNvPr id="0" name=""/>
        <dsp:cNvSpPr/>
      </dsp:nvSpPr>
      <dsp:spPr>
        <a:xfrm>
          <a:off x="3445059" y="833105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Cleaning &amp;beautification</a:t>
          </a:r>
        </a:p>
      </dsp:txBody>
      <dsp:txXfrm>
        <a:off x="3479172" y="867218"/>
        <a:ext cx="1329375" cy="630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A6AD93-BD72-42ED-B1DC-C5E58BE4E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E77E2E-B07E-48FD-91A3-58E45726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6555712-0B84-4C3A-9118-B3E48184A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DBCCB-4C23-435A-8E51-FBD2B31FEC8C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2257331-E17E-4C34-ACBB-D2849C4C6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6E0831-79F6-435B-B69B-D7A870F9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5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745A486-D04E-4858-ACD6-AEE5D957B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BAC74D-5FC4-4CD9-AAE7-6B58F7832856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D7204C3-3D7C-44CF-B1C4-458B16267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6FA1C3-20ED-42CC-BC9D-06769CA8E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31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F48E46-651E-4A25-8C45-5E50D3C6F0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B1F6F67-C9E9-4051-A654-02685ADD7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AB8AAC6-DE81-40DE-A858-F57EB4DEC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7483D-2146-4775-927D-60B547393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2023/1/7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4.wmf"/><Relationship Id="rId10" Type="http://schemas.openxmlformats.org/officeDocument/2006/relationships/image" Target="../media/image5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457200" y="304800"/>
            <a:ext cx="85344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Role of the community in developing </a:t>
            </a:r>
          </a:p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UHC Model.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6019800"/>
            <a:ext cx="457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</a:p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44591"/>
            <a:ext cx="6629400" cy="437520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95082"/>
              </p:ext>
            </p:extLst>
          </p:nvPr>
        </p:nvGraphicFramePr>
        <p:xfrm>
          <a:off x="144439" y="1295400"/>
          <a:ext cx="9213348" cy="484306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2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 rot="10800000" flipV="1">
            <a:off x="5181600" y="6415951"/>
            <a:ext cx="37731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Bank 2018,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resources of different countries  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SAARC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29389" y="1900622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29389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32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19200" y="5070226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32190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with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19175" y="3696839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257800" y="1143000"/>
            <a:ext cx="4191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Blood donor list &gt;1000 donor</a:t>
            </a:r>
            <a:r>
              <a:rPr lang="en-US" dirty="0">
                <a:latin typeface="Calibri" pitchFamily="34" charset="0"/>
              </a:rPr>
              <a:t>.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Birth-death recording through out the Upazilla.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Autofit/>
          </a:bodyPr>
          <a:lstStyle/>
          <a:p>
            <a:r>
              <a:rPr lang="en-US" sz="2800" dirty="0"/>
              <a:t>Cycle stand near the entrance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" y="1319904"/>
            <a:ext cx="4349848" cy="3175895"/>
          </a:xfrm>
        </p:spPr>
      </p:pic>
      <p:sp>
        <p:nvSpPr>
          <p:cNvPr id="9" name="Rectangle 8"/>
          <p:cNvSpPr/>
          <p:nvPr/>
        </p:nvSpPr>
        <p:spPr>
          <a:xfrm>
            <a:off x="0" y="5107209"/>
            <a:ext cx="6019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2200" b="1" dirty="0"/>
              <a:t>Pushti Tray”-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the health complex.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3" y="3770723"/>
            <a:ext cx="4127497" cy="29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990600"/>
            <a:ext cx="3962400" cy="1219200"/>
          </a:xfrm>
        </p:spPr>
        <p:txBody>
          <a:bodyPr>
            <a:noAutofit/>
          </a:bodyPr>
          <a:lstStyle/>
          <a:p>
            <a:pPr algn="ctr"/>
            <a:r>
              <a:rPr lang="en-US" dirty="0" err="1"/>
              <a:t>Labour</a:t>
            </a:r>
            <a:r>
              <a:rPr lang="en-US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55890" y="5791200"/>
            <a:ext cx="4983418" cy="47148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3F51AF1-FD59-4942-8F00-26723330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 dirty="0"/>
              <a:t>All mother will take ANC &amp; PNC Care in the Health Complex(Minimum 5 Visit</a:t>
            </a:r>
            <a:r>
              <a:rPr lang="en-US" altLang="en-US" sz="2000" b="1" dirty="0"/>
              <a:t>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661D01-577D-4F3A-AF86-1D2945DA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/>
          </a:p>
          <a:p>
            <a:pPr algn="ctr">
              <a:buFontTx/>
              <a:buNone/>
            </a:pPr>
            <a:endParaRPr lang="en-US" altLang="en-US" sz="2800"/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E9477B92-AA10-4251-B80A-38389EBD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9461" name="Object 25">
            <a:extLst>
              <a:ext uri="{FF2B5EF4-FFF2-40B4-BE49-F238E27FC236}">
                <a16:creationId xmlns:a16="http://schemas.microsoft.com/office/drawing/2014/main" id="{1F9264CA-D3DE-4070-9B16-D7A9224FB4F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9461" name="Object 25">
                        <a:extLst>
                          <a:ext uri="{FF2B5EF4-FFF2-40B4-BE49-F238E27FC236}">
                            <a16:creationId xmlns:a16="http://schemas.microsoft.com/office/drawing/2014/main" id="{1F9264CA-D3DE-4070-9B16-D7A9224FB4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All mother will deliver their baby in Hospital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dirty="0"/>
              <a:t>All Caesarian Section Perform in Govt. Hospital</a:t>
            </a:r>
            <a:r>
              <a:rPr lang="en-US" sz="2000" b="1" dirty="0"/>
              <a:t>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1612262"/>
              </p:ext>
            </p:extLst>
          </p:nvPr>
        </p:nvGraphicFramePr>
        <p:xfrm>
          <a:off x="990600" y="2678112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678112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6B77D2-4122-4E45-9F4E-C7BA6C3F5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640"/>
            <a:ext cx="8153400" cy="97555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9689E5E-2CF0-42C3-A770-171EB38F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3401"/>
            <a:ext cx="81153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>
            <a:extLst>
              <a:ext uri="{FF2B5EF4-FFF2-40B4-BE49-F238E27FC236}">
                <a16:creationId xmlns:a16="http://schemas.microsoft.com/office/drawing/2014/main" id="{D86488D1-44EB-4DD7-902F-D51CEB2DC8F3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057400"/>
          <a:ext cx="8153400" cy="478541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Fatima Hospital Jessore.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1586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011316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910652-6617-46CB-9760-29CB7EB57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731836"/>
            <a:ext cx="8229600" cy="8683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/>
              <a:t>50 </a:t>
            </a:r>
            <a:r>
              <a:rPr lang="en-US" altLang="en-US" sz="3600" b="1" dirty="0"/>
              <a:t>Bedded Upazilla Health Complex</a:t>
            </a:r>
            <a:r>
              <a:rPr lang="en-US" altLang="en-US" sz="2000" b="1" dirty="0"/>
              <a:t>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519B08-538D-4990-AC1E-B9627E1316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graphicFrame>
        <p:nvGraphicFramePr>
          <p:cNvPr id="1154" name="Group 130">
            <a:extLst>
              <a:ext uri="{FF2B5EF4-FFF2-40B4-BE49-F238E27FC236}">
                <a16:creationId xmlns:a16="http://schemas.microsoft.com/office/drawing/2014/main" id="{4CC30397-DD21-45D1-8F8B-FBC5002310EF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04935859"/>
              </p:ext>
            </p:extLst>
          </p:nvPr>
        </p:nvGraphicFramePr>
        <p:xfrm>
          <a:off x="457200" y="2667000"/>
          <a:ext cx="7848600" cy="4068761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6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No of Bed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7126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8743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10944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12717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185.0%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13887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14819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2688" name="Rectangle 48">
            <a:extLst>
              <a:ext uri="{FF2B5EF4-FFF2-40B4-BE49-F238E27FC236}">
                <a16:creationId xmlns:a16="http://schemas.microsoft.com/office/drawing/2014/main" id="{A036C37C-E526-427E-8C8D-F53B5999E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05002"/>
            <a:ext cx="78486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Indoor Service 2005 to 2011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18E9-8E00-4433-95CE-A6DDE56BAF0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9D2EB8-1BEE-4FE8-832F-F823C48A4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7177186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45582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donor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2802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0249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3352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070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" y="1066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" y="0"/>
            <a:ext cx="9126078" cy="1066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Learning visit in other hospital  to develop quality of care.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370598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90593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875" y="993319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062722" y="1012155"/>
            <a:ext cx="4537074" cy="138499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800" dirty="0"/>
              <a:t> Health Education for the patients and their attendance by health Manager</a:t>
            </a:r>
            <a:r>
              <a:rPr lang="en-US" sz="2000" dirty="0"/>
              <a:t>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14300" y="4318876"/>
            <a:ext cx="4152900" cy="10772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3200" dirty="0"/>
              <a:t>Motivation of the community leaders </a:t>
            </a:r>
            <a:r>
              <a:rPr lang="en-US" sz="2000" dirty="0"/>
              <a:t>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0"/>
            <a:ext cx="8229599" cy="914400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Hospital</a:t>
            </a:r>
          </a:p>
        </p:txBody>
      </p:sp>
    </p:spTree>
    <p:extLst>
      <p:ext uri="{BB962C8B-B14F-4D97-AF65-F5344CB8AC3E}">
        <p14:creationId xmlns:p14="http://schemas.microsoft.com/office/powerpoint/2010/main" val="25154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6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79697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4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5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6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5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6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7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340979"/>
              </p:ext>
            </p:extLst>
          </p:nvPr>
        </p:nvGraphicFramePr>
        <p:xfrm>
          <a:off x="218334" y="1151165"/>
          <a:ext cx="5213638" cy="4669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514" y="1800225"/>
            <a:ext cx="3037114" cy="3191152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GB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2018</a:t>
            </a:r>
            <a:endParaRPr lang="en-US" sz="3600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9377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7336</TotalTime>
  <Words>924</Words>
  <Application>Microsoft Office PowerPoint</Application>
  <PresentationFormat>On-screen Show (4:3)</PresentationFormat>
  <Paragraphs>331</Paragraphs>
  <Slides>35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Albertus Extra Bold</vt:lpstr>
      <vt:lpstr>Andalus</vt:lpstr>
      <vt:lpstr>Arial</vt:lpstr>
      <vt:lpstr>Arial Black</vt:lpstr>
      <vt:lpstr>Book Antiqua</vt:lpstr>
      <vt:lpstr>Calibri</vt:lpstr>
      <vt:lpstr>Courier New</vt:lpstr>
      <vt:lpstr>NikoshBAN</vt:lpstr>
      <vt:lpstr>SolaimanLipi</vt:lpstr>
      <vt:lpstr>SutonnyMJ</vt:lpstr>
      <vt:lpstr>Times New Roman</vt:lpstr>
      <vt:lpstr>Wingdings 2</vt:lpstr>
      <vt:lpstr>Office Theme</vt:lpstr>
      <vt:lpstr>Chart</vt:lpstr>
      <vt:lpstr>ｸﾘｯﾌﾟ</vt:lpstr>
      <vt:lpstr>PowerPoint Presentation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mother will take ANC &amp; PNC Care in the Health Complex(Minimum 5 Visit)</vt:lpstr>
      <vt:lpstr>All mother will deliver their baby in Hospital.</vt:lpstr>
      <vt:lpstr>All Caesarian Section Perform in Govt. Hospital.</vt:lpstr>
      <vt:lpstr>UHC,CHOWGACHA,JASHORE. </vt:lpstr>
      <vt:lpstr>50 Bedded Upazilla Health Complex.</vt:lpstr>
      <vt:lpstr>UHC,CHOWGACHA,JASHORE. </vt:lpstr>
      <vt:lpstr>PowerPoint Presentation</vt:lpstr>
      <vt:lpstr>Criteria Of C-J Model.</vt:lpstr>
      <vt:lpstr>Criteria of C-J Model.</vt:lpstr>
      <vt:lpstr>Criteria of C-J Model.</vt:lpstr>
      <vt:lpstr>100 kh¨v wewkó m`i nvmcvZvj, wSbvB`n</vt:lpstr>
      <vt:lpstr>PowerPoint Presentation</vt:lpstr>
      <vt:lpstr>Changes in Pediatric Ward and EOC Ward </vt:lpstr>
      <vt:lpstr>PowerPoint Presentation</vt:lpstr>
      <vt:lpstr>Use of color code, alignment of picture &amp; continuous big cleaning day</vt:lpstr>
      <vt:lpstr>Innovative activities community supported manpower -  2</vt:lpstr>
      <vt:lpstr>Innovative activities of Hospital</vt:lpstr>
      <vt:lpstr>Innovative activities of Jhenaidah Sadar Hospital - 6</vt:lpstr>
      <vt:lpstr>PowerPoint Presentation</vt:lpstr>
      <vt:lpstr>PowerPoint Presentation</vt:lpstr>
      <vt:lpstr>Our usual solution:  We need more RESOURCES!!!!</vt:lpstr>
      <vt:lpstr>PowerPoint Presentation</vt:lpstr>
      <vt:lpstr>PowerPoint Presentation</vt:lpstr>
      <vt:lpstr>PowerPoint Presentation</vt:lpstr>
      <vt:lpstr>Thank You</vt:lpstr>
      <vt:lpstr>2018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1024</cp:revision>
  <cp:lastPrinted>2017-03-18T23:47:54Z</cp:lastPrinted>
  <dcterms:created xsi:type="dcterms:W3CDTF">2013-05-05T09:56:19Z</dcterms:created>
  <dcterms:modified xsi:type="dcterms:W3CDTF">2023-01-07T03:38:49Z</dcterms:modified>
</cp:coreProperties>
</file>